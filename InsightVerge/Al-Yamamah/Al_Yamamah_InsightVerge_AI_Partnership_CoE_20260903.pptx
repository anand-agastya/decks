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63AC61-2DFC-4A49-91FD-346C79C9FAB5}" v="2" dt="2026-09-03T06:04:44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dhar Pappu" userId="6a4d489a-acfb-443e-bb25-e68ce7a2eb10" providerId="ADAL" clId="{996AB0F8-A0D8-42BE-871D-8FC448870957}"/>
    <pc:docChg chg="undo custSel delSld modSld">
      <pc:chgData name="Sridhar Pappu" userId="6a4d489a-acfb-443e-bb25-e68ce7a2eb10" providerId="ADAL" clId="{996AB0F8-A0D8-42BE-871D-8FC448870957}" dt="2026-09-03T07:33:13.726" v="1593" actId="14100"/>
      <pc:docMkLst>
        <pc:docMk/>
      </pc:docMkLst>
      <pc:sldChg chg="modSp mod">
        <pc:chgData name="Sridhar Pappu" userId="6a4d489a-acfb-443e-bb25-e68ce7a2eb10" providerId="ADAL" clId="{996AB0F8-A0D8-42BE-871D-8FC448870957}" dt="2026-09-03T07:26:19.685" v="1514" actId="20577"/>
        <pc:sldMkLst>
          <pc:docMk/>
          <pc:sldMk cId="0" sldId="256"/>
        </pc:sldMkLst>
        <pc:spChg chg="mod">
          <ac:chgData name="Sridhar Pappu" userId="6a4d489a-acfb-443e-bb25-e68ce7a2eb10" providerId="ADAL" clId="{996AB0F8-A0D8-42BE-871D-8FC448870957}" dt="2026-09-01T04:54:13.892" v="8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26:19.685" v="151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4:53:53.918" v="2" actId="403"/>
          <ac:spMkLst>
            <pc:docMk/>
            <pc:sldMk cId="0" sldId="256"/>
            <ac:spMk id="5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4:54:23.976" v="11" actId="403"/>
          <ac:spMkLst>
            <pc:docMk/>
            <pc:sldMk cId="0" sldId="256"/>
            <ac:spMk id="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4:53:53.918" v="2" actId="403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Sridhar Pappu" userId="6a4d489a-acfb-443e-bb25-e68ce7a2eb10" providerId="ADAL" clId="{996AB0F8-A0D8-42BE-871D-8FC448870957}" dt="2026-09-01T06:15:36.900" v="1101" actId="478"/>
        <pc:sldMkLst>
          <pc:docMk/>
          <pc:sldMk cId="0" sldId="257"/>
        </pc:sldMkLst>
        <pc:spChg chg="mod">
          <ac:chgData name="Sridhar Pappu" userId="6a4d489a-acfb-443e-bb25-e68ce7a2eb10" providerId="ADAL" clId="{996AB0F8-A0D8-42BE-871D-8FC448870957}" dt="2026-09-01T04:54:54.574" v="14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4:55:05.948" v="17" actId="403"/>
          <ac:spMkLst>
            <pc:docMk/>
            <pc:sldMk cId="0" sldId="257"/>
            <ac:spMk id="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4:55:05.948" v="17" actId="403"/>
          <ac:spMkLst>
            <pc:docMk/>
            <pc:sldMk cId="0" sldId="257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4:55:05.948" v="17" actId="40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4:55:50.973" v="26" actId="403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4:55:40.949" v="24" actId="1076"/>
          <ac:spMkLst>
            <pc:docMk/>
            <pc:sldMk cId="0" sldId="257"/>
            <ac:spMk id="13" creationId="{00000000-0000-0000-0000-000000000000}"/>
          </ac:spMkLst>
        </pc:spChg>
      </pc:sldChg>
      <pc:sldChg chg="delSp modSp mod">
        <pc:chgData name="Sridhar Pappu" userId="6a4d489a-acfb-443e-bb25-e68ce7a2eb10" providerId="ADAL" clId="{996AB0F8-A0D8-42BE-871D-8FC448870957}" dt="2026-09-03T05:58:32.285" v="1129" actId="20577"/>
        <pc:sldMkLst>
          <pc:docMk/>
          <pc:sldMk cId="0" sldId="258"/>
        </pc:sldMkLst>
        <pc:spChg chg="mod">
          <ac:chgData name="Sridhar Pappu" userId="6a4d489a-acfb-443e-bb25-e68ce7a2eb10" providerId="ADAL" clId="{996AB0F8-A0D8-42BE-871D-8FC448870957}" dt="2026-09-01T04:56:17.077" v="29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4:56:31.156" v="31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02:16.081" v="201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4:56:31.156" v="31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5:58:32.285" v="1129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4:59:01.826" v="122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00:09.067" v="144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00:50.020" v="160" actId="14100"/>
          <ac:spMkLst>
            <pc:docMk/>
            <pc:sldMk cId="0" sldId="258"/>
            <ac:spMk id="14" creationId="{00000000-0000-0000-0000-000000000000}"/>
          </ac:spMkLst>
        </pc:spChg>
      </pc:sldChg>
      <pc:sldChg chg="addSp delSp modSp mod">
        <pc:chgData name="Sridhar Pappu" userId="6a4d489a-acfb-443e-bb25-e68ce7a2eb10" providerId="ADAL" clId="{996AB0F8-A0D8-42BE-871D-8FC448870957}" dt="2026-09-03T06:02:22.802" v="1172" actId="113"/>
        <pc:sldMkLst>
          <pc:docMk/>
          <pc:sldMk cId="0" sldId="259"/>
        </pc:sldMkLst>
        <pc:spChg chg="del">
          <ac:chgData name="Sridhar Pappu" userId="6a4d489a-acfb-443e-bb25-e68ce7a2eb10" providerId="ADAL" clId="{996AB0F8-A0D8-42BE-871D-8FC448870957}" dt="2026-09-03T06:01:57.220" v="1166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ridhar Pappu" userId="6a4d489a-acfb-443e-bb25-e68ce7a2eb10" providerId="ADAL" clId="{996AB0F8-A0D8-42BE-871D-8FC448870957}" dt="2026-09-03T06:01:57.220" v="1166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Sridhar Pappu" userId="6a4d489a-acfb-443e-bb25-e68ce7a2eb10" providerId="ADAL" clId="{996AB0F8-A0D8-42BE-871D-8FC448870957}" dt="2026-09-03T06:01:57.220" v="1166" actId="478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Sridhar Pappu" userId="6a4d489a-acfb-443e-bb25-e68ce7a2eb10" providerId="ADAL" clId="{996AB0F8-A0D8-42BE-871D-8FC448870957}" dt="2026-09-03T06:01:58.511" v="1167"/>
          <ac:spMkLst>
            <pc:docMk/>
            <pc:sldMk cId="0" sldId="259"/>
            <ac:spMk id="5" creationId="{0499DD78-CD2A-2388-F74B-841EE9F8E524}"/>
          </ac:spMkLst>
        </pc:spChg>
        <pc:spChg chg="mod">
          <ac:chgData name="Sridhar Pappu" userId="6a4d489a-acfb-443e-bb25-e68ce7a2eb10" providerId="ADAL" clId="{996AB0F8-A0D8-42BE-871D-8FC448870957}" dt="2026-09-03T06:01:18.479" v="1165" actId="403"/>
          <ac:spMkLst>
            <pc:docMk/>
            <pc:sldMk cId="0" sldId="259"/>
            <ac:spMk id="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2:08.446" v="1171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5:58:06.716" v="1118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2:22.802" v="1172" actId="113"/>
          <ac:spMkLst>
            <pc:docMk/>
            <pc:sldMk cId="0" sldId="259"/>
            <ac:spMk id="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1:58.563" v="1168" actId="2763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5:58:06.716" v="1118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2:22.802" v="1172" actId="11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04:08.669" v="238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5:58:06.716" v="1118" actId="20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2:22.802" v="1172" actId="113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1:58.565" v="1169" actId="2763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5:58:06.716" v="1118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2:22.802" v="1172" actId="113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04:18.199" v="239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5:58:06.716" v="1118" actId="20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2:22.802" v="1172" actId="113"/>
          <ac:spMkLst>
            <pc:docMk/>
            <pc:sldMk cId="0" sldId="259"/>
            <ac:spMk id="2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1:58.567" v="1170" actId="27636"/>
          <ac:spMkLst>
            <pc:docMk/>
            <pc:sldMk cId="0" sldId="259"/>
            <ac:spMk id="22" creationId="{00000000-0000-0000-0000-000000000000}"/>
          </ac:spMkLst>
        </pc:spChg>
        <pc:spChg chg="mod ord">
          <ac:chgData name="Sridhar Pappu" userId="6a4d489a-acfb-443e-bb25-e68ce7a2eb10" providerId="ADAL" clId="{996AB0F8-A0D8-42BE-871D-8FC448870957}" dt="2026-09-01T05:03:23.838" v="217" actId="40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0:39.925" v="1160" actId="20577"/>
          <ac:spMkLst>
            <pc:docMk/>
            <pc:sldMk cId="0" sldId="259"/>
            <ac:spMk id="24" creationId="{00000000-0000-0000-0000-000000000000}"/>
          </ac:spMkLst>
        </pc:spChg>
        <pc:spChg chg="add mod">
          <ac:chgData name="Sridhar Pappu" userId="6a4d489a-acfb-443e-bb25-e68ce7a2eb10" providerId="ADAL" clId="{996AB0F8-A0D8-42BE-871D-8FC448870957}" dt="2026-09-03T06:01:58.511" v="1167"/>
          <ac:spMkLst>
            <pc:docMk/>
            <pc:sldMk cId="0" sldId="259"/>
            <ac:spMk id="25" creationId="{DE92B41F-D51F-625D-D77B-BECE94981BE1}"/>
          </ac:spMkLst>
        </pc:spChg>
        <pc:spChg chg="add mod">
          <ac:chgData name="Sridhar Pappu" userId="6a4d489a-acfb-443e-bb25-e68ce7a2eb10" providerId="ADAL" clId="{996AB0F8-A0D8-42BE-871D-8FC448870957}" dt="2026-09-03T06:01:58.511" v="1167"/>
          <ac:spMkLst>
            <pc:docMk/>
            <pc:sldMk cId="0" sldId="259"/>
            <ac:spMk id="26" creationId="{92B69F73-D51E-5916-2AEA-CB9DA0386D0E}"/>
          </ac:spMkLst>
        </pc:spChg>
      </pc:sldChg>
      <pc:sldChg chg="addSp delSp modSp mod">
        <pc:chgData name="Sridhar Pappu" userId="6a4d489a-acfb-443e-bb25-e68ce7a2eb10" providerId="ADAL" clId="{996AB0F8-A0D8-42BE-871D-8FC448870957}" dt="2026-09-01T06:15:22.876" v="1098" actId="478"/>
        <pc:sldMkLst>
          <pc:docMk/>
          <pc:sldMk cId="0" sldId="261"/>
        </pc:sldMkLst>
        <pc:spChg chg="mod">
          <ac:chgData name="Sridhar Pappu" userId="6a4d489a-acfb-443e-bb25-e68ce7a2eb10" providerId="ADAL" clId="{996AB0F8-A0D8-42BE-871D-8FC448870957}" dt="2026-09-01T05:13:30.533" v="481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5:02.665" v="835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5:05.443" v="837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5:12.280" v="839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5:16.977" v="841" actId="276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5:20.456" v="844" actId="276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5:26.132" v="847" actId="2763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18:38.723" v="605" actId="14100"/>
          <ac:spMkLst>
            <pc:docMk/>
            <pc:sldMk cId="0" sldId="261"/>
            <ac:spMk id="14" creationId="{00000000-0000-0000-0000-000000000000}"/>
          </ac:spMkLst>
        </pc:spChg>
        <pc:spChg chg="add mod">
          <ac:chgData name="Sridhar Pappu" userId="6a4d489a-acfb-443e-bb25-e68ce7a2eb10" providerId="ADAL" clId="{996AB0F8-A0D8-42BE-871D-8FC448870957}" dt="2026-09-01T05:17:04.586" v="604" actId="1076"/>
          <ac:spMkLst>
            <pc:docMk/>
            <pc:sldMk cId="0" sldId="261"/>
            <ac:spMk id="15" creationId="{049E4B0A-CE71-5E6E-BEF9-621841C533B4}"/>
          </ac:spMkLst>
        </pc:spChg>
        <pc:spChg chg="add mod">
          <ac:chgData name="Sridhar Pappu" userId="6a4d489a-acfb-443e-bb25-e68ce7a2eb10" providerId="ADAL" clId="{996AB0F8-A0D8-42BE-871D-8FC448870957}" dt="2026-09-01T05:17:04.586" v="604" actId="1076"/>
          <ac:spMkLst>
            <pc:docMk/>
            <pc:sldMk cId="0" sldId="261"/>
            <ac:spMk id="16" creationId="{E9709398-CE84-9D6B-EFFC-C64EDC3E3398}"/>
          </ac:spMkLst>
        </pc:spChg>
        <pc:spChg chg="add mod">
          <ac:chgData name="Sridhar Pappu" userId="6a4d489a-acfb-443e-bb25-e68ce7a2eb10" providerId="ADAL" clId="{996AB0F8-A0D8-42BE-871D-8FC448870957}" dt="2026-09-01T05:17:04.586" v="604" actId="1076"/>
          <ac:spMkLst>
            <pc:docMk/>
            <pc:sldMk cId="0" sldId="261"/>
            <ac:spMk id="17" creationId="{6DEED9DE-F86D-2647-6C50-03792A42CA46}"/>
          </ac:spMkLst>
        </pc:spChg>
        <pc:spChg chg="add mod">
          <ac:chgData name="Sridhar Pappu" userId="6a4d489a-acfb-443e-bb25-e68ce7a2eb10" providerId="ADAL" clId="{996AB0F8-A0D8-42BE-871D-8FC448870957}" dt="2026-09-01T05:17:04.586" v="604" actId="1076"/>
          <ac:spMkLst>
            <pc:docMk/>
            <pc:sldMk cId="0" sldId="261"/>
            <ac:spMk id="18" creationId="{D40BA3A1-8E40-14CF-D73B-8BE6352FA74E}"/>
          </ac:spMkLst>
        </pc:spChg>
        <pc:spChg chg="add mod">
          <ac:chgData name="Sridhar Pappu" userId="6a4d489a-acfb-443e-bb25-e68ce7a2eb10" providerId="ADAL" clId="{996AB0F8-A0D8-42BE-871D-8FC448870957}" dt="2026-09-01T05:17:04.586" v="604" actId="1076"/>
          <ac:spMkLst>
            <pc:docMk/>
            <pc:sldMk cId="0" sldId="261"/>
            <ac:spMk id="19" creationId="{E03587F9-29A9-DF6B-5488-0D908A06EFA5}"/>
          </ac:spMkLst>
        </pc:spChg>
        <pc:spChg chg="add mod">
          <ac:chgData name="Sridhar Pappu" userId="6a4d489a-acfb-443e-bb25-e68ce7a2eb10" providerId="ADAL" clId="{996AB0F8-A0D8-42BE-871D-8FC448870957}" dt="2026-09-01T05:17:04.586" v="604" actId="1076"/>
          <ac:spMkLst>
            <pc:docMk/>
            <pc:sldMk cId="0" sldId="261"/>
            <ac:spMk id="20" creationId="{143C79BA-C4DE-04E7-7525-5D236944DE9B}"/>
          </ac:spMkLst>
        </pc:spChg>
      </pc:sldChg>
      <pc:sldChg chg="delSp modSp mod">
        <pc:chgData name="Sridhar Pappu" userId="6a4d489a-acfb-443e-bb25-e68ce7a2eb10" providerId="ADAL" clId="{996AB0F8-A0D8-42BE-871D-8FC448870957}" dt="2026-09-01T08:11:21.281" v="1116" actId="20577"/>
        <pc:sldMkLst>
          <pc:docMk/>
          <pc:sldMk cId="0" sldId="262"/>
        </pc:sldMkLst>
        <pc:spChg chg="mod">
          <ac:chgData name="Sridhar Pappu" userId="6a4d489a-acfb-443e-bb25-e68ce7a2eb10" providerId="ADAL" clId="{996AB0F8-A0D8-42BE-871D-8FC448870957}" dt="2026-09-01T05:22:47.734" v="730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0:15.085" v="636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8:11:21.281" v="1116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19:35.652" v="628" actId="1410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0:15.085" v="636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19:35.676" v="632" actId="2763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0:15.085" v="636" actId="14100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19:35.652" v="628" actId="14100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19:35.676" v="633" actId="2763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19:35.652" v="628" actId="14100"/>
          <ac:spMkLst>
            <pc:docMk/>
            <pc:sldMk cId="0" sldId="262"/>
            <ac:spMk id="1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0:15.085" v="636" actId="14100"/>
          <ac:spMkLst>
            <pc:docMk/>
            <pc:sldMk cId="0" sldId="262"/>
            <ac:spMk id="2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2:29.988" v="723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19:35.674" v="631" actId="27636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19:35.652" v="628" actId="14100"/>
          <ac:spMkLst>
            <pc:docMk/>
            <pc:sldMk cId="0" sldId="262"/>
            <ac:spMk id="2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0:15.085" v="636" actId="14100"/>
          <ac:spMkLst>
            <pc:docMk/>
            <pc:sldMk cId="0" sldId="262"/>
            <ac:spMk id="24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19:35.652" v="628" actId="14100"/>
          <ac:spMkLst>
            <pc:docMk/>
            <pc:sldMk cId="0" sldId="262"/>
            <ac:spMk id="25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19:35.674" v="630" actId="2763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5:23:00.899" v="731" actId="20577"/>
          <ac:spMkLst>
            <pc:docMk/>
            <pc:sldMk cId="0" sldId="262"/>
            <ac:spMk id="27" creationId="{00000000-0000-0000-0000-000000000000}"/>
          </ac:spMkLst>
        </pc:spChg>
      </pc:sldChg>
      <pc:sldChg chg="delSp modSp mod">
        <pc:chgData name="Sridhar Pappu" userId="6a4d489a-acfb-443e-bb25-e68ce7a2eb10" providerId="ADAL" clId="{996AB0F8-A0D8-42BE-871D-8FC448870957}" dt="2026-09-01T06:15:14.868" v="1096" actId="478"/>
        <pc:sldMkLst>
          <pc:docMk/>
          <pc:sldMk cId="0" sldId="263"/>
        </pc:sldMkLst>
        <pc:spChg chg="mod">
          <ac:chgData name="Sridhar Pappu" userId="6a4d489a-acfb-443e-bb25-e68ce7a2eb10" providerId="ADAL" clId="{996AB0F8-A0D8-42BE-871D-8FC448870957}" dt="2026-09-01T06:07:18.852" v="850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07:44.680" v="860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08:21.616" v="893" actId="113"/>
          <ac:spMkLst>
            <pc:docMk/>
            <pc:sldMk cId="0" sldId="263"/>
            <ac:spMk id="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08:38.505" v="898" actId="11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08:47.271" v="903" actId="113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08:55.233" v="908" actId="11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09:06.129" v="913" actId="113"/>
          <ac:spMkLst>
            <pc:docMk/>
            <pc:sldMk cId="0" sldId="263"/>
            <ac:spMk id="1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09:31.009" v="935" actId="20577"/>
          <ac:spMkLst>
            <pc:docMk/>
            <pc:sldMk cId="0" sldId="263"/>
            <ac:spMk id="14" creationId="{00000000-0000-0000-0000-000000000000}"/>
          </ac:spMkLst>
        </pc:spChg>
      </pc:sldChg>
      <pc:sldChg chg="delSp modSp mod">
        <pc:chgData name="Sridhar Pappu" userId="6a4d489a-acfb-443e-bb25-e68ce7a2eb10" providerId="ADAL" clId="{996AB0F8-A0D8-42BE-871D-8FC448870957}" dt="2026-09-03T07:28:21.207" v="1525" actId="14100"/>
        <pc:sldMkLst>
          <pc:docMk/>
          <pc:sldMk cId="0" sldId="264"/>
        </pc:sldMkLst>
        <pc:spChg chg="mod">
          <ac:chgData name="Sridhar Pappu" userId="6a4d489a-acfb-443e-bb25-e68ce7a2eb10" providerId="ADAL" clId="{996AB0F8-A0D8-42BE-871D-8FC448870957}" dt="2026-09-03T05:59:30.351" v="1134" actId="113"/>
          <ac:spMkLst>
            <pc:docMk/>
            <pc:sldMk cId="0" sldId="264"/>
            <ac:spMk id="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5:59:41.826" v="1135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5:59:48.823" v="1152" actId="10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5:59:48.823" v="1152" actId="103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5:59:48.823" v="1152" actId="103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5:59:48.823" v="1152" actId="103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28:21.207" v="1525" actId="14100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4:57.027" v="1183" actId="27636"/>
          <ac:spMkLst>
            <pc:docMk/>
            <pc:sldMk cId="0" sldId="264"/>
            <ac:spMk id="14" creationId="{00000000-0000-0000-0000-000000000000}"/>
          </ac:spMkLst>
        </pc:spChg>
        <pc:picChg chg="mod">
          <ac:chgData name="Sridhar Pappu" userId="6a4d489a-acfb-443e-bb25-e68ce7a2eb10" providerId="ADAL" clId="{996AB0F8-A0D8-42BE-871D-8FC448870957}" dt="2026-09-01T06:10:18.008" v="953" actId="1076"/>
          <ac:picMkLst>
            <pc:docMk/>
            <pc:sldMk cId="0" sldId="264"/>
            <ac:picMk id="8" creationId="{00000000-0000-0000-0000-000000000000}"/>
          </ac:picMkLst>
        </pc:picChg>
      </pc:sldChg>
      <pc:sldChg chg="delSp modSp mod">
        <pc:chgData name="Sridhar Pappu" userId="6a4d489a-acfb-443e-bb25-e68ce7a2eb10" providerId="ADAL" clId="{996AB0F8-A0D8-42BE-871D-8FC448870957}" dt="2026-09-01T06:15:05.838" v="1094" actId="478"/>
        <pc:sldMkLst>
          <pc:docMk/>
          <pc:sldMk cId="0" sldId="265"/>
        </pc:sldMkLst>
        <pc:spChg chg="mod">
          <ac:chgData name="Sridhar Pappu" userId="6a4d489a-acfb-443e-bb25-e68ce7a2eb10" providerId="ADAL" clId="{996AB0F8-A0D8-42BE-871D-8FC448870957}" dt="2026-09-01T06:12:20.458" v="1006" actId="14100"/>
          <ac:spMkLst>
            <pc:docMk/>
            <pc:sldMk cId="0" sldId="265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4:01.670" v="1052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4:01.670" v="1052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3:45.121" v="1050" actId="403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3:03.170" v="1033" actId="1410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3:45.121" v="1050" actId="403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2:35.791" v="1015" actId="40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3:06.756" v="1035" actId="2763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3:45.121" v="1050" actId="403"/>
          <ac:spMkLst>
            <pc:docMk/>
            <pc:sldMk cId="0" sldId="265"/>
            <ac:spMk id="1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2:35.791" v="1015" actId="403"/>
          <ac:spMkLst>
            <pc:docMk/>
            <pc:sldMk cId="0" sldId="265"/>
            <ac:spMk id="1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3:10.075" v="1037" actId="2763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3:45.121" v="1050" actId="403"/>
          <ac:spMkLst>
            <pc:docMk/>
            <pc:sldMk cId="0" sldId="265"/>
            <ac:spMk id="1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3:12.439" v="1039" actId="2763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3:45.121" v="1050" actId="403"/>
          <ac:spMkLst>
            <pc:docMk/>
            <pc:sldMk cId="0" sldId="265"/>
            <ac:spMk id="2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1T06:14:54.961" v="1092" actId="14100"/>
          <ac:spMkLst>
            <pc:docMk/>
            <pc:sldMk cId="0" sldId="265"/>
            <ac:spMk id="23" creationId="{00000000-0000-0000-0000-000000000000}"/>
          </ac:spMkLst>
        </pc:spChg>
      </pc:sldChg>
      <pc:sldChg chg="delSp modSp mod">
        <pc:chgData name="Sridhar Pappu" userId="6a4d489a-acfb-443e-bb25-e68ce7a2eb10" providerId="ADAL" clId="{996AB0F8-A0D8-42BE-871D-8FC448870957}" dt="2026-09-03T06:12:02.215" v="1230" actId="1035"/>
        <pc:sldMkLst>
          <pc:docMk/>
          <pc:sldMk cId="0" sldId="266"/>
        </pc:sldMkLst>
        <pc:spChg chg="mod">
          <ac:chgData name="Sridhar Pappu" userId="6a4d489a-acfb-443e-bb25-e68ce7a2eb10" providerId="ADAL" clId="{996AB0F8-A0D8-42BE-871D-8FC448870957}" dt="2026-09-03T06:06:02.813" v="1184" actId="403"/>
          <ac:spMkLst>
            <pc:docMk/>
            <pc:sldMk cId="0" sldId="266"/>
            <ac:spMk id="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9:54.175" v="1206" actId="403"/>
          <ac:spMkLst>
            <pc:docMk/>
            <pc:sldMk cId="0" sldId="266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2:02.215" v="1230" actId="1035"/>
          <ac:spMkLst>
            <pc:docMk/>
            <pc:sldMk cId="0" sldId="266"/>
            <ac:spMk id="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2:02.215" v="1230" actId="1035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9:54.175" v="1206" actId="403"/>
          <ac:spMkLst>
            <pc:docMk/>
            <pc:sldMk cId="0" sldId="266"/>
            <ac:spMk id="1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2:02.215" v="1230" actId="103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9:54.175" v="1206" actId="403"/>
          <ac:spMkLst>
            <pc:docMk/>
            <pc:sldMk cId="0" sldId="266"/>
            <ac:spMk id="1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2:02.215" v="1230" actId="1035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9:54.175" v="1206" actId="403"/>
          <ac:spMkLst>
            <pc:docMk/>
            <pc:sldMk cId="0" sldId="266"/>
            <ac:spMk id="15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2:02.215" v="1230" actId="1035"/>
          <ac:spMkLst>
            <pc:docMk/>
            <pc:sldMk cId="0" sldId="266"/>
            <ac:spMk id="1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09:54.175" v="1206" actId="403"/>
          <ac:spMkLst>
            <pc:docMk/>
            <pc:sldMk cId="0" sldId="266"/>
            <ac:spMk id="1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2:02.215" v="1230" actId="1035"/>
          <ac:spMkLst>
            <pc:docMk/>
            <pc:sldMk cId="0" sldId="266"/>
            <ac:spMk id="18" creationId="{00000000-0000-0000-0000-000000000000}"/>
          </ac:spMkLst>
        </pc:spChg>
        <pc:spChg chg="del">
          <ac:chgData name="Sridhar Pappu" userId="6a4d489a-acfb-443e-bb25-e68ce7a2eb10" providerId="ADAL" clId="{996AB0F8-A0D8-42BE-871D-8FC448870957}" dt="2026-09-03T06:06:37.429" v="1185" actId="478"/>
          <ac:spMkLst>
            <pc:docMk/>
            <pc:sldMk cId="0" sldId="266"/>
            <ac:spMk id="20" creationId="{00000000-0000-0000-0000-000000000000}"/>
          </ac:spMkLst>
        </pc:spChg>
      </pc:sldChg>
      <pc:sldChg chg="delSp modSp mod">
        <pc:chgData name="Sridhar Pappu" userId="6a4d489a-acfb-443e-bb25-e68ce7a2eb10" providerId="ADAL" clId="{996AB0F8-A0D8-42BE-871D-8FC448870957}" dt="2026-09-03T06:15:33.299" v="1302" actId="255"/>
        <pc:sldMkLst>
          <pc:docMk/>
          <pc:sldMk cId="0" sldId="267"/>
        </pc:sldMkLst>
        <pc:spChg chg="mod">
          <ac:chgData name="Sridhar Pappu" userId="6a4d489a-acfb-443e-bb25-e68ce7a2eb10" providerId="ADAL" clId="{996AB0F8-A0D8-42BE-871D-8FC448870957}" dt="2026-09-03T06:12:34.766" v="1231" actId="403"/>
          <ac:spMkLst>
            <pc:docMk/>
            <pc:sldMk cId="0" sldId="267"/>
            <ac:spMk id="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4:22.919" v="1247" actId="403"/>
          <ac:spMkLst>
            <pc:docMk/>
            <pc:sldMk cId="0" sldId="267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4:22.919" v="1247" actId="403"/>
          <ac:spMkLst>
            <pc:docMk/>
            <pc:sldMk cId="0" sldId="267"/>
            <ac:spMk id="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4:22.919" v="1247" actId="403"/>
          <ac:spMkLst>
            <pc:docMk/>
            <pc:sldMk cId="0" sldId="267"/>
            <ac:spMk id="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4:22.919" v="1247" actId="403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4:22.919" v="1247" actId="403"/>
          <ac:spMkLst>
            <pc:docMk/>
            <pc:sldMk cId="0" sldId="267"/>
            <ac:spMk id="1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4:22.919" v="1247" actId="403"/>
          <ac:spMkLst>
            <pc:docMk/>
            <pc:sldMk cId="0" sldId="267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5:18.326" v="1300" actId="403"/>
          <ac:spMkLst>
            <pc:docMk/>
            <pc:sldMk cId="0" sldId="267"/>
            <ac:spMk id="1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5:26.117" v="1301" actId="255"/>
          <ac:spMkLst>
            <pc:docMk/>
            <pc:sldMk cId="0" sldId="267"/>
            <ac:spMk id="14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5:33.299" v="1302" actId="255"/>
          <ac:spMkLst>
            <pc:docMk/>
            <pc:sldMk cId="0" sldId="267"/>
            <ac:spMk id="15" creationId="{00000000-0000-0000-0000-000000000000}"/>
          </ac:spMkLst>
        </pc:spChg>
        <pc:spChg chg="del">
          <ac:chgData name="Sridhar Pappu" userId="6a4d489a-acfb-443e-bb25-e68ce7a2eb10" providerId="ADAL" clId="{996AB0F8-A0D8-42BE-871D-8FC448870957}" dt="2026-09-03T06:12:43.392" v="1232" actId="478"/>
          <ac:spMkLst>
            <pc:docMk/>
            <pc:sldMk cId="0" sldId="267"/>
            <ac:spMk id="16" creationId="{00000000-0000-0000-0000-000000000000}"/>
          </ac:spMkLst>
        </pc:spChg>
      </pc:sldChg>
      <pc:sldChg chg="delSp modSp mod">
        <pc:chgData name="Sridhar Pappu" userId="6a4d489a-acfb-443e-bb25-e68ce7a2eb10" providerId="ADAL" clId="{996AB0F8-A0D8-42BE-871D-8FC448870957}" dt="2026-09-03T07:33:13.726" v="1593" actId="14100"/>
        <pc:sldMkLst>
          <pc:docMk/>
          <pc:sldMk cId="0" sldId="268"/>
        </pc:sldMkLst>
        <pc:spChg chg="mod">
          <ac:chgData name="Sridhar Pappu" userId="6a4d489a-acfb-443e-bb25-e68ce7a2eb10" providerId="ADAL" clId="{996AB0F8-A0D8-42BE-871D-8FC448870957}" dt="2026-09-03T06:18:05.525" v="1355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6:13.400" v="1306" actId="403"/>
          <ac:spMkLst>
            <pc:docMk/>
            <pc:sldMk cId="0" sldId="268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31:40.872" v="1565" actId="404"/>
          <ac:spMkLst>
            <pc:docMk/>
            <pc:sldMk cId="0" sldId="268"/>
            <ac:spMk id="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6:13.400" v="1306" actId="403"/>
          <ac:spMkLst>
            <pc:docMk/>
            <pc:sldMk cId="0" sldId="268"/>
            <ac:spMk id="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31:53.026" v="1568" actId="1410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6:13.400" v="1306" actId="403"/>
          <ac:spMkLst>
            <pc:docMk/>
            <pc:sldMk cId="0" sldId="268"/>
            <ac:spMk id="1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31:34.210" v="1564" actId="404"/>
          <ac:spMkLst>
            <pc:docMk/>
            <pc:sldMk cId="0" sldId="268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6:13.400" v="1306" actId="40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32:23.656" v="1574" actId="1035"/>
          <ac:spMkLst>
            <pc:docMk/>
            <pc:sldMk cId="0" sldId="268"/>
            <ac:spMk id="14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6:13.400" v="1306" actId="403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32:45.754" v="1588" actId="103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6:13.400" v="1306" actId="403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33:13.726" v="1593" actId="14100"/>
          <ac:spMkLst>
            <pc:docMk/>
            <pc:sldMk cId="0" sldId="268"/>
            <ac:spMk id="18" creationId="{00000000-0000-0000-0000-000000000000}"/>
          </ac:spMkLst>
        </pc:spChg>
        <pc:spChg chg="del">
          <ac:chgData name="Sridhar Pappu" userId="6a4d489a-acfb-443e-bb25-e68ce7a2eb10" providerId="ADAL" clId="{996AB0F8-A0D8-42BE-871D-8FC448870957}" dt="2026-09-03T06:13:20.186" v="1234" actId="478"/>
          <ac:spMkLst>
            <pc:docMk/>
            <pc:sldMk cId="0" sldId="268"/>
            <ac:spMk id="19" creationId="{00000000-0000-0000-0000-000000000000}"/>
          </ac:spMkLst>
        </pc:spChg>
      </pc:sldChg>
      <pc:sldChg chg="delSp modSp mod">
        <pc:chgData name="Sridhar Pappu" userId="6a4d489a-acfb-443e-bb25-e68ce7a2eb10" providerId="ADAL" clId="{996AB0F8-A0D8-42BE-871D-8FC448870957}" dt="2026-09-03T07:24:38.785" v="1492" actId="20577"/>
        <pc:sldMkLst>
          <pc:docMk/>
          <pc:sldMk cId="0" sldId="269"/>
        </pc:sldMkLst>
        <pc:spChg chg="mod">
          <ac:chgData name="Sridhar Pappu" userId="6a4d489a-acfb-443e-bb25-e68ce7a2eb10" providerId="ADAL" clId="{996AB0F8-A0D8-42BE-871D-8FC448870957}" dt="2026-09-03T06:17:56.118" v="1343" actId="20577"/>
          <ac:spMkLst>
            <pc:docMk/>
            <pc:sldMk cId="0" sldId="269"/>
            <ac:spMk id="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8:52.415" v="1359" actId="14100"/>
          <ac:spMkLst>
            <pc:docMk/>
            <pc:sldMk cId="0" sldId="269"/>
            <ac:spMk id="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23:39.329" v="1432" actId="1035"/>
          <ac:spMkLst>
            <pc:docMk/>
            <pc:sldMk cId="0" sldId="269"/>
            <ac:spMk id="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8:52.415" v="1359" actId="14100"/>
          <ac:spMkLst>
            <pc:docMk/>
            <pc:sldMk cId="0" sldId="269"/>
            <ac:spMk id="9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23:39.329" v="1432" actId="1035"/>
          <ac:spMkLst>
            <pc:docMk/>
            <pc:sldMk cId="0" sldId="269"/>
            <ac:spMk id="10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8:52.415" v="1359" actId="14100"/>
          <ac:spMkLst>
            <pc:docMk/>
            <pc:sldMk cId="0" sldId="269"/>
            <ac:spMk id="11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23:39.329" v="1432" actId="103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8:52.415" v="1359" actId="14100"/>
          <ac:spMkLst>
            <pc:docMk/>
            <pc:sldMk cId="0" sldId="269"/>
            <ac:spMk id="13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23:54.306" v="1444" actId="20577"/>
          <ac:spMkLst>
            <pc:docMk/>
            <pc:sldMk cId="0" sldId="269"/>
            <ac:spMk id="14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8:52.415" v="1359" actId="14100"/>
          <ac:spMkLst>
            <pc:docMk/>
            <pc:sldMk cId="0" sldId="269"/>
            <ac:spMk id="15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24:12.410" v="1460" actId="20577"/>
          <ac:spMkLst>
            <pc:docMk/>
            <pc:sldMk cId="0" sldId="269"/>
            <ac:spMk id="16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8:52.415" v="1359" actId="14100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7:24:38.785" v="1492" actId="20577"/>
          <ac:spMkLst>
            <pc:docMk/>
            <pc:sldMk cId="0" sldId="269"/>
            <ac:spMk id="18" creationId="{00000000-0000-0000-0000-000000000000}"/>
          </ac:spMkLst>
        </pc:spChg>
        <pc:spChg chg="mod">
          <ac:chgData name="Sridhar Pappu" userId="6a4d489a-acfb-443e-bb25-e68ce7a2eb10" providerId="ADAL" clId="{996AB0F8-A0D8-42BE-871D-8FC448870957}" dt="2026-09-03T06:17:39.831" v="1331" actId="403"/>
          <ac:spMkLst>
            <pc:docMk/>
            <pc:sldMk cId="0" sldId="269"/>
            <ac:spMk id="19" creationId="{00000000-0000-0000-0000-000000000000}"/>
          </ac:spMkLst>
        </pc:spChg>
        <pc:spChg chg="del">
          <ac:chgData name="Sridhar Pappu" userId="6a4d489a-acfb-443e-bb25-e68ce7a2eb10" providerId="ADAL" clId="{996AB0F8-A0D8-42BE-871D-8FC448870957}" dt="2026-09-03T06:13:16.565" v="1233" actId="478"/>
          <ac:spMkLst>
            <pc:docMk/>
            <pc:sldMk cId="0" sldId="269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9345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yu_campus.jpg"/>
          <p:cNvPicPr>
            <a:picLocks noChangeAspect="1"/>
          </p:cNvPicPr>
          <p:nvPr/>
        </p:nvPicPr>
        <p:blipFill>
          <a:blip r:embed="rId3"/>
          <a:srcRect l="15000" r="54447"/>
          <a:stretch/>
        </p:blipFill>
        <p:spPr>
          <a:xfrm>
            <a:off x="7360920" y="0"/>
            <a:ext cx="48280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234440"/>
            <a:ext cx="63499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E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 Yamamah University -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E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InsightVerge Applied AI Partnership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21792" y="2679192"/>
            <a:ext cx="6115438" cy="749808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600" dirty="0">
                <a:latin typeface="Aptos"/>
              </a:rPr>
              <a:t>AI Skill Weeks, executive academies, applied AI </a:t>
            </a:r>
            <a:r>
              <a:rPr lang="en-IN" sz="1600" dirty="0">
                <a:latin typeface="Aptos"/>
              </a:rPr>
              <a:t>Centre of Excellence</a:t>
            </a:r>
            <a:r>
              <a:rPr sz="1600" dirty="0">
                <a:latin typeface="Aptos"/>
              </a:rPr>
              <a:t> and academic pathways for Saudi Arabia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21792" y="3703320"/>
            <a:ext cx="3063240" cy="320040"/>
          </a:xfrm>
          <a:prstGeom prst="rect">
            <a:avLst/>
          </a:prstGeom>
          <a:solidFill>
            <a:srgbClr val="C89A2B"/>
          </a:solidFill>
          <a:ln>
            <a:solidFill>
              <a:srgbClr val="C89A2B"/>
            </a:solidFill>
          </a:ln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Strategic concept note | August 2026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21792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A2B"/>
                </a:solidFill>
              </a:rPr>
              <a:t>Core proposition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1" y="4956048"/>
            <a:ext cx="5968789" cy="749808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400" dirty="0">
                <a:latin typeface="Aptos"/>
              </a:rPr>
              <a:t>Build market traction first through Skill Weeks and executive offerings; then stack evidence into certificates, professional credentials, AI-for-X pathways and later advanced academic programs.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InsightVerge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12280" y="182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Yamamah University Applied AI Initiative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CFE0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E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partnership now?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1234439"/>
            <a:ext cx="6583680" cy="502919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marL="0" indent="0">
              <a:buNone/>
            </a:pPr>
            <a:r>
              <a:rPr sz="1600" dirty="0">
                <a:latin typeface="Aptos"/>
              </a:rPr>
              <a:t>Saudi Arabia needs AI capability that converts learning into deployed systems, responsible adoption and measurable value.</a:t>
            </a:r>
            <a:endParaRPr lang="en-US" sz="1600" dirty="0"/>
          </a:p>
        </p:txBody>
      </p:sp>
      <p:pic>
        <p:nvPicPr>
          <p:cNvPr id="8" name="Image 0" descr="/mnt/data/riyadh_digital.png"/>
          <p:cNvPicPr>
            <a:picLocks noChangeAspect="1"/>
          </p:cNvPicPr>
          <p:nvPr/>
        </p:nvPicPr>
        <p:blipFill>
          <a:blip r:embed="rId3"/>
          <a:srcRect l="8000" t="5000" r="24613" b="7000"/>
          <a:stretch/>
        </p:blipFill>
        <p:spPr>
          <a:xfrm>
            <a:off x="7726680" y="960120"/>
            <a:ext cx="3886200" cy="5074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874520"/>
            <a:ext cx="2103120" cy="1874520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</a:rPr>
              <a:t>National pull
</a:t>
            </a:r>
            <a:r>
              <a:rPr lang="en-US" sz="1400" dirty="0">
                <a:solidFill>
                  <a:srgbClr val="1F2A24"/>
                </a:solidFill>
              </a:rPr>
              <a:t>Data and AI strategy emphasizes workforce transformation, practical capability, responsible use and sectoral adoption.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999232" y="1874520"/>
            <a:ext cx="2103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</a:rPr>
              <a:t>YU platform
</a:t>
            </a:r>
            <a:r>
              <a:rPr lang="en-US" sz="1400" dirty="0">
                <a:solidFill>
                  <a:srgbClr val="1F2A24"/>
                </a:solidFill>
              </a:rPr>
              <a:t>Engineering, cybersecurity and executive education create a credible academic and professional base for applied AI.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321808" y="1874520"/>
            <a:ext cx="2103120" cy="1874520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</a:rPr>
              <a:t>Market gap
</a:t>
            </a:r>
            <a:r>
              <a:rPr lang="en-US" sz="1400" dirty="0">
                <a:solidFill>
                  <a:srgbClr val="1F2A24"/>
                </a:solidFill>
              </a:rPr>
              <a:t>Many learners know AI concepts; fewer can build, deploy, govern and defend real AI systems.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8580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A2B"/>
                </a:solidFill>
              </a:rPr>
              <a:t>Need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85800" y="4867023"/>
            <a:ext cx="6675120" cy="637492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lang="en-IN" dirty="0">
                <a:latin typeface="Aptos"/>
              </a:rPr>
              <a:t>What is needed is an </a:t>
            </a:r>
            <a:r>
              <a:rPr dirty="0">
                <a:latin typeface="Aptos"/>
              </a:rPr>
              <a:t>applied AI capability platform - not a generic training menu.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InsightVerge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12280" y="182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Yamamah University Applied AI Initiative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CFE0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E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strategic fit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7" y="1234440"/>
            <a:ext cx="9963338" cy="393192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marL="0" indent="0">
              <a:buNone/>
            </a:pPr>
            <a:r>
              <a:rPr sz="1600" dirty="0">
                <a:latin typeface="Aptos"/>
              </a:rPr>
              <a:t>Al Yamamah can serve students, professionals, enterprise teams and faculty through one integrated AI platform.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520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3B2E"/>
                </a:solidFill>
              </a:rPr>
              <a:t>Academic base
</a:t>
            </a:r>
            <a:r>
              <a:rPr lang="en-US" sz="1400" dirty="0">
                <a:solidFill>
                  <a:srgbClr val="1F2A24"/>
                </a:solidFill>
              </a:rPr>
              <a:t>Software, network/security, industrial engineering, architecture and cybersecurity.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0" y="1783080"/>
            <a:ext cx="3520440" cy="1143000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3B2E"/>
                </a:solidFill>
              </a:rPr>
              <a:t>Executive channel
</a:t>
            </a:r>
            <a:r>
              <a:rPr lang="en-US" sz="1400" dirty="0">
                <a:solidFill>
                  <a:srgbClr val="0E3B2E"/>
                </a:solidFill>
              </a:rPr>
              <a:t>Centre for Executive Education (</a:t>
            </a:r>
            <a:r>
              <a:rPr lang="en-US" sz="1400" dirty="0">
                <a:solidFill>
                  <a:srgbClr val="1F2A24"/>
                </a:solidFill>
              </a:rPr>
              <a:t>CEE) can convert AI demand into short, customized and leadership programs.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35204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3B2E"/>
                </a:solidFill>
              </a:rPr>
              <a:t>Enterprise relevance
</a:t>
            </a:r>
            <a:r>
              <a:rPr lang="en-US" sz="1400" dirty="0">
                <a:solidFill>
                  <a:srgbClr val="1F2A24"/>
                </a:solidFill>
              </a:rPr>
              <a:t>Corporate and government relationships can become a problem-bank and project engine.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3520440" cy="1143000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1651" tIns="1651" rIns="1651" bIns="1651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E3B2E"/>
                </a:solidFill>
              </a:rPr>
              <a:t>Saudi context
</a:t>
            </a:r>
            <a:r>
              <a:rPr lang="en-US" sz="1400" dirty="0">
                <a:solidFill>
                  <a:srgbClr val="1F2A24"/>
                </a:solidFill>
              </a:rPr>
              <a:t>Arabic*/English applications and local governance contexts create differentiation.</a:t>
            </a:r>
          </a:p>
          <a:p>
            <a:pPr marL="0" indent="0">
              <a:buNone/>
            </a:pPr>
            <a:endParaRPr lang="en-US" sz="1200" i="1" dirty="0">
              <a:solidFill>
                <a:srgbClr val="1F2A24"/>
              </a:solidFill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1F2A24"/>
                </a:solidFill>
              </a:rPr>
              <a:t>* </a:t>
            </a:r>
            <a:r>
              <a:rPr lang="en-US" sz="1200" i="1" dirty="0" err="1">
                <a:solidFill>
                  <a:srgbClr val="1F2A24"/>
                </a:solidFill>
              </a:rPr>
              <a:t>InsightVerge</a:t>
            </a:r>
            <a:r>
              <a:rPr lang="en-US" sz="1200" i="1" dirty="0">
                <a:solidFill>
                  <a:srgbClr val="1F2A24"/>
                </a:solidFill>
              </a:rPr>
              <a:t> will work with an expert in Arabic for this purpose.</a:t>
            </a:r>
            <a:endParaRPr lang="en-US" sz="1600" i="1" dirty="0"/>
          </a:p>
        </p:txBody>
      </p:sp>
      <p:sp>
        <p:nvSpPr>
          <p:cNvPr id="12" name="Text 10"/>
          <p:cNvSpPr/>
          <p:nvPr/>
        </p:nvSpPr>
        <p:spPr>
          <a:xfrm>
            <a:off x="82296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</a:rPr>
              <a:t>What InsightVerge adds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599" y="2240280"/>
            <a:ext cx="373828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F2A24"/>
                </a:solidFill>
              </a:rPr>
              <a:t>Applied AI curriculum architecture
Practitioner-led system design and review
Five-day build-week delivery model
Faculty development and QA transfer
Capstones with production-oriented evidence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7" y="5468471"/>
            <a:ext cx="11355235" cy="842682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dirty="0">
                <a:latin typeface="Aptos"/>
              </a:rPr>
              <a:t>Value promise: Move learners from AI awareness to AI engineering, adoption, governance and measurable outcomes.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1"/>
          <p:cNvSpPr/>
          <p:nvPr/>
        </p:nvSpPr>
        <p:spPr>
          <a:xfrm>
            <a:off x="1234440" y="2103120"/>
            <a:ext cx="9144000" cy="0"/>
          </a:xfrm>
          <a:prstGeom prst="line">
            <a:avLst/>
          </a:prstGeom>
          <a:noFill/>
          <a:ln w="19050">
            <a:solidFill>
              <a:srgbClr val="C89A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800" b="1">
                <a:latin typeface="+mj-lt"/>
              </a:rPr>
              <a:t>Portfolio architecture</a:t>
            </a:r>
          </a:p>
        </p:txBody>
      </p:sp>
      <p:sp>
        <p:nvSpPr>
          <p:cNvPr id="7" name="Text 5"/>
          <p:cNvSpPr/>
          <p:nvPr/>
        </p:nvSpPr>
        <p:spPr>
          <a:xfrm>
            <a:off x="612647" y="1234439"/>
            <a:ext cx="11155680" cy="393183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r>
              <a:rPr dirty="0"/>
              <a:t>Use the catalog as a ladder: short evidence-producing programs first, then credentials and academic pathways.</a:t>
            </a:r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548640" cy="548640"/>
          </a:xfrm>
          <a:prstGeom prst="rect">
            <a:avLst/>
          </a:prstGeom>
          <a:solidFill>
            <a:srgbClr val="0E3B2E"/>
          </a:solidFill>
          <a:ln>
            <a:solidFill>
              <a:srgbClr val="0E3B2E"/>
            </a:solidFill>
          </a:ln>
        </p:spPr>
        <p:txBody>
          <a:bodyPr wrap="square" lIns="254" tIns="254" rIns="254" bIns="254" rtlCol="0" anchor="ctr"/>
          <a:lstStyle/>
          <a:p>
            <a:pPr algn="ctr"/>
            <a:r>
              <a:rPr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b="1" dirty="0"/>
              <a:t>Applied AI</a:t>
            </a:r>
          </a:p>
          <a:p>
            <a:r>
              <a:rPr b="1" dirty="0"/>
              <a:t>Skill Weeks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3246118"/>
            <a:ext cx="1828800" cy="749809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 fontScale="92500" lnSpcReduction="20000"/>
          </a:bodyPr>
          <a:lstStyle/>
          <a:p>
            <a:r>
              <a:t>One week = One capability + one defensible artifact</a:t>
            </a:r>
          </a:p>
        </p:txBody>
      </p:sp>
      <p:sp>
        <p:nvSpPr>
          <p:cNvPr id="11" name="Text 9"/>
          <p:cNvSpPr/>
          <p:nvPr/>
        </p:nvSpPr>
        <p:spPr>
          <a:xfrm>
            <a:off x="2926080" y="1828800"/>
            <a:ext cx="548640" cy="548640"/>
          </a:xfrm>
          <a:prstGeom prst="rect">
            <a:avLst/>
          </a:prstGeom>
          <a:solidFill>
            <a:srgbClr val="0E3B2E"/>
          </a:solidFill>
          <a:ln>
            <a:solidFill>
              <a:srgbClr val="0E3B2E"/>
            </a:solidFill>
          </a:ln>
        </p:spPr>
        <p:txBody>
          <a:bodyPr wrap="square" lIns="254" tIns="254" rIns="254" bIns="254" rtlCol="0" anchor="ctr"/>
          <a:lstStyle/>
          <a:p>
            <a:pPr algn="ctr"/>
            <a:r>
              <a:rPr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2" name="Text 10"/>
          <p:cNvSpPr/>
          <p:nvPr/>
        </p:nvSpPr>
        <p:spPr>
          <a:xfrm>
            <a:off x="2971800" y="2560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b="1"/>
              <a:t>Certificate</a:t>
            </a:r>
          </a:p>
          <a:p>
            <a:r>
              <a:rPr b="1"/>
              <a:t>Pathways</a:t>
            </a:r>
          </a:p>
        </p:txBody>
      </p:sp>
      <p:sp>
        <p:nvSpPr>
          <p:cNvPr id="13" name="Text 11"/>
          <p:cNvSpPr/>
          <p:nvPr/>
        </p:nvSpPr>
        <p:spPr>
          <a:xfrm>
            <a:off x="2971800" y="3246118"/>
            <a:ext cx="1828800" cy="749809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r>
              <a:t>Evidence-based ladder</a:t>
            </a:r>
          </a:p>
        </p:txBody>
      </p:sp>
      <p:sp>
        <p:nvSpPr>
          <p:cNvPr id="14" name="Text 12"/>
          <p:cNvSpPr/>
          <p:nvPr/>
        </p:nvSpPr>
        <p:spPr>
          <a:xfrm>
            <a:off x="5166360" y="1828800"/>
            <a:ext cx="548640" cy="548640"/>
          </a:xfrm>
          <a:prstGeom prst="rect">
            <a:avLst/>
          </a:prstGeom>
          <a:solidFill>
            <a:srgbClr val="0E3B2E"/>
          </a:solidFill>
          <a:ln>
            <a:solidFill>
              <a:srgbClr val="0E3B2E"/>
            </a:solidFill>
          </a:ln>
        </p:spPr>
        <p:txBody>
          <a:bodyPr wrap="square" lIns="254" tIns="254" rIns="254" bIns="254" rtlCol="0" anchor="ctr"/>
          <a:lstStyle/>
          <a:p>
            <a:pPr algn="ctr"/>
            <a:r>
              <a:rPr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Text 13"/>
          <p:cNvSpPr/>
          <p:nvPr/>
        </p:nvSpPr>
        <p:spPr>
          <a:xfrm>
            <a:off x="5212080" y="2560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b="1"/>
              <a:t>Executive</a:t>
            </a:r>
          </a:p>
          <a:p>
            <a:r>
              <a:rPr b="1"/>
              <a:t>AI Academy</a:t>
            </a:r>
          </a:p>
        </p:txBody>
      </p:sp>
      <p:sp>
        <p:nvSpPr>
          <p:cNvPr id="16" name="Text 14"/>
          <p:cNvSpPr/>
          <p:nvPr/>
        </p:nvSpPr>
        <p:spPr>
          <a:xfrm>
            <a:off x="5212080" y="3246118"/>
            <a:ext cx="1828800" cy="749809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 fontScale="92500" lnSpcReduction="20000"/>
          </a:bodyPr>
          <a:lstStyle/>
          <a:p>
            <a:r>
              <a:t>Leaders + functions + sectors</a:t>
            </a:r>
          </a:p>
        </p:txBody>
      </p:sp>
      <p:sp>
        <p:nvSpPr>
          <p:cNvPr id="17" name="Text 15"/>
          <p:cNvSpPr/>
          <p:nvPr/>
        </p:nvSpPr>
        <p:spPr>
          <a:xfrm>
            <a:off x="7406640" y="1828800"/>
            <a:ext cx="548640" cy="548640"/>
          </a:xfrm>
          <a:prstGeom prst="rect">
            <a:avLst/>
          </a:prstGeom>
          <a:solidFill>
            <a:srgbClr val="0E3B2E"/>
          </a:solidFill>
          <a:ln>
            <a:solidFill>
              <a:srgbClr val="0E3B2E"/>
            </a:solidFill>
          </a:ln>
        </p:spPr>
        <p:txBody>
          <a:bodyPr wrap="square" lIns="254" tIns="254" rIns="254" bIns="254" rtlCol="0" anchor="ctr"/>
          <a:lstStyle/>
          <a:p>
            <a:pPr algn="ctr"/>
            <a:r>
              <a:rPr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8" name="Text 16"/>
          <p:cNvSpPr/>
          <p:nvPr/>
        </p:nvSpPr>
        <p:spPr>
          <a:xfrm>
            <a:off x="7452360" y="2560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b="1"/>
              <a:t>AI Centre of</a:t>
            </a:r>
          </a:p>
          <a:p>
            <a:r>
              <a:rPr b="1"/>
              <a:t>Excellence</a:t>
            </a:r>
          </a:p>
        </p:txBody>
      </p:sp>
      <p:sp>
        <p:nvSpPr>
          <p:cNvPr id="19" name="Text 17"/>
          <p:cNvSpPr/>
          <p:nvPr/>
        </p:nvSpPr>
        <p:spPr>
          <a:xfrm>
            <a:off x="7452360" y="3246118"/>
            <a:ext cx="1828800" cy="749809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r>
              <a:t>Problem bank + artifact QA</a:t>
            </a:r>
          </a:p>
        </p:txBody>
      </p:sp>
      <p:sp>
        <p:nvSpPr>
          <p:cNvPr id="20" name="Text 18"/>
          <p:cNvSpPr/>
          <p:nvPr/>
        </p:nvSpPr>
        <p:spPr>
          <a:xfrm>
            <a:off x="9646920" y="1828800"/>
            <a:ext cx="548640" cy="548640"/>
          </a:xfrm>
          <a:prstGeom prst="rect">
            <a:avLst/>
          </a:prstGeom>
          <a:solidFill>
            <a:srgbClr val="0E3B2E"/>
          </a:solidFill>
          <a:ln>
            <a:solidFill>
              <a:srgbClr val="0E3B2E"/>
            </a:solidFill>
          </a:ln>
        </p:spPr>
        <p:txBody>
          <a:bodyPr wrap="square" lIns="254" tIns="254" rIns="254" bIns="254" rtlCol="0" anchor="ctr"/>
          <a:lstStyle/>
          <a:p>
            <a:pPr algn="ctr"/>
            <a:r>
              <a:rPr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1" name="Text 19"/>
          <p:cNvSpPr/>
          <p:nvPr/>
        </p:nvSpPr>
        <p:spPr>
          <a:xfrm>
            <a:off x="9692640" y="25603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b="1"/>
              <a:t>Academic</a:t>
            </a:r>
          </a:p>
          <a:p>
            <a:r>
              <a:rPr b="1"/>
              <a:t>Pathways</a:t>
            </a:r>
          </a:p>
        </p:txBody>
      </p:sp>
      <p:sp>
        <p:nvSpPr>
          <p:cNvPr id="22" name="Text 20"/>
          <p:cNvSpPr/>
          <p:nvPr/>
        </p:nvSpPr>
        <p:spPr>
          <a:xfrm>
            <a:off x="9692640" y="3246118"/>
            <a:ext cx="1828800" cy="749809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 fontScale="92500" lnSpcReduction="20000"/>
          </a:bodyPr>
          <a:lstStyle/>
          <a:p>
            <a:r>
              <a:t>Diploma, master’s, research</a:t>
            </a:r>
          </a:p>
        </p:txBody>
      </p:sp>
      <p:sp>
        <p:nvSpPr>
          <p:cNvPr id="24" name="Text 22"/>
          <p:cNvSpPr/>
          <p:nvPr/>
        </p:nvSpPr>
        <p:spPr>
          <a:xfrm>
            <a:off x="612647" y="4581147"/>
            <a:ext cx="10771633" cy="1272806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Autofit/>
          </a:bodyPr>
          <a:lstStyle/>
          <a:p>
            <a:r>
              <a:rPr dirty="0">
                <a:latin typeface="Aptos"/>
              </a:rPr>
              <a:t>Immediate launch:   </a:t>
            </a:r>
            <a:r>
              <a:rPr lang="en-IN" dirty="0">
                <a:latin typeface="Aptos"/>
              </a:rPr>
              <a:t>	</a:t>
            </a:r>
            <a:r>
              <a:rPr dirty="0">
                <a:latin typeface="Aptos"/>
              </a:rPr>
              <a:t>Skill Weeks, executive cohorts and </a:t>
            </a:r>
            <a:r>
              <a:rPr dirty="0" err="1">
                <a:latin typeface="Aptos"/>
              </a:rPr>
              <a:t>CoE</a:t>
            </a:r>
            <a:r>
              <a:rPr dirty="0">
                <a:latin typeface="Aptos"/>
              </a:rPr>
              <a:t> / Studio pilots.</a:t>
            </a:r>
          </a:p>
          <a:p>
            <a:endParaRPr dirty="0">
              <a:latin typeface="Aptos"/>
            </a:endParaRPr>
          </a:p>
          <a:p>
            <a:r>
              <a:rPr dirty="0">
                <a:latin typeface="Aptos"/>
              </a:rPr>
              <a:t>Scaling:   </a:t>
            </a:r>
            <a:r>
              <a:rPr lang="en-IN" dirty="0">
                <a:latin typeface="Aptos"/>
              </a:rPr>
              <a:t>		</a:t>
            </a:r>
            <a:r>
              <a:rPr dirty="0">
                <a:latin typeface="Aptos"/>
              </a:rPr>
              <a:t>Certificates, professional credentials and academic pathways, based on artifact </a:t>
            </a:r>
            <a:r>
              <a:rPr lang="en-IN" dirty="0">
                <a:latin typeface="Aptos"/>
              </a:rPr>
              <a:t>			</a:t>
            </a:r>
            <a:r>
              <a:rPr dirty="0">
                <a:latin typeface="Aptos"/>
              </a:rPr>
              <a:t>quality, learner demand and employer feedback.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499DD78-CD2A-2388-F74B-841EE9F8E524}"/>
              </a:ext>
            </a:extLst>
          </p:cNvPr>
          <p:cNvSpPr/>
          <p:nvPr/>
        </p:nvSpPr>
        <p:spPr>
          <a:xfrm>
            <a:off x="502920" y="182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InsightVerge</a:t>
            </a:r>
            <a:endParaRPr lang="en-US" sz="9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DE92B41F-D51F-625D-D77B-BECE94981BE1}"/>
              </a:ext>
            </a:extLst>
          </p:cNvPr>
          <p:cNvSpPr/>
          <p:nvPr/>
        </p:nvSpPr>
        <p:spPr>
          <a:xfrm>
            <a:off x="6812280" y="182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Yamamah University Applied AI Initiative</a:t>
            </a:r>
            <a:endParaRPr lang="en-US" sz="8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92B69F73-D51E-5916-2AEA-CB9DA0386D0E}"/>
              </a:ext>
            </a:extLst>
          </p:cNvPr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CFE0D5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InsightVerge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12280" y="182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Yamamah University Applied AI Initiative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CFE0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E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 Week portfolio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7" y="1234439"/>
            <a:ext cx="8495494" cy="310885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marL="0" indent="0">
              <a:buNone/>
            </a:pPr>
            <a:r>
              <a:rPr sz="1600" dirty="0">
                <a:latin typeface="Aptos"/>
              </a:rPr>
              <a:t>Each week bundles related catalog units and culminates in a working artifact mapped to roles.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2311998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sz="1400" b="1" dirty="0">
                <a:latin typeface="Aptos"/>
              </a:rPr>
              <a:t>AI Engineering Foundations </a:t>
            </a:r>
            <a:endParaRPr lang="en-IN" sz="1400" b="1" dirty="0">
              <a:latin typeface="Aptos"/>
            </a:endParaRPr>
          </a:p>
          <a:p>
            <a:pPr marL="0" indent="0">
              <a:buNone/>
            </a:pPr>
            <a:endParaRPr lang="en-IN" sz="1400" b="1" dirty="0">
              <a:latin typeface="Aptos"/>
            </a:endParaRPr>
          </a:p>
          <a:p>
            <a:pPr marL="0" indent="0">
              <a:buNone/>
            </a:pPr>
            <a:r>
              <a:rPr sz="1400" dirty="0">
                <a:latin typeface="Aptos"/>
              </a:rPr>
              <a:t>Python, data, Git/Linux and statistics foundations; output: reproducible AI workflow.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171712" y="1737359"/>
            <a:ext cx="2311998" cy="1344169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 fontScale="92500"/>
          </a:bodyPr>
          <a:lstStyle/>
          <a:p>
            <a:pPr marL="0" indent="0">
              <a:buNone/>
            </a:pPr>
            <a:r>
              <a:rPr sz="1400" b="1" dirty="0">
                <a:latin typeface="Aptos"/>
              </a:rPr>
              <a:t>GenAI Application Engineering</a:t>
            </a:r>
            <a:endParaRPr lang="en-IN" sz="1400" b="1" dirty="0">
              <a:latin typeface="Aptos"/>
            </a:endParaRPr>
          </a:p>
          <a:p>
            <a:pPr marL="0" indent="0">
              <a:buNone/>
            </a:pPr>
            <a:endParaRPr lang="en-IN" sz="1400" dirty="0">
              <a:latin typeface="Aptos"/>
            </a:endParaRPr>
          </a:p>
          <a:p>
            <a:pPr marL="0" indent="0">
              <a:buNone/>
            </a:pPr>
            <a:r>
              <a:rPr sz="1400" dirty="0">
                <a:latin typeface="Aptos"/>
              </a:rPr>
              <a:t>Prompting, embeddings, RAG, guardrails and evaluation; output: enterprise GenAI app.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30729" y="1737360"/>
            <a:ext cx="2311998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/>
          </a:bodyPr>
          <a:lstStyle/>
          <a:p>
            <a:pPr marL="0" indent="0">
              <a:buNone/>
            </a:pPr>
            <a:r>
              <a:rPr sz="1400" b="1" dirty="0">
                <a:latin typeface="Aptos"/>
              </a:rPr>
              <a:t>Agentic AI + Orchestration</a:t>
            </a:r>
            <a:r>
              <a:rPr sz="1400" dirty="0">
                <a:latin typeface="Aptos"/>
              </a:rPr>
              <a:t> </a:t>
            </a:r>
            <a:endParaRPr lang="en-IN" sz="1400" dirty="0">
              <a:latin typeface="Aptos"/>
            </a:endParaRPr>
          </a:p>
          <a:p>
            <a:pPr marL="0" indent="0">
              <a:buNone/>
            </a:pPr>
            <a:endParaRPr lang="en-IN" sz="1400" dirty="0">
              <a:latin typeface="Aptos"/>
            </a:endParaRPr>
          </a:p>
          <a:p>
            <a:pPr marL="0" indent="0">
              <a:buNone/>
            </a:pPr>
            <a:r>
              <a:rPr sz="1400" dirty="0">
                <a:latin typeface="Aptos"/>
              </a:rPr>
              <a:t>Tool use, memory, workflows and human gates; output: controlled agentic workflow.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2311998" cy="1344168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 fontScale="92500"/>
          </a:bodyPr>
          <a:lstStyle/>
          <a:p>
            <a:pPr marL="0" indent="0">
              <a:buNone/>
            </a:pPr>
            <a:r>
              <a:rPr sz="1400" b="1" dirty="0">
                <a:latin typeface="Aptos"/>
              </a:rPr>
              <a:t>Production AI: </a:t>
            </a:r>
            <a:r>
              <a:rPr sz="1400" b="1" dirty="0" err="1">
                <a:latin typeface="Aptos"/>
              </a:rPr>
              <a:t>LLMOps</a:t>
            </a:r>
            <a:r>
              <a:rPr sz="1400" b="1" dirty="0">
                <a:latin typeface="Aptos"/>
              </a:rPr>
              <a:t>/</a:t>
            </a:r>
            <a:r>
              <a:rPr sz="1400" b="1" dirty="0" err="1">
                <a:latin typeface="Aptos"/>
              </a:rPr>
              <a:t>AgentOps</a:t>
            </a:r>
            <a:endParaRPr lang="en-IN" sz="1400" b="1" dirty="0">
              <a:latin typeface="Aptos"/>
            </a:endParaRPr>
          </a:p>
          <a:p>
            <a:pPr marL="0" indent="0">
              <a:buNone/>
            </a:pPr>
            <a:endParaRPr lang="en-IN" sz="1400" dirty="0">
              <a:latin typeface="Aptos"/>
            </a:endParaRPr>
          </a:p>
          <a:p>
            <a:pPr marL="0" indent="0">
              <a:buNone/>
            </a:pPr>
            <a:r>
              <a:rPr sz="1400" dirty="0">
                <a:latin typeface="Aptos"/>
              </a:rPr>
              <a:t>APIs, containers, monitoring, token economics and rollback; output: deployed AI service.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171712" y="3383280"/>
            <a:ext cx="2311998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sz="1400" b="1" dirty="0">
                <a:latin typeface="Aptos"/>
              </a:rPr>
              <a:t>Responsible &amp; Secure AI</a:t>
            </a:r>
            <a:r>
              <a:rPr sz="1400" dirty="0">
                <a:latin typeface="Aptos"/>
              </a:rPr>
              <a:t> </a:t>
            </a:r>
            <a:endParaRPr lang="en-IN" sz="1400" dirty="0">
              <a:latin typeface="Aptos"/>
            </a:endParaRPr>
          </a:p>
          <a:p>
            <a:pPr marL="0" indent="0">
              <a:buNone/>
            </a:pPr>
            <a:endParaRPr lang="en-IN" sz="1400" dirty="0">
              <a:latin typeface="Aptos"/>
            </a:endParaRPr>
          </a:p>
          <a:p>
            <a:pPr marL="0" indent="0">
              <a:buNone/>
            </a:pPr>
            <a:r>
              <a:rPr sz="1400" dirty="0">
                <a:latin typeface="Aptos"/>
              </a:rPr>
              <a:t>Red teaming, privacy, security and system cards; output: risk pack and controls.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30729" y="3383280"/>
            <a:ext cx="2311998" cy="1344168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 lnSpcReduction="10000"/>
          </a:bodyPr>
          <a:lstStyle/>
          <a:p>
            <a:pPr marL="0" indent="0">
              <a:buNone/>
            </a:pPr>
            <a:r>
              <a:rPr sz="1400" b="1" dirty="0">
                <a:latin typeface="Aptos"/>
              </a:rPr>
              <a:t>Applied AI Industry Sprint</a:t>
            </a:r>
            <a:r>
              <a:rPr sz="1400" dirty="0">
                <a:latin typeface="Aptos"/>
              </a:rPr>
              <a:t> </a:t>
            </a:r>
            <a:endParaRPr lang="en-IN" sz="1400" dirty="0">
              <a:latin typeface="Aptos"/>
            </a:endParaRPr>
          </a:p>
          <a:p>
            <a:pPr marL="0" indent="0">
              <a:buNone/>
            </a:pPr>
            <a:endParaRPr lang="en-IN" sz="1400" dirty="0">
              <a:latin typeface="Aptos"/>
            </a:endParaRPr>
          </a:p>
          <a:p>
            <a:pPr marL="0" indent="0">
              <a:buNone/>
            </a:pPr>
            <a:r>
              <a:rPr sz="1400" dirty="0">
                <a:latin typeface="Aptos"/>
              </a:rPr>
              <a:t>Problem discovery through evaluated prototype; output: demo, defense and roadmap.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" y="4901184"/>
            <a:ext cx="10945368" cy="854964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dirty="0">
                <a:latin typeface="Aptos"/>
              </a:rPr>
              <a:t>Evaluation emphasize</a:t>
            </a:r>
            <a:r>
              <a:rPr lang="en-IN" dirty="0">
                <a:latin typeface="Aptos"/>
              </a:rPr>
              <a:t>s</a:t>
            </a:r>
            <a:r>
              <a:rPr dirty="0">
                <a:latin typeface="Aptos"/>
              </a:rPr>
              <a:t> artifact quality, engineering judgment, risk awareness, deployment readiness and practical defensibility.</a:t>
            </a:r>
            <a:endParaRPr lang="en-US" sz="28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49E4B0A-CE71-5E6E-BEF9-621841C533B4}"/>
              </a:ext>
            </a:extLst>
          </p:cNvPr>
          <p:cNvSpPr/>
          <p:nvPr/>
        </p:nvSpPr>
        <p:spPr>
          <a:xfrm>
            <a:off x="8767482" y="16962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</a:rPr>
              <a:t>Sample rhythm</a:t>
            </a:r>
            <a:endParaRPr lang="en-US" sz="20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9709398-CE84-9D6B-EFFC-C64EDC3E3398}"/>
              </a:ext>
            </a:extLst>
          </p:cNvPr>
          <p:cNvSpPr/>
          <p:nvPr/>
        </p:nvSpPr>
        <p:spPr>
          <a:xfrm>
            <a:off x="8767482" y="2153412"/>
            <a:ext cx="25603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CFE0D5"/>
            </a:solidFill>
          </a:ln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400">
                <a:latin typeface="Aptos"/>
              </a:rPr>
              <a:t>Day 1: Frame + foundations</a:t>
            </a:r>
            <a:endParaRPr lang="en-US" sz="2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DEED9DE-F86D-2647-6C50-03792A42CA46}"/>
              </a:ext>
            </a:extLst>
          </p:cNvPr>
          <p:cNvSpPr/>
          <p:nvPr/>
        </p:nvSpPr>
        <p:spPr>
          <a:xfrm>
            <a:off x="8767482" y="2656332"/>
            <a:ext cx="25603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CFE0D5"/>
            </a:solidFill>
          </a:ln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400">
                <a:latin typeface="Aptos"/>
              </a:rPr>
              <a:t>Day 2: Core build</a:t>
            </a:r>
            <a:endParaRPr lang="en-US" sz="2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D40BA3A1-8E40-14CF-D73B-8BE6352FA74E}"/>
              </a:ext>
            </a:extLst>
          </p:cNvPr>
          <p:cNvSpPr/>
          <p:nvPr/>
        </p:nvSpPr>
        <p:spPr>
          <a:xfrm>
            <a:off x="8767482" y="3159252"/>
            <a:ext cx="25603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CFE0D5"/>
            </a:solidFill>
          </a:ln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400">
                <a:latin typeface="Aptos"/>
              </a:rPr>
              <a:t>Day 3: Evaluate + improve</a:t>
            </a:r>
            <a:endParaRPr lang="en-US" sz="24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03587F9-29A9-DF6B-5488-0D908A06EFA5}"/>
              </a:ext>
            </a:extLst>
          </p:cNvPr>
          <p:cNvSpPr/>
          <p:nvPr/>
        </p:nvSpPr>
        <p:spPr>
          <a:xfrm>
            <a:off x="8767482" y="3662172"/>
            <a:ext cx="25603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CFE0D5"/>
            </a:solidFill>
          </a:ln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400">
                <a:latin typeface="Aptos"/>
              </a:rPr>
              <a:t>Day 4: Deploy + govern</a:t>
            </a:r>
            <a:endParaRPr lang="en-US" sz="24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43C79BA-C4DE-04E7-7525-5D236944DE9B}"/>
              </a:ext>
            </a:extLst>
          </p:cNvPr>
          <p:cNvSpPr/>
          <p:nvPr/>
        </p:nvSpPr>
        <p:spPr>
          <a:xfrm>
            <a:off x="8767482" y="4165092"/>
            <a:ext cx="2560320" cy="292608"/>
          </a:xfrm>
          <a:prstGeom prst="rect">
            <a:avLst/>
          </a:prstGeom>
          <a:solidFill>
            <a:srgbClr val="0E3B2E"/>
          </a:solidFill>
          <a:ln w="7620">
            <a:solidFill>
              <a:srgbClr val="0E3B2E"/>
            </a:solidFill>
          </a:ln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400">
                <a:solidFill>
                  <a:schemeClr val="bg1"/>
                </a:solidFill>
                <a:latin typeface="Aptos"/>
              </a:rPr>
              <a:t>Day 5: Defend + roadmap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InsightVerge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12280" y="182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Yamamah University Applied AI Initiative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CFE0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E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Stackable pathways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7" y="1234440"/>
            <a:ext cx="10449800" cy="365760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marL="0" indent="0">
              <a:buNone/>
            </a:pPr>
            <a:r>
              <a:rPr sz="1600" dirty="0">
                <a:latin typeface="Aptos"/>
              </a:rPr>
              <a:t>Skill Weeks become a credential ladder that uses completion evidence, not attendance alone.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664209"/>
            <a:ext cx="1828800" cy="811132"/>
          </a:xfrm>
          <a:prstGeom prst="rect">
            <a:avLst/>
          </a:prstGeom>
          <a:solidFill>
            <a:srgbClr val="1D5B45"/>
          </a:solidFill>
          <a:ln>
            <a:solidFill>
              <a:srgbClr val="1D5B45"/>
            </a:solidFill>
          </a:ln>
        </p:spPr>
        <p:txBody>
          <a:bodyPr wrap="square" lIns="50800" tIns="38100" rIns="50800" bIns="38100" rtlCol="0" anchor="ctr">
            <a:normAutofit/>
          </a:bodyPr>
          <a:lstStyle/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  <a:latin typeface="Aptos"/>
              </a:rPr>
              <a:t>Skill Week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828800" cy="600822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marL="0" indent="0" algn="ctr">
              <a:buNone/>
            </a:pPr>
            <a:r>
              <a:rPr dirty="0">
                <a:latin typeface="Aptos"/>
              </a:rPr>
              <a:t>5 days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971799"/>
            <a:ext cx="1828800" cy="1609345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 algn="ctr">
              <a:buNone/>
            </a:pPr>
            <a:r>
              <a:rPr sz="1600">
                <a:latin typeface="Aptos"/>
              </a:rPr>
              <a:t>One capability </a:t>
            </a:r>
            <a:r>
              <a:rPr sz="1600" dirty="0">
                <a:latin typeface="Aptos"/>
              </a:rPr>
              <a:t>+ artifact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606040" y="2084832"/>
            <a:ext cx="292608" cy="0"/>
          </a:xfrm>
          <a:prstGeom prst="line">
            <a:avLst/>
          </a:prstGeom>
          <a:noFill/>
          <a:ln w="15240">
            <a:solidFill>
              <a:srgbClr val="C89A2B"/>
            </a:solidFill>
            <a:prstDash val="solid"/>
            <a:tailEnd type="triangle"/>
          </a:ln>
        </p:spPr>
        <p:txBody>
          <a:bodyPr/>
          <a:lstStyle/>
          <a:p>
            <a:endParaRPr sz="4400"/>
          </a:p>
        </p:txBody>
      </p:sp>
      <p:sp>
        <p:nvSpPr>
          <p:cNvPr id="12" name="Text 10"/>
          <p:cNvSpPr/>
          <p:nvPr/>
        </p:nvSpPr>
        <p:spPr>
          <a:xfrm>
            <a:off x="2971800" y="1664209"/>
            <a:ext cx="1828800" cy="811132"/>
          </a:xfrm>
          <a:prstGeom prst="rect">
            <a:avLst/>
          </a:prstGeom>
          <a:solidFill>
            <a:srgbClr val="1D5B45"/>
          </a:solidFill>
          <a:ln>
            <a:solidFill>
              <a:srgbClr val="1D5B45"/>
            </a:solidFill>
          </a:ln>
        </p:spPr>
        <p:txBody>
          <a:bodyPr wrap="square" lIns="50800" tIns="38100" rIns="50800" bIns="38100" rtlCol="0" anchor="ctr">
            <a:noAutofit/>
          </a:bodyPr>
          <a:lstStyle/>
          <a:p>
            <a:pPr marL="0" indent="0" algn="ctr">
              <a:buNone/>
            </a:pPr>
            <a:r>
              <a:rPr>
                <a:solidFill>
                  <a:schemeClr val="bg1"/>
                </a:solidFill>
                <a:latin typeface="Aptos"/>
              </a:rPr>
              <a:t>Foundation Certificate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71800" y="2514600"/>
            <a:ext cx="1828800" cy="600822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marL="0" indent="0" algn="ctr">
              <a:buNone/>
            </a:pPr>
            <a:r>
              <a:rPr>
                <a:latin typeface="Aptos"/>
              </a:rPr>
              <a:t>2-3 Skill Weeks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71800" y="2971799"/>
            <a:ext cx="1828800" cy="1609345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 algn="ctr">
              <a:buNone/>
            </a:pPr>
            <a:r>
              <a:rPr sz="1600">
                <a:latin typeface="Aptos"/>
              </a:rPr>
              <a:t>AI foundations, productivity and responsible use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846320" y="2084832"/>
            <a:ext cx="292608" cy="0"/>
          </a:xfrm>
          <a:prstGeom prst="line">
            <a:avLst/>
          </a:prstGeom>
          <a:noFill/>
          <a:ln w="15240">
            <a:solidFill>
              <a:srgbClr val="C89A2B"/>
            </a:solidFill>
            <a:prstDash val="solid"/>
            <a:tailEnd type="triangle"/>
          </a:ln>
        </p:spPr>
        <p:txBody>
          <a:bodyPr/>
          <a:lstStyle/>
          <a:p>
            <a:endParaRPr sz="4400"/>
          </a:p>
        </p:txBody>
      </p:sp>
      <p:sp>
        <p:nvSpPr>
          <p:cNvPr id="16" name="Text 14"/>
          <p:cNvSpPr/>
          <p:nvPr/>
        </p:nvSpPr>
        <p:spPr>
          <a:xfrm>
            <a:off x="5212080" y="1664209"/>
            <a:ext cx="1828800" cy="811132"/>
          </a:xfrm>
          <a:prstGeom prst="rect">
            <a:avLst/>
          </a:prstGeom>
          <a:solidFill>
            <a:srgbClr val="0E3B2E"/>
          </a:solidFill>
          <a:ln>
            <a:solidFill>
              <a:srgbClr val="0E3B2E"/>
            </a:solidFill>
          </a:ln>
        </p:spPr>
        <p:txBody>
          <a:bodyPr wrap="square" lIns="50800" tIns="38100" rIns="50800" bIns="38100" rtlCol="0" anchor="ctr">
            <a:noAutofit/>
          </a:bodyPr>
          <a:lstStyle/>
          <a:p>
            <a:pPr marL="0" indent="0" algn="ctr">
              <a:buNone/>
            </a:pPr>
            <a:r>
              <a:rPr>
                <a:solidFill>
                  <a:schemeClr val="bg1"/>
                </a:solidFill>
                <a:latin typeface="Aptos"/>
              </a:rPr>
              <a:t>Advanced Certificate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12080" y="2514600"/>
            <a:ext cx="1828800" cy="600822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marL="0" indent="0" algn="ctr">
              <a:buNone/>
            </a:pPr>
            <a:r>
              <a:rPr>
                <a:latin typeface="Aptos"/>
              </a:rPr>
              <a:t>4-5 Skill Weeks + project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2971799"/>
            <a:ext cx="1828800" cy="1609345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 algn="ctr">
              <a:buNone/>
            </a:pPr>
            <a:r>
              <a:rPr sz="1600">
                <a:latin typeface="Aptos"/>
              </a:rPr>
              <a:t>AI engineering, GenAI or secure-AI portfolio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086600" y="2084832"/>
            <a:ext cx="292608" cy="0"/>
          </a:xfrm>
          <a:prstGeom prst="line">
            <a:avLst/>
          </a:prstGeom>
          <a:noFill/>
          <a:ln w="15240">
            <a:solidFill>
              <a:srgbClr val="C89A2B"/>
            </a:solidFill>
            <a:prstDash val="solid"/>
            <a:tailEnd type="triangle"/>
          </a:ln>
        </p:spPr>
        <p:txBody>
          <a:bodyPr/>
          <a:lstStyle/>
          <a:p>
            <a:endParaRPr sz="4400"/>
          </a:p>
        </p:txBody>
      </p:sp>
      <p:sp>
        <p:nvSpPr>
          <p:cNvPr id="20" name="Text 18"/>
          <p:cNvSpPr/>
          <p:nvPr/>
        </p:nvSpPr>
        <p:spPr>
          <a:xfrm>
            <a:off x="7452360" y="1664209"/>
            <a:ext cx="1828800" cy="811132"/>
          </a:xfrm>
          <a:prstGeom prst="rect">
            <a:avLst/>
          </a:prstGeom>
          <a:solidFill>
            <a:srgbClr val="0E3B2E"/>
          </a:solidFill>
          <a:ln>
            <a:solidFill>
              <a:srgbClr val="0E3B2E"/>
            </a:solidFill>
          </a:ln>
        </p:spPr>
        <p:txBody>
          <a:bodyPr wrap="square" lIns="50800" tIns="38100" rIns="50800" bIns="38100" rtlCol="0" anchor="ctr">
            <a:noAutofit/>
          </a:bodyPr>
          <a:lstStyle/>
          <a:p>
            <a:pPr marL="0" indent="0" algn="ctr">
              <a:buNone/>
            </a:pPr>
            <a:r>
              <a:rPr>
                <a:solidFill>
                  <a:schemeClr val="bg1"/>
                </a:solidFill>
                <a:latin typeface="Aptos"/>
              </a:rPr>
              <a:t>Professional Credential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79207" y="2514599"/>
            <a:ext cx="2060627" cy="822959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marL="0" indent="0" algn="ctr">
              <a:buNone/>
            </a:pPr>
            <a:r>
              <a:rPr lang="en-IN" dirty="0">
                <a:latin typeface="Aptos"/>
              </a:rPr>
              <a:t>Post-Graduate certificate Program (</a:t>
            </a:r>
            <a:r>
              <a:rPr dirty="0">
                <a:latin typeface="Aptos"/>
              </a:rPr>
              <a:t>PGP</a:t>
            </a:r>
            <a:r>
              <a:rPr lang="en-IN" dirty="0">
                <a:latin typeface="Aptos"/>
              </a:rPr>
              <a:t>)</a:t>
            </a:r>
            <a:r>
              <a:rPr dirty="0">
                <a:latin typeface="Aptos"/>
              </a:rPr>
              <a:t> / Diploma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52360" y="2971799"/>
            <a:ext cx="1828800" cy="1609345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 algn="ctr">
              <a:buNone/>
            </a:pPr>
            <a:r>
              <a:rPr sz="1600">
                <a:latin typeface="Aptos"/>
              </a:rPr>
              <a:t>Studio-backed prototype, system card and defense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326880" y="2084832"/>
            <a:ext cx="292608" cy="0"/>
          </a:xfrm>
          <a:prstGeom prst="line">
            <a:avLst/>
          </a:prstGeom>
          <a:noFill/>
          <a:ln w="15240">
            <a:solidFill>
              <a:srgbClr val="C89A2B"/>
            </a:solidFill>
            <a:prstDash val="solid"/>
            <a:tailEnd type="triangle"/>
          </a:ln>
        </p:spPr>
        <p:txBody>
          <a:bodyPr/>
          <a:lstStyle/>
          <a:p>
            <a:endParaRPr sz="4400"/>
          </a:p>
        </p:txBody>
      </p:sp>
      <p:sp>
        <p:nvSpPr>
          <p:cNvPr id="24" name="Text 22"/>
          <p:cNvSpPr/>
          <p:nvPr/>
        </p:nvSpPr>
        <p:spPr>
          <a:xfrm>
            <a:off x="9692640" y="1664209"/>
            <a:ext cx="1828800" cy="811132"/>
          </a:xfrm>
          <a:prstGeom prst="rect">
            <a:avLst/>
          </a:prstGeom>
          <a:solidFill>
            <a:srgbClr val="0E3B2E"/>
          </a:solidFill>
          <a:ln>
            <a:solidFill>
              <a:srgbClr val="0E3B2E"/>
            </a:solidFill>
          </a:ln>
        </p:spPr>
        <p:txBody>
          <a:bodyPr wrap="square" lIns="50800" tIns="38100" rIns="50800" bIns="38100" rtlCol="0" anchor="ctr">
            <a:noAutofit/>
          </a:bodyPr>
          <a:lstStyle/>
          <a:p>
            <a:pPr marL="0" indent="0" algn="ctr">
              <a:buNone/>
            </a:pPr>
            <a:r>
              <a:rPr>
                <a:solidFill>
                  <a:schemeClr val="bg1"/>
                </a:solidFill>
                <a:latin typeface="Aptos"/>
              </a:rPr>
              <a:t>Master’s / Research Pathway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92640" y="2514600"/>
            <a:ext cx="1828800" cy="600822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marL="0" indent="0" algn="ctr">
              <a:buNone/>
            </a:pPr>
            <a:r>
              <a:rPr>
                <a:latin typeface="Aptos"/>
              </a:rPr>
              <a:t>Later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692640" y="2971799"/>
            <a:ext cx="1828800" cy="1609345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 algn="ctr">
              <a:buNone/>
            </a:pPr>
            <a:r>
              <a:rPr sz="1600">
                <a:latin typeface="Aptos"/>
              </a:rPr>
              <a:t>Advanced systems + applied research evidence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31520" y="4846320"/>
            <a:ext cx="10927080" cy="822960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/>
          </a:bodyPr>
          <a:lstStyle/>
          <a:p>
            <a:pPr marL="0" indent="0">
              <a:buNone/>
            </a:pPr>
            <a:r>
              <a:rPr dirty="0">
                <a:latin typeface="Aptos"/>
              </a:rPr>
              <a:t>Credential</a:t>
            </a:r>
            <a:r>
              <a:rPr lang="en-IN" dirty="0">
                <a:latin typeface="Aptos"/>
              </a:rPr>
              <a:t>s</a:t>
            </a:r>
            <a:r>
              <a:rPr dirty="0">
                <a:latin typeface="Aptos"/>
              </a:rPr>
              <a:t> </a:t>
            </a:r>
            <a:r>
              <a:rPr lang="en-IN" dirty="0">
                <a:latin typeface="Aptos"/>
              </a:rPr>
              <a:t>awarded</a:t>
            </a:r>
            <a:r>
              <a:rPr dirty="0">
                <a:latin typeface="Aptos"/>
              </a:rPr>
              <a:t> based on Skill Week completion, assessed artifacts, reviewer feedback and capstone defense. This makes the certificate employer-visible and evidence-based.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InsightVerge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12280" y="182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Yamamah University Applied AI Initiative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CFE0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E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AI Academy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" y="1234441"/>
            <a:ext cx="9015446" cy="274316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pPr marL="0" indent="0">
              <a:buNone/>
            </a:pPr>
            <a:r>
              <a:rPr sz="1600" dirty="0">
                <a:latin typeface="Aptos"/>
              </a:rPr>
              <a:t>Fastest route to market: leadership, function, manager and sector academies from the catalog.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4663440" cy="841248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/>
          </a:bodyPr>
          <a:lstStyle/>
          <a:p>
            <a:pPr marL="0" indent="0">
              <a:buNone/>
            </a:pPr>
            <a:r>
              <a:rPr sz="1600" b="1" dirty="0">
                <a:latin typeface="Aptos"/>
              </a:rPr>
              <a:t>Demystifying AI + Leading AI Transformation</a:t>
            </a:r>
            <a:r>
              <a:rPr sz="1600" dirty="0">
                <a:latin typeface="Aptos"/>
              </a:rPr>
              <a:t> Shared executive language, prioritization, operating model and governance.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080760" y="1691640"/>
            <a:ext cx="4663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/>
          </a:bodyPr>
          <a:lstStyle/>
          <a:p>
            <a:pPr marL="0" indent="0">
              <a:buNone/>
            </a:pPr>
            <a:r>
              <a:rPr lang="en-IN" sz="1600" b="1" dirty="0">
                <a:latin typeface="Aptos"/>
              </a:rPr>
              <a:t>Leading AI Transformation / </a:t>
            </a:r>
            <a:r>
              <a:rPr sz="1600" b="1" dirty="0">
                <a:latin typeface="Aptos"/>
              </a:rPr>
              <a:t>AI Value Realization</a:t>
            </a:r>
            <a:r>
              <a:rPr sz="1600" dirty="0">
                <a:latin typeface="Aptos"/>
              </a:rPr>
              <a:t> Diagnose live AI initiatives; create value hypotheses, interventions and 90-day actions.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4663440" cy="841248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/>
          </a:bodyPr>
          <a:lstStyle/>
          <a:p>
            <a:pPr marL="0" indent="0">
              <a:buNone/>
            </a:pPr>
            <a:r>
              <a:rPr sz="1600" b="1" dirty="0">
                <a:latin typeface="Aptos"/>
              </a:rPr>
              <a:t>AI for X + Advanced Tool Development</a:t>
            </a:r>
            <a:endParaRPr lang="en-IN" sz="1600" b="1" dirty="0">
              <a:latin typeface="Aptos"/>
            </a:endParaRPr>
          </a:p>
          <a:p>
            <a:pPr marL="0" indent="0">
              <a:buNone/>
            </a:pPr>
            <a:r>
              <a:rPr sz="1600" dirty="0">
                <a:latin typeface="Aptos"/>
              </a:rPr>
              <a:t>Function-specific workflows, prototypes, evaluation and engineering handoff.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080760" y="2926080"/>
            <a:ext cx="4663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/>
          </a:bodyPr>
          <a:lstStyle/>
          <a:p>
            <a:pPr marL="0" indent="0">
              <a:buNone/>
            </a:pPr>
            <a:r>
              <a:rPr sz="1600" b="1" dirty="0">
                <a:latin typeface="Aptos"/>
              </a:rPr>
              <a:t>Governing AI</a:t>
            </a:r>
            <a:endParaRPr lang="en-IN" sz="1600" b="1" dirty="0">
              <a:latin typeface="Aptos"/>
            </a:endParaRPr>
          </a:p>
          <a:p>
            <a:pPr marL="0" indent="0">
              <a:buNone/>
            </a:pPr>
            <a:r>
              <a:rPr sz="1600" dirty="0">
                <a:latin typeface="Aptos"/>
              </a:rPr>
              <a:t>Accountability, risk taxonomy, privacy, security, auditability and oversight cadence.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85800" y="4160520"/>
            <a:ext cx="4663440" cy="841248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/>
          </a:bodyPr>
          <a:lstStyle/>
          <a:p>
            <a:pPr marL="0" indent="0">
              <a:buNone/>
            </a:pPr>
            <a:r>
              <a:rPr sz="1600" b="1" dirty="0">
                <a:latin typeface="Aptos"/>
              </a:rPr>
              <a:t>Design Thinking for AI</a:t>
            </a:r>
            <a:endParaRPr lang="en-IN" sz="1600" b="1" dirty="0">
              <a:latin typeface="Aptos"/>
            </a:endParaRPr>
          </a:p>
          <a:p>
            <a:pPr marL="0" indent="0">
              <a:buNone/>
            </a:pPr>
            <a:r>
              <a:rPr sz="1600" dirty="0">
                <a:latin typeface="Aptos"/>
              </a:rPr>
              <a:t>Business and technology teams convert problems into feasible AI solution choices.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80760" y="4160520"/>
            <a:ext cx="46634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/>
          </a:bodyPr>
          <a:lstStyle/>
          <a:p>
            <a:pPr marL="0" indent="0">
              <a:buNone/>
            </a:pPr>
            <a:r>
              <a:rPr sz="1600" b="1" dirty="0">
                <a:latin typeface="Aptos"/>
              </a:rPr>
              <a:t>Custom Enterprise / Sector AI Academy</a:t>
            </a:r>
            <a:endParaRPr lang="en-IN" sz="1600" b="1" dirty="0">
              <a:latin typeface="Aptos"/>
            </a:endParaRPr>
          </a:p>
          <a:p>
            <a:pPr marL="0" indent="0">
              <a:buNone/>
            </a:pPr>
            <a:r>
              <a:rPr sz="1600" dirty="0">
                <a:latin typeface="Aptos"/>
              </a:rPr>
              <a:t>Role-based journeys for leaders, managers, engineers and functional teams.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31520" y="5325035"/>
            <a:ext cx="10607040" cy="710005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dirty="0">
                <a:latin typeface="Aptos"/>
              </a:rPr>
              <a:t>Output</a:t>
            </a:r>
            <a:r>
              <a:rPr lang="en-IN" dirty="0">
                <a:latin typeface="Aptos"/>
              </a:rPr>
              <a:t>s</a:t>
            </a:r>
            <a:r>
              <a:rPr dirty="0">
                <a:latin typeface="Aptos"/>
              </a:rPr>
              <a:t>: use-case portfolio + value hypothesis + governance/risk pack + 90-day action plan + role-wise capability map.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InsightVerge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12280" y="182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Yamamah University Applied AI Initiative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CFE0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800" b="1" dirty="0">
                <a:latin typeface="+mj-lt"/>
              </a:rPr>
              <a:t>Applied AI Centre of Excellence</a:t>
            </a:r>
          </a:p>
        </p:txBody>
      </p:sp>
      <p:sp>
        <p:nvSpPr>
          <p:cNvPr id="7" name="Text 5"/>
          <p:cNvSpPr/>
          <p:nvPr/>
        </p:nvSpPr>
        <p:spPr>
          <a:xfrm>
            <a:off x="612647" y="1234439"/>
            <a:ext cx="7661777" cy="502921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r>
              <a:rPr dirty="0"/>
              <a:t>The </a:t>
            </a:r>
            <a:r>
              <a:rPr dirty="0" err="1"/>
              <a:t>CoE</a:t>
            </a:r>
            <a:r>
              <a:rPr dirty="0"/>
              <a:t> connects projects, faculty capability, enterprise engagement and measurable AI outcomes.</a:t>
            </a:r>
          </a:p>
        </p:txBody>
      </p:sp>
      <p:pic>
        <p:nvPicPr>
          <p:cNvPr id="8" name="Image 0" descr="/mnt/data/yu_campus.jpg"/>
          <p:cNvPicPr>
            <a:picLocks noChangeAspect="1"/>
          </p:cNvPicPr>
          <p:nvPr/>
        </p:nvPicPr>
        <p:blipFill>
          <a:blip r:embed="rId3"/>
          <a:srcRect l="15000" t="5000" r="22699" b="10000"/>
          <a:stretch/>
        </p:blipFill>
        <p:spPr>
          <a:xfrm>
            <a:off x="8488682" y="1152144"/>
            <a:ext cx="3474720" cy="2057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1979407"/>
            <a:ext cx="3017520" cy="1097280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</a:rPr>
              <a:t>Problem bank
</a:t>
            </a:r>
            <a:r>
              <a:rPr lang="en-US" sz="1400" dirty="0">
                <a:solidFill>
                  <a:srgbClr val="1F2A24"/>
                </a:solidFill>
              </a:rPr>
              <a:t>Curated Saudi enterprise problems for courses, hackathons, capstones and executive clinics.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977640" y="1979407"/>
            <a:ext cx="3017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</a:rPr>
              <a:t>Prototype factory
</a:t>
            </a:r>
            <a:r>
              <a:rPr lang="en-US" sz="1400" dirty="0">
                <a:solidFill>
                  <a:srgbClr val="1F2A24"/>
                </a:solidFill>
              </a:rPr>
              <a:t>Working demos in RAG, agents, cybersecurity AI, productivity automation and governance.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85800" y="3488167"/>
            <a:ext cx="3017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0D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</a:rPr>
              <a:t>Review panels
</a:t>
            </a:r>
            <a:r>
              <a:rPr lang="en-US" sz="1400" dirty="0">
                <a:solidFill>
                  <a:srgbClr val="1F2A24"/>
                </a:solidFill>
              </a:rPr>
              <a:t>Practitioners assess feasibility, reliability, cost, security, adoption and value.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977640" y="3488167"/>
            <a:ext cx="3017520" cy="1097280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E3B2E"/>
                </a:solidFill>
              </a:rPr>
              <a:t>Faculty capability
</a:t>
            </a:r>
            <a:r>
              <a:rPr lang="en-US" sz="1400" dirty="0">
                <a:solidFill>
                  <a:srgbClr val="1F2A24"/>
                </a:solidFill>
              </a:rPr>
              <a:t>Faculty develop through observation, labs, co-review and progressive co-delivery.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488683" y="3334871"/>
            <a:ext cx="3613670" cy="55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b="1" dirty="0"/>
              <a:t>Intelligent Systems Studio outputs</a:t>
            </a:r>
            <a:r>
              <a:rPr lang="en-IN" b="1" dirty="0"/>
              <a:t> (sample)</a:t>
            </a:r>
            <a:endParaRPr b="1" dirty="0"/>
          </a:p>
        </p:txBody>
      </p:sp>
      <p:sp>
        <p:nvSpPr>
          <p:cNvPr id="14" name="Text 11"/>
          <p:cNvSpPr/>
          <p:nvPr/>
        </p:nvSpPr>
        <p:spPr>
          <a:xfrm>
            <a:off x="8534399" y="3808207"/>
            <a:ext cx="3316941" cy="1508760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179388" indent="-179388">
              <a:buFont typeface="Arial" panose="020B0604020202020204" pitchFamily="34" charset="0"/>
              <a:buChar char="•"/>
            </a:pPr>
            <a:r>
              <a:rPr sz="1600" dirty="0">
                <a:latin typeface="Aptos"/>
              </a:rPr>
              <a:t>AI-assisted cyber incident triage</a:t>
            </a:r>
            <a:endParaRPr lang="en-IN" sz="1600" dirty="0">
              <a:latin typeface="Aptos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sz="1600" dirty="0">
                <a:latin typeface="Aptos"/>
              </a:rPr>
              <a:t>Operations forecasting prototype</a:t>
            </a:r>
            <a:endParaRPr lang="en-IN" sz="1600" dirty="0">
              <a:latin typeface="Aptos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sz="1600" dirty="0">
                <a:latin typeface="Aptos"/>
              </a:rPr>
              <a:t>Contract intelligence assistant</a:t>
            </a:r>
            <a:endParaRPr lang="en-IN" sz="1600" dirty="0">
              <a:latin typeface="Aptos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sz="1600" dirty="0">
                <a:latin typeface="Aptos"/>
              </a:rPr>
              <a:t>AI governance / system-card pack</a:t>
            </a:r>
            <a:endParaRPr lang="en-IN" sz="1600" dirty="0">
              <a:latin typeface="Aptos"/>
            </a:endParaRPr>
          </a:p>
          <a:p>
            <a:pPr marL="179388" indent="-179388">
              <a:buFont typeface="Arial" panose="020B0604020202020204" pitchFamily="34" charset="0"/>
              <a:buChar char="•"/>
            </a:pPr>
            <a:r>
              <a:rPr lang="en-IN" sz="1600" dirty="0"/>
              <a:t>Bilingual knowledge assistant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6432F"/>
                </a:solidFill>
                <a:latin typeface="Aptos"/>
              </a:rPr>
              <a:t>InsightVerge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B64"/>
                </a:solidFill>
                <a:latin typeface="Aptos"/>
              </a:rPr>
              <a:t>Al Yamamah University Applied AI Initiative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484632"/>
            <a:ext cx="10927080" cy="18288"/>
          </a:xfrm>
          <a:prstGeom prst="rect">
            <a:avLst/>
          </a:prstGeom>
          <a:solidFill>
            <a:srgbClr val="DA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E3B2E"/>
                </a:solidFill>
                <a:latin typeface="Aptos Display"/>
              </a:rPr>
              <a:t>AI Centre of Excellence: mandate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70432"/>
            <a:ext cx="101496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37413D"/>
                </a:solidFill>
                <a:latin typeface="Aptos"/>
              </a:rPr>
              <a:t>A permanent capability platform linking academic programs, faculty, enterprise problems and applied innovation.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291840" cy="141732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04672" y="1742825"/>
            <a:ext cx="2962656" cy="14362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 dirty="0">
                <a:solidFill>
                  <a:srgbClr val="0E3B2E"/>
                </a:solidFill>
                <a:latin typeface="Aptos"/>
              </a:rPr>
              <a:t>Academic capability</a:t>
            </a: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2D3733"/>
                </a:solidFill>
                <a:latin typeface="Aptos"/>
              </a:rPr>
              <a:t>Curriculum refresh, applied labs, assessment standards, faculty enablement and progressive capability transfer.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737360"/>
            <a:ext cx="3291840" cy="141732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4325113" y="1742825"/>
            <a:ext cx="2962656" cy="119006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 dirty="0">
                <a:solidFill>
                  <a:srgbClr val="0E3B2E"/>
                </a:solidFill>
                <a:latin typeface="Aptos"/>
              </a:rPr>
              <a:t>Industry engagement</a:t>
            </a: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2D3733"/>
                </a:solidFill>
                <a:latin typeface="Aptos"/>
              </a:rPr>
              <a:t>Problem bank, practitioner panels, employer feedback and enterprise-sponsored challenges.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737360"/>
            <a:ext cx="3291840" cy="141732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7845552" y="1742825"/>
            <a:ext cx="2962656" cy="119006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 dirty="0">
                <a:solidFill>
                  <a:srgbClr val="0E3B2E"/>
                </a:solidFill>
                <a:latin typeface="Aptos"/>
              </a:rPr>
              <a:t>Applied innovation</a:t>
            </a: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2D3733"/>
                </a:solidFill>
                <a:latin typeface="Aptos"/>
              </a:rPr>
              <a:t>Intelligent Systems Studio for prototypes, capstones, hackathons and demonstrators.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474720"/>
            <a:ext cx="3291840" cy="141732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804671" y="3480185"/>
            <a:ext cx="2962657" cy="119006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 dirty="0">
                <a:solidFill>
                  <a:srgbClr val="0E3B2E"/>
                </a:solidFill>
                <a:latin typeface="Aptos"/>
              </a:rPr>
              <a:t>Executive capability</a:t>
            </a: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2D3733"/>
                </a:solidFill>
                <a:latin typeface="Aptos"/>
              </a:rPr>
              <a:t>Executive AI Academy, AI-for-X programs, governance clinics and value-realization interventions.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474720"/>
            <a:ext cx="3291840" cy="141732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4325112" y="3480185"/>
            <a:ext cx="3127248" cy="119006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 dirty="0">
                <a:solidFill>
                  <a:srgbClr val="0E3B2E"/>
                </a:solidFill>
                <a:latin typeface="Aptos"/>
              </a:rPr>
              <a:t>Quality &amp; governance</a:t>
            </a: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2D3733"/>
                </a:solidFill>
                <a:latin typeface="Aptos"/>
              </a:rPr>
              <a:t>Steering Committee, Academic Quality Board, Industry Curriculum Council and outcome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3474720"/>
            <a:ext cx="3291840" cy="141732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/>
          <p:cNvSpPr txBox="1"/>
          <p:nvPr/>
        </p:nvSpPr>
        <p:spPr>
          <a:xfrm>
            <a:off x="7845552" y="3480185"/>
            <a:ext cx="3081527" cy="143629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 dirty="0">
                <a:solidFill>
                  <a:srgbClr val="0E3B2E"/>
                </a:solidFill>
                <a:latin typeface="Aptos"/>
              </a:rPr>
              <a:t>Outcome orientation</a:t>
            </a: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2D3733"/>
                </a:solidFill>
                <a:latin typeface="Aptos"/>
              </a:rPr>
              <a:t>Measure capability, artifact quality, faculty readiness, industry engagement and enterprise relevance.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257800"/>
            <a:ext cx="9784080" cy="594360"/>
          </a:xfrm>
          <a:prstGeom prst="roundRect">
            <a:avLst/>
          </a:prstGeom>
          <a:solidFill>
            <a:srgbClr val="064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The CoE is an academic-and-industry capability venture — not a training vendor arrangement.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6432F"/>
                </a:solidFill>
                <a:latin typeface="Aptos"/>
              </a:rPr>
              <a:t>InsightVerge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B64"/>
                </a:solidFill>
                <a:latin typeface="Aptos"/>
              </a:rPr>
              <a:t>Al Yamamah University Applied AI Initiative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484632"/>
            <a:ext cx="10927080" cy="18288"/>
          </a:xfrm>
          <a:prstGeom prst="rect">
            <a:avLst/>
          </a:prstGeom>
          <a:solidFill>
            <a:srgbClr val="DA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E3B2E"/>
                </a:solidFill>
                <a:latin typeface="Aptos Display"/>
              </a:rPr>
              <a:t>CoE governance and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70432"/>
            <a:ext cx="98938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37413D"/>
                </a:solidFill>
                <a:latin typeface="Aptos"/>
              </a:rPr>
              <a:t>Clear ownership preserves academic sovereignty while bringing specialist AI capability and industry relevance.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3063240" cy="388620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850392" y="1911095"/>
            <a:ext cx="2771349" cy="354969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 dirty="0">
                <a:solidFill>
                  <a:srgbClr val="0E3B2E"/>
                </a:solidFill>
                <a:latin typeface="Aptos"/>
              </a:rPr>
              <a:t>Al Yamamah University</a:t>
            </a: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2D3733"/>
                </a:solidFill>
                <a:latin typeface="Aptos"/>
              </a:rPr>
              <a:t>Own academic governance, approvals, awards and institutional infrastructure.
Nominate faculty and students; activate local enterprise relationships.
Own institutional outcome reporting and learner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783080"/>
            <a:ext cx="3063240" cy="388620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4325112" y="1911095"/>
            <a:ext cx="2748041" cy="34265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 dirty="0" err="1">
                <a:solidFill>
                  <a:srgbClr val="0E3B2E"/>
                </a:solidFill>
                <a:latin typeface="Aptos"/>
              </a:rPr>
              <a:t>InsightVerge</a:t>
            </a:r>
            <a:endParaRPr sz="2400" b="1" dirty="0">
              <a:solidFill>
                <a:srgbClr val="0E3B2E"/>
              </a:solidFill>
              <a:latin typeface="Aptos"/>
            </a:endParaRP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2D3733"/>
                </a:solidFill>
                <a:latin typeface="Aptos"/>
              </a:rPr>
              <a:t>Design/refresh curricula, labs, rubrics and technical standards.
Lead initial specialist delivery, faculty enablement, project architecture and QA.
Support dashboards, capstone governance and advanced content refresh.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783080"/>
            <a:ext cx="3063240" cy="388620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7799831" y="1911095"/>
            <a:ext cx="2769557" cy="379591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 dirty="0">
                <a:solidFill>
                  <a:srgbClr val="0E3B2E"/>
                </a:solidFill>
                <a:latin typeface="Aptos"/>
              </a:rPr>
              <a:t>Industry participants</a:t>
            </a:r>
          </a:p>
          <a:p>
            <a:pPr>
              <a:spcBef>
                <a:spcPts val="400"/>
              </a:spcBef>
            </a:pPr>
            <a:r>
              <a:rPr sz="1600" dirty="0">
                <a:solidFill>
                  <a:srgbClr val="2D3733"/>
                </a:solidFill>
                <a:latin typeface="Aptos"/>
              </a:rPr>
              <a:t>Validate industry relevance and contribute practitioner judgment.
Provide problem statements, domain context, mentors or non-sensitive datasets where feasible.
Review projects and provide employer feedback.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7148" y="5806440"/>
            <a:ext cx="25267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0E3B2E"/>
                </a:solidFill>
              </a:rPr>
              <a:t>Steering Committee</a:t>
            </a:r>
          </a:p>
          <a:p>
            <a:pPr algn="ctr"/>
            <a:r>
              <a:rPr sz="1600" dirty="0">
                <a:solidFill>
                  <a:srgbClr val="5D6B64"/>
                </a:solidFill>
              </a:rPr>
              <a:t>Strategy &amp; annual 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624" y="5806440"/>
            <a:ext cx="312938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0E3B2E"/>
                </a:solidFill>
              </a:rPr>
              <a:t>Academic Quality Board</a:t>
            </a:r>
          </a:p>
          <a:p>
            <a:pPr algn="ctr"/>
            <a:r>
              <a:rPr sz="1600" dirty="0">
                <a:solidFill>
                  <a:srgbClr val="5D6B64"/>
                </a:solidFill>
              </a:rPr>
              <a:t>Curriculum &amp; assessment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4345" y="5806440"/>
            <a:ext cx="30144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0E3B2E"/>
                </a:solidFill>
              </a:rPr>
              <a:t>Industry Curriculum Council</a:t>
            </a:r>
          </a:p>
          <a:p>
            <a:pPr algn="ctr"/>
            <a:r>
              <a:rPr sz="1600" dirty="0">
                <a:solidFill>
                  <a:srgbClr val="5D6B64"/>
                </a:solidFill>
              </a:rPr>
              <a:t>Relevance &amp; employer feedback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6432F"/>
                </a:solidFill>
                <a:latin typeface="Aptos"/>
              </a:rPr>
              <a:t>InsightVerge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B64"/>
                </a:solidFill>
                <a:latin typeface="Aptos"/>
              </a:rPr>
              <a:t>Al Yamamah University Applied AI Initiative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484632"/>
            <a:ext cx="10927080" cy="18288"/>
          </a:xfrm>
          <a:prstGeom prst="rect">
            <a:avLst/>
          </a:prstGeom>
          <a:solidFill>
            <a:srgbClr val="DA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E3B2E"/>
                </a:solidFill>
                <a:latin typeface="Aptos Display"/>
              </a:rPr>
              <a:t>CoE activity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70432"/>
            <a:ext cx="1020285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37413D"/>
                </a:solidFill>
                <a:latin typeface="Aptos"/>
              </a:rPr>
              <a:t>The Centre </a:t>
            </a:r>
            <a:r>
              <a:rPr lang="en-IN" sz="1600" dirty="0">
                <a:solidFill>
                  <a:srgbClr val="37413D"/>
                </a:solidFill>
                <a:latin typeface="Aptos"/>
              </a:rPr>
              <a:t>will </a:t>
            </a:r>
            <a:r>
              <a:rPr sz="1600" dirty="0">
                <a:solidFill>
                  <a:srgbClr val="37413D"/>
                </a:solidFill>
                <a:latin typeface="Aptos"/>
              </a:rPr>
              <a:t>create visible capability and applied evidence across students, faculty, executives and enterprises.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166360" cy="1115568"/>
          </a:xfrm>
          <a:prstGeom prst="roundRect">
            <a:avLst/>
          </a:prstGeom>
          <a:solidFill>
            <a:srgbClr val="F7FAF9"/>
          </a:solidFill>
          <a:ln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850392" y="1666893"/>
            <a:ext cx="4762842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E3B2E"/>
                </a:solidFill>
              </a:rPr>
              <a:t>Student capability</a:t>
            </a:r>
          </a:p>
          <a:p>
            <a:r>
              <a:rPr sz="1400" dirty="0">
                <a:solidFill>
                  <a:srgbClr val="3C4642"/>
                </a:solidFill>
              </a:rPr>
              <a:t>Skill Weeks • certificates • capstones • hackathons</a:t>
            </a:r>
          </a:p>
          <a:p>
            <a:r>
              <a:rPr sz="1400" b="1" dirty="0">
                <a:solidFill>
                  <a:srgbClr val="06432F"/>
                </a:solidFill>
              </a:rPr>
              <a:t>Evidence: Repositories, deployed prototypes, evaluations and defenses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166360" cy="1115568"/>
          </a:xfrm>
          <a:prstGeom prst="roundRect">
            <a:avLst/>
          </a:prstGeom>
          <a:solidFill>
            <a:srgbClr val="F7FAF9"/>
          </a:solidFill>
          <a:ln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428232" y="1666893"/>
            <a:ext cx="481350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E3B2E"/>
                </a:solidFill>
              </a:rPr>
              <a:t>Faculty development</a:t>
            </a:r>
          </a:p>
          <a:p>
            <a:r>
              <a:rPr sz="1400" dirty="0">
                <a:solidFill>
                  <a:srgbClr val="3C4642"/>
                </a:solidFill>
              </a:rPr>
              <a:t>Labs • shadowing • co-review • co-teaching • certification</a:t>
            </a:r>
          </a:p>
          <a:p>
            <a:r>
              <a:rPr sz="1400" b="1" dirty="0">
                <a:solidFill>
                  <a:srgbClr val="06432F"/>
                </a:solidFill>
              </a:rPr>
              <a:t>Evidence: Capability matrix, certified instructors and calibrated rubrics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081528"/>
            <a:ext cx="5166360" cy="1115568"/>
          </a:xfrm>
          <a:prstGeom prst="roundRect">
            <a:avLst/>
          </a:prstGeom>
          <a:solidFill>
            <a:srgbClr val="F7FAF9"/>
          </a:solidFill>
          <a:ln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85800" y="3056781"/>
            <a:ext cx="516636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E3B2E"/>
                </a:solidFill>
              </a:rPr>
              <a:t>Industry projects</a:t>
            </a:r>
          </a:p>
          <a:p>
            <a:r>
              <a:rPr sz="1400" dirty="0">
                <a:solidFill>
                  <a:srgbClr val="3C4642"/>
                </a:solidFill>
              </a:rPr>
              <a:t>Problem bank • live challenges • prototypes • technical reviews</a:t>
            </a:r>
          </a:p>
          <a:p>
            <a:r>
              <a:rPr sz="1400" b="1" dirty="0">
                <a:solidFill>
                  <a:srgbClr val="06432F"/>
                </a:solidFill>
              </a:rPr>
              <a:t>Evidence: Proof-of-value systems,</a:t>
            </a:r>
            <a:r>
              <a:rPr lang="en-IN" sz="1400" b="1" dirty="0">
                <a:solidFill>
                  <a:srgbClr val="06432F"/>
                </a:solidFill>
              </a:rPr>
              <a:t> review notes </a:t>
            </a:r>
            <a:r>
              <a:rPr sz="1400" b="1" dirty="0">
                <a:solidFill>
                  <a:srgbClr val="06432F"/>
                </a:solidFill>
              </a:rPr>
              <a:t>and implementation roadmaps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081528"/>
            <a:ext cx="5166360" cy="1115568"/>
          </a:xfrm>
          <a:prstGeom prst="roundRect">
            <a:avLst/>
          </a:prstGeom>
          <a:solidFill>
            <a:srgbClr val="F7FAF9"/>
          </a:solidFill>
          <a:ln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6428232" y="3011956"/>
            <a:ext cx="491337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E3B2E"/>
                </a:solidFill>
              </a:rPr>
              <a:t>Executive capability</a:t>
            </a:r>
          </a:p>
          <a:p>
            <a:r>
              <a:rPr sz="1400" dirty="0">
                <a:solidFill>
                  <a:srgbClr val="3C4642"/>
                </a:solidFill>
              </a:rPr>
              <a:t>Leadership programs • governance clinics • AI-for-X academies</a:t>
            </a:r>
          </a:p>
          <a:p>
            <a:r>
              <a:rPr sz="1400" b="1" dirty="0">
                <a:solidFill>
                  <a:srgbClr val="06432F"/>
                </a:solidFill>
              </a:rPr>
              <a:t>Evidence: Use-case portfolios, governance packs and 90-day action plans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71416"/>
            <a:ext cx="5166360" cy="1115568"/>
          </a:xfrm>
          <a:prstGeom prst="roundRect">
            <a:avLst/>
          </a:prstGeom>
          <a:solidFill>
            <a:srgbClr val="F7FAF9"/>
          </a:solidFill>
          <a:ln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805567" y="4509424"/>
            <a:ext cx="5001768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E3B2E"/>
                </a:solidFill>
              </a:rPr>
              <a:t>Applied innovation</a:t>
            </a:r>
          </a:p>
          <a:p>
            <a:r>
              <a:rPr sz="1400" dirty="0">
                <a:solidFill>
                  <a:srgbClr val="3C4642"/>
                </a:solidFill>
              </a:rPr>
              <a:t>Bilingual AI • secure AI • intelligent operations • responsible AI</a:t>
            </a:r>
          </a:p>
          <a:p>
            <a:r>
              <a:rPr sz="1400" b="1" dirty="0">
                <a:solidFill>
                  <a:srgbClr val="06432F"/>
                </a:solidFill>
              </a:rPr>
              <a:t>Evidence: Demonstrators, reusable IP, benchmarks and applied case studies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471416"/>
            <a:ext cx="5166360" cy="1115568"/>
          </a:xfrm>
          <a:prstGeom prst="roundRect">
            <a:avLst/>
          </a:prstGeom>
          <a:solidFill>
            <a:srgbClr val="F7FAF9"/>
          </a:solidFill>
          <a:ln>
            <a:solidFill>
              <a:srgbClr val="D2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263640" y="4446669"/>
            <a:ext cx="524256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E3B2E"/>
                </a:solidFill>
              </a:rPr>
              <a:t>Ecosystem engagement</a:t>
            </a:r>
          </a:p>
          <a:p>
            <a:r>
              <a:rPr sz="1400" dirty="0">
                <a:solidFill>
                  <a:srgbClr val="3C4642"/>
                </a:solidFill>
              </a:rPr>
              <a:t>Roundtables • demo days • expert panels • innovation challenges</a:t>
            </a:r>
          </a:p>
          <a:p>
            <a:r>
              <a:rPr sz="1400" b="1" dirty="0">
                <a:solidFill>
                  <a:srgbClr val="06432F"/>
                </a:solidFill>
              </a:rPr>
              <a:t>Evidence: Project pipeline, employer feedback and partnership opportunities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6459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06432F"/>
                </a:solidFill>
                <a:latin typeface="Aptos"/>
              </a:rPr>
              <a:t>InsightVerge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12280" y="1645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5D6B64"/>
                </a:solidFill>
                <a:latin typeface="Aptos"/>
              </a:rPr>
              <a:t>Al Yamamah University Applied AI Initiative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484632"/>
            <a:ext cx="10927080" cy="18288"/>
          </a:xfrm>
          <a:prstGeom prst="rect">
            <a:avLst/>
          </a:prstGeom>
          <a:solidFill>
            <a:srgbClr val="DAE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E3B2E"/>
                </a:solidFill>
                <a:latin typeface="Aptos Display"/>
              </a:rPr>
              <a:t>CoE outcomes and performance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70432"/>
            <a:ext cx="85604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>
                <a:solidFill>
                  <a:srgbClr val="37413D"/>
                </a:solidFill>
                <a:latin typeface="Aptos"/>
              </a:rPr>
              <a:t>Success </a:t>
            </a:r>
            <a:r>
              <a:rPr lang="en-IN" sz="1600" dirty="0">
                <a:solidFill>
                  <a:srgbClr val="37413D"/>
                </a:solidFill>
                <a:latin typeface="Aptos"/>
              </a:rPr>
              <a:t>is</a:t>
            </a:r>
            <a:r>
              <a:rPr sz="1600" dirty="0">
                <a:solidFill>
                  <a:srgbClr val="37413D"/>
                </a:solidFill>
                <a:latin typeface="Aptos"/>
              </a:rPr>
              <a:t> measured by capability and applied value — not by the number of events conducted.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3429000" cy="146304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" name="TextBox 7"/>
          <p:cNvSpPr txBox="1"/>
          <p:nvPr/>
        </p:nvSpPr>
        <p:spPr>
          <a:xfrm>
            <a:off x="804671" y="1793656"/>
            <a:ext cx="3126306" cy="115416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dirty="0">
                <a:solidFill>
                  <a:srgbClr val="0E3B2E"/>
                </a:solidFill>
                <a:latin typeface="Aptos"/>
              </a:rPr>
              <a:t>Learner capability</a:t>
            </a: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D3733"/>
                </a:solidFill>
                <a:latin typeface="Aptos"/>
              </a:rPr>
              <a:t>Skill Weeks completed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C</a:t>
            </a:r>
            <a:r>
              <a:rPr sz="1400" dirty="0" err="1">
                <a:solidFill>
                  <a:srgbClr val="2D3733"/>
                </a:solidFill>
                <a:latin typeface="Aptos"/>
              </a:rPr>
              <a:t>ertificate</a:t>
            </a:r>
            <a:r>
              <a:rPr sz="1400" dirty="0">
                <a:solidFill>
                  <a:srgbClr val="2D3733"/>
                </a:solidFill>
                <a:latin typeface="Aptos"/>
              </a:rPr>
              <a:t> progression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C</a:t>
            </a:r>
            <a:r>
              <a:rPr sz="1400" dirty="0" err="1">
                <a:solidFill>
                  <a:srgbClr val="2D3733"/>
                </a:solidFill>
                <a:latin typeface="Aptos"/>
              </a:rPr>
              <a:t>apstone</a:t>
            </a:r>
            <a:r>
              <a:rPr sz="1400" dirty="0">
                <a:solidFill>
                  <a:srgbClr val="2D3733"/>
                </a:solidFill>
                <a:latin typeface="Aptos"/>
              </a:rPr>
              <a:t> technical-defense pass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29000" cy="146304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" name="TextBox 9"/>
          <p:cNvSpPr txBox="1"/>
          <p:nvPr/>
        </p:nvSpPr>
        <p:spPr>
          <a:xfrm>
            <a:off x="4553712" y="1793656"/>
            <a:ext cx="3072573" cy="136960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dirty="0">
                <a:solidFill>
                  <a:srgbClr val="0E3B2E"/>
                </a:solidFill>
                <a:latin typeface="Aptos"/>
              </a:rPr>
              <a:t>Faculty capability</a:t>
            </a: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D3733"/>
                </a:solidFill>
                <a:latin typeface="Aptos"/>
              </a:rPr>
              <a:t>Faculty trained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C</a:t>
            </a:r>
            <a:r>
              <a:rPr sz="1400" dirty="0">
                <a:solidFill>
                  <a:srgbClr val="2D3733"/>
                </a:solidFill>
                <a:latin typeface="Aptos"/>
              </a:rPr>
              <a:t>o-delivering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I</a:t>
            </a:r>
            <a:r>
              <a:rPr sz="1400" dirty="0" err="1">
                <a:solidFill>
                  <a:srgbClr val="2D3733"/>
                </a:solidFill>
                <a:latin typeface="Aptos"/>
              </a:rPr>
              <a:t>ndependently</a:t>
            </a:r>
            <a:r>
              <a:rPr sz="1400" dirty="0">
                <a:solidFill>
                  <a:srgbClr val="2D3733"/>
                </a:solidFill>
                <a:latin typeface="Aptos"/>
              </a:rPr>
              <a:t> delivering approved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737360"/>
            <a:ext cx="3429000" cy="146304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2" name="TextBox 11"/>
          <p:cNvSpPr txBox="1"/>
          <p:nvPr/>
        </p:nvSpPr>
        <p:spPr>
          <a:xfrm>
            <a:off x="8302751" y="1793656"/>
            <a:ext cx="3127249" cy="142090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dirty="0">
                <a:solidFill>
                  <a:srgbClr val="0E3B2E"/>
                </a:solidFill>
                <a:latin typeface="Aptos"/>
              </a:rPr>
              <a:t>Industry engagement</a:t>
            </a: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D3733"/>
                </a:solidFill>
                <a:latin typeface="Aptos"/>
              </a:rPr>
              <a:t>Active problem statements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R</a:t>
            </a:r>
            <a:r>
              <a:rPr sz="1400" dirty="0" err="1">
                <a:solidFill>
                  <a:srgbClr val="2D3733"/>
                </a:solidFill>
                <a:latin typeface="Aptos"/>
              </a:rPr>
              <a:t>eviewers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E</a:t>
            </a:r>
            <a:r>
              <a:rPr sz="1400" dirty="0" err="1">
                <a:solidFill>
                  <a:srgbClr val="2D3733"/>
                </a:solidFill>
                <a:latin typeface="Aptos"/>
              </a:rPr>
              <a:t>nterprise</a:t>
            </a:r>
            <a:r>
              <a:rPr sz="1400" dirty="0">
                <a:solidFill>
                  <a:srgbClr val="2D3733"/>
                </a:solidFill>
                <a:latin typeface="Aptos"/>
              </a:rPr>
              <a:t> cohorts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S</a:t>
            </a:r>
            <a:r>
              <a:rPr sz="1400" dirty="0" err="1">
                <a:solidFill>
                  <a:srgbClr val="2D3733"/>
                </a:solidFill>
                <a:latin typeface="Aptos"/>
              </a:rPr>
              <a:t>ponsored</a:t>
            </a:r>
            <a:r>
              <a:rPr sz="1400" dirty="0">
                <a:solidFill>
                  <a:srgbClr val="2D3733"/>
                </a:solidFill>
                <a:latin typeface="Aptos"/>
              </a:rPr>
              <a:t> challenges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79"/>
            <a:ext cx="3429000" cy="146304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4" name="TextBox 13"/>
          <p:cNvSpPr txBox="1"/>
          <p:nvPr/>
        </p:nvSpPr>
        <p:spPr>
          <a:xfrm>
            <a:off x="804671" y="3668176"/>
            <a:ext cx="3126305" cy="136960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dirty="0">
                <a:solidFill>
                  <a:srgbClr val="0E3B2E"/>
                </a:solidFill>
                <a:latin typeface="Aptos"/>
              </a:rPr>
              <a:t>Applied innovation</a:t>
            </a: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D3733"/>
                </a:solidFill>
                <a:latin typeface="Aptos"/>
              </a:rPr>
              <a:t>Prototypes completed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D</a:t>
            </a:r>
            <a:r>
              <a:rPr sz="1400" dirty="0" err="1">
                <a:solidFill>
                  <a:srgbClr val="2D3733"/>
                </a:solidFill>
                <a:latin typeface="Aptos"/>
              </a:rPr>
              <a:t>emonstrators</a:t>
            </a:r>
            <a:r>
              <a:rPr sz="1400" dirty="0">
                <a:solidFill>
                  <a:srgbClr val="2D3733"/>
                </a:solidFill>
                <a:latin typeface="Aptos"/>
              </a:rPr>
              <a:t> reviewed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P</a:t>
            </a:r>
            <a:r>
              <a:rPr sz="1400" dirty="0" err="1">
                <a:solidFill>
                  <a:srgbClr val="2D3733"/>
                </a:solidFill>
                <a:latin typeface="Aptos"/>
              </a:rPr>
              <a:t>rojects</a:t>
            </a:r>
            <a:r>
              <a:rPr sz="1400" dirty="0">
                <a:solidFill>
                  <a:srgbClr val="2D3733"/>
                </a:solidFill>
                <a:latin typeface="Aptos"/>
              </a:rPr>
              <a:t> advancing toward implementation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611879"/>
            <a:ext cx="3429000" cy="146304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6" name="TextBox 15"/>
          <p:cNvSpPr txBox="1"/>
          <p:nvPr/>
        </p:nvSpPr>
        <p:spPr>
          <a:xfrm>
            <a:off x="4553712" y="3668176"/>
            <a:ext cx="3072573" cy="142090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dirty="0">
                <a:solidFill>
                  <a:srgbClr val="0E3B2E"/>
                </a:solidFill>
                <a:latin typeface="Aptos"/>
              </a:rPr>
              <a:t>Executive impact</a:t>
            </a: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D3733"/>
                </a:solidFill>
                <a:latin typeface="Aptos"/>
              </a:rPr>
              <a:t>Leaders/managers reached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D3733"/>
                </a:solidFill>
                <a:latin typeface="Aptos"/>
              </a:rPr>
              <a:t>AI roadmaps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G</a:t>
            </a:r>
            <a:r>
              <a:rPr sz="1400" dirty="0" err="1">
                <a:solidFill>
                  <a:srgbClr val="2D3733"/>
                </a:solidFill>
                <a:latin typeface="Aptos"/>
              </a:rPr>
              <a:t>overnance</a:t>
            </a:r>
            <a:r>
              <a:rPr sz="1400" dirty="0">
                <a:solidFill>
                  <a:srgbClr val="2D3733"/>
                </a:solidFill>
                <a:latin typeface="Aptos"/>
              </a:rPr>
              <a:t> interventions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F</a:t>
            </a:r>
            <a:r>
              <a:rPr sz="1400" dirty="0" err="1">
                <a:solidFill>
                  <a:srgbClr val="2D3733"/>
                </a:solidFill>
                <a:latin typeface="Aptos"/>
              </a:rPr>
              <a:t>ollow</a:t>
            </a:r>
            <a:r>
              <a:rPr sz="1400" dirty="0">
                <a:solidFill>
                  <a:srgbClr val="2D3733"/>
                </a:solidFill>
                <a:latin typeface="Aptos"/>
              </a:rPr>
              <a:t>-through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3611879"/>
            <a:ext cx="3429000" cy="1463040"/>
          </a:xfrm>
          <a:prstGeom prst="roundRect">
            <a:avLst/>
          </a:prstGeom>
          <a:solidFill>
            <a:srgbClr val="EFF6F3"/>
          </a:solidFill>
          <a:ln>
            <a:solidFill>
              <a:srgbClr val="C8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8" name="TextBox 17"/>
          <p:cNvSpPr txBox="1"/>
          <p:nvPr/>
        </p:nvSpPr>
        <p:spPr>
          <a:xfrm>
            <a:off x="8302751" y="3668176"/>
            <a:ext cx="3081529" cy="142090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dirty="0">
                <a:solidFill>
                  <a:srgbClr val="0E3B2E"/>
                </a:solidFill>
                <a:latin typeface="Aptos"/>
              </a:rPr>
              <a:t>Quality &amp; relevance</a:t>
            </a: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2D3733"/>
                </a:solidFill>
                <a:latin typeface="Aptos"/>
              </a:rPr>
              <a:t>Artifact quality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E</a:t>
            </a:r>
            <a:r>
              <a:rPr sz="1400" dirty="0" err="1">
                <a:solidFill>
                  <a:srgbClr val="2D3733"/>
                </a:solidFill>
                <a:latin typeface="Aptos"/>
              </a:rPr>
              <a:t>mployer</a:t>
            </a:r>
            <a:r>
              <a:rPr sz="1400" dirty="0">
                <a:solidFill>
                  <a:srgbClr val="2D3733"/>
                </a:solidFill>
                <a:latin typeface="Aptos"/>
              </a:rPr>
              <a:t> feedback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Periodic</a:t>
            </a:r>
            <a:r>
              <a:rPr sz="1400" dirty="0">
                <a:solidFill>
                  <a:srgbClr val="2D3733"/>
                </a:solidFill>
                <a:latin typeface="Aptos"/>
              </a:rPr>
              <a:t> curriculum refresh</a:t>
            </a:r>
            <a:endParaRPr lang="en-IN" sz="1400" dirty="0">
              <a:solidFill>
                <a:srgbClr val="2D3733"/>
              </a:solidFill>
              <a:latin typeface="Aptos"/>
            </a:endParaRPr>
          </a:p>
          <a:p>
            <a:pPr marL="179388" indent="-179388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rgbClr val="2D3733"/>
                </a:solidFill>
                <a:latin typeface="Aptos"/>
              </a:rPr>
              <a:t>L</a:t>
            </a:r>
            <a:r>
              <a:rPr sz="1400" dirty="0">
                <a:solidFill>
                  <a:srgbClr val="2D3733"/>
                </a:solidFill>
                <a:latin typeface="Aptos"/>
              </a:rPr>
              <a:t>earner outcomes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623560"/>
            <a:ext cx="10241280" cy="502920"/>
          </a:xfrm>
          <a:prstGeom prst="roundRect">
            <a:avLst/>
          </a:prstGeom>
          <a:solidFill>
            <a:srgbClr val="EAF3EF"/>
          </a:solidFill>
          <a:ln>
            <a:solidFill>
              <a:srgbClr val="B9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3B2E"/>
                </a:solidFill>
              </a:rPr>
              <a:t>Quarterly dashboard  →  Annual CoE portfolio review  →  Curriculum, faculty and project priorities refreshed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43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InsightVerge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12280" y="18288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D6B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Yamamah University Applied AI Initiative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475488"/>
            <a:ext cx="11155680" cy="0"/>
          </a:xfrm>
          <a:prstGeom prst="line">
            <a:avLst/>
          </a:prstGeom>
          <a:noFill/>
          <a:ln w="7620">
            <a:solidFill>
              <a:srgbClr val="CFE0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E3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Academic expansion runway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6" y="1234440"/>
            <a:ext cx="10458765" cy="320031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/>
          <a:lstStyle/>
          <a:p>
            <a:r>
              <a:t>Use market evidence, CoE quality and faculty capability before committing to larger academic programs.</a:t>
            </a:r>
          </a:p>
        </p:txBody>
      </p:sp>
      <p:sp>
        <p:nvSpPr>
          <p:cNvPr id="8" name="Text 6"/>
          <p:cNvSpPr/>
          <p:nvPr/>
        </p:nvSpPr>
        <p:spPr>
          <a:xfrm>
            <a:off x="685800" y="1673353"/>
            <a:ext cx="914400" cy="320040"/>
          </a:xfrm>
          <a:prstGeom prst="rect">
            <a:avLst/>
          </a:prstGeom>
          <a:solidFill>
            <a:srgbClr val="C89A2B"/>
          </a:solidFill>
          <a:ln>
            <a:solidFill>
              <a:srgbClr val="C89A2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655064"/>
            <a:ext cx="4114800" cy="320031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 lnSpcReduction="10000"/>
          </a:bodyPr>
          <a:lstStyle/>
          <a:p>
            <a:pPr marL="0" indent="0">
              <a:buNone/>
            </a:pPr>
            <a:r>
              <a:rPr sz="1600" dirty="0">
                <a:latin typeface="Aptos"/>
              </a:rPr>
              <a:t>Skill Weeks + Executive Academy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09360" y="1600199"/>
            <a:ext cx="4892040" cy="434992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600" dirty="0">
                <a:latin typeface="Aptos"/>
              </a:rPr>
              <a:t>Immediate traction across students and enterprises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914400" cy="320040"/>
          </a:xfrm>
          <a:prstGeom prst="rect">
            <a:avLst/>
          </a:prstGeom>
          <a:solidFill>
            <a:srgbClr val="C89A2B"/>
          </a:solidFill>
          <a:ln>
            <a:solidFill>
              <a:srgbClr val="C89A2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2359151"/>
            <a:ext cx="4114800" cy="338329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600" dirty="0">
                <a:latin typeface="Aptos"/>
              </a:rPr>
              <a:t>Micro-credentials + Certificates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09360" y="2377440"/>
            <a:ext cx="4892040" cy="338328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600">
                <a:latin typeface="Aptos"/>
              </a:rPr>
              <a:t>Visible progression and portfolio evidence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3154680"/>
            <a:ext cx="914400" cy="320040"/>
          </a:xfrm>
          <a:prstGeom prst="rect">
            <a:avLst/>
          </a:prstGeom>
          <a:solidFill>
            <a:srgbClr val="C89A2B"/>
          </a:solidFill>
          <a:ln>
            <a:solidFill>
              <a:srgbClr val="C89A2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136392"/>
            <a:ext cx="4114800" cy="338328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600" dirty="0">
                <a:latin typeface="Aptos"/>
              </a:rPr>
              <a:t>PGP / Professional Diploma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09360" y="3154680"/>
            <a:ext cx="4892040" cy="338328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600">
                <a:latin typeface="Aptos"/>
              </a:rPr>
              <a:t>Serious applied AI transition credential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" y="3931920"/>
            <a:ext cx="914400" cy="320040"/>
          </a:xfrm>
          <a:prstGeom prst="rect">
            <a:avLst/>
          </a:prstGeom>
          <a:solidFill>
            <a:srgbClr val="C89A2B"/>
          </a:solidFill>
          <a:ln>
            <a:solidFill>
              <a:srgbClr val="C89A2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Later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3913632"/>
            <a:ext cx="4114800" cy="407356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600">
                <a:latin typeface="Aptos"/>
              </a:rPr>
              <a:t>Master’s + Executive AI Pathways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09360" y="3931920"/>
            <a:ext cx="4892040" cy="338328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600">
                <a:latin typeface="Aptos"/>
              </a:rPr>
              <a:t>Advanced systems + working-professional options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5800" y="4709160"/>
            <a:ext cx="914400" cy="320040"/>
          </a:xfrm>
          <a:prstGeom prst="rect">
            <a:avLst/>
          </a:prstGeom>
          <a:solidFill>
            <a:srgbClr val="C89A2B"/>
          </a:solidFill>
          <a:ln>
            <a:solidFill>
              <a:srgbClr val="C89A2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4690872"/>
            <a:ext cx="4114800" cy="338328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600">
                <a:latin typeface="Aptos"/>
              </a:rPr>
              <a:t>Bachelor-level AI / AI-for-X expansion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09360" y="4709160"/>
            <a:ext cx="4892040" cy="338328"/>
          </a:xfrm>
          <a:prstGeom prst="rect">
            <a:avLst/>
          </a:prstGeom>
          <a:noFill/>
          <a:ln/>
        </p:spPr>
        <p:txBody>
          <a:bodyPr wrap="square" lIns="50800" tIns="38100" rIns="50800" bIns="38100" rtlCol="0" anchor="ctr">
            <a:normAutofit/>
          </a:bodyPr>
          <a:lstStyle/>
          <a:p>
            <a:pPr marL="0" indent="0">
              <a:buNone/>
            </a:pPr>
            <a:r>
              <a:rPr sz="1600" dirty="0">
                <a:latin typeface="Aptos"/>
              </a:rPr>
              <a:t>Only after demand, approval and faculty maturity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85800" y="5532120"/>
            <a:ext cx="10287000" cy="749808"/>
          </a:xfrm>
          <a:prstGeom prst="rect">
            <a:avLst/>
          </a:prstGeom>
          <a:solidFill>
            <a:srgbClr val="EAF3EE"/>
          </a:solidFill>
          <a:ln w="12700">
            <a:solidFill>
              <a:srgbClr val="CFE0D5"/>
            </a:solidFill>
          </a:ln>
        </p:spPr>
        <p:txBody>
          <a:bodyPr wrap="square" lIns="50800" tIns="38100" rIns="50800" bIns="38100" rtlCol="0" anchor="t">
            <a:normAutofit/>
          </a:bodyPr>
          <a:lstStyle/>
          <a:p>
            <a:pPr marL="0" indent="0">
              <a:buNone/>
            </a:pPr>
            <a:r>
              <a:rPr dirty="0">
                <a:latin typeface="Aptos"/>
              </a:rPr>
              <a:t>AI-for-X</a:t>
            </a:r>
            <a:r>
              <a:rPr lang="en-IN" dirty="0">
                <a:latin typeface="Aptos"/>
              </a:rPr>
              <a:t>: </a:t>
            </a:r>
            <a:r>
              <a:rPr dirty="0">
                <a:latin typeface="Aptos"/>
              </a:rPr>
              <a:t>Software, networks/security, industrial engineering, business, finance, legal, operations and architecture can all receive applied AI pathways without waiting for a new degree.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9d90964-91d3-4c01-ab00-563f95f00a38}" enabled="0" method="" siteId="{a9d90964-91d3-4c01-ab00-563f95f00a3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1719</Words>
  <Application>Microsoft Office PowerPoint</Application>
  <PresentationFormat>Widescreen</PresentationFormat>
  <Paragraphs>249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InsightVerge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Yamamah University - InsightVerge Applied AI Partnership</dc:title>
  <dc:subject>Al Yamamah University - InsightVerge Applied AI Partnership</dc:subject>
  <dc:creator>InsightVerge</dc:creator>
  <cp:lastModifiedBy>Sridhar Pappu</cp:lastModifiedBy>
  <cp:revision>2</cp:revision>
  <dcterms:created xsi:type="dcterms:W3CDTF">2026-08-22T10:11:04Z</dcterms:created>
  <dcterms:modified xsi:type="dcterms:W3CDTF">2026-09-03T07:33:13Z</dcterms:modified>
</cp:coreProperties>
</file>