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4.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0" r:id="rId2"/>
    <p:sldMasterId id="2147483652" r:id="rId3"/>
    <p:sldMasterId id="2147483658" r:id="rId4"/>
    <p:sldMasterId id="2147483661" r:id="rId5"/>
  </p:sldMasterIdLst>
  <p:notesMasterIdLst>
    <p:notesMasterId r:id="rId21"/>
  </p:notesMasterIdLst>
  <p:sldIdLst>
    <p:sldId id="256" r:id="rId6"/>
    <p:sldId id="262" r:id="rId12"/>
    <p:sldId id="259" r:id="rId9"/>
    <p:sldId id="257" r:id="rId7"/>
    <p:sldId id="258" r:id="rId8"/>
    <p:sldId id="260" r:id="rId10"/>
    <p:sldId id="265" r:id="rId36"/>
    <p:sldId id="261" r:id="rId11"/>
    <p:sldId id="266" r:id="rId37"/>
    <p:sldId id="263" r:id="rId13"/>
    <p:sldId id="264" r:id="rId14"/>
    <p:sldId id="268" r:id="rId15"/>
    <p:sldId id="2147483645" r:id="rId16"/>
    <p:sldId id="2147483646" r:id="rId17"/>
    <p:sldId id="267" r:id="rId18"/>
    <p:sldId id="2147483643" r:id="rId20"/>
  </p:sldIdLst>
  <p:sldSz cx="12192000" cy="6858000"/>
  <p:notesSz cx="12192000" cy="6858000"/>
  <p:embeddedFontLst>
    <p:embeddedFont>
      <p:font typeface="MiSans" panose="020B0604020202020204" charset="-122"/>
      <p:regular r:id="rId22"/>
    </p:embeddedFont>
    <p:embeddedFont>
      <p:font typeface="Barlow" panose="00000500000000000000" pitchFamily="2" charset="0"/>
      <p:regular r:id="rId23"/>
      <p:bold r:id="rId24"/>
      <p:italic r:id="rId25"/>
      <p:boldItalic r:id="rId26"/>
    </p:embeddedFont>
    <p:embeddedFont>
      <p:font typeface="DM Sans" pitchFamily="2" charset="0"/>
      <p:regular r:id="rId27"/>
      <p:bold r:id="rId28"/>
      <p:italic r:id="rId29"/>
    </p:embeddedFont>
    <p:embeddedFont>
      <p:font typeface="Lato" panose="020F0502020204030203" pitchFamily="34" charset="0"/>
      <p:regular r:id="rId3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6" d="100"/>
          <a:sy n="76" d="100"/>
        </p:scale>
        <p:origin x="272" y="6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5.fntdata"/><Relationship Id="rId3" Type="http://schemas.openxmlformats.org/officeDocument/2006/relationships/slideMaster" Target="slideMasters/slideMaster3.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5.xml"/><Relationship Id="rId31" Type="http://schemas.openxmlformats.org/officeDocument/2006/relationships/font" Target="fonts/font10.fntdata"/><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3.xml"/>  <Relationship Id="rId36" Type="http://schemas.openxmlformats.org/officeDocument/2006/relationships/slide" Target="slides/slide16.xml"/>
  <Relationship Id="rId37" Type="http://schemas.openxmlformats.org/officeDocument/2006/relationships/slide" Target="slides/slide1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6508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endParaRPr/>
          </a:p>
          <a:p>
            <a:r>
              <a:rPr lang="en-US" sz="1200" noProof="1"/>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endParaRPr/>
          </a:p>
          <a:p>
            <a:r>
              <a:rPr lang="en-US" sz="1200" noProof="1"/>
              <a:t>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endParaRPr/>
          </a:p>
          <a:p>
            <a:r>
              <a:rPr lang="en-US" sz="1200" noProof="1"/>
              <a:t>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endParaRPr/>
          </a:p>
          <a:p>
            <a:r>
              <a:rPr lang="en-US" sz="1200" noProof="1"/>
              <a:t>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endParaRPr/>
          </a:p>
          <a:p>
            <a:r>
              <a:rPr lang="en-US" sz="1200" noProof="1"/>
              <a:t>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endParaRPr/>
          </a:p>
          <a:p>
            <a:r>
              <a:rPr lang="en-US" sz="1200" noProof="1"/>
              <a:t>6</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endParaRPr/>
          </a:p>
          <a:p>
            <a:r>
              <a:rPr lang="en-US" sz="1200" noProof="1"/>
              <a:t>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endParaRPr/>
          </a:p>
          <a:p>
            <a:r>
              <a:rPr lang="en-US" sz="1200" noProof="1"/>
              <a:t>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endParaRPr/>
          </a:p>
          <a:p>
            <a:r>
              <a:rPr lang="en-US" sz="1200" noProof="1"/>
              <a:t>9</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credibility slide. Two decades, a hundred global clients, ten thousand professionals trained — and on the academic side, 2,400+ learners across degree and doctoral formats. The CIO.com ranking and the Carnegie Mellon LTI certification are the external validation.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Clientele across two sides. On the enterprise side, capability programs for Microsoft, Oracle, Deloitte, Bosch, Samsung, J&amp;J, Walmart Global Tech, Salesforce, GE Appliances, Rakuten, Wipro, Hinduja, Zain, Zensar and ZS. On the academic side, program design and delivery with Carnegie Mellon LTI, Golden Gate University, Rennes School of Business, Case Western, Carleton, Strathclyde, Vijaybhoomi and Atlas SkillTech.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3514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4866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 y="0"/>
            <a:ext cx="12191695" cy="6858000"/>
          </a:xfrm>
          <a:prstGeom prst="rect">
            <a:avLst/>
          </a:prstGeom>
          <a:solidFill>
            <a:srgbClr val="FAFAFA"/>
          </a:solidFill>
          <a:ln/>
        </p:spPr>
        <p:txBody>
          <a:bodyPr/>
          <a:lstStyle/>
          <a:p>
            <a:endParaRPr lang="en-US" sz="1800"/>
          </a:p>
        </p:txBody>
      </p:sp>
      <p:sp>
        <p:nvSpPr>
          <p:cNvPr id="3" name="Shape 1"/>
          <p:cNvSpPr/>
          <p:nvPr/>
        </p:nvSpPr>
        <p:spPr>
          <a:xfrm>
            <a:off x="1" y="0"/>
            <a:ext cx="12191695" cy="6858000"/>
          </a:xfrm>
          <a:prstGeom prst="rect">
            <a:avLst/>
          </a:prstGeom>
          <a:solidFill>
            <a:srgbClr val="FFFFFF"/>
          </a:solidFill>
          <a:ln/>
        </p:spPr>
        <p:txBody>
          <a:bodyPr/>
          <a:lstStyle/>
          <a:p>
            <a:endParaRPr lang="en-US" sz="1800"/>
          </a:p>
        </p:txBody>
      </p:sp>
    </p:spTree>
    <p:extLst>
      <p:ext uri="{BB962C8B-B14F-4D97-AF65-F5344CB8AC3E}">
        <p14:creationId xmlns:p14="http://schemas.microsoft.com/office/powerpoint/2010/main" val="2750581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BB963D-20F9-3B94-538D-2A3D42FD3736}"/>
              </a:ext>
            </a:extLst>
          </p:cNvPr>
          <p:cNvSpPr txBox="1"/>
          <p:nvPr userDrawn="1"/>
        </p:nvSpPr>
        <p:spPr>
          <a:xfrm>
            <a:off x="2075382" y="1623319"/>
            <a:ext cx="184731" cy="369332"/>
          </a:xfrm>
          <a:prstGeom prst="rect">
            <a:avLst/>
          </a:prstGeom>
          <a:noFill/>
        </p:spPr>
        <p:txBody>
          <a:bodyPr wrap="none" rtlCol="0">
            <a:spAutoFit/>
          </a:bodyPr>
          <a:lstStyle/>
          <a:p>
            <a:endParaRPr lang="en-US" sz="1800"/>
          </a:p>
        </p:txBody>
      </p:sp>
      <p:sp>
        <p:nvSpPr>
          <p:cNvPr id="2" name="Rectangle 1">
            <a:extLst>
              <a:ext uri="{FF2B5EF4-FFF2-40B4-BE49-F238E27FC236}">
                <a16:creationId xmlns:a16="http://schemas.microsoft.com/office/drawing/2014/main" id="{3D12F2BF-FE22-1FDD-1063-78763A639B50}"/>
              </a:ext>
            </a:extLst>
          </p:cNvPr>
          <p:cNvSpPr/>
          <p:nvPr userDrawn="1"/>
        </p:nvSpPr>
        <p:spPr>
          <a:xfrm>
            <a:off x="0" y="0"/>
            <a:ext cx="12192000" cy="6985000"/>
          </a:xfrm>
          <a:prstGeom prst="rect">
            <a:avLst/>
          </a:prstGeom>
          <a:solidFill>
            <a:srgbClr val="0D3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pic>
        <p:nvPicPr>
          <p:cNvPr id="55" name="Picture 54">
            <a:extLst>
              <a:ext uri="{FF2B5EF4-FFF2-40B4-BE49-F238E27FC236}">
                <a16:creationId xmlns:a16="http://schemas.microsoft.com/office/drawing/2014/main" id="{158B2463-2B52-5963-AF03-0221AF2987D6}"/>
              </a:ext>
            </a:extLst>
          </p:cNvPr>
          <p:cNvPicPr>
            <a:picLocks noChangeAspect="1"/>
          </p:cNvPicPr>
          <p:nvPr userDrawn="1"/>
        </p:nvPicPr>
        <p:blipFill>
          <a:blip r:embed="rId2" cstate="email">
            <a:alphaModFix amt="46000"/>
            <a:extLst>
              <a:ext uri="{28A0092B-C50C-407E-A947-70E740481C1C}">
                <a14:useLocalDpi xmlns:a14="http://schemas.microsoft.com/office/drawing/2010/main"/>
              </a:ext>
            </a:extLst>
          </a:blip>
          <a:srcRect/>
          <a:stretch>
            <a:fillRect/>
          </a:stretch>
        </p:blipFill>
        <p:spPr>
          <a:xfrm>
            <a:off x="660402" y="6223411"/>
            <a:ext cx="11010911" cy="716604"/>
          </a:xfrm>
          <a:prstGeom prst="rect">
            <a:avLst/>
          </a:prstGeom>
        </p:spPr>
      </p:pic>
      <p:pic>
        <p:nvPicPr>
          <p:cNvPr id="58" name="Picture 57">
            <a:extLst>
              <a:ext uri="{FF2B5EF4-FFF2-40B4-BE49-F238E27FC236}">
                <a16:creationId xmlns:a16="http://schemas.microsoft.com/office/drawing/2014/main" id="{BB5C217B-4153-8B95-DF6A-CE50FABB7BED}"/>
              </a:ext>
            </a:extLst>
          </p:cNvPr>
          <p:cNvPicPr>
            <a:picLocks noChangeAspect="1"/>
          </p:cNvPicPr>
          <p:nvPr userDrawn="1"/>
        </p:nvPicPr>
        <p:blipFill>
          <a:blip r:embed="rId3" cstate="email">
            <a:alphaModFix amt="46000"/>
            <a:extLst>
              <a:ext uri="{28A0092B-C50C-407E-A947-70E740481C1C}">
                <a14:useLocalDpi xmlns:a14="http://schemas.microsoft.com/office/drawing/2010/main"/>
              </a:ext>
            </a:extLst>
          </a:blip>
          <a:srcRect b="-5481"/>
          <a:stretch>
            <a:fillRect/>
          </a:stretch>
        </p:blipFill>
        <p:spPr>
          <a:xfrm>
            <a:off x="660402" y="5333370"/>
            <a:ext cx="11010911" cy="924326"/>
          </a:xfrm>
          <a:prstGeom prst="rect">
            <a:avLst/>
          </a:prstGeom>
        </p:spPr>
      </p:pic>
      <p:pic>
        <p:nvPicPr>
          <p:cNvPr id="61" name="Picture 60">
            <a:extLst>
              <a:ext uri="{FF2B5EF4-FFF2-40B4-BE49-F238E27FC236}">
                <a16:creationId xmlns:a16="http://schemas.microsoft.com/office/drawing/2014/main" id="{828C3E6D-4D71-855A-E898-DC236EA600BB}"/>
              </a:ext>
            </a:extLst>
          </p:cNvPr>
          <p:cNvPicPr>
            <a:picLocks noChangeAspect="1"/>
          </p:cNvPicPr>
          <p:nvPr userDrawn="1"/>
        </p:nvPicPr>
        <p:blipFill>
          <a:blip r:embed="rId3" cstate="email">
            <a:alphaModFix amt="46000"/>
            <a:extLst>
              <a:ext uri="{28A0092B-C50C-407E-A947-70E740481C1C}">
                <a14:useLocalDpi xmlns:a14="http://schemas.microsoft.com/office/drawing/2010/main"/>
              </a:ext>
            </a:extLst>
          </a:blip>
          <a:srcRect b="-5481"/>
          <a:stretch>
            <a:fillRect/>
          </a:stretch>
        </p:blipFill>
        <p:spPr>
          <a:xfrm>
            <a:off x="660402" y="4444370"/>
            <a:ext cx="11010911" cy="924326"/>
          </a:xfrm>
          <a:prstGeom prst="rect">
            <a:avLst/>
          </a:prstGeom>
        </p:spPr>
      </p:pic>
      <p:sp>
        <p:nvSpPr>
          <p:cNvPr id="62" name="Text Placeholder 14">
            <a:extLst>
              <a:ext uri="{FF2B5EF4-FFF2-40B4-BE49-F238E27FC236}">
                <a16:creationId xmlns:a16="http://schemas.microsoft.com/office/drawing/2014/main" id="{A82E3A6E-1F40-76C8-E607-9C2B7B36EA79}"/>
              </a:ext>
            </a:extLst>
          </p:cNvPr>
          <p:cNvSpPr>
            <a:spLocks noGrp="1"/>
          </p:cNvSpPr>
          <p:nvPr>
            <p:ph type="body" sz="quarter" idx="10" hasCustomPrompt="1"/>
          </p:nvPr>
        </p:nvSpPr>
        <p:spPr>
          <a:xfrm>
            <a:off x="587376" y="1892740"/>
            <a:ext cx="7141327" cy="615553"/>
          </a:xfrm>
          <a:prstGeom prst="rect">
            <a:avLst/>
          </a:prstGeom>
        </p:spPr>
        <p:txBody>
          <a:bodyPr wrap="square" lIns="0" tIns="0" rIns="0" bIns="0" anchor="b" anchorCtr="0">
            <a:noAutofit/>
          </a:bodyPr>
          <a:lstStyle>
            <a:lvl1pPr marL="0" indent="0">
              <a:buNone/>
              <a:defRPr sz="4000" b="0" i="0">
                <a:solidFill>
                  <a:schemeClr val="bg1"/>
                </a:solidFill>
                <a:latin typeface="Syne" pitchFamily="2" charset="77"/>
              </a:defRPr>
            </a:lvl1pPr>
            <a:lvl2pPr marL="457235" indent="0">
              <a:buNone/>
              <a:defRPr/>
            </a:lvl2pPr>
            <a:lvl3pPr marL="914469" indent="0">
              <a:buNone/>
              <a:defRPr/>
            </a:lvl3pPr>
            <a:lvl4pPr marL="1371705" indent="0">
              <a:buNone/>
              <a:defRPr/>
            </a:lvl4pPr>
            <a:lvl5pPr marL="1828939" indent="0">
              <a:buNone/>
              <a:defRPr/>
            </a:lvl5pPr>
          </a:lstStyle>
          <a:p>
            <a:pPr lvl="0"/>
            <a:r>
              <a:rPr lang="en-GB" dirty="0"/>
              <a:t>Click to edit divider title header</a:t>
            </a:r>
          </a:p>
        </p:txBody>
      </p:sp>
      <p:sp>
        <p:nvSpPr>
          <p:cNvPr id="63" name="Text Placeholder 14">
            <a:extLst>
              <a:ext uri="{FF2B5EF4-FFF2-40B4-BE49-F238E27FC236}">
                <a16:creationId xmlns:a16="http://schemas.microsoft.com/office/drawing/2014/main" id="{E795BB7F-3D18-5CEA-57DA-BFE5DF0909C7}"/>
              </a:ext>
            </a:extLst>
          </p:cNvPr>
          <p:cNvSpPr>
            <a:spLocks noGrp="1"/>
          </p:cNvSpPr>
          <p:nvPr>
            <p:ph type="body" sz="quarter" idx="11" hasCustomPrompt="1"/>
          </p:nvPr>
        </p:nvSpPr>
        <p:spPr>
          <a:xfrm>
            <a:off x="587377" y="2659376"/>
            <a:ext cx="6727825" cy="276999"/>
          </a:xfrm>
          <a:prstGeom prst="rect">
            <a:avLst/>
          </a:prstGeom>
        </p:spPr>
        <p:txBody>
          <a:bodyPr lIns="0" tIns="0" rIns="0" bIns="0">
            <a:noAutofit/>
          </a:bodyPr>
          <a:lstStyle>
            <a:lvl1pPr marL="0" indent="0">
              <a:lnSpc>
                <a:spcPct val="100000"/>
              </a:lnSpc>
              <a:spcBef>
                <a:spcPts val="0"/>
              </a:spcBef>
              <a:buNone/>
              <a:defRPr sz="1801" b="0" i="0">
                <a:solidFill>
                  <a:srgbClr val="E5F7EE"/>
                </a:solidFill>
                <a:latin typeface="DM Sans" pitchFamily="2" charset="77"/>
                <a:cs typeface="Arial" panose="020B0604020202020204" pitchFamily="34" charset="0"/>
              </a:defRPr>
            </a:lvl1pPr>
            <a:lvl2pPr marL="457235" indent="0">
              <a:buNone/>
              <a:defRPr/>
            </a:lvl2pPr>
            <a:lvl3pPr marL="914469" indent="0">
              <a:buNone/>
              <a:defRPr/>
            </a:lvl3pPr>
            <a:lvl4pPr marL="1371705" indent="0">
              <a:buNone/>
              <a:defRPr/>
            </a:lvl4pPr>
            <a:lvl5pPr marL="1828939" indent="0">
              <a:buNone/>
              <a:defRPr/>
            </a:lvl5pPr>
          </a:lstStyle>
          <a:p>
            <a:pPr lvl="0"/>
            <a:r>
              <a:rPr lang="en-GB" dirty="0"/>
              <a:t>Click to add divider </a:t>
            </a:r>
            <a:r>
              <a:rPr lang="en-GB" dirty="0" err="1"/>
              <a:t>subheader</a:t>
            </a:r>
            <a:endParaRPr lang="en-GB" dirty="0"/>
          </a:p>
        </p:txBody>
      </p:sp>
      <p:sp>
        <p:nvSpPr>
          <p:cNvPr id="64" name="Slide Number Placeholder 2">
            <a:extLst>
              <a:ext uri="{FF2B5EF4-FFF2-40B4-BE49-F238E27FC236}">
                <a16:creationId xmlns:a16="http://schemas.microsoft.com/office/drawing/2014/main" id="{089F2FF7-9BA4-2974-0BF8-976A9D431772}"/>
              </a:ext>
            </a:extLst>
          </p:cNvPr>
          <p:cNvSpPr>
            <a:spLocks noGrp="1"/>
          </p:cNvSpPr>
          <p:nvPr>
            <p:ph type="sldNum" sz="quarter" idx="12"/>
          </p:nvPr>
        </p:nvSpPr>
        <p:spPr>
          <a:xfrm>
            <a:off x="587374" y="6426202"/>
            <a:ext cx="2743200" cy="295279"/>
          </a:xfrm>
        </p:spPr>
        <p:txBody>
          <a:bodyPr/>
          <a:lstStyle>
            <a:lvl1pPr>
              <a:defRPr>
                <a:solidFill>
                  <a:schemeClr val="bg1"/>
                </a:solidFill>
              </a:defRPr>
            </a:lvl1pPr>
          </a:lstStyle>
          <a:p>
            <a:fld id="{33C27F37-4D97-F84C-9FA0-B0298962BDCE}" type="slidenum">
              <a:rPr lang="en-US" smtClean="0"/>
              <a:pPr/>
              <a:t>‹#›</a:t>
            </a:fld>
            <a:endParaRPr lang="en-US"/>
          </a:p>
        </p:txBody>
      </p:sp>
      <p:pic>
        <p:nvPicPr>
          <p:cNvPr id="65" name="Picture 64">
            <a:extLst>
              <a:ext uri="{FF2B5EF4-FFF2-40B4-BE49-F238E27FC236}">
                <a16:creationId xmlns:a16="http://schemas.microsoft.com/office/drawing/2014/main" id="{4A8B4B64-75C2-ACF4-08A4-82AC09FDDB94}"/>
              </a:ext>
            </a:extLst>
          </p:cNvPr>
          <p:cNvPicPr>
            <a:picLocks noChangeAspect="1"/>
          </p:cNvPicPr>
          <p:nvPr userDrawn="1"/>
        </p:nvPicPr>
        <p:blipFill>
          <a:blip r:embed="rId4" cstate="email">
            <a:alphaModFix amt="46000"/>
            <a:extLst>
              <a:ext uri="{28A0092B-C50C-407E-A947-70E740481C1C}">
                <a14:useLocalDpi xmlns:a14="http://schemas.microsoft.com/office/drawing/2010/main"/>
              </a:ext>
            </a:extLst>
          </a:blip>
          <a:srcRect b="-5481"/>
          <a:stretch>
            <a:fillRect/>
          </a:stretch>
        </p:blipFill>
        <p:spPr>
          <a:xfrm>
            <a:off x="11772902" y="4444370"/>
            <a:ext cx="485786" cy="924326"/>
          </a:xfrm>
          <a:prstGeom prst="rect">
            <a:avLst/>
          </a:prstGeom>
        </p:spPr>
      </p:pic>
      <p:pic>
        <p:nvPicPr>
          <p:cNvPr id="66" name="Picture 65">
            <a:extLst>
              <a:ext uri="{FF2B5EF4-FFF2-40B4-BE49-F238E27FC236}">
                <a16:creationId xmlns:a16="http://schemas.microsoft.com/office/drawing/2014/main" id="{5954CBF9-CF0C-32FC-F99B-FB36792567D8}"/>
              </a:ext>
            </a:extLst>
          </p:cNvPr>
          <p:cNvPicPr>
            <a:picLocks noChangeAspect="1"/>
          </p:cNvPicPr>
          <p:nvPr userDrawn="1"/>
        </p:nvPicPr>
        <p:blipFill>
          <a:blip r:embed="rId4" cstate="email">
            <a:alphaModFix amt="46000"/>
            <a:extLst>
              <a:ext uri="{28A0092B-C50C-407E-A947-70E740481C1C}">
                <a14:useLocalDpi xmlns:a14="http://schemas.microsoft.com/office/drawing/2010/main"/>
              </a:ext>
            </a:extLst>
          </a:blip>
          <a:srcRect b="-5481"/>
          <a:stretch>
            <a:fillRect/>
          </a:stretch>
        </p:blipFill>
        <p:spPr>
          <a:xfrm flipH="1">
            <a:off x="66686" y="4444370"/>
            <a:ext cx="485786" cy="924326"/>
          </a:xfrm>
          <a:prstGeom prst="rect">
            <a:avLst/>
          </a:prstGeom>
        </p:spPr>
      </p:pic>
      <p:pic>
        <p:nvPicPr>
          <p:cNvPr id="67" name="Picture 66">
            <a:extLst>
              <a:ext uri="{FF2B5EF4-FFF2-40B4-BE49-F238E27FC236}">
                <a16:creationId xmlns:a16="http://schemas.microsoft.com/office/drawing/2014/main" id="{04047B18-637F-6FD2-B3EA-ABAC6D5ACC4B}"/>
              </a:ext>
            </a:extLst>
          </p:cNvPr>
          <p:cNvPicPr>
            <a:picLocks noChangeAspect="1"/>
          </p:cNvPicPr>
          <p:nvPr userDrawn="1"/>
        </p:nvPicPr>
        <p:blipFill>
          <a:blip r:embed="rId4" cstate="email">
            <a:alphaModFix amt="46000"/>
            <a:extLst>
              <a:ext uri="{28A0092B-C50C-407E-A947-70E740481C1C}">
                <a14:useLocalDpi xmlns:a14="http://schemas.microsoft.com/office/drawing/2010/main"/>
              </a:ext>
            </a:extLst>
          </a:blip>
          <a:srcRect b="-5481"/>
          <a:stretch>
            <a:fillRect/>
          </a:stretch>
        </p:blipFill>
        <p:spPr>
          <a:xfrm>
            <a:off x="11772902" y="5336240"/>
            <a:ext cx="485786" cy="924326"/>
          </a:xfrm>
          <a:prstGeom prst="rect">
            <a:avLst/>
          </a:prstGeom>
        </p:spPr>
      </p:pic>
      <p:pic>
        <p:nvPicPr>
          <p:cNvPr id="68" name="Picture 67">
            <a:extLst>
              <a:ext uri="{FF2B5EF4-FFF2-40B4-BE49-F238E27FC236}">
                <a16:creationId xmlns:a16="http://schemas.microsoft.com/office/drawing/2014/main" id="{8410D1B1-CE68-6CFF-D914-B2FD707413F6}"/>
              </a:ext>
            </a:extLst>
          </p:cNvPr>
          <p:cNvPicPr>
            <a:picLocks noChangeAspect="1"/>
          </p:cNvPicPr>
          <p:nvPr userDrawn="1"/>
        </p:nvPicPr>
        <p:blipFill>
          <a:blip r:embed="rId4" cstate="email">
            <a:alphaModFix amt="46000"/>
            <a:extLst>
              <a:ext uri="{28A0092B-C50C-407E-A947-70E740481C1C}">
                <a14:useLocalDpi xmlns:a14="http://schemas.microsoft.com/office/drawing/2010/main"/>
              </a:ext>
            </a:extLst>
          </a:blip>
          <a:srcRect b="-5481"/>
          <a:stretch>
            <a:fillRect/>
          </a:stretch>
        </p:blipFill>
        <p:spPr>
          <a:xfrm flipH="1">
            <a:off x="66686" y="5336240"/>
            <a:ext cx="485786" cy="924326"/>
          </a:xfrm>
          <a:prstGeom prst="rect">
            <a:avLst/>
          </a:prstGeom>
        </p:spPr>
      </p:pic>
      <p:pic>
        <p:nvPicPr>
          <p:cNvPr id="69" name="Picture 68">
            <a:extLst>
              <a:ext uri="{FF2B5EF4-FFF2-40B4-BE49-F238E27FC236}">
                <a16:creationId xmlns:a16="http://schemas.microsoft.com/office/drawing/2014/main" id="{CEDA7EC3-E30F-C272-828F-27CCFDC9926E}"/>
              </a:ext>
            </a:extLst>
          </p:cNvPr>
          <p:cNvPicPr>
            <a:picLocks noChangeAspect="1"/>
          </p:cNvPicPr>
          <p:nvPr userDrawn="1"/>
        </p:nvPicPr>
        <p:blipFill>
          <a:blip r:embed="rId5" cstate="email">
            <a:alphaModFix amt="46000"/>
            <a:extLst>
              <a:ext uri="{28A0092B-C50C-407E-A947-70E740481C1C}">
                <a14:useLocalDpi xmlns:a14="http://schemas.microsoft.com/office/drawing/2010/main"/>
              </a:ext>
            </a:extLst>
          </a:blip>
          <a:srcRect/>
          <a:stretch>
            <a:fillRect/>
          </a:stretch>
        </p:blipFill>
        <p:spPr>
          <a:xfrm>
            <a:off x="11772902" y="6257695"/>
            <a:ext cx="485785" cy="690932"/>
          </a:xfrm>
          <a:prstGeom prst="rect">
            <a:avLst/>
          </a:prstGeom>
        </p:spPr>
      </p:pic>
      <p:pic>
        <p:nvPicPr>
          <p:cNvPr id="70" name="Picture 69">
            <a:extLst>
              <a:ext uri="{FF2B5EF4-FFF2-40B4-BE49-F238E27FC236}">
                <a16:creationId xmlns:a16="http://schemas.microsoft.com/office/drawing/2014/main" id="{31B34352-E394-49DB-8AE6-2E3923C62950}"/>
              </a:ext>
            </a:extLst>
          </p:cNvPr>
          <p:cNvPicPr>
            <a:picLocks noChangeAspect="1"/>
          </p:cNvPicPr>
          <p:nvPr userDrawn="1"/>
        </p:nvPicPr>
        <p:blipFill>
          <a:blip r:embed="rId6" cstate="email">
            <a:alphaModFix amt="46000"/>
            <a:extLst>
              <a:ext uri="{28A0092B-C50C-407E-A947-70E740481C1C}">
                <a14:useLocalDpi xmlns:a14="http://schemas.microsoft.com/office/drawing/2010/main"/>
              </a:ext>
            </a:extLst>
          </a:blip>
          <a:srcRect/>
          <a:stretch>
            <a:fillRect/>
          </a:stretch>
        </p:blipFill>
        <p:spPr>
          <a:xfrm flipH="1">
            <a:off x="66686" y="6257697"/>
            <a:ext cx="485786" cy="688061"/>
          </a:xfrm>
          <a:prstGeom prst="rect">
            <a:avLst/>
          </a:prstGeom>
        </p:spPr>
      </p:pic>
    </p:spTree>
    <p:extLst>
      <p:ext uri="{BB962C8B-B14F-4D97-AF65-F5344CB8AC3E}">
        <p14:creationId xmlns:p14="http://schemas.microsoft.com/office/powerpoint/2010/main" val="227739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7DAB7-19C9-A50E-13FD-9D79866662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C8E422-1422-0EA3-35B5-F85BF3E0466A}"/>
              </a:ext>
            </a:extLst>
          </p:cNvPr>
          <p:cNvSpPr>
            <a:spLocks noGrp="1"/>
          </p:cNvSpPr>
          <p:nvPr>
            <p:ph type="subTitle" idx="1"/>
          </p:nvPr>
        </p:nvSpPr>
        <p:spPr>
          <a:xfrm>
            <a:off x="1524000" y="3602039"/>
            <a:ext cx="9144000" cy="1655762"/>
          </a:xfrm>
        </p:spPr>
        <p:txBody>
          <a:bodyPr/>
          <a:lstStyle>
            <a:lvl1pPr marL="0" indent="0" algn="ctr">
              <a:buNone/>
              <a:defRPr sz="2400"/>
            </a:lvl1pPr>
            <a:lvl2pPr marL="457235" indent="0" algn="ctr">
              <a:buNone/>
              <a:defRPr sz="2000"/>
            </a:lvl2pPr>
            <a:lvl3pPr marL="914469" indent="0" algn="ctr">
              <a:buNone/>
              <a:defRPr sz="1800"/>
            </a:lvl3pPr>
            <a:lvl4pPr marL="1371704" indent="0" algn="ctr">
              <a:buNone/>
              <a:defRPr sz="1600"/>
            </a:lvl4pPr>
            <a:lvl5pPr marL="1828937" indent="0" algn="ctr">
              <a:buNone/>
              <a:defRPr sz="1600"/>
            </a:lvl5pPr>
            <a:lvl6pPr marL="2286172" indent="0" algn="ctr">
              <a:buNone/>
              <a:defRPr sz="1600"/>
            </a:lvl6pPr>
            <a:lvl7pPr marL="2743405" indent="0" algn="ctr">
              <a:buNone/>
              <a:defRPr sz="1600"/>
            </a:lvl7pPr>
            <a:lvl8pPr marL="3200640" indent="0" algn="ctr">
              <a:buNone/>
              <a:defRPr sz="1600"/>
            </a:lvl8pPr>
            <a:lvl9pPr marL="3657875"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831228-39A8-9630-FCD4-89EC680FE40A}"/>
              </a:ext>
            </a:extLst>
          </p:cNvPr>
          <p:cNvSpPr>
            <a:spLocks noGrp="1"/>
          </p:cNvSpPr>
          <p:nvPr>
            <p:ph type="dt" sz="half" idx="10"/>
          </p:nvPr>
        </p:nvSpPr>
        <p:spPr/>
        <p:txBody>
          <a:bodyPr/>
          <a:lstStyle/>
          <a:p>
            <a:fld id="{CB825C03-3967-3B4B-B32C-F9DB6A0602C8}" type="datetimeFigureOut">
              <a:rPr lang="en-US" smtClean="0"/>
              <a:t>8/25/2026</a:t>
            </a:fld>
            <a:endParaRPr lang="en-US"/>
          </a:p>
        </p:txBody>
      </p:sp>
      <p:sp>
        <p:nvSpPr>
          <p:cNvPr id="5" name="Footer Placeholder 4">
            <a:extLst>
              <a:ext uri="{FF2B5EF4-FFF2-40B4-BE49-F238E27FC236}">
                <a16:creationId xmlns:a16="http://schemas.microsoft.com/office/drawing/2014/main" id="{0270CD73-2701-3AC8-A513-7BFD9B7275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C0A89-0106-EB30-B0AA-F4F4EC01B70E}"/>
              </a:ext>
            </a:extLst>
          </p:cNvPr>
          <p:cNvSpPr>
            <a:spLocks noGrp="1"/>
          </p:cNvSpPr>
          <p:nvPr>
            <p:ph type="sldNum" sz="quarter" idx="12"/>
          </p:nvPr>
        </p:nvSpPr>
        <p:spPr/>
        <p:txBody>
          <a:bodyPr/>
          <a:lstStyle/>
          <a:p>
            <a:fld id="{EB747BE7-28F5-8C4B-AA23-E34C05292419}" type="slidenum">
              <a:rPr lang="en-US" smtClean="0"/>
              <a:t>‹#›</a:t>
            </a:fld>
            <a:endParaRPr lang="en-US"/>
          </a:p>
        </p:txBody>
      </p:sp>
    </p:spTree>
    <p:extLst>
      <p:ext uri="{BB962C8B-B14F-4D97-AF65-F5344CB8AC3E}">
        <p14:creationId xmlns:p14="http://schemas.microsoft.com/office/powerpoint/2010/main" val="4044569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4_Table_of_Contents_Ligh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886F1D4-C0CC-00D9-20A0-3A020C14CB48}"/>
              </a:ext>
            </a:extLst>
          </p:cNvPr>
          <p:cNvSpPr>
            <a:spLocks noGrp="1"/>
          </p:cNvSpPr>
          <p:nvPr>
            <p:ph type="title" hasCustomPrompt="1"/>
          </p:nvPr>
        </p:nvSpPr>
        <p:spPr>
          <a:xfrm>
            <a:off x="587376" y="584204"/>
            <a:ext cx="11013194" cy="443201"/>
          </a:xfrm>
        </p:spPr>
        <p:txBody>
          <a:bodyPr tIns="0" bIns="0" anchor="t" anchorCtr="0"/>
          <a:lstStyle>
            <a:lvl1pPr>
              <a:lnSpc>
                <a:spcPct val="90000"/>
              </a:lnSpc>
              <a:defRPr sz="3200" spc="0" baseline="0">
                <a:solidFill>
                  <a:schemeClr val="accent1"/>
                </a:solidFill>
              </a:defRPr>
            </a:lvl1pPr>
          </a:lstStyle>
          <a:p>
            <a:r>
              <a:rPr lang="en-GB" dirty="0"/>
              <a:t>TABLE OF CONTENTS</a:t>
            </a:r>
            <a:endParaRPr lang="en-US" dirty="0"/>
          </a:p>
        </p:txBody>
      </p:sp>
      <p:sp>
        <p:nvSpPr>
          <p:cNvPr id="7" name="Slide Number Placeholder 3">
            <a:extLst>
              <a:ext uri="{FF2B5EF4-FFF2-40B4-BE49-F238E27FC236}">
                <a16:creationId xmlns:a16="http://schemas.microsoft.com/office/drawing/2014/main" id="{D0930FA5-3009-ABB3-0160-D62D141FDA25}"/>
              </a:ext>
            </a:extLst>
          </p:cNvPr>
          <p:cNvSpPr>
            <a:spLocks noGrp="1"/>
          </p:cNvSpPr>
          <p:nvPr>
            <p:ph type="sldNum" sz="quarter" idx="20"/>
          </p:nvPr>
        </p:nvSpPr>
        <p:spPr>
          <a:xfrm>
            <a:off x="587375" y="6356355"/>
            <a:ext cx="2743200" cy="365125"/>
          </a:xfrm>
        </p:spPr>
        <p:txBody>
          <a:bodyPr/>
          <a:lstStyle>
            <a:lvl1pPr>
              <a:defRPr lang="en-US" sz="800" kern="1200" smtClean="0">
                <a:solidFill>
                  <a:schemeClr val="tx1"/>
                </a:solidFill>
                <a:latin typeface="Barlow" panose="00000500000000000000" pitchFamily="2" charset="0"/>
                <a:ea typeface="+mn-ea"/>
                <a:cs typeface="Lato" panose="020F0502020204030203" pitchFamily="34" charset="0"/>
              </a:defRPr>
            </a:lvl1pPr>
          </a:lstStyle>
          <a:p>
            <a:fld id="{9308FC9F-E834-E641-A128-CC7E7A0E6CB4}" type="slidenum">
              <a:rPr lang="en-IN" smtClean="0"/>
              <a:pPr/>
              <a:t>‹#›</a:t>
            </a:fld>
            <a:endParaRPr lang="en-IN" dirty="0"/>
          </a:p>
        </p:txBody>
      </p:sp>
    </p:spTree>
    <p:extLst>
      <p:ext uri="{BB962C8B-B14F-4D97-AF65-F5344CB8AC3E}">
        <p14:creationId xmlns:p14="http://schemas.microsoft.com/office/powerpoint/2010/main" val="4004107205"/>
      </p:ext>
    </p:extLst>
  </p:cSld>
  <p:clrMapOvr>
    <a:masterClrMapping/>
  </p:clrMapOvr>
  <p:extLst>
    <p:ext uri="{DCECCB84-F9BA-43D5-87BE-67443E8EF086}">
      <p15:sldGuideLst xmlns:p15="http://schemas.microsoft.com/office/powerpoint/2012/main">
        <p15:guide id="5" orient="horz" pos="36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37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V_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932688"/>
            <a:ext cx="11064240" cy="0"/>
          </a:xfrm>
          <a:prstGeom prst="line">
            <a:avLst/>
          </a:prstGeom>
          <a:noFill/>
          <a:ln w="12700">
            <a:solidFill>
              <a:srgbClr val="B7D8CD"/>
            </a:solidFill>
            <a:prstDash val="solid"/>
          </a:ln>
        </p:spPr>
      </p:sp>
      <p:sp>
        <p:nvSpPr>
          <p:cNvPr id="3" name="Text 1"/>
          <p:cNvSpPr/>
          <p:nvPr/>
        </p:nvSpPr>
        <p:spPr>
          <a:xfrm>
            <a:off x="585216" y="6510528"/>
            <a:ext cx="4206240" cy="164592"/>
          </a:xfrm>
          <a:prstGeom prst="rect">
            <a:avLst/>
          </a:prstGeom>
          <a:noFill/>
          <a:ln/>
        </p:spPr>
        <p:txBody>
          <a:bodyPr wrap="square" lIns="0" tIns="0" rIns="0" bIns="0" rtlCol="0" anchor="ctr"/>
          <a:lstStyle/>
          <a:p>
            <a:pPr marL="0" indent="0">
              <a:buNone/>
            </a:pPr>
            <a:r>
              <a:rPr lang="en-US" sz="850" dirty="0">
                <a:solidFill>
                  <a:srgbClr val="7A8581"/>
                </a:solidFill>
                <a:latin typeface="Aptos" pitchFamily="34" charset="0"/>
                <a:ea typeface="Aptos" pitchFamily="34" charset="-122"/>
                <a:cs typeface="Aptos" pitchFamily="34" charset="-120"/>
              </a:rPr>
              <a:t>© 2026 InsightVerge. Confidential &amp; Proprietary.</a:t>
            </a:r>
            <a:endParaRPr lang="en-US" sz="850" dirty="0"/>
          </a:p>
        </p:txBody>
      </p:sp>
      <p:sp>
        <p:nvSpPr>
          <p:cNvPr id="25" name="Slide Number Placeholder 0"/>
          <p:cNvSpPr>
            <a:spLocks noGrp="1"/>
          </p:cNvSpPr>
          <p:nvPr>
            <p:ph type="sldNum" sz="quarter" idx="4294967295"/>
          </p:nvPr>
        </p:nvSpPr>
        <p:spPr>
          <a:xfrm>
            <a:off x="11475720" y="6473952"/>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18D"/>
                </a:solidFill>
                <a:latin typeface="Aptos"/>
                <a:ea typeface="Aptos"/>
                <a:cs typeface="Aptos"/>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097927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6082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3117852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373863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247149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16761867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3964052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20101556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20418382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16862228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31120411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42012882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7642164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5EB"/>
          </a:solidFill>
          <a:ln/>
        </p:spPr>
        <p:txBody>
          <a:bodyPr/>
          <a:lstStyle/>
          <a:p>
            <a:endParaRPr lang="en-US" sz="1501"/>
          </a:p>
        </p:txBody>
      </p:sp>
    </p:spTree>
    <p:extLst>
      <p:ext uri="{BB962C8B-B14F-4D97-AF65-F5344CB8AC3E}">
        <p14:creationId xmlns:p14="http://schemas.microsoft.com/office/powerpoint/2010/main" val="37356610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BB963D-20F9-3B94-538D-2A3D42FD3736}"/>
              </a:ext>
            </a:extLst>
          </p:cNvPr>
          <p:cNvSpPr txBox="1"/>
          <p:nvPr userDrawn="1"/>
        </p:nvSpPr>
        <p:spPr>
          <a:xfrm>
            <a:off x="2075384" y="1623318"/>
            <a:ext cx="184731" cy="369332"/>
          </a:xfrm>
          <a:prstGeom prst="rect">
            <a:avLst/>
          </a:prstGeom>
          <a:noFill/>
        </p:spPr>
        <p:txBody>
          <a:bodyPr wrap="none" rtlCol="0">
            <a:spAutoFit/>
          </a:bodyPr>
          <a:lstStyle/>
          <a:p>
            <a:endParaRPr lang="en-US" sz="1800"/>
          </a:p>
        </p:txBody>
      </p:sp>
      <p:sp>
        <p:nvSpPr>
          <p:cNvPr id="2" name="Rectangle 1">
            <a:extLst>
              <a:ext uri="{FF2B5EF4-FFF2-40B4-BE49-F238E27FC236}">
                <a16:creationId xmlns:a16="http://schemas.microsoft.com/office/drawing/2014/main" id="{3D12F2BF-FE22-1FDD-1063-78763A639B50}"/>
              </a:ext>
            </a:extLst>
          </p:cNvPr>
          <p:cNvSpPr/>
          <p:nvPr userDrawn="1"/>
        </p:nvSpPr>
        <p:spPr>
          <a:xfrm>
            <a:off x="0" y="0"/>
            <a:ext cx="12192000" cy="6858000"/>
          </a:xfrm>
          <a:prstGeom prst="rect">
            <a:avLst/>
          </a:prstGeom>
          <a:solidFill>
            <a:srgbClr val="0D3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Tree>
    <p:extLst>
      <p:ext uri="{BB962C8B-B14F-4D97-AF65-F5344CB8AC3E}">
        <p14:creationId xmlns:p14="http://schemas.microsoft.com/office/powerpoint/2010/main" val="993616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BF7FCC-CCB6-D00D-AE08-62F1E2340E74}"/>
              </a:ext>
            </a:extLst>
          </p:cNvPr>
          <p:cNvPicPr>
            <a:picLocks noChangeAspect="1"/>
          </p:cNvPicPr>
          <p:nvPr userDrawn="1"/>
        </p:nvPicPr>
        <p:blipFill>
          <a:blip r:embed="rId2" cstate="email">
            <a:alphaModFix amt="14000"/>
            <a:extLst>
              <a:ext uri="{28A0092B-C50C-407E-A947-70E740481C1C}">
                <a14:useLocalDpi xmlns:a14="http://schemas.microsoft.com/office/drawing/2010/main"/>
              </a:ext>
            </a:extLst>
          </a:blip>
          <a:srcRect/>
          <a:stretch>
            <a:fillRect/>
          </a:stretch>
        </p:blipFill>
        <p:spPr>
          <a:xfrm>
            <a:off x="593715" y="5762704"/>
            <a:ext cx="11010911" cy="511095"/>
          </a:xfrm>
          <a:prstGeom prst="rect">
            <a:avLst/>
          </a:prstGeom>
        </p:spPr>
      </p:pic>
      <p:pic>
        <p:nvPicPr>
          <p:cNvPr id="5" name="Picture 4">
            <a:extLst>
              <a:ext uri="{FF2B5EF4-FFF2-40B4-BE49-F238E27FC236}">
                <a16:creationId xmlns:a16="http://schemas.microsoft.com/office/drawing/2014/main" id="{D053627E-809B-253D-31AF-0D69A8A67C2F}"/>
              </a:ext>
            </a:extLst>
          </p:cNvPr>
          <p:cNvPicPr>
            <a:picLocks noChangeAspect="1"/>
          </p:cNvPicPr>
          <p:nvPr userDrawn="1"/>
        </p:nvPicPr>
        <p:blipFill>
          <a:blip r:embed="rId3" cstate="email">
            <a:alphaModFix amt="14000"/>
            <a:extLst>
              <a:ext uri="{28A0092B-C50C-407E-A947-70E740481C1C}">
                <a14:useLocalDpi xmlns:a14="http://schemas.microsoft.com/office/drawing/2010/main"/>
              </a:ext>
            </a:extLst>
          </a:blip>
          <a:srcRect b="-5481"/>
          <a:stretch>
            <a:fillRect/>
          </a:stretch>
        </p:blipFill>
        <p:spPr>
          <a:xfrm>
            <a:off x="593715" y="4872662"/>
            <a:ext cx="11010911" cy="924326"/>
          </a:xfrm>
          <a:prstGeom prst="rect">
            <a:avLst/>
          </a:prstGeom>
        </p:spPr>
      </p:pic>
      <p:sp>
        <p:nvSpPr>
          <p:cNvPr id="2" name="Title 1">
            <a:extLst>
              <a:ext uri="{FF2B5EF4-FFF2-40B4-BE49-F238E27FC236}">
                <a16:creationId xmlns:a16="http://schemas.microsoft.com/office/drawing/2014/main" id="{C44F316A-FBE6-6E8E-E493-1E177207C3CB}"/>
              </a:ext>
            </a:extLst>
          </p:cNvPr>
          <p:cNvSpPr>
            <a:spLocks noGrp="1"/>
          </p:cNvSpPr>
          <p:nvPr>
            <p:ph type="title"/>
          </p:nvPr>
        </p:nvSpPr>
        <p:spPr/>
        <p:txBody>
          <a:bodyPr/>
          <a:lstStyle>
            <a:lvl1pPr>
              <a:defRPr b="1" i="0">
                <a:solidFill>
                  <a:srgbClr val="1A5C47"/>
                </a:solidFill>
                <a:latin typeface="DM Sans" pitchFamily="2" charset="77"/>
              </a:defRPr>
            </a:lvl1pPr>
          </a:lstStyle>
          <a:p>
            <a:r>
              <a:rPr lang="en-GB" dirty="0"/>
              <a:t>Click to edit Master title style</a:t>
            </a:r>
            <a:endParaRPr lang="en-US" dirty="0"/>
          </a:p>
        </p:txBody>
      </p:sp>
      <p:sp>
        <p:nvSpPr>
          <p:cNvPr id="7" name="Rectangle 6">
            <a:extLst>
              <a:ext uri="{FF2B5EF4-FFF2-40B4-BE49-F238E27FC236}">
                <a16:creationId xmlns:a16="http://schemas.microsoft.com/office/drawing/2014/main" id="{EF3523EE-E291-8E08-ADE5-F457485B7D7B}"/>
              </a:ext>
            </a:extLst>
          </p:cNvPr>
          <p:cNvSpPr/>
          <p:nvPr userDrawn="1"/>
        </p:nvSpPr>
        <p:spPr>
          <a:xfrm>
            <a:off x="0" y="6273800"/>
            <a:ext cx="12192000" cy="5842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8" name="Picture 7">
            <a:extLst>
              <a:ext uri="{FF2B5EF4-FFF2-40B4-BE49-F238E27FC236}">
                <a16:creationId xmlns:a16="http://schemas.microsoft.com/office/drawing/2014/main" id="{D47B3C5E-6559-1533-64EF-1972D6D7FFB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29293" y="6479308"/>
            <a:ext cx="1075333" cy="173185"/>
          </a:xfrm>
          <a:prstGeom prst="rect">
            <a:avLst/>
          </a:prstGeom>
        </p:spPr>
      </p:pic>
      <p:sp>
        <p:nvSpPr>
          <p:cNvPr id="9" name="Slide Number Placeholder 2">
            <a:extLst>
              <a:ext uri="{FF2B5EF4-FFF2-40B4-BE49-F238E27FC236}">
                <a16:creationId xmlns:a16="http://schemas.microsoft.com/office/drawing/2014/main" id="{07503ECB-A99B-7415-A462-60D8E6828FBD}"/>
              </a:ext>
            </a:extLst>
          </p:cNvPr>
          <p:cNvSpPr>
            <a:spLocks noGrp="1"/>
          </p:cNvSpPr>
          <p:nvPr>
            <p:ph type="sldNum" sz="quarter" idx="12"/>
          </p:nvPr>
        </p:nvSpPr>
        <p:spPr>
          <a:xfrm>
            <a:off x="587374" y="6426201"/>
            <a:ext cx="2743200" cy="295279"/>
          </a:xfrm>
        </p:spPr>
        <p:txBody>
          <a:bodyPr/>
          <a:lstStyle>
            <a:lvl1pPr>
              <a:defRPr>
                <a:solidFill>
                  <a:schemeClr val="bg1"/>
                </a:solidFill>
              </a:defRPr>
            </a:lvl1pPr>
          </a:lstStyle>
          <a:p>
            <a:fld id="{33C27F37-4D97-F84C-9FA0-B0298962BDCE}" type="slidenum">
              <a:rPr lang="en-US" smtClean="0"/>
              <a:pPr/>
              <a:t>‹#›</a:t>
            </a:fld>
            <a:endParaRPr lang="en-US" dirty="0"/>
          </a:p>
        </p:txBody>
      </p:sp>
    </p:spTree>
    <p:extLst>
      <p:ext uri="{BB962C8B-B14F-4D97-AF65-F5344CB8AC3E}">
        <p14:creationId xmlns:p14="http://schemas.microsoft.com/office/powerpoint/2010/main" val="184113009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3.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6" Type="http://schemas.openxmlformats.org/officeDocument/2006/relationships/theme" Target="../theme/theme5.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628750"/>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301271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Lst>
  <p:hf sldNum="0" hdr="0" ftr="0" dt="0"/>
  <p:txStyles>
    <p:titleStyle>
      <a:lvl1pPr algn="ctr" defTabSz="914446" rtl="0" eaLnBrk="1" latinLnBrk="0" hangingPunct="1">
        <a:spcBef>
          <a:spcPct val="0"/>
        </a:spcBef>
        <a:buNone/>
        <a:defRPr sz="4400" kern="1200">
          <a:solidFill>
            <a:schemeClr val="tx1"/>
          </a:solidFill>
          <a:latin typeface="+mj-lt"/>
          <a:ea typeface="+mj-ea"/>
          <a:cs typeface="+mj-cs"/>
        </a:defRPr>
      </a:lvl1pPr>
    </p:titleStyle>
    <p:bodyStyle>
      <a:lvl1pPr marL="342917" indent="-342917" algn="l" defTabSz="914446"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87" indent="-285764" algn="l" defTabSz="914446"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57" indent="-228611" algn="l" defTabSz="914446"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80"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503"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726"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49"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171"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394"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18D"/>
                </a:solidFill>
                <a:latin typeface="Aptos"/>
                <a:ea typeface="Aptos"/>
                <a:cs typeface="Aptos"/>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368646117"/>
      </p:ext>
    </p:extLst>
  </p:cSld>
  <p:clrMap bg1="lt1" tx1="dk1" bg2="lt2" tx2="dk2" accent1="accent1" accent2="accent2" accent3="accent3" accent4="accent4" accent5="accent5" accent6="accent6" hlink="hlink" folHlink="folHlink"/>
  <p:sldLayoutIdLst>
    <p:sldLayoutId id="2147483659" r:id="rId1"/>
    <p:sldLayoutId id="214748366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65906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hf sldNum="0" hdr="0" ftr="0" dt="0"/>
  <p:txStyles>
    <p:titleStyle>
      <a:lvl1pPr algn="ctr" defTabSz="761989" rtl="0" eaLnBrk="1" latinLnBrk="0" hangingPunct="1">
        <a:spcBef>
          <a:spcPct val="0"/>
        </a:spcBef>
        <a:buNone/>
        <a:defRPr sz="3668" kern="1200">
          <a:solidFill>
            <a:schemeClr val="tx1"/>
          </a:solidFill>
          <a:latin typeface="+mj-lt"/>
          <a:ea typeface="+mj-ea"/>
          <a:cs typeface="+mj-cs"/>
        </a:defRPr>
      </a:lvl1pPr>
    </p:titleStyle>
    <p:bodyStyle>
      <a:lvl1pPr marL="285747" indent="-285747" algn="l" defTabSz="761989" rtl="0" eaLnBrk="1" latinLnBrk="0" hangingPunct="1">
        <a:spcBef>
          <a:spcPct val="20000"/>
        </a:spcBef>
        <a:buFont typeface="Arial" pitchFamily="34" charset="0"/>
        <a:buChar char="•"/>
        <a:defRPr sz="2667" kern="1200">
          <a:solidFill>
            <a:schemeClr val="tx1"/>
          </a:solidFill>
          <a:latin typeface="+mn-lt"/>
          <a:ea typeface="+mn-ea"/>
          <a:cs typeface="+mn-cs"/>
        </a:defRPr>
      </a:lvl1pPr>
      <a:lvl2pPr marL="619116" indent="-238121" algn="l" defTabSz="761989" rtl="0" eaLnBrk="1" latinLnBrk="0" hangingPunct="1">
        <a:spcBef>
          <a:spcPct val="20000"/>
        </a:spcBef>
        <a:buFont typeface="Arial" pitchFamily="34" charset="0"/>
        <a:buChar char="–"/>
        <a:defRPr sz="2333" kern="1200">
          <a:solidFill>
            <a:schemeClr val="tx1"/>
          </a:solidFill>
          <a:latin typeface="+mn-lt"/>
          <a:ea typeface="+mn-ea"/>
          <a:cs typeface="+mn-cs"/>
        </a:defRPr>
      </a:lvl2pPr>
      <a:lvl3pPr marL="952486" indent="-190498" algn="l" defTabSz="761989"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333481" indent="-190498" algn="l" defTabSz="761989" rtl="0" eaLnBrk="1" latinLnBrk="0" hangingPunct="1">
        <a:spcBef>
          <a:spcPct val="20000"/>
        </a:spcBef>
        <a:buFont typeface="Arial" pitchFamily="34" charset="0"/>
        <a:buChar char="–"/>
        <a:defRPr sz="1667" kern="1200">
          <a:solidFill>
            <a:schemeClr val="tx1"/>
          </a:solidFill>
          <a:latin typeface="+mn-lt"/>
          <a:ea typeface="+mn-ea"/>
          <a:cs typeface="+mn-cs"/>
        </a:defRPr>
      </a:lvl4pPr>
      <a:lvl5pPr marL="1714474" indent="-190498" algn="l" defTabSz="761989" rtl="0" eaLnBrk="1" latinLnBrk="0" hangingPunct="1">
        <a:spcBef>
          <a:spcPct val="20000"/>
        </a:spcBef>
        <a:buFont typeface="Arial" pitchFamily="34" charset="0"/>
        <a:buChar char="»"/>
        <a:defRPr sz="1667" kern="1200">
          <a:solidFill>
            <a:schemeClr val="tx1"/>
          </a:solidFill>
          <a:latin typeface="+mn-lt"/>
          <a:ea typeface="+mn-ea"/>
          <a:cs typeface="+mn-cs"/>
        </a:defRPr>
      </a:lvl5pPr>
      <a:lvl6pPr marL="2095468" indent="-190498" algn="l" defTabSz="761989"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464" indent="-190498" algn="l" defTabSz="761989"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458" indent="-190498" algn="l" defTabSz="761989"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451" indent="-190498" algn="l" defTabSz="761989"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89" rtl="0" eaLnBrk="1" latinLnBrk="0" hangingPunct="1">
        <a:defRPr sz="1501" kern="1200">
          <a:solidFill>
            <a:schemeClr val="tx1"/>
          </a:solidFill>
          <a:latin typeface="+mn-lt"/>
          <a:ea typeface="+mn-ea"/>
          <a:cs typeface="+mn-cs"/>
        </a:defRPr>
      </a:lvl1pPr>
      <a:lvl2pPr marL="380995" algn="l" defTabSz="761989" rtl="0" eaLnBrk="1" latinLnBrk="0" hangingPunct="1">
        <a:defRPr sz="1501" kern="1200">
          <a:solidFill>
            <a:schemeClr val="tx1"/>
          </a:solidFill>
          <a:latin typeface="+mn-lt"/>
          <a:ea typeface="+mn-ea"/>
          <a:cs typeface="+mn-cs"/>
        </a:defRPr>
      </a:lvl2pPr>
      <a:lvl3pPr marL="761989" algn="l" defTabSz="761989" rtl="0" eaLnBrk="1" latinLnBrk="0" hangingPunct="1">
        <a:defRPr sz="1501" kern="1200">
          <a:solidFill>
            <a:schemeClr val="tx1"/>
          </a:solidFill>
          <a:latin typeface="+mn-lt"/>
          <a:ea typeface="+mn-ea"/>
          <a:cs typeface="+mn-cs"/>
        </a:defRPr>
      </a:lvl3pPr>
      <a:lvl4pPr marL="1142982" algn="l" defTabSz="761989" rtl="0" eaLnBrk="1" latinLnBrk="0" hangingPunct="1">
        <a:defRPr sz="1501" kern="1200">
          <a:solidFill>
            <a:schemeClr val="tx1"/>
          </a:solidFill>
          <a:latin typeface="+mn-lt"/>
          <a:ea typeface="+mn-ea"/>
          <a:cs typeface="+mn-cs"/>
        </a:defRPr>
      </a:lvl4pPr>
      <a:lvl5pPr marL="1523978" algn="l" defTabSz="761989" rtl="0" eaLnBrk="1" latinLnBrk="0" hangingPunct="1">
        <a:defRPr sz="1501" kern="1200">
          <a:solidFill>
            <a:schemeClr val="tx1"/>
          </a:solidFill>
          <a:latin typeface="+mn-lt"/>
          <a:ea typeface="+mn-ea"/>
          <a:cs typeface="+mn-cs"/>
        </a:defRPr>
      </a:lvl5pPr>
      <a:lvl6pPr marL="1904972" algn="l" defTabSz="761989" rtl="0" eaLnBrk="1" latinLnBrk="0" hangingPunct="1">
        <a:defRPr sz="1501" kern="1200">
          <a:solidFill>
            <a:schemeClr val="tx1"/>
          </a:solidFill>
          <a:latin typeface="+mn-lt"/>
          <a:ea typeface="+mn-ea"/>
          <a:cs typeface="+mn-cs"/>
        </a:defRPr>
      </a:lvl6pPr>
      <a:lvl7pPr marL="2285966" algn="l" defTabSz="761989" rtl="0" eaLnBrk="1" latinLnBrk="0" hangingPunct="1">
        <a:defRPr sz="1501" kern="1200">
          <a:solidFill>
            <a:schemeClr val="tx1"/>
          </a:solidFill>
          <a:latin typeface="+mn-lt"/>
          <a:ea typeface="+mn-ea"/>
          <a:cs typeface="+mn-cs"/>
        </a:defRPr>
      </a:lvl7pPr>
      <a:lvl8pPr marL="2666960" algn="l" defTabSz="761989" rtl="0" eaLnBrk="1" latinLnBrk="0" hangingPunct="1">
        <a:defRPr sz="1501" kern="1200">
          <a:solidFill>
            <a:schemeClr val="tx1"/>
          </a:solidFill>
          <a:latin typeface="+mn-lt"/>
          <a:ea typeface="+mn-ea"/>
          <a:cs typeface="+mn-cs"/>
        </a:defRPr>
      </a:lvl8pPr>
      <a:lvl9pPr marL="3047954" algn="l" defTabSz="761989" rtl="0" eaLnBrk="1" latinLnBrk="0" hangingPunct="1">
        <a:defRPr sz="15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slide" Target="slide11.xml"/><Relationship Id="rId2" Type="http://schemas.openxmlformats.org/officeDocument/2006/relationships/image" Target="../media/image13.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19.jpeg"/><Relationship Id="rId7" Type="http://schemas.openxmlformats.org/officeDocument/2006/relationships/slide" Target="slide11.xml"/><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image" Target="../media/image17.png"/><Relationship Id="rId10" Type="http://schemas.openxmlformats.org/officeDocument/2006/relationships/slide" Target="slide3.xml"/><Relationship Id="rId4" Type="http://schemas.openxmlformats.org/officeDocument/2006/relationships/image" Target="../media/image20.jpeg"/><Relationship Id="rId9" Type="http://schemas.openxmlformats.org/officeDocument/2006/relationships/slide" Target="slide12.xml"/></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6.png"/><Relationship Id="rId26" Type="http://schemas.openxmlformats.org/officeDocument/2006/relationships/image" Target="../media/image44.jpeg"/><Relationship Id="rId3" Type="http://schemas.openxmlformats.org/officeDocument/2006/relationships/image" Target="../media/image22.png"/><Relationship Id="rId21" Type="http://schemas.openxmlformats.org/officeDocument/2006/relationships/image" Target="../media/image39.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11.png"/><Relationship Id="rId25" Type="http://schemas.openxmlformats.org/officeDocument/2006/relationships/image" Target="../media/image43.png"/><Relationship Id="rId2" Type="http://schemas.openxmlformats.org/officeDocument/2006/relationships/notesSlide" Target="../notesSlides/notesSlide11.xml"/><Relationship Id="rId16" Type="http://schemas.openxmlformats.org/officeDocument/2006/relationships/image" Target="../media/image35.png"/><Relationship Id="rId20"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24" Type="http://schemas.openxmlformats.org/officeDocument/2006/relationships/image" Target="../media/image42.jpeg"/><Relationship Id="rId5" Type="http://schemas.openxmlformats.org/officeDocument/2006/relationships/image" Target="../media/image24.png"/><Relationship Id="rId15" Type="http://schemas.openxmlformats.org/officeDocument/2006/relationships/image" Target="../media/image34.png"/><Relationship Id="rId23" Type="http://schemas.openxmlformats.org/officeDocument/2006/relationships/image" Target="../media/image41.png"/><Relationship Id="rId10" Type="http://schemas.openxmlformats.org/officeDocument/2006/relationships/image" Target="../media/image29.png"/><Relationship Id="rId19" Type="http://schemas.openxmlformats.org/officeDocument/2006/relationships/image" Target="../media/image37.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4D3A"/>
        </a:solidFill>
        <a:effectLst/>
      </p:bgPr>
    </p:bg>
    <p:spTree>
      <p:nvGrpSpPr>
        <p:cNvPr id="1" name=""/>
        <p:cNvGrpSpPr/>
        <p:nvPr/>
      </p:nvGrpSpPr>
      <p:grpSpPr>
        <a:xfrm>
          <a:off x="0" y="0"/>
          <a:ext cx="0" cy="0"/>
          <a:chOff x="0" y="0"/>
          <a:chExt cx="0" cy="0"/>
        </a:xfrm>
      </p:grpSpPr>
      <p:pic>
        <p:nvPicPr>
          <p:cNvPr id="2" name="Image 0"/>
          <p:cNvPicPr/>
          <p:nvPr/>
        </p:nvPicPr>
        <p:blipFill>
          <a:blip r:embed="rId3"/>
          <a:stretch>
            <a:fillRect/>
          </a:stretch>
        </p:blipFill>
        <p:spPr>
          <a:xfrm>
            <a:off x="640080" y="548640"/>
            <a:ext cx="2697480" cy="713740"/>
          </a:xfrm>
          <a:prstGeom prst="rect">
            <a:avLst/>
          </a:prstGeom>
          <a:ln>
            <a:noFill/>
          </a:ln>
        </p:spPr>
      </p:pic>
      <p:sp>
        <p:nvSpPr>
          <p:cNvPr id="3" name="Text 0"/>
          <p:cNvSpPr txBox="1"/>
          <p:nvPr/>
        </p:nvSpPr>
        <p:spPr>
          <a:xfrm>
            <a:off x="676910" y="1993900"/>
            <a:ext cx="8778240" cy="566420"/>
          </a:xfrm>
          <a:prstGeom prst="rect">
            <a:avLst/>
          </a:prstGeom>
          <a:noFill/>
          <a:ln>
            <a:noFill/>
          </a:ln>
        </p:spPr>
        <p:txBody>
          <a:bodyPr wrap="square" lIns="0" tIns="0" rIns="0" bIns="0" rtlCol="0" anchor="ctr"/>
          <a:lstStyle/>
          <a:p>
            <a:pPr marL="0" algn="l">
              <a:lnSpc>
                <a:spcPct val="120000"/>
              </a:lnSpc>
            </a:pPr>
            <a:r>
              <a:rPr lang="en-US" sz="2400" b="1" noProof="1">
                <a:solidFill>
                  <a:srgbClr val="FFFFFF"/>
                </a:solidFill>
                <a:latin typeface="Aptos Display"/>
                <a:ea typeface="Aptos Display"/>
              </a:rPr>
              <a:t>GCC AI Capability Partnership</a:t>
            </a:r>
            <a:endParaRPr lang="en-US" sz="2400" noProof="1"/>
          </a:p>
        </p:txBody>
      </p:sp>
      <p:sp>
        <p:nvSpPr>
          <p:cNvPr id="4" name="Text 1"/>
          <p:cNvSpPr txBox="1"/>
          <p:nvPr/>
        </p:nvSpPr>
        <p:spPr>
          <a:xfrm>
            <a:off x="694690" y="2679700"/>
            <a:ext cx="7955280" cy="320040"/>
          </a:xfrm>
          <a:prstGeom prst="rect">
            <a:avLst/>
          </a:prstGeom>
          <a:noFill/>
          <a:ln>
            <a:noFill/>
          </a:ln>
        </p:spPr>
        <p:txBody>
          <a:bodyPr wrap="square" lIns="0" tIns="0" rIns="0" bIns="0" rtlCol="0" anchor="ctr"/>
          <a:lstStyle/>
          <a:p>
            <a:pPr marL="0" algn="l">
              <a:lnSpc>
                <a:spcPct val="120000"/>
              </a:lnSpc>
            </a:pPr>
            <a:r>
              <a:rPr lang="en-US" sz="2100" noProof="1">
                <a:solidFill>
                  <a:srgbClr val="DDF2E8"/>
                </a:solidFill>
                <a:latin typeface="Aptos"/>
                <a:ea typeface="Aptos"/>
              </a:rPr>
              <a:t>A Tiered Training Menu for Global Capability Centers</a:t>
            </a:r>
            <a:endParaRPr lang="en-US" sz="2100" noProof="1"/>
          </a:p>
        </p:txBody>
      </p:sp>
      <p:sp>
        <p:nvSpPr>
          <p:cNvPr id="5" name="Text 2"/>
          <p:cNvSpPr txBox="1"/>
          <p:nvPr/>
        </p:nvSpPr>
        <p:spPr>
          <a:xfrm>
            <a:off x="704850" y="3337560"/>
            <a:ext cx="8778240" cy="365760"/>
          </a:xfrm>
          <a:prstGeom prst="rect">
            <a:avLst/>
          </a:prstGeom>
          <a:noFill/>
          <a:ln>
            <a:noFill/>
          </a:ln>
        </p:spPr>
        <p:txBody>
          <a:bodyPr wrap="square" lIns="0" tIns="0" rIns="0" bIns="0" rtlCol="0" anchor="ctr"/>
          <a:lstStyle/>
          <a:p>
            <a:pPr marL="0" algn="l">
              <a:lnSpc>
                <a:spcPct val="120000"/>
              </a:lnSpc>
            </a:pPr>
            <a:r>
              <a:rPr lang="en-US" noProof="1">
                <a:solidFill>
                  <a:srgbClr val="FFFFFF"/>
                </a:solidFill>
                <a:latin typeface="Aptos"/>
                <a:ea typeface="Aptos"/>
              </a:rPr>
              <a:t>InsightVerge — August 2026</a:t>
            </a:r>
            <a:endParaRPr lang="en-US" noProof="1"/>
          </a:p>
        </p:txBody>
      </p:sp>
      <p:cxnSp>
        <p:nvCxnSpPr>
          <p:cNvPr id="6" name="Shape 3"/>
          <p:cNvCxnSpPr/>
          <p:nvPr/>
        </p:nvCxnSpPr>
        <p:spPr>
          <a:xfrm>
            <a:off x="713740" y="3986530"/>
            <a:ext cx="3657600" cy="0"/>
          </a:xfrm>
          <a:prstGeom prst="straightConnector1">
            <a:avLst/>
          </a:prstGeom>
          <a:ln w="25400">
            <a:solidFill>
              <a:srgbClr val="33C27A"/>
            </a:solidFill>
          </a:ln>
        </p:spPr>
      </p:cxnSp>
      <p:sp>
        <p:nvSpPr>
          <p:cNvPr id="7" name="Text 4"/>
          <p:cNvSpPr txBox="1"/>
          <p:nvPr/>
        </p:nvSpPr>
        <p:spPr>
          <a:xfrm>
            <a:off x="713740" y="6145530"/>
            <a:ext cx="1828800" cy="228600"/>
          </a:xfrm>
          <a:prstGeom prst="rect">
            <a:avLst/>
          </a:prstGeom>
          <a:noFill/>
          <a:ln>
            <a:noFill/>
          </a:ln>
        </p:spPr>
        <p:txBody>
          <a:bodyPr wrap="square" lIns="0" tIns="0" rIns="0" bIns="0" rtlCol="0" anchor="ctr"/>
          <a:lstStyle/>
          <a:p>
            <a:pPr marL="0" algn="l">
              <a:lnSpc>
                <a:spcPct val="120000"/>
              </a:lnSpc>
            </a:pPr>
            <a:r>
              <a:rPr lang="en-US" sz="1400" noProof="1">
                <a:solidFill>
                  <a:srgbClr val="BCE9D1"/>
                </a:solidFill>
                <a:latin typeface="Aptos"/>
                <a:ea typeface="Aptos"/>
              </a:rPr>
              <a:t>InsightVerge</a:t>
            </a:r>
            <a:endParaRPr lang="en-US" sz="1400"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420" y="274320"/>
            <a:ext cx="8961120" cy="383540"/>
          </a:xfrm>
          <a:prstGeom prst="rect">
            <a:avLst/>
          </a:prstGeom>
          <a:noFill/>
          <a:ln>
            <a:noFill/>
          </a:ln>
        </p:spPr>
        <p:txBody>
          <a:bodyPr wrap="square" lIns="0" tIns="0" rIns="0" bIns="0" rtlCol="0" anchor="ctr"/>
          <a:lstStyle/>
          <a:p>
            <a:pPr marL="0" algn="l">
              <a:lnSpc>
                <a:spcPct val="120000"/>
              </a:lnSpc>
            </a:pPr>
            <a:r>
              <a:rPr lang="en-US" sz="2400" b="1" noProof="1">
                <a:solidFill>
                  <a:srgbClr val="0E4D3A"/>
                </a:solidFill>
                <a:latin typeface="Aptos Display"/>
                <a:ea typeface="Aptos Display"/>
              </a:rPr>
              <a:t>Our Offering: A Tiered Capability Menu</a:t>
            </a:r>
            <a:endParaRPr lang="en-US" sz="2400" noProof="1"/>
          </a:p>
        </p:txBody>
      </p:sp>
      <p:sp>
        <p:nvSpPr>
          <p:cNvPr id="3" name="Text 1"/>
          <p:cNvSpPr txBox="1"/>
          <p:nvPr/>
        </p:nvSpPr>
        <p:spPr>
          <a:xfrm>
            <a:off x="566420" y="694690"/>
            <a:ext cx="7863840" cy="246380"/>
          </a:xfrm>
          <a:prstGeom prst="rect">
            <a:avLst/>
          </a:prstGeom>
          <a:noFill/>
          <a:ln>
            <a:noFill/>
          </a:ln>
        </p:spPr>
        <p:txBody>
          <a:bodyPr wrap="square" lIns="0" tIns="0" rIns="0" bIns="0" rtlCol="0" anchor="ctr"/>
          <a:lstStyle/>
          <a:p>
            <a:pPr marL="0" algn="l">
              <a:lnSpc>
                <a:spcPct val="120000"/>
              </a:lnSpc>
            </a:pPr>
            <a:r>
              <a:rPr lang="en-US" sz="900" noProof="1">
                <a:solidFill>
                  <a:srgbClr val="5B6770"/>
                </a:solidFill>
                <a:latin typeface="MiSans"/>
                <a:ea typeface="MiSans"/>
              </a:rPr>
              <a:t>InsightVerge GCC Capability Partnership | Five tiers, bought up the stack as maturity grows</a:t>
            </a:r>
            <a:endParaRPr lang="en-US" sz="900" noProof="1"/>
          </a:p>
        </p:txBody>
      </p:sp>
      <p:pic>
        <p:nvPicPr>
          <p:cNvPr id="4" name="Image 0"/>
          <p:cNvPicPr/>
          <p:nvPr/>
        </p:nvPicPr>
        <p:blipFill>
          <a:blip r:embed="rId3"/>
          <a:stretch>
            <a:fillRect/>
          </a:stretch>
        </p:blipFill>
        <p:spPr>
          <a:xfrm>
            <a:off x="9966960" y="228600"/>
            <a:ext cx="1572260" cy="411480"/>
          </a:xfrm>
          <a:prstGeom prst="rect">
            <a:avLst/>
          </a:prstGeom>
          <a:ln>
            <a:noFill/>
          </a:ln>
        </p:spPr>
      </p:pic>
      <p:cxnSp>
        <p:nvCxnSpPr>
          <p:cNvPr id="5" name="Shape 2"/>
          <p:cNvCxnSpPr/>
          <p:nvPr/>
        </p:nvCxnSpPr>
        <p:spPr>
          <a:xfrm>
            <a:off x="566420" y="932180"/>
            <a:ext cx="11064240" cy="0"/>
          </a:xfrm>
          <a:prstGeom prst="straightConnector1">
            <a:avLst/>
          </a:prstGeom>
          <a:ln w="8890">
            <a:solidFill>
              <a:srgbClr val="C7DDD1"/>
            </a:solidFill>
          </a:ln>
        </p:spPr>
      </p:cxnSp>
      <!-- Column 1: Leadership -->
      <p:sp>
        <p:nvSpPr>
          <p:cNvPr id="6" name="C1 Num"/>
          <p:cNvSpPr txBox="1"/>
          <p:nvPr/>
        </p:nvSpPr>
        <p:spPr>
          <a:xfrm>
            <a:off x="566420" y="1200000"/>
            <a:ext cx="1005840" cy="392430"/>
          </a:xfrm>
          <a:prstGeom prst="rect">
            <a:avLst/>
          </a:prstGeom>
          <a:noFill/>
          <a:ln>
            <a:noFill/>
          </a:ln>
        </p:spPr>
        <p:txBody>
          <a:bodyPr wrap="square" lIns="0" tIns="0" rIns="0" bIns="0" rtlCol="0" anchor="ctr"/>
          <a:lstStyle/>
          <a:p>
            <a:pPr marL="0" algn="l">
              <a:lnSpc>
                <a:spcPct val="120000"/>
              </a:lnSpc>
            </a:pPr>
            <a:r>
              <a:rPr lang="en-US" sz="2000" b="1" noProof="1">
                <a:solidFill>
                  <a:srgbClr val="0E4D3A"/>
                </a:solidFill>
                <a:latin typeface="Aptos"/>
                <a:ea typeface="Aptos"/>
              </a:rPr>
              <a:t>01</a:t>
            </a:r>
            <a:endParaRPr lang="en-US" sz="2000" noProof="1"/>
          </a:p>
        </p:txBody>
      </p:sp>
      <p:sp>
        <p:nvSpPr>
          <p:cNvPr id="7" name="C1 Audience"/>
          <p:cNvSpPr txBox="1"/>
          <p:nvPr/>
        </p:nvSpPr>
        <p:spPr>
          <a:xfrm>
            <a:off x="566420" y="1620000"/>
            <a:ext cx="1980000" cy="550000"/>
          </a:xfrm>
          <a:prstGeom prst="rect">
            <a:avLst/>
          </a:prstGeom>
          <a:noFill/>
          <a:ln>
            <a:noFill/>
          </a:ln>
        </p:spPr>
        <p:txBody>
          <a:bodyPr wrap="square" lIns="0" tIns="0" rIns="0" bIns="0" rtlCol="0" anchor="t"/>
          <a:lstStyle/>
          <a:p>
            <a:pPr marL="0" algn="l">
              <a:lnSpc>
                <a:spcPct val="115000"/>
              </a:lnSpc>
            </a:pPr>
            <a:r>
              <a:rPr lang="en-US" sz="1400" b="1" noProof="1">
                <a:solidFill>
                  <a:srgbClr val="15221E"/>
                </a:solidFill>
                <a:latin typeface="Aptos"/>
                <a:ea typeface="Aptos"/>
              </a:rPr>
              <a:t>CTO, VP Eng, C-suite</a:t>
            </a:r>
            <a:endParaRPr lang="en-US" sz="1400" noProof="1"/>
          </a:p>
        </p:txBody>
      </p:sp>
      <p:sp>
        <p:nvSpPr>
          <p:cNvPr id="8" name="C1 Name"/>
          <p:cNvSpPr txBox="1"/>
          <p:nvPr/>
        </p:nvSpPr>
        <p:spPr>
          <a:xfrm>
            <a:off x="566420" y="2250000"/>
            <a:ext cx="1980000" cy="900000"/>
          </a:xfrm>
          <a:prstGeom prst="rect">
            <a:avLst/>
          </a:prstGeom>
          <a:noFill/>
          <a:ln>
            <a:noFill/>
          </a:ln>
        </p:spPr>
        <p:txBody>
          <a:bodyPr wrap="square" lIns="0" tIns="0" rIns="0" bIns="0" rtlCol="0" anchor="t"/>
          <a:lstStyle/>
          <a:p>
            <a:pPr marL="0" algn="l">
              <a:lnSpc>
                <a:spcPct val="115000"/>
              </a:lnSpc>
            </a:pPr>
            <a:r>
              <a:rPr lang="en-US" sz="1500" b="1" noProof="1">
                <a:solidFill>
                  <a:srgbClr val="0E4D3A"/>
                </a:solidFill>
                <a:latin typeface="Aptos"/>
                <a:ea typeface="Aptos"/>
              </a:rPr>
              <a:t>AI Strategy &amp; Operating Model</a:t>
            </a:r>
            <a:endParaRPr lang="en-US" sz="1500" noProof="1"/>
          </a:p>
          <a:p>
            <a:pPr marL="0" algn="l">
              <a:lnSpc>
                <a:spcPct val="115000"/>
              </a:lnSpc>
            </a:pPr>
            <a:r>
              <a:rPr lang="en-US" sz="1400" b="1" noProof="1">
                <a:solidFill>
                  <a:srgbClr val="33C27A"/>
                </a:solidFill>
                <a:latin typeface="Aptos"/>
                <a:ea typeface="Aptos"/>
              </a:rPr>
              <a:t>4.5 hours</a:t>
            </a:r>
            <a:endParaRPr lang="en-US" sz="1400" noProof="1"/>
          </a:p>
        </p:txBody>
      </p:sp>
      <p:sp>
        <p:nvSpPr>
          <p:cNvPr id="9" name="C1 Desc"/>
          <p:cNvSpPr txBox="1"/>
          <p:nvPr/>
        </p:nvSpPr>
        <p:spPr>
          <a:xfrm>
            <a:off x="566420" y="3250000"/>
            <a:ext cx="1980000" cy="1100000"/>
          </a:xfrm>
          <a:prstGeom prst="rect">
            <a:avLst/>
          </a:prstGeom>
          <a:noFill/>
          <a:ln>
            <a:noFill/>
          </a:ln>
        </p:spPr>
        <p:txBody>
          <a:bodyPr wrap="square" lIns="0" tIns="0" rIns="0" bIns="0" rtlCol="0" anchor="t"/>
          <a:lstStyle/>
          <a:p>
            <a:pPr marL="0" algn="l">
              <a:lnSpc>
                <a:spcPct val="118000"/>
              </a:lnSpc>
            </a:pPr>
            <a:r>
              <a:rPr lang="en-US" sz="1300" noProof="1">
                <a:solidFill>
                  <a:srgbClr val="5B6770"/>
                </a:solidFill>
                <a:latin typeface="Aptos"/>
                <a:ea typeface="Aptos"/>
              </a:rPr>
              <a:t>The entry conversation — addresses the #1 operating-model gap.</a:t>
            </a:r>
            <a:endParaRPr lang="en-US" sz="1300" noProof="1"/>
          </a:p>
        </p:txBody>
      </p:sp>
      <!-- Column 2: Capability Core -->
      <p:sp>
        <p:nvSpPr>
          <p:cNvPr id="10" name="C2 Num"/>
          <p:cNvSpPr txBox="1"/>
          <p:nvPr/>
        </p:nvSpPr>
        <p:spPr>
          <a:xfrm>
            <a:off x="2815844" y="1200000"/>
            <a:ext cx="1005840" cy="392430"/>
          </a:xfrm>
          <a:prstGeom prst="rect">
            <a:avLst/>
          </a:prstGeom>
          <a:noFill/>
          <a:ln>
            <a:noFill/>
          </a:ln>
        </p:spPr>
        <p:txBody>
          <a:bodyPr wrap="square" lIns="0" tIns="0" rIns="0" bIns="0" rtlCol="0" anchor="ctr"/>
          <a:lstStyle/>
          <a:p>
            <a:pPr marL="0" algn="l">
              <a:lnSpc>
                <a:spcPct val="120000"/>
              </a:lnSpc>
            </a:pPr>
            <a:r>
              <a:rPr lang="en-US" sz="2000" b="1" noProof="1">
                <a:solidFill>
                  <a:srgbClr val="0E4D3A"/>
                </a:solidFill>
                <a:latin typeface="Aptos"/>
                <a:ea typeface="Aptos"/>
              </a:rPr>
              <a:t>02</a:t>
            </a:r>
            <a:endParaRPr lang="en-US" sz="2000" noProof="1"/>
          </a:p>
        </p:txBody>
      </p:sp>
      <p:sp>
        <p:nvSpPr>
          <p:cNvPr id="11" name="C2 Audience"/>
          <p:cNvSpPr txBox="1"/>
          <p:nvPr/>
        </p:nvSpPr>
        <p:spPr>
          <a:xfrm>
            <a:off x="2815844" y="1620000"/>
            <a:ext cx="1980000" cy="550000"/>
          </a:xfrm>
          <a:prstGeom prst="rect">
            <a:avLst/>
          </a:prstGeom>
          <a:noFill/>
          <a:ln>
            <a:noFill/>
          </a:ln>
        </p:spPr>
        <p:txBody>
          <a:bodyPr wrap="square" lIns="0" tIns="0" rIns="0" bIns="0" rtlCol="0" anchor="t"/>
          <a:lstStyle/>
          <a:p>
            <a:pPr marL="0" algn="l">
              <a:lnSpc>
                <a:spcPct val="115000"/>
              </a:lnSpc>
            </a:pPr>
            <a:r>
              <a:rPr lang="en-US" sz="1400" b="1" noProof="1">
                <a:solidFill>
                  <a:srgbClr val="15221E"/>
                </a:solidFill>
                <a:latin typeface="Aptos"/>
                <a:ea typeface="Aptos"/>
              </a:rPr>
              <a:t>Architects &amp; Engineers</a:t>
            </a:r>
            <a:endParaRPr lang="en-US" sz="1400" noProof="1"/>
          </a:p>
        </p:txBody>
      </p:sp>
      <p:sp>
        <p:nvSpPr>
          <p:cNvPr id="12" name="C2 Name"/>
          <p:cNvSpPr txBox="1"/>
          <p:nvPr/>
        </p:nvSpPr>
        <p:spPr>
          <a:xfrm>
            <a:off x="2815844" y="2250000"/>
            <a:ext cx="1980000" cy="900000"/>
          </a:xfrm>
          <a:prstGeom prst="rect">
            <a:avLst/>
          </a:prstGeom>
          <a:noFill/>
          <a:ln>
            <a:noFill/>
          </a:ln>
        </p:spPr>
        <p:txBody>
          <a:bodyPr wrap="square" lIns="0" tIns="0" rIns="0" bIns="0" rtlCol="0" anchor="t"/>
          <a:lstStyle/>
          <a:p>
            <a:pPr marL="0" algn="l">
              <a:lnSpc>
                <a:spcPct val="115000"/>
              </a:lnSpc>
            </a:pPr>
            <a:r>
              <a:rPr lang="en-US" sz="1500" b="1" noProof="1">
                <a:solidFill>
                  <a:srgbClr val="0E4D3A"/>
                </a:solidFill>
                <a:latin typeface="Aptos"/>
                <a:ea typeface="Aptos"/>
              </a:rPr>
              <a:t>Capability Core</a:t>
            </a:r>
            <a:endParaRPr lang="en-US" sz="1500" noProof="1"/>
          </a:p>
          <a:p>
            <a:pPr marL="0" algn="l">
              <a:lnSpc>
                <a:spcPct val="115000"/>
              </a:lnSpc>
            </a:pPr>
            <a:r>
              <a:rPr lang="en-US" sz="1400" b="1" noProof="1">
                <a:solidFill>
                  <a:srgbClr val="33C27A"/>
                </a:solidFill>
                <a:latin typeface="Aptos"/>
                <a:ea typeface="Aptos"/>
              </a:rPr>
              <a:t>3-5 + 5 days</a:t>
            </a:r>
            <a:endParaRPr lang="en-US" sz="1400" noProof="1"/>
          </a:p>
        </p:txBody>
      </p:sp>
      <p:sp>
        <p:nvSpPr>
          <p:cNvPr id="13" name="C2 Desc"/>
          <p:cNvSpPr txBox="1"/>
          <p:nvPr/>
        </p:nvSpPr>
        <p:spPr>
          <a:xfrm>
            <a:off x="2815844" y="3250000"/>
            <a:ext cx="1980000" cy="1100000"/>
          </a:xfrm>
          <a:prstGeom prst="rect">
            <a:avLst/>
          </a:prstGeom>
          <a:noFill/>
          <a:ln>
            <a:noFill/>
          </a:ln>
        </p:spPr>
        <p:txBody>
          <a:bodyPr wrap="square" lIns="0" tIns="0" rIns="0" bIns="0" rtlCol="0" anchor="t"/>
          <a:lstStyle/>
          <a:p>
            <a:pPr marL="0" algn="l">
              <a:lnSpc>
                <a:spcPct val="118000"/>
              </a:lnSpc>
            </a:pPr>
            <a:r>
              <a:rPr lang="en-US" sz="1300" noProof="1">
                <a:solidFill>
                  <a:srgbClr val="5B6770"/>
                </a:solidFill>
                <a:latin typeface="Aptos"/>
                <a:ea typeface="Aptos"/>
              </a:rPr>
              <a:t>Builds the decision framework and execution capability the GCC is missing.</a:t>
            </a:r>
            <a:endParaRPr lang="en-US" sz="1300" noProof="1"/>
          </a:p>
        </p:txBody>
      </p:sp>
      <!-- Column 3: Operating Model & Governance -->
      <p:sp>
        <p:nvSpPr>
          <p:cNvPr id="14" name="C3 Num"/>
          <p:cNvSpPr txBox="1"/>
          <p:nvPr/>
        </p:nvSpPr>
        <p:spPr>
          <a:xfrm>
            <a:off x="5065268" y="1200000"/>
            <a:ext cx="1005840" cy="392430"/>
          </a:xfrm>
          <a:prstGeom prst="rect">
            <a:avLst/>
          </a:prstGeom>
          <a:noFill/>
          <a:ln>
            <a:noFill/>
          </a:ln>
        </p:spPr>
        <p:txBody>
          <a:bodyPr wrap="square" lIns="0" tIns="0" rIns="0" bIns="0" rtlCol="0" anchor="ctr"/>
          <a:lstStyle/>
          <a:p>
            <a:pPr marL="0" algn="l">
              <a:lnSpc>
                <a:spcPct val="120000"/>
              </a:lnSpc>
            </a:pPr>
            <a:r>
              <a:rPr lang="en-US" sz="2000" b="1" noProof="1">
                <a:solidFill>
                  <a:srgbClr val="0E4D3A"/>
                </a:solidFill>
                <a:latin typeface="Aptos"/>
                <a:ea typeface="Aptos"/>
              </a:rPr>
              <a:t>03</a:t>
            </a:r>
            <a:endParaRPr lang="en-US" sz="2000" noProof="1"/>
          </a:p>
        </p:txBody>
      </p:sp>
      <p:sp>
        <p:nvSpPr>
          <p:cNvPr id="15" name="C3 Audience"/>
          <p:cNvSpPr txBox="1"/>
          <p:nvPr/>
        </p:nvSpPr>
        <p:spPr>
          <a:xfrm>
            <a:off x="5065268" y="1620000"/>
            <a:ext cx="1980000" cy="550000"/>
          </a:xfrm>
          <a:prstGeom prst="rect">
            <a:avLst/>
          </a:prstGeom>
          <a:noFill/>
          <a:ln>
            <a:noFill/>
          </a:ln>
        </p:spPr>
        <p:txBody>
          <a:bodyPr wrap="square" lIns="0" tIns="0" rIns="0" bIns="0" rtlCol="0" anchor="t"/>
          <a:lstStyle/>
          <a:p>
            <a:pPr marL="0" algn="l">
              <a:lnSpc>
                <a:spcPct val="115000"/>
              </a:lnSpc>
            </a:pPr>
            <a:r>
              <a:rPr lang="en-US" sz="1400" b="1" noProof="1">
                <a:solidFill>
                  <a:srgbClr val="15221E"/>
                </a:solidFill>
                <a:latin typeface="Aptos"/>
                <a:ea typeface="Aptos"/>
              </a:rPr>
              <a:t>PMs &amp; Delivery Leads</a:t>
            </a:r>
            <a:endParaRPr lang="en-US" sz="1400" noProof="1"/>
          </a:p>
        </p:txBody>
      </p:sp>
      <p:sp>
        <p:nvSpPr>
          <p:cNvPr id="16" name="C3 Name"/>
          <p:cNvSpPr txBox="1"/>
          <p:nvPr/>
        </p:nvSpPr>
        <p:spPr>
          <a:xfrm>
            <a:off x="5065268" y="2250000"/>
            <a:ext cx="1980000" cy="900000"/>
          </a:xfrm>
          <a:prstGeom prst="rect">
            <a:avLst/>
          </a:prstGeom>
          <a:noFill/>
          <a:ln>
            <a:noFill/>
          </a:ln>
        </p:spPr>
        <p:txBody>
          <a:bodyPr wrap="square" lIns="0" tIns="0" rIns="0" bIns="0" rtlCol="0" anchor="t"/>
          <a:lstStyle/>
          <a:p>
            <a:pPr marL="0" algn="l">
              <a:lnSpc>
                <a:spcPct val="115000"/>
              </a:lnSpc>
            </a:pPr>
            <a:r>
              <a:rPr lang="en-US" sz="1500" b="1" noProof="1">
                <a:solidFill>
                  <a:srgbClr val="0E4D3A"/>
                </a:solidFill>
                <a:latin typeface="Aptos"/>
                <a:ea typeface="Aptos"/>
              </a:rPr>
              <a:t>Operating Model &amp; Governance</a:t>
            </a:r>
            <a:endParaRPr lang="en-US" sz="1500" noProof="1"/>
          </a:p>
          <a:p>
            <a:pPr marL="0" algn="l">
              <a:lnSpc>
                <a:spcPct val="115000"/>
              </a:lnSpc>
            </a:pPr>
            <a:r>
              <a:rPr lang="en-US" sz="1400" b="1" noProof="1">
                <a:solidFill>
                  <a:srgbClr val="33C27A"/>
                </a:solidFill>
                <a:latin typeface="Aptos"/>
                <a:ea typeface="Aptos"/>
              </a:rPr>
              <a:t>3 days</a:t>
            </a:r>
            <a:endParaRPr lang="en-US" sz="1400" noProof="1"/>
          </a:p>
        </p:txBody>
      </p:sp>
      <p:sp>
        <p:nvSpPr>
          <p:cNvPr id="17" name="C3 Desc"/>
          <p:cNvSpPr txBox="1"/>
          <p:nvPr/>
        </p:nvSpPr>
        <p:spPr>
          <a:xfrm>
            <a:off x="5065268" y="3250000"/>
            <a:ext cx="1980000" cy="1100000"/>
          </a:xfrm>
          <a:prstGeom prst="rect">
            <a:avLst/>
          </a:prstGeom>
          <a:noFill/>
          <a:ln>
            <a:noFill/>
          </a:ln>
        </p:spPr>
        <p:txBody>
          <a:bodyPr wrap="square" lIns="0" tIns="0" rIns="0" bIns="0" rtlCol="0" anchor="t"/>
          <a:lstStyle/>
          <a:p>
            <a:pPr marL="0" algn="l">
              <a:lnSpc>
                <a:spcPct val="118000"/>
              </a:lnSpc>
            </a:pPr>
            <a:r>
              <a:rPr lang="en-US" sz="1300" noProof="1">
                <a:solidFill>
                  <a:srgbClr val="5B6770"/>
                </a:solidFill>
                <a:latin typeface="Aptos"/>
                <a:ea typeface="Aptos"/>
              </a:rPr>
              <a:t>Redesigns how AI-augmented work is organized and governed.</a:t>
            </a:r>
            <a:endParaRPr lang="en-US" sz="1300" noProof="1"/>
          </a:p>
        </p:txBody>
      </p:sp>
      <!-- Column 4: Power User Scale -->
      <p:sp>
        <p:nvSpPr>
          <p:cNvPr id="18" name="C4 Num"/>
          <p:cNvSpPr txBox="1"/>
          <p:nvPr/>
        </p:nvSpPr>
        <p:spPr>
          <a:xfrm>
            <a:off x="7314692" y="1200000"/>
            <a:ext cx="1005840" cy="392430"/>
          </a:xfrm>
          <a:prstGeom prst="rect">
            <a:avLst/>
          </a:prstGeom>
          <a:noFill/>
          <a:ln>
            <a:noFill/>
          </a:ln>
        </p:spPr>
        <p:txBody>
          <a:bodyPr wrap="square" lIns="0" tIns="0" rIns="0" bIns="0" rtlCol="0" anchor="ctr"/>
          <a:lstStyle/>
          <a:p>
            <a:pPr marL="0" algn="l">
              <a:lnSpc>
                <a:spcPct val="120000"/>
              </a:lnSpc>
            </a:pPr>
            <a:r>
              <a:rPr lang="en-US" sz="2000" b="1" noProof="1">
                <a:solidFill>
                  <a:srgbClr val="0E4D3A"/>
                </a:solidFill>
                <a:latin typeface="Aptos"/>
                <a:ea typeface="Aptos"/>
              </a:rPr>
              <a:t>04</a:t>
            </a:r>
            <a:endParaRPr lang="en-US" sz="2000" noProof="1"/>
          </a:p>
        </p:txBody>
      </p:sp>
      <p:sp>
        <p:nvSpPr>
          <p:cNvPr id="19" name="C4 Audience"/>
          <p:cNvSpPr txBox="1"/>
          <p:nvPr/>
        </p:nvSpPr>
        <p:spPr>
          <a:xfrm>
            <a:off x="7314692" y="1620000"/>
            <a:ext cx="1980000" cy="550000"/>
          </a:xfrm>
          <a:prstGeom prst="rect">
            <a:avLst/>
          </a:prstGeom>
          <a:noFill/>
          <a:ln>
            <a:noFill/>
          </a:ln>
        </p:spPr>
        <p:txBody>
          <a:bodyPr wrap="square" lIns="0" tIns="0" rIns="0" bIns="0" rtlCol="0" anchor="t"/>
          <a:lstStyle/>
          <a:p>
            <a:pPr marL="0" algn="l">
              <a:lnSpc>
                <a:spcPct val="115000"/>
              </a:lnSpc>
            </a:pPr>
            <a:r>
              <a:rPr lang="en-US" sz="1400" b="1" noProof="1">
                <a:solidFill>
                  <a:srgbClr val="15221E"/>
                </a:solidFill>
                <a:latin typeface="Aptos"/>
                <a:ea typeface="Aptos"/>
              </a:rPr>
              <a:t>Power Users, All Towers</a:t>
            </a:r>
            <a:endParaRPr lang="en-US" sz="1400" noProof="1"/>
          </a:p>
        </p:txBody>
      </p:sp>
      <p:sp>
        <p:nvSpPr>
          <p:cNvPr id="20" name="C4 Name"/>
          <p:cNvSpPr txBox="1"/>
          <p:nvPr/>
        </p:nvSpPr>
        <p:spPr>
          <a:xfrm>
            <a:off x="7314692" y="2250000"/>
            <a:ext cx="1980000" cy="900000"/>
          </a:xfrm>
          <a:prstGeom prst="rect">
            <a:avLst/>
          </a:prstGeom>
          <a:noFill/>
          <a:ln>
            <a:noFill/>
          </a:ln>
        </p:spPr>
        <p:txBody>
          <a:bodyPr wrap="square" lIns="0" tIns="0" rIns="0" bIns="0" rtlCol="0" anchor="t"/>
          <a:lstStyle/>
          <a:p>
            <a:pPr marL="0" algn="l">
              <a:lnSpc>
                <a:spcPct val="115000"/>
              </a:lnSpc>
            </a:pPr>
            <a:r>
              <a:rPr lang="en-US" sz="1500" b="1" noProof="1">
                <a:solidFill>
                  <a:srgbClr val="0E4D3A"/>
                </a:solidFill>
                <a:latin typeface="Aptos"/>
                <a:ea typeface="Aptos"/>
              </a:rPr>
              <a:t>Advanced AI Tool Building</a:t>
            </a:r>
            <a:endParaRPr lang="en-US" sz="1500" noProof="1"/>
          </a:p>
          <a:p>
            <a:pPr marL="0" algn="l">
              <a:lnSpc>
                <a:spcPct val="115000"/>
              </a:lnSpc>
            </a:pPr>
            <a:r>
              <a:rPr lang="en-US" sz="1400" b="1" noProof="1">
                <a:solidFill>
                  <a:srgbClr val="33C27A"/>
                </a:solidFill>
                <a:latin typeface="Aptos"/>
                <a:ea typeface="Aptos"/>
              </a:rPr>
              <a:t>12 hours</a:t>
            </a:r>
            <a:endParaRPr lang="en-US" sz="1400" noProof="1"/>
          </a:p>
        </p:txBody>
      </p:sp>
      <p:sp>
        <p:nvSpPr>
          <p:cNvPr id="21" name="C4 Desc"/>
          <p:cNvSpPr txBox="1"/>
          <p:nvPr/>
        </p:nvSpPr>
        <p:spPr>
          <a:xfrm>
            <a:off x="7314692" y="3250000"/>
            <a:ext cx="1980000" cy="1100000"/>
          </a:xfrm>
          <a:prstGeom prst="rect">
            <a:avLst/>
          </a:prstGeom>
          <a:noFill/>
          <a:ln>
            <a:noFill/>
          </a:ln>
        </p:spPr>
        <p:txBody>
          <a:bodyPr wrap="square" lIns="0" tIns="0" rIns="0" bIns="0" rtlCol="0" anchor="t"/>
          <a:lstStyle/>
          <a:p>
            <a:pPr marL="0" algn="l">
              <a:lnSpc>
                <a:spcPct val="118000"/>
              </a:lnSpc>
            </a:pPr>
            <a:r>
              <a:rPr lang="en-US" sz="1300" noProof="1">
                <a:solidFill>
                  <a:srgbClr val="5B6770"/>
                </a:solidFill>
                <a:latin typeface="Aptos"/>
                <a:ea typeface="Aptos"/>
              </a:rPr>
              <a:t>Non-technical teams build AI workflows and agents, no code.</a:t>
            </a:r>
            <a:endParaRPr lang="en-US" sz="1300" noProof="1"/>
          </a:p>
        </p:txBody>
      </p:sp>
      <!-- Column 5: Continuous -->
      <p:sp>
        <p:nvSpPr>
          <p:cNvPr id="22" name="C5 Num"/>
          <p:cNvSpPr txBox="1"/>
          <p:nvPr/>
        </p:nvSpPr>
        <p:spPr>
          <a:xfrm>
            <a:off x="9564116" y="1200000"/>
            <a:ext cx="1005840" cy="392430"/>
          </a:xfrm>
          <a:prstGeom prst="rect">
            <a:avLst/>
          </a:prstGeom>
          <a:noFill/>
          <a:ln>
            <a:noFill/>
          </a:ln>
        </p:spPr>
        <p:txBody>
          <a:bodyPr wrap="square" lIns="0" tIns="0" rIns="0" bIns="0" rtlCol="0" anchor="ctr"/>
          <a:lstStyle/>
          <a:p>
            <a:pPr marL="0" algn="l">
              <a:lnSpc>
                <a:spcPct val="120000"/>
              </a:lnSpc>
            </a:pPr>
            <a:r>
              <a:rPr lang="en-US" sz="2000" b="1" noProof="1">
                <a:solidFill>
                  <a:srgbClr val="0E4D3A"/>
                </a:solidFill>
                <a:latin typeface="Aptos"/>
                <a:ea typeface="Aptos"/>
              </a:rPr>
              <a:t>05</a:t>
            </a:r>
            <a:endParaRPr lang="en-US" sz="2000" noProof="1"/>
          </a:p>
        </p:txBody>
      </p:sp>
      <p:sp>
        <p:nvSpPr>
          <p:cNvPr id="23" name="C5 Audience"/>
          <p:cNvSpPr txBox="1"/>
          <p:nvPr/>
        </p:nvSpPr>
        <p:spPr>
          <a:xfrm>
            <a:off x="9564116" y="1620000"/>
            <a:ext cx="1980000" cy="550000"/>
          </a:xfrm>
          <a:prstGeom prst="rect">
            <a:avLst/>
          </a:prstGeom>
          <a:noFill/>
          <a:ln>
            <a:noFill/>
          </a:ln>
        </p:spPr>
        <p:txBody>
          <a:bodyPr wrap="square" lIns="0" tIns="0" rIns="0" bIns="0" rtlCol="0" anchor="t"/>
          <a:lstStyle/>
          <a:p>
            <a:pPr marL="0" algn="l">
              <a:lnSpc>
                <a:spcPct val="115000"/>
              </a:lnSpc>
            </a:pPr>
            <a:r>
              <a:rPr lang="en-US" sz="1400" b="1" noProof="1">
                <a:solidFill>
                  <a:srgbClr val="15221E"/>
                </a:solidFill>
                <a:latin typeface="Aptos"/>
                <a:ea typeface="Aptos"/>
              </a:rPr>
              <a:t>Entire GCC, Rolling</a:t>
            </a:r>
            <a:endParaRPr lang="en-US" sz="1400" noProof="1"/>
          </a:p>
        </p:txBody>
      </p:sp>
      <p:sp>
        <p:nvSpPr>
          <p:cNvPr id="24" name="C5 Name"/>
          <p:cNvSpPr txBox="1"/>
          <p:nvPr/>
        </p:nvSpPr>
        <p:spPr>
          <a:xfrm>
            <a:off x="9564116" y="2250000"/>
            <a:ext cx="1980000" cy="900000"/>
          </a:xfrm>
          <a:prstGeom prst="rect">
            <a:avLst/>
          </a:prstGeom>
          <a:noFill/>
          <a:ln>
            <a:noFill/>
          </a:ln>
        </p:spPr>
        <p:txBody>
          <a:bodyPr wrap="square" lIns="0" tIns="0" rIns="0" bIns="0" rtlCol="0" anchor="t"/>
          <a:lstStyle/>
          <a:p>
            <a:pPr marL="0" algn="l">
              <a:lnSpc>
                <a:spcPct val="115000"/>
              </a:lnSpc>
            </a:pPr>
            <a:r>
              <a:rPr lang="en-US" sz="1500" b="1" noProof="1">
                <a:solidFill>
                  <a:srgbClr val="0E4D3A"/>
                </a:solidFill>
                <a:latin typeface="Aptos"/>
                <a:ea typeface="Aptos"/>
              </a:rPr>
              <a:t>Continuous Partnership</a:t>
            </a:r>
            <a:endParaRPr lang="en-US" sz="1500" noProof="1"/>
          </a:p>
          <a:p>
            <a:pPr marL="0" algn="l">
              <a:lnSpc>
                <a:spcPct val="115000"/>
              </a:lnSpc>
            </a:pPr>
            <a:r>
              <a:rPr lang="en-US" sz="1400" b="1" noProof="1">
                <a:solidFill>
                  <a:srgbClr val="33C27A"/>
                </a:solidFill>
                <a:latin typeface="Aptos"/>
                <a:ea typeface="Aptos"/>
              </a:rPr>
              <a:t>Ongoing</a:t>
            </a:r>
            <a:endParaRPr lang="en-US" sz="1400" noProof="1"/>
          </a:p>
        </p:txBody>
      </p:sp>
      <p:sp>
        <p:nvSpPr>
          <p:cNvPr id="25" name="C5 Desc"/>
          <p:cNvSpPr txBox="1"/>
          <p:nvPr/>
        </p:nvSpPr>
        <p:spPr>
          <a:xfrm>
            <a:off x="9564116" y="3250000"/>
            <a:ext cx="2066544" cy="1100000"/>
          </a:xfrm>
          <a:prstGeom prst="rect">
            <a:avLst/>
          </a:prstGeom>
          <a:noFill/>
          <a:ln>
            <a:noFill/>
          </a:ln>
        </p:spPr>
        <p:txBody>
          <a:bodyPr wrap="square" lIns="0" tIns="0" rIns="0" bIns="0" rtlCol="0" anchor="t"/>
          <a:lstStyle/>
          <a:p>
            <a:pPr marL="0" algn="l">
              <a:lnSpc>
                <a:spcPct val="118000"/>
              </a:lnSpc>
            </a:pPr>
            <a:r>
              <a:rPr lang="en-US" sz="1300" noProof="1">
                <a:solidFill>
                  <a:srgbClr val="5B6770"/>
                </a:solidFill>
                <a:latin typeface="Aptos"/>
                <a:ea typeface="Aptos"/>
              </a:rPr>
              <a:t>Keeps capability current as the technology evolves.</a:t>
            </a:r>
            <a:endParaRPr lang="en-US" sz="1300" noProof="1"/>
          </a:p>
        </p:txBody>
      </p:sp>
      <p:cxnSp>
        <p:nvCxnSpPr>
          <p:cNvPr id="26" name="Shape 19"/>
          <p:cNvCxnSpPr/>
          <p:nvPr/>
        </p:nvCxnSpPr>
        <p:spPr>
          <a:xfrm>
            <a:off x="566420" y="4700000"/>
            <a:ext cx="11064240" cy="0"/>
          </a:xfrm>
          <a:prstGeom prst="straightConnector1">
            <a:avLst/>
          </a:prstGeom>
          <a:ln w="8890">
            <a:solidFill>
              <a:srgbClr val="C7DDD1"/>
            </a:solidFill>
          </a:ln>
        </p:spPr>
      </p:cxnSp>
      <p:sp>
        <p:nvSpPr>
          <p:cNvPr id="27" name="Footer Note"/>
          <p:cNvSpPr txBox="1"/>
          <p:nvPr/>
        </p:nvSpPr>
        <p:spPr>
          <a:xfrm>
            <a:off x="566420" y="5000000"/>
            <a:ext cx="10635060" cy="700000"/>
          </a:xfrm>
          <a:prstGeom prst="rect">
            <a:avLst/>
          </a:prstGeom>
          <a:noFill/>
          <a:ln>
            <a:noFill/>
          </a:ln>
        </p:spPr>
        <p:txBody>
          <a:bodyPr wrap="square" lIns="0" tIns="0" rIns="0" bIns="0" rtlCol="0" anchor="ctr"/>
          <a:lstStyle/>
          <a:p>
            <a:pPr marL="0" algn="l">
              <a:lnSpc>
                <a:spcPct val="125000"/>
              </a:lnSpc>
            </a:pPr>
            <a:r>
              <a:rPr lang="en-US" sz="1600" i="1" noProof="1">
                <a:solidFill>
                  <a:srgbClr val="15221E"/>
                </a:solidFill>
                <a:latin typeface="Aptos"/>
                <a:ea typeface="Aptos"/>
              </a:rPr>
              <a:t>A tiered menu the GCC buys up the stack as its maturity grows — every tier built from proven, existing content; nothing invented for this pitch.</a:t>
            </a:r>
            <a:endParaRPr lang="en-US" sz="1600" noProof="1"/>
          </a:p>
        </p:txBody>
      </p:sp>
      <p:sp>
        <p:nvSpPr>
          <p:cNvPr id="28" name="Text 22"/>
          <p:cNvSpPr txBox="1"/>
          <p:nvPr/>
        </p:nvSpPr>
        <p:spPr>
          <a:xfrm>
            <a:off x="11201400" y="6510020"/>
            <a:ext cx="411480" cy="146050"/>
          </a:xfrm>
          <a:prstGeom prst="rect">
            <a:avLst/>
          </a:prstGeom>
          <a:noFill/>
          <a:ln>
            <a:noFill/>
          </a:ln>
        </p:spPr>
        <p:txBody>
          <a:bodyPr wrap="square" lIns="0" tIns="0" rIns="0" bIns="0" rtlCol="0" anchor="ctr"/>
          <a:lstStyle/>
          <a:p>
            <a:pPr marL="0" algn="r">
              <a:lnSpc>
                <a:spcPct val="120000"/>
              </a:lnSpc>
            </a:pPr>
            <a:r>
              <a:rPr lang="en-US" sz="800" noProof="1">
                <a:solidFill>
                  <a:srgbClr val="8A9A92"/>
                </a:solidFill>
                <a:latin typeface="MiSans"/>
                <a:ea typeface="MiSans"/>
              </a:rPr>
              <a:t>04</a:t>
            </a:r>
            <a:endParaRPr lang="en-US" sz="800" noProof="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420" y="274320"/>
            <a:ext cx="8961120" cy="383540"/>
          </a:xfrm>
          <a:prstGeom prst="rect">
            <a:avLst/>
          </a:prstGeom>
          <a:noFill/>
          <a:ln>
            <a:noFill/>
          </a:ln>
        </p:spPr>
        <p:txBody>
          <a:bodyPr wrap="square" lIns="0" tIns="0" rIns="0" bIns="0" rtlCol="0" anchor="ctr"/>
          <a:lstStyle/>
          <a:p>
            <a:pPr marL="228600" indent="-228600" algn="l">
              <a:lnSpc>
                <a:spcPct val="120000"/>
              </a:lnSpc>
            </a:pPr>
            <a:r>
              <a:rPr lang="en-US" sz="2400" b="1" noProof="1">
                <a:solidFill>
                  <a:srgbClr val="0E4D3A"/>
                </a:solidFill>
                <a:latin typeface="Aptos Display"/>
                <a:ea typeface="Aptos Display"/>
              </a:rPr>
              <a:t>Tier 1: Leadership</a:t>
            </a:r>
            <a:endParaRPr lang="en-US" sz="2400" noProof="1"/>
          </a:p>
        </p:txBody>
      </p:sp>
      <p:sp>
        <p:nvSpPr>
          <p:cNvPr id="3" name="Text 1"/>
          <p:cNvSpPr txBox="1"/>
          <p:nvPr/>
        </p:nvSpPr>
        <p:spPr>
          <a:xfrm>
            <a:off x="566420" y="694690"/>
            <a:ext cx="7863840" cy="246380"/>
          </a:xfrm>
          <a:prstGeom prst="rect">
            <a:avLst/>
          </a:prstGeom>
          <a:noFill/>
          <a:ln>
            <a:noFill/>
          </a:ln>
        </p:spPr>
        <p:txBody>
          <a:bodyPr wrap="square" lIns="0" tIns="0" rIns="0" bIns="0" rtlCol="0" anchor="ctr"/>
          <a:lstStyle/>
          <a:p>
            <a:pPr marL="228600" indent="-228600" algn="l">
              <a:lnSpc>
                <a:spcPct val="120000"/>
              </a:lnSpc>
            </a:pPr>
            <a:r>
              <a:rPr lang="en-US" sz="900" noProof="1">
                <a:solidFill>
                  <a:srgbClr val="5B6770"/>
                </a:solidFill>
                <a:latin typeface="MiSans"/>
                <a:ea typeface="MiSans"/>
              </a:rPr>
              <a:t>AI Strategy and Operating Model | 4.5 hours | CTO, VP Eng, Directors, C-suite</a:t>
            </a:r>
            <a:endParaRPr lang="en-US" sz="900" noProof="1"/>
          </a:p>
        </p:txBody>
      </p:sp>
      <p:pic>
        <p:nvPicPr>
          <p:cNvPr id="4" name="Image 0"/>
          <p:cNvPicPr/>
          <p:nvPr/>
        </p:nvPicPr>
        <p:blipFill>
          <a:blip r:embed="rId3"/>
          <a:stretch>
            <a:fillRect/>
          </a:stretch>
        </p:blipFill>
        <p:spPr>
          <a:xfrm>
            <a:off x="9966960" y="228600"/>
            <a:ext cx="1572260" cy="411480"/>
          </a:xfrm>
          <a:prstGeom prst="rect">
            <a:avLst/>
          </a:prstGeom>
          <a:ln>
            <a:noFill/>
          </a:ln>
        </p:spPr>
      </p:pic>
      <p:cxnSp>
        <p:nvCxnSpPr>
          <p:cNvPr id="5" name="Shape 2"/>
          <p:cNvCxnSpPr/>
          <p:nvPr/>
        </p:nvCxnSpPr>
        <p:spPr>
          <a:xfrm>
            <a:off x="566420" y="932180"/>
            <a:ext cx="11064240" cy="0"/>
          </a:xfrm>
          <a:prstGeom prst="straightConnector1">
            <a:avLst/>
          </a:prstGeom>
          <a:ln w="8890">
            <a:solidFill>
              <a:srgbClr val="C7DDD1"/>
            </a:solidFill>
          </a:ln>
        </p:spPr>
      </p:cxnSp>
      <p:sp>
        <p:nvSpPr>
          <p:cNvPr id="6" name="Text 3"/>
          <p:cNvSpPr txBox="1"/>
          <p:nvPr/>
        </p:nvSpPr>
        <p:spPr>
          <a:xfrm>
            <a:off x="566420" y="1325880"/>
            <a:ext cx="4572000" cy="209550"/>
          </a:xfrm>
          <a:prstGeom prst="rect">
            <a:avLst/>
          </a:prstGeom>
          <a:noFill/>
          <a:ln>
            <a:noFill/>
          </a:ln>
        </p:spPr>
        <p:txBody>
          <a:bodyPr wrap="square" lIns="0" tIns="0" rIns="0" bIns="0" rtlCol="0" anchor="ctr"/>
          <a:lstStyle/>
          <a:p>
            <a:pPr marL="228600" indent="-228600" algn="l">
              <a:lnSpc>
                <a:spcPct val="120000"/>
              </a:lnSpc>
            </a:pPr>
            <a:r>
              <a:rPr lang="en-US" sz="1200" b="1" noProof="1">
                <a:solidFill>
                  <a:srgbClr val="33C27A"/>
                </a:solidFill>
                <a:latin typeface="Aptos"/>
                <a:ea typeface="Aptos"/>
              </a:rPr>
              <a:t>OBJECTIVE</a:t>
            </a:r>
            <a:endParaRPr lang="en-US" sz="1200" noProof="1"/>
          </a:p>
        </p:txBody>
      </p:sp>
      <p:sp>
        <p:nvSpPr>
          <p:cNvPr id="7" name="Text 4"/>
          <p:cNvSpPr txBox="1"/>
          <p:nvPr/>
        </p:nvSpPr>
        <p:spPr>
          <a:xfrm>
            <a:off x="566420" y="1728215"/>
            <a:ext cx="10698480" cy="594360"/>
          </a:xfrm>
          <a:prstGeom prst="rect">
            <a:avLst/>
          </a:prstGeom>
          <a:noFill/>
          <a:ln>
            <a:noFill/>
          </a:ln>
        </p:spPr>
        <p:txBody>
          <a:bodyPr wrap="square" lIns="0" tIns="0" rIns="0" bIns="0" rtlCol="0" anchor="ctr"/>
          <a:lstStyle/>
          <a:p>
            <a:pPr marL="228600" indent="-228600" algn="l">
              <a:lnSpc>
                <a:spcPct val="120000"/>
              </a:lnSpc>
            </a:pPr>
            <a:r>
              <a:rPr lang="en-US" noProof="1">
                <a:solidFill>
                  <a:srgbClr val="15221E"/>
                </a:solidFill>
                <a:latin typeface="Aptos"/>
                <a:ea typeface="Aptos"/>
              </a:rPr>
              <a:t>Enable senior GCC leaders to make informed strategic choices about AI — where to invest, what to govern, how to organize, and what leadership must personally own.</a:t>
            </a:r>
            <a:endParaRPr lang="en-US" noProof="1"/>
          </a:p>
        </p:txBody>
      </p:sp>
      <p:sp>
        <p:nvSpPr>
          <p:cNvPr id="8" name="Text 5"/>
          <p:cNvSpPr txBox="1"/>
          <p:nvPr/>
        </p:nvSpPr>
        <p:spPr>
          <a:xfrm>
            <a:off x="566420" y="2606040"/>
            <a:ext cx="4572000" cy="209550"/>
          </a:xfrm>
          <a:prstGeom prst="rect">
            <a:avLst/>
          </a:prstGeom>
          <a:noFill/>
          <a:ln>
            <a:noFill/>
          </a:ln>
        </p:spPr>
        <p:txBody>
          <a:bodyPr wrap="square" lIns="0" tIns="0" rIns="0" bIns="0" rtlCol="0" anchor="ctr"/>
          <a:lstStyle/>
          <a:p>
            <a:pPr marL="228600" indent="-228600" algn="l">
              <a:lnSpc>
                <a:spcPct val="120000"/>
              </a:lnSpc>
            </a:pPr>
            <a:r>
              <a:rPr lang="en-US" sz="1200" b="1" noProof="1">
                <a:solidFill>
                  <a:srgbClr val="33C27A"/>
                </a:solidFill>
                <a:latin typeface="Aptos"/>
                <a:ea typeface="Aptos"/>
              </a:rPr>
              <a:t>CURRICULUM ARCHITECTURE</a:t>
            </a:r>
            <a:endParaRPr lang="en-US" sz="1200" noProof="1"/>
          </a:p>
        </p:txBody>
      </p:sp>
      <p:sp>
        <p:nvSpPr>
          <p:cNvPr id="9" name="Text 6"/>
          <p:cNvSpPr txBox="1"/>
          <p:nvPr/>
        </p:nvSpPr>
        <p:spPr>
          <a:xfrm>
            <a:off x="566420" y="2999740"/>
            <a:ext cx="2926080" cy="309880"/>
          </a:xfrm>
          <a:prstGeom prst="rect">
            <a:avLst/>
          </a:prstGeom>
          <a:noFill/>
          <a:ln>
            <a:noFill/>
          </a:ln>
        </p:spPr>
        <p:txBody>
          <a:bodyPr wrap="square" lIns="0" tIns="0" rIns="0" bIns="0" rtlCol="0" anchor="ctr"/>
          <a:lstStyle/>
          <a:p>
            <a:pPr marL="228600" indent="-228600" algn="l">
              <a:lnSpc>
                <a:spcPct val="120000"/>
              </a:lnSpc>
            </a:pPr>
            <a:r>
              <a:rPr lang="en-US" sz="1700" b="1" noProof="1">
                <a:solidFill>
                  <a:srgbClr val="0E4D3A"/>
                </a:solidFill>
                <a:latin typeface="Aptos"/>
                <a:ea typeface="Aptos"/>
              </a:rPr>
              <a:t>AI Demystified</a:t>
            </a:r>
            <a:endParaRPr lang="en-US" sz="2000" noProof="1"/>
          </a:p>
        </p:txBody>
      </p:sp>
      <p:sp>
        <p:nvSpPr>
          <p:cNvPr id="10" name="Text 7"/>
          <p:cNvSpPr txBox="1"/>
          <p:nvPr/>
        </p:nvSpPr>
        <p:spPr>
          <a:xfrm>
            <a:off x="566420" y="3383280"/>
            <a:ext cx="2103120" cy="228600"/>
          </a:xfrm>
          <a:prstGeom prst="rect">
            <a:avLst/>
          </a:prstGeom>
          <a:noFill/>
          <a:ln>
            <a:noFill/>
          </a:ln>
        </p:spPr>
        <p:txBody>
          <a:bodyPr wrap="square" lIns="0" tIns="0" rIns="0" bIns="0" rtlCol="0" anchor="ctr"/>
          <a:lstStyle/>
          <a:p>
            <a:pPr marL="228600" indent="-228600" algn="l">
              <a:lnSpc>
                <a:spcPct val="120000"/>
              </a:lnSpc>
            </a:pPr>
            <a:r>
              <a:rPr lang="en-US" sz="1500" b="1" noProof="1">
                <a:solidFill>
                  <a:srgbClr val="C59A3A"/>
                </a:solidFill>
                <a:latin typeface="Aptos"/>
                <a:ea typeface="Aptos"/>
              </a:rPr>
              <a:t>Foundations</a:t>
            </a:r>
            <a:endParaRPr lang="en-US" sz="1500" noProof="1"/>
          </a:p>
        </p:txBody>
      </p:sp>
      <p:sp>
        <p:nvSpPr>
          <p:cNvPr id="11" name="Text 8"/>
          <p:cNvSpPr txBox="1"/>
          <p:nvPr/>
        </p:nvSpPr>
        <p:spPr>
          <a:xfrm>
            <a:off x="507697" y="3804665"/>
            <a:ext cx="3165410" cy="2037935"/>
          </a:xfrm>
          <a:prstGeom prst="rect">
            <a:avLst/>
          </a:prstGeom>
          <a:noFill/>
          <a:ln>
            <a:noFill/>
          </a:ln>
        </p:spPr>
        <p:txBody>
          <a:bodyPr wrap="square" lIns="0" tIns="0" rIns="0" bIns="0" rtlCol="0" anchor="ctr"/>
          <a:lstStyle/>
          <a:p>
            <a:pPr marL="228600" indent="-228600" algn="l">
              <a:lnSpc>
                <a:spcPct val="150000"/>
              </a:lnSpc>
            </a:pPr>
            <a:r>
              <a:rPr lang="en-US" sz="1600" noProof="1">
                <a:solidFill>
                  <a:srgbClr val="15221E"/>
                </a:solidFill>
                <a:latin typeface="Aptos"/>
                <a:ea typeface="Aptos"/>
              </a:rPr>
              <a:t>• What current AI technology can and cannot do reliably</a:t>
            </a:r>
            <a:endParaRPr lang="en-US" sz="1600" noProof="1"/>
          </a:p>
        </p:txBody>
      </p:sp>
      <p:sp>
        <p:nvSpPr>
          <p:cNvPr id="12" name="Text 9"/>
          <p:cNvSpPr txBox="1"/>
          <p:nvPr/>
        </p:nvSpPr>
        <p:spPr>
          <a:xfrm>
            <a:off x="4257274" y="2999740"/>
            <a:ext cx="3786510" cy="309880"/>
          </a:xfrm>
          <a:prstGeom prst="rect">
            <a:avLst/>
          </a:prstGeom>
          <a:noFill/>
          <a:ln>
            <a:noFill/>
          </a:ln>
        </p:spPr>
        <p:txBody>
          <a:bodyPr wrap="square" lIns="0" tIns="0" rIns="0" bIns="0" rtlCol="0" anchor="ctr"/>
          <a:lstStyle/>
          <a:p>
            <a:pPr marL="228600" indent="-228600" algn="l">
              <a:lnSpc>
                <a:spcPct val="120000"/>
              </a:lnSpc>
            </a:pPr>
            <a:r>
              <a:rPr lang="en-US" sz="1700" b="1" noProof="1">
                <a:solidFill>
                  <a:srgbClr val="0E4D3A"/>
                </a:solidFill>
                <a:latin typeface="Aptos"/>
                <a:ea typeface="Aptos"/>
              </a:rPr>
              <a:t>Strategy &amp; Operating Model</a:t>
            </a:r>
            <a:endParaRPr lang="en-US" sz="2000" noProof="1"/>
          </a:p>
        </p:txBody>
      </p:sp>
      <p:sp>
        <p:nvSpPr>
          <p:cNvPr id="13" name="Text 10"/>
          <p:cNvSpPr txBox="1"/>
          <p:nvPr/>
        </p:nvSpPr>
        <p:spPr>
          <a:xfrm>
            <a:off x="4297680" y="3383280"/>
            <a:ext cx="2103120" cy="228600"/>
          </a:xfrm>
          <a:prstGeom prst="rect">
            <a:avLst/>
          </a:prstGeom>
          <a:noFill/>
          <a:ln>
            <a:noFill/>
          </a:ln>
        </p:spPr>
        <p:txBody>
          <a:bodyPr wrap="square" lIns="0" tIns="0" rIns="0" bIns="0" rtlCol="0" anchor="ctr"/>
          <a:lstStyle/>
          <a:p>
            <a:pPr marL="228600" indent="-228600" algn="l">
              <a:lnSpc>
                <a:spcPct val="120000"/>
              </a:lnSpc>
            </a:pPr>
            <a:r>
              <a:rPr lang="en-US" sz="1500" b="1" noProof="1">
                <a:solidFill>
                  <a:srgbClr val="C59A3A"/>
                </a:solidFill>
                <a:latin typeface="Aptos"/>
                <a:ea typeface="Aptos"/>
              </a:rPr>
              <a:t>Choices</a:t>
            </a:r>
            <a:endParaRPr lang="en-US" sz="1500" noProof="1"/>
          </a:p>
        </p:txBody>
      </p:sp>
      <p:sp>
        <p:nvSpPr>
          <p:cNvPr id="14" name="Text 11"/>
          <p:cNvSpPr txBox="1"/>
          <p:nvPr/>
        </p:nvSpPr>
        <p:spPr>
          <a:xfrm>
            <a:off x="4297680" y="3731260"/>
            <a:ext cx="2971800" cy="1800860"/>
          </a:xfrm>
          <a:prstGeom prst="rect">
            <a:avLst/>
          </a:prstGeom>
          <a:noFill/>
          <a:ln>
            <a:noFill/>
          </a:ln>
        </p:spPr>
        <p:txBody>
          <a:bodyPr wrap="square" lIns="0" tIns="0" rIns="0" bIns="0" rtlCol="0" anchor="ctr"/>
          <a:lstStyle/>
          <a:p>
            <a:pPr marL="228600" indent="-228600" algn="l">
              <a:lnSpc>
                <a:spcPct val="150000"/>
              </a:lnSpc>
            </a:pPr>
            <a:r>
              <a:rPr lang="en-US" sz="1600" noProof="1">
                <a:solidFill>
                  <a:srgbClr val="15221E"/>
                </a:solidFill>
                <a:latin typeface="Aptos" panose="020B0004020202020204" pitchFamily="34" charset="0"/>
                <a:ea typeface="Aptos"/>
              </a:rPr>
              <a:t>• From use cases to transformation agenda</a:t>
            </a:r>
            <a:endParaRPr lang="en-US" sz="1600" noProof="1">
              <a:latin typeface="Aptos" panose="020B0004020202020204" pitchFamily="34" charset="0"/>
            </a:endParaRPr>
          </a:p>
          <a:p>
            <a:pPr marL="228600" indent="-228600" algn="l">
              <a:lnSpc>
                <a:spcPct val="150000"/>
              </a:lnSpc>
            </a:pPr>
            <a:r>
              <a:rPr lang="en-US" sz="1600" noProof="1">
                <a:solidFill>
                  <a:srgbClr val="15221E"/>
                </a:solidFill>
                <a:latin typeface="Aptos" panose="020B0004020202020204" pitchFamily="34" charset="0"/>
                <a:ea typeface="Aptos"/>
              </a:rPr>
              <a:t>• Value, risk and ownership model</a:t>
            </a:r>
            <a:endParaRPr lang="en-US" sz="1600" noProof="1">
              <a:latin typeface="Aptos" panose="020B0004020202020204" pitchFamily="34" charset="0"/>
            </a:endParaRPr>
          </a:p>
          <a:p>
            <a:pPr marL="228600" indent="-228600" algn="l">
              <a:lnSpc>
                <a:spcPct val="150000"/>
              </a:lnSpc>
            </a:pPr>
            <a:r>
              <a:rPr lang="en-US" sz="1600" noProof="1">
                <a:solidFill>
                  <a:srgbClr val="15221E"/>
                </a:solidFill>
                <a:latin typeface="Aptos" panose="020B0004020202020204" pitchFamily="34" charset="0"/>
                <a:ea typeface="Aptos"/>
              </a:rPr>
              <a:t>• Funding, governance and adoption choices</a:t>
            </a:r>
            <a:endParaRPr lang="en-US" sz="1600" noProof="1">
              <a:latin typeface="Aptos" panose="020B0004020202020204" pitchFamily="34" charset="0"/>
            </a:endParaRPr>
          </a:p>
        </p:txBody>
      </p:sp>
      <p:sp>
        <p:nvSpPr>
          <p:cNvPr id="15" name="Text 12"/>
          <p:cNvSpPr txBox="1"/>
          <p:nvPr/>
        </p:nvSpPr>
        <p:spPr>
          <a:xfrm>
            <a:off x="8043784" y="2999740"/>
            <a:ext cx="3157616" cy="309880"/>
          </a:xfrm>
          <a:prstGeom prst="rect">
            <a:avLst/>
          </a:prstGeom>
          <a:noFill/>
          <a:ln>
            <a:noFill/>
          </a:ln>
        </p:spPr>
        <p:txBody>
          <a:bodyPr wrap="square" lIns="0" tIns="0" rIns="0" bIns="0" rtlCol="0" anchor="ctr"/>
          <a:lstStyle/>
          <a:p>
            <a:pPr marL="228600" indent="-228600" algn="l">
              <a:lnSpc>
                <a:spcPct val="120000"/>
              </a:lnSpc>
            </a:pPr>
            <a:r>
              <a:rPr lang="en-US" sz="1700" b="1" noProof="1">
                <a:solidFill>
                  <a:srgbClr val="0E4D3A"/>
                </a:solidFill>
                <a:latin typeface="Aptos"/>
                <a:ea typeface="Aptos"/>
              </a:rPr>
              <a:t>GAIN–PAIN Activity</a:t>
            </a:r>
            <a:endParaRPr lang="en-US" sz="2000" noProof="1"/>
          </a:p>
        </p:txBody>
      </p:sp>
      <p:sp>
        <p:nvSpPr>
          <p:cNvPr id="16" name="Text 13"/>
          <p:cNvSpPr txBox="1"/>
          <p:nvPr/>
        </p:nvSpPr>
        <p:spPr>
          <a:xfrm>
            <a:off x="8043784" y="3383280"/>
            <a:ext cx="2103120" cy="228600"/>
          </a:xfrm>
          <a:prstGeom prst="rect">
            <a:avLst/>
          </a:prstGeom>
          <a:noFill/>
          <a:ln>
            <a:noFill/>
          </a:ln>
        </p:spPr>
        <p:txBody>
          <a:bodyPr wrap="square" lIns="0" tIns="0" rIns="0" bIns="0" rtlCol="0" anchor="ctr"/>
          <a:lstStyle/>
          <a:p>
            <a:pPr marL="228600" indent="-228600" algn="l">
              <a:lnSpc>
                <a:spcPct val="120000"/>
              </a:lnSpc>
            </a:pPr>
            <a:r>
              <a:rPr lang="en-US" sz="1500" b="1" noProof="1">
                <a:solidFill>
                  <a:srgbClr val="C59A3A"/>
                </a:solidFill>
                <a:latin typeface="Aptos"/>
                <a:ea typeface="Aptos"/>
              </a:rPr>
              <a:t>Activity</a:t>
            </a:r>
            <a:endParaRPr lang="en-US" sz="1500" noProof="1"/>
          </a:p>
        </p:txBody>
      </p:sp>
      <p:sp>
        <p:nvSpPr>
          <p:cNvPr id="17" name="Text 14"/>
          <p:cNvSpPr txBox="1"/>
          <p:nvPr/>
        </p:nvSpPr>
        <p:spPr>
          <a:xfrm>
            <a:off x="8043784" y="3746197"/>
            <a:ext cx="2971800" cy="1800860"/>
          </a:xfrm>
          <a:prstGeom prst="rect">
            <a:avLst/>
          </a:prstGeom>
          <a:noFill/>
          <a:ln>
            <a:noFill/>
          </a:ln>
        </p:spPr>
        <p:txBody>
          <a:bodyPr wrap="square" lIns="0" tIns="0" rIns="0" bIns="0" rtlCol="0" anchor="ctr"/>
          <a:lstStyle/>
          <a:p>
            <a:pPr marL="228600" indent="-228600" algn="l">
              <a:lnSpc>
                <a:spcPct val="120000"/>
              </a:lnSpc>
            </a:pPr>
            <a:r>
              <a:rPr lang="en-US" sz="1600" noProof="1">
                <a:solidFill>
                  <a:srgbClr val="15221E"/>
                </a:solidFill>
                <a:latin typeface="Aptos" panose="020B0004020202020204" pitchFamily="34" charset="0"/>
                <a:ea typeface="Aptos"/>
              </a:rPr>
              <a:t>• Separate benefits from implementation pain</a:t>
            </a:r>
            <a:endParaRPr lang="en-US" sz="1600" noProof="1">
              <a:latin typeface="Aptos" panose="020B0004020202020204" pitchFamily="34" charset="0"/>
            </a:endParaRPr>
          </a:p>
          <a:p>
            <a:pPr marL="228600" indent="-228600" algn="l">
              <a:lnSpc>
                <a:spcPct val="120000"/>
              </a:lnSpc>
            </a:pPr>
            <a:r>
              <a:rPr lang="en-US" sz="1600" noProof="1">
                <a:solidFill>
                  <a:srgbClr val="15221E"/>
                </a:solidFill>
                <a:latin typeface="Aptos" panose="020B0004020202020204" pitchFamily="34" charset="0"/>
                <a:ea typeface="Aptos"/>
              </a:rPr>
              <a:t>• Identify opportunities to pursue, stop or defer</a:t>
            </a:r>
            <a:endParaRPr lang="en-US" sz="1600" noProof="1">
              <a:latin typeface="Aptos" panose="020B0004020202020204" pitchFamily="34" charset="0"/>
            </a:endParaRPr>
          </a:p>
        </p:txBody>
      </p:sp>
      <p:sp>
        <p:nvSpPr>
          <p:cNvPr id="19" name="Text 16"/>
          <p:cNvSpPr txBox="1"/>
          <p:nvPr/>
        </p:nvSpPr>
        <p:spPr>
          <a:xfrm>
            <a:off x="11201400" y="6510020"/>
            <a:ext cx="411480" cy="146050"/>
          </a:xfrm>
          <a:prstGeom prst="rect">
            <a:avLst/>
          </a:prstGeom>
          <a:noFill/>
          <a:ln>
            <a:noFill/>
          </a:ln>
        </p:spPr>
        <p:txBody>
          <a:bodyPr wrap="square" lIns="0" tIns="0" rIns="0" bIns="0" rtlCol="0" anchor="ctr"/>
          <a:lstStyle/>
          <a:p>
            <a:pPr marL="0" algn="r">
              <a:lnSpc>
                <a:spcPct val="120000"/>
              </a:lnSpc>
            </a:pPr>
            <a:r>
              <a:rPr lang="en-US" sz="800" noProof="1">
                <a:solidFill>
                  <a:srgbClr val="8A9A92"/>
                </a:solidFill>
                <a:latin typeface="MiSans"/>
                <a:ea typeface="MiSans"/>
              </a:rPr>
              <a:t>05</a:t>
            </a:r>
            <a:endParaRPr lang="en-US" sz="800"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420" y="274320"/>
            <a:ext cx="8961120" cy="383540"/>
          </a:xfrm>
          <a:prstGeom prst="rect">
            <a:avLst/>
          </a:prstGeom>
          <a:noFill/>
          <a:ln>
            <a:noFill/>
          </a:ln>
        </p:spPr>
        <p:txBody>
          <a:bodyPr wrap="square" lIns="0" tIns="0" rIns="0" bIns="0" rtlCol="0" anchor="ctr"/>
          <a:lstStyle/>
          <a:p>
            <a:pPr marL="228600" indent="-228600" algn="l">
              <a:lnSpc>
                <a:spcPct val="120000"/>
              </a:lnSpc>
            </a:pPr>
            <a:r>
              <a:rPr lang="en-US" sz="2400" b="1" noProof="1">
                <a:solidFill>
                  <a:srgbClr val="0E4D3A"/>
                </a:solidFill>
                <a:latin typeface="Aptos Display"/>
                <a:ea typeface="Aptos Display"/>
              </a:rPr>
              <a:t>The Problem</a:t>
            </a:r>
            <a:endParaRPr lang="en-US" sz="2400" noProof="1"/>
          </a:p>
        </p:txBody>
      </p:sp>
      <p:sp>
        <p:nvSpPr>
          <p:cNvPr id="3" name="Text 1"/>
          <p:cNvSpPr txBox="1"/>
          <p:nvPr/>
        </p:nvSpPr>
        <p:spPr>
          <a:xfrm>
            <a:off x="566420" y="694690"/>
            <a:ext cx="7863840" cy="246380"/>
          </a:xfrm>
          <a:prstGeom prst="rect">
            <a:avLst/>
          </a:prstGeom>
          <a:noFill/>
          <a:ln>
            <a:noFill/>
          </a:ln>
        </p:spPr>
        <p:txBody>
          <a:bodyPr wrap="square" lIns="0" tIns="0" rIns="0" bIns="0" rtlCol="0" anchor="ctr"/>
          <a:lstStyle/>
          <a:p>
            <a:pPr marL="228600" indent="-228600" algn="l">
              <a:lnSpc>
                <a:spcPct val="120000"/>
              </a:lnSpc>
            </a:pPr>
            <a:r>
              <a:rPr lang="en-US" sz="900" noProof="1">
                <a:solidFill>
                  <a:srgbClr val="5B6770"/>
                </a:solidFill>
                <a:latin typeface="MiSans"/>
                <a:ea typeface="MiSans"/>
              </a:rPr>
              <a:t>The operating model hasn't caught up with the strategy</a:t>
            </a:r>
            <a:endParaRPr lang="en-US" sz="900" noProof="1"/>
          </a:p>
        </p:txBody>
      </p:sp>
      <p:pic>
        <p:nvPicPr>
          <p:cNvPr id="4" name="Image 0"/>
          <p:cNvPicPr/>
          <p:nvPr/>
        </p:nvPicPr>
        <p:blipFill>
          <a:blip r:embed="rId3"/>
          <a:stretch>
            <a:fillRect/>
          </a:stretch>
        </p:blipFill>
        <p:spPr>
          <a:xfrm>
            <a:off x="9966960" y="228600"/>
            <a:ext cx="1572260" cy="411480"/>
          </a:xfrm>
          <a:prstGeom prst="rect">
            <a:avLst/>
          </a:prstGeom>
          <a:ln>
            <a:noFill/>
          </a:ln>
        </p:spPr>
      </p:pic>
      <p:cxnSp>
        <p:nvCxnSpPr>
          <p:cNvPr id="5" name="Shape 2"/>
          <p:cNvCxnSpPr/>
          <p:nvPr/>
        </p:nvCxnSpPr>
        <p:spPr>
          <a:xfrm>
            <a:off x="566420" y="932180"/>
            <a:ext cx="11064240" cy="0"/>
          </a:xfrm>
          <a:prstGeom prst="straightConnector1">
            <a:avLst/>
          </a:prstGeom>
          <a:ln w="8890">
            <a:solidFill>
              <a:srgbClr val="C7DDD1"/>
            </a:solidFill>
          </a:ln>
        </p:spPr>
      </p:cxnSp>
      <p:sp>
        <p:nvSpPr>
          <p:cNvPr id="6" name="Text 3"/>
          <p:cNvSpPr txBox="1"/>
          <p:nvPr/>
        </p:nvSpPr>
        <p:spPr>
          <a:xfrm>
            <a:off x="685800" y="1325880"/>
            <a:ext cx="10424160" cy="309880"/>
          </a:xfrm>
          <a:prstGeom prst="rect">
            <a:avLst/>
          </a:prstGeom>
          <a:noFill/>
          <a:ln>
            <a:noFill/>
          </a:ln>
        </p:spPr>
        <p:txBody>
          <a:bodyPr wrap="square" lIns="0" tIns="0" rIns="0" bIns="0" rtlCol="0" anchor="ctr"/>
          <a:lstStyle/>
          <a:p>
            <a:pPr marL="228600" indent="-228600" algn="l">
              <a:lnSpc>
                <a:spcPct val="120000"/>
              </a:lnSpc>
            </a:pPr>
            <a:r>
              <a:rPr lang="en-US" sz="2000" b="1" noProof="1">
                <a:solidFill>
                  <a:srgbClr val="0E4D3A"/>
                </a:solidFill>
                <a:latin typeface="Aptos"/>
                <a:ea typeface="Aptos"/>
              </a:rPr>
              <a:t>94% of enterprises have an AI strategy. Only 51% of GCCs have moved past early maturity.</a:t>
            </a:r>
            <a:endParaRPr lang="en-US" sz="2000" noProof="1"/>
          </a:p>
        </p:txBody>
      </p:sp>
      <p:sp>
        <p:nvSpPr>
          <p:cNvPr id="7" name="Text 4"/>
          <p:cNvSpPr txBox="1"/>
          <p:nvPr/>
        </p:nvSpPr>
        <p:spPr>
          <a:xfrm>
            <a:off x="685800" y="1875452"/>
            <a:ext cx="10378440" cy="2880360"/>
          </a:xfrm>
          <a:prstGeom prst="rect">
            <a:avLst/>
          </a:prstGeom>
          <a:noFill/>
          <a:ln>
            <a:noFill/>
          </a:ln>
        </p:spPr>
        <p:txBody>
          <a:bodyPr wrap="square" lIns="0" tIns="0" rIns="0" bIns="0" rtlCol="0" anchor="ctr"/>
          <a:lstStyle/>
          <a:p>
            <a:pPr marL="228600" indent="-228600" algn="l">
              <a:lnSpc>
                <a:spcPct val="150000"/>
              </a:lnSpc>
            </a:pPr>
            <a:r>
              <a:rPr lang="en-US" sz="1500" noProof="1">
                <a:solidFill>
                  <a:srgbClr val="15221E"/>
                </a:solidFill>
                <a:latin typeface="Aptos"/>
                <a:ea typeface="Aptos"/>
              </a:rPr>
              <a:t>• 51% AI demand-supply gap — India's ~416,000 AI professionals cover about half of demand.</a:t>
            </a:r>
            <a:endParaRPr lang="en-US" sz="1500" noProof="1"/>
          </a:p>
          <a:p>
            <a:pPr marL="228600" indent="-228600" algn="l">
              <a:lnSpc>
                <a:spcPct val="150000"/>
              </a:lnSpc>
            </a:pPr>
            <a:r>
              <a:rPr lang="en-US" sz="1500" noProof="1">
                <a:solidFill>
                  <a:srgbClr val="15221E"/>
                </a:solidFill>
                <a:latin typeface="Aptos"/>
                <a:ea typeface="Aptos"/>
              </a:rPr>
              <a:t>• 90% shortage in GenAI-ready talent — one qualified candidate for every 10 open roles.</a:t>
            </a:r>
            <a:endParaRPr lang="en-US" sz="1500" noProof="1"/>
          </a:p>
          <a:p>
            <a:pPr marL="228600" indent="-228600" algn="l">
              <a:lnSpc>
                <a:spcPct val="150000"/>
              </a:lnSpc>
            </a:pPr>
            <a:r>
              <a:rPr lang="en-US" sz="1500" noProof="1">
                <a:solidFill>
                  <a:srgbClr val="15221E"/>
                </a:solidFill>
                <a:latin typeface="Aptos"/>
                <a:ea typeface="Aptos"/>
              </a:rPr>
              <a:t>• 60-90 day hiring timelines for senior GenAI roles; most candidates aren't job hunting.</a:t>
            </a:r>
            <a:endParaRPr lang="en-US" sz="1500" noProof="1"/>
          </a:p>
          <a:p>
            <a:pPr marL="228600" indent="-228600" algn="l">
              <a:lnSpc>
                <a:spcPct val="150000"/>
              </a:lnSpc>
            </a:pPr>
            <a:r>
              <a:rPr lang="en-US" sz="1500" noProof="1">
                <a:solidFill>
                  <a:srgbClr val="15221E"/>
                </a:solidFill>
                <a:latin typeface="Aptos"/>
                <a:ea typeface="Aptos"/>
              </a:rPr>
              <a:t>• High-performer attrition at 16.5%, driven by FOBO — fear of becoming obsolete.</a:t>
            </a:r>
            <a:endParaRPr lang="en-US" sz="1500" noProof="1"/>
          </a:p>
          <a:p>
            <a:pPr marL="228600" indent="-228600" algn="l">
              <a:lnSpc>
                <a:spcPct val="150000"/>
              </a:lnSpc>
            </a:pPr>
            <a:r>
              <a:rPr lang="en-US" sz="1500" noProof="1">
                <a:solidFill>
                  <a:srgbClr val="15221E"/>
                </a:solidFill>
                <a:latin typeface="Aptos"/>
                <a:ea typeface="Aptos"/>
              </a:rPr>
              <a:t>• 71% of GCCs are already reskilling existing staff — often ad-hoc, not structured.</a:t>
            </a:r>
            <a:endParaRPr lang="en-US" sz="1500" noProof="1"/>
          </a:p>
        </p:txBody>
      </p:sp>
      <p:sp>
        <p:nvSpPr>
          <p:cNvPr id="8" name="Text 5"/>
          <p:cNvSpPr txBox="1"/>
          <p:nvPr/>
        </p:nvSpPr>
        <p:spPr>
          <a:xfrm>
            <a:off x="685800" y="5016372"/>
            <a:ext cx="9875520" cy="346710"/>
          </a:xfrm>
          <a:prstGeom prst="rect">
            <a:avLst/>
          </a:prstGeom>
          <a:noFill/>
          <a:ln>
            <a:noFill/>
          </a:ln>
        </p:spPr>
        <p:txBody>
          <a:bodyPr wrap="square" lIns="0" tIns="0" rIns="0" bIns="0" rtlCol="0" anchor="ctr"/>
          <a:lstStyle/>
          <a:p>
            <a:pPr marL="0" algn="l">
              <a:lnSpc>
                <a:spcPct val="120000"/>
              </a:lnSpc>
            </a:pPr>
            <a:r>
              <a:rPr lang="en-US" sz="1600" i="1" noProof="1">
                <a:solidFill>
                  <a:srgbClr val="5B6770"/>
                </a:solidFill>
                <a:latin typeface="Aptos"/>
                <a:ea typeface="Aptos"/>
              </a:rPr>
              <a:t>The GCC cannot hire its way out of this gap. It must build its way out.</a:t>
            </a:r>
            <a:endParaRPr lang="en-US" sz="1600" noProof="1"/>
          </a:p>
        </p:txBody>
      </p:sp>
      <p:sp>
        <p:nvSpPr>
          <p:cNvPr id="10" name="Text 7"/>
          <p:cNvSpPr txBox="1"/>
          <p:nvPr/>
        </p:nvSpPr>
        <p:spPr>
          <a:xfrm>
            <a:off x="11201400" y="6510020"/>
            <a:ext cx="411480" cy="146050"/>
          </a:xfrm>
          <a:prstGeom prst="rect">
            <a:avLst/>
          </a:prstGeom>
          <a:noFill/>
          <a:ln>
            <a:noFill/>
          </a:ln>
        </p:spPr>
        <p:txBody>
          <a:bodyPr wrap="square" lIns="0" tIns="0" rIns="0" bIns="0" rtlCol="0" anchor="ctr"/>
          <a:lstStyle/>
          <a:p>
            <a:pPr marL="0" algn="r">
              <a:lnSpc>
                <a:spcPct val="120000"/>
              </a:lnSpc>
            </a:pPr>
            <a:r>
              <a:rPr lang="en-US" sz="800" noProof="1">
                <a:solidFill>
                  <a:srgbClr val="8A9A92"/>
                </a:solidFill>
                <a:latin typeface="MiSans"/>
                <a:ea typeface="MiSans"/>
              </a:rPr>
              <a:t>03</a:t>
            </a:r>
            <a:endParaRPr lang="en-US" sz="800" noProof="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420" y="274320"/>
            <a:ext cx="8961120" cy="383540"/>
          </a:xfrm>
          <a:prstGeom prst="rect">
            <a:avLst/>
          </a:prstGeom>
          <a:noFill/>
          <a:ln>
            <a:noFill/>
          </a:ln>
        </p:spPr>
        <p:txBody>
          <a:bodyPr wrap="square" lIns="0" tIns="0" rIns="0" bIns="0" rtlCol="0" anchor="ctr"/>
          <a:lstStyle/>
          <a:p>
            <a:pPr marL="0" algn="l">
              <a:lnSpc>
                <a:spcPct val="120000"/>
              </a:lnSpc>
            </a:pPr>
            <a:r>
              <a:rPr lang="en-US" sz="2200" b="1" noProof="1">
                <a:solidFill>
                  <a:srgbClr val="0E4D3A"/>
                </a:solidFill>
                <a:latin typeface="Aptos Display"/>
                <a:ea typeface="Aptos Display"/>
              </a:rPr>
              <a:t>Tier 2: Capability Core</a:t>
            </a:r>
            <a:endParaRPr lang="en-US" sz="2200" noProof="1"/>
          </a:p>
        </p:txBody>
      </p:sp>
      <p:sp>
        <p:nvSpPr>
          <p:cNvPr id="3" name="Text 1"/>
          <p:cNvSpPr txBox="1"/>
          <p:nvPr/>
        </p:nvSpPr>
        <p:spPr>
          <a:xfrm>
            <a:off x="566420" y="694690"/>
            <a:ext cx="9000000" cy="246380"/>
          </a:xfrm>
          <a:prstGeom prst="rect">
            <a:avLst/>
          </a:prstGeom>
          <a:noFill/>
          <a:ln>
            <a:noFill/>
          </a:ln>
        </p:spPr>
        <p:txBody>
          <a:bodyPr wrap="square" lIns="0" tIns="0" rIns="0" bIns="0" rtlCol="0" anchor="ctr"/>
          <a:lstStyle/>
          <a:p>
            <a:pPr marL="0" algn="l">
              <a:lnSpc>
                <a:spcPct val="120000"/>
              </a:lnSpc>
            </a:pPr>
            <a:r>
              <a:rPr lang="en-US" sz="900" noProof="1">
                <a:solidFill>
                  <a:srgbClr val="5B6770"/>
                </a:solidFill>
                <a:latin typeface="MiSans"/>
                <a:ea typeface="MiSans"/>
              </a:rPr>
              <a:t>Design Thinking for Architects (3-5 days) + AI-Enabled SDLC for Engineers (5 days)</a:t>
            </a:r>
            <a:endParaRPr lang="en-US" sz="900" noProof="1"/>
          </a:p>
        </p:txBody>
      </p:sp>
      <p:pic>
        <p:nvPicPr>
          <p:cNvPr id="4" name="Image 0"/>
          <p:cNvPicPr/>
          <p:nvPr/>
        </p:nvPicPr>
        <p:blipFill>
          <a:blip r:embed="rId3"/>
          <a:stretch>
            <a:fillRect/>
          </a:stretch>
        </p:blipFill>
        <p:spPr>
          <a:xfrm>
            <a:off x="9966960" y="228600"/>
            <a:ext cx="1572260" cy="411480"/>
          </a:xfrm>
          <a:prstGeom prst="rect">
            <a:avLst/>
          </a:prstGeom>
          <a:ln>
            <a:noFill/>
          </a:ln>
        </p:spPr>
      </p:pic>
      <p:cxnSp>
        <p:nvCxnSpPr>
          <p:cNvPr id="5" name="Shape 2"/>
          <p:cNvCxnSpPr/>
          <p:nvPr/>
        </p:nvCxnSpPr>
        <p:spPr>
          <a:xfrm>
            <a:off x="566420" y="932180"/>
            <a:ext cx="11064240" cy="0"/>
          </a:xfrm>
          <a:prstGeom prst="straightConnector1">
            <a:avLst/>
          </a:prstGeom>
          <a:ln w="8890">
            <a:solidFill>
              <a:srgbClr val="C7DDD1"/>
            </a:solidFill>
          </a:ln>
        </p:spPr>
      </p:cxnSp>
      <!-- Left column: Architects -->
      <p:sp>
        <p:nvSpPr>
          <p:cNvPr id="6" name="L Header"/>
          <p:cNvSpPr txBox="1"/>
          <p:nvPr/>
        </p:nvSpPr>
        <p:spPr>
          <a:xfrm>
            <a:off x="685800" y="1150000"/>
            <a:ext cx="5000000" cy="330200"/>
          </a:xfrm>
          <a:prstGeom prst="rect">
            <a:avLst/>
          </a:prstGeom>
          <a:noFill/>
          <a:ln>
            <a:noFill/>
          </a:ln>
        </p:spPr>
        <p:txBody>
          <a:bodyPr wrap="square" lIns="0" tIns="0" rIns="0" bIns="0" rtlCol="0" anchor="ctr"/>
          <a:lstStyle/>
          <a:p>
            <a:pPr marL="0" algn="l">
              <a:lnSpc>
                <a:spcPct val="120000"/>
              </a:lnSpc>
            </a:pPr>
            <a:r>
              <a:rPr lang="en-US" sz="1900" b="1" noProof="1">
                <a:solidFill>
                  <a:srgbClr val="0E4D3A"/>
                </a:solidFill>
                <a:latin typeface="Aptos"/>
                <a:ea typeface="Aptos"/>
              </a:rPr>
              <a:t>Design Thinking for Architects</a:t>
            </a:r>
            <a:endParaRPr lang="en-US" sz="1900" noProof="1"/>
          </a:p>
        </p:txBody>
      </p:sp>
      <p:sp>
        <p:nvSpPr>
          <p:cNvPr id="7" name="L Meta"/>
          <p:cNvSpPr txBox="1"/>
          <p:nvPr/>
        </p:nvSpPr>
        <p:spPr>
          <a:xfrm>
            <a:off x="685800" y="1500000"/>
            <a:ext cx="5000000" cy="560000"/>
          </a:xfrm>
          <a:prstGeom prst="rect">
            <a:avLst/>
          </a:prstGeom>
          <a:noFill/>
          <a:ln>
            <a:noFill/>
          </a:ln>
        </p:spPr>
        <p:txBody>
          <a:bodyPr wrap="square" lIns="0" tIns="0" rIns="0" bIns="0" rtlCol="0" anchor="t"/>
          <a:lstStyle/>
          <a:p>
            <a:pPr marL="0" algn="l">
              <a:lnSpc>
                <a:spcPct val="120000"/>
              </a:lnSpc>
            </a:pPr>
            <a:r>
              <a:rPr lang="en-US" sz="1300" b="1" noProof="1">
                <a:solidFill>
                  <a:srgbClr val="33C27A"/>
                </a:solidFill>
                <a:latin typeface="Aptos"/>
                <a:ea typeface="Aptos"/>
              </a:rPr>
              <a:t>5 days complete, or 3 days condensed</a:t>
            </a:r>
            <a:endParaRPr lang="en-US" sz="1300" noProof="1"/>
          </a:p>
          <a:p>
            <a:pPr marL="0" algn="l">
              <a:lnSpc>
                <a:spcPct val="120000"/>
              </a:lnSpc>
            </a:pPr>
            <a:r>
              <a:rPr lang="en-US" sz="1300" noProof="1">
                <a:solidFill>
                  <a:srgbClr val="5B6770"/>
                </a:solidFill>
                <a:latin typeface="Aptos"/>
                <a:ea typeface="Aptos"/>
              </a:rPr>
              <a:t>Enterprise &amp; Solution Architects, Tech Leads, ARB members</a:t>
            </a:r>
            <a:endParaRPr lang="en-US" sz="1300" noProof="1"/>
          </a:p>
        </p:txBody>
      </p:sp>
      <p:sp>
        <p:nvSpPr>
          <p:cNvPr id="8" name="L Bullets"/>
          <p:cNvSpPr txBox="1"/>
          <p:nvPr/>
        </p:nvSpPr>
        <p:spPr>
          <a:xfrm>
            <a:off x="685800" y="2160000"/>
            <a:ext cx="5000000" cy="2750000"/>
          </a:xfrm>
          <a:prstGeom prst="rect">
            <a:avLst/>
          </a:prstGeom>
          <a:noFill/>
          <a:ln>
            <a:noFill/>
          </a:ln>
        </p:spPr>
        <p:txBody>
          <a:bodyPr wrap="square" lIns="0" tIns="0" rIns="0" bIns="0" rtlCol="0" anchor="t"/>
          <a:lstStyle/>
          <a:p>
            <a:pPr marL="285750" indent="-285750" algn="l">
              <a:lnSpc>
                <a:spcPct val="122000"/>
              </a:lnSpc>
              <a:buFont typeface="Arial" panose="020B0604020202020204" pitchFamily="34" charset="0"/>
              <a:buChar char="•"/>
            </a:pPr>
            <a:r>
              <a:rPr lang="en-US" sz="1350" noProof="1">
                <a:solidFill>
                  <a:srgbClr val="15221E"/>
                </a:solidFill>
                <a:latin typeface="Aptos"/>
                <a:ea typeface="Aptos"/>
              </a:rPr>
              <a:t>Select the right pattern — Analytics, ML, GenAI, Hybrid or No-AI — defend it with an ADR</a:t>
            </a:r>
            <a:endParaRPr lang="en-US" sz="1350" noProof="1"/>
          </a:p>
          <a:p>
            <a:pPr marL="285750" indent="-285750" algn="l">
              <a:lnSpc>
                <a:spcPct val="122000"/>
              </a:lnSpc>
              <a:buFont typeface="Arial" panose="020B0604020202020204" pitchFamily="34" charset="0"/>
              <a:buChar char="•"/>
            </a:pPr>
            <a:r>
              <a:rPr lang="en-US" sz="1350" b="1" noProof="1">
                <a:solidFill>
                  <a:srgbClr val="15221E"/>
                </a:solidFill>
                <a:latin typeface="Aptos"/>
                <a:ea typeface="Aptos"/>
              </a:rPr>
              <a:t>Working use case drawn from the client's own industry</a:t>
            </a:r>
            <a:r>
              <a:rPr lang="en-US" sz="1350" noProof="1">
                <a:solidFill>
                  <a:srgbClr val="15221E"/>
                </a:solidFill>
                <a:latin typeface="Aptos"/>
                <a:ea typeface="Aptos"/>
              </a:rPr>
              <a:t> — a real problem, not a teaching example</a:t>
            </a:r>
            <a:endParaRPr lang="en-US" sz="1350" noProof="1"/>
          </a:p>
          <a:p>
            <a:pPr marL="285750" indent="-285750" algn="l">
              <a:lnSpc>
                <a:spcPct val="122000"/>
              </a:lnSpc>
              <a:buFont typeface="Arial" panose="020B0604020202020204" pitchFamily="34" charset="0"/>
              <a:buChar char="•"/>
            </a:pPr>
            <a:r>
              <a:rPr lang="en-US" sz="1350" noProof="1">
                <a:solidFill>
                  <a:srgbClr val="15221E"/>
                </a:solidFill>
                <a:latin typeface="Aptos"/>
                <a:ea typeface="Aptos"/>
              </a:rPr>
              <a:t>Labs run in the client's own environment — cloud, private cloud or on-prem</a:t>
            </a:r>
            <a:endParaRPr lang="en-US" sz="1350" noProof="1"/>
          </a:p>
          <a:p>
            <a:pPr marL="285750" indent="-285750" algn="l">
              <a:lnSpc>
                <a:spcPct val="122000"/>
              </a:lnSpc>
              <a:buFont typeface="Arial" panose="020B0604020202020204" pitchFamily="34" charset="0"/>
              <a:buChar char="•"/>
            </a:pPr>
            <a:r>
              <a:rPr lang="en-US" sz="1350" noProof="1">
                <a:solidFill>
                  <a:srgbClr val="15221E"/>
                </a:solidFill>
                <a:latin typeface="Aptos"/>
                <a:ea typeface="Aptos"/>
              </a:rPr>
              <a:t>Leaves with a defended architecture decision for their own use case</a:t>
            </a:r>
            <a:endParaRPr lang="en-US" sz="1350" noProof="1"/>
          </a:p>
        </p:txBody>
      </p:sp>
      <!-- Right column: Engineers -->
      <p:sp>
        <p:nvSpPr>
          <p:cNvPr id="9" name="R Header"/>
          <p:cNvSpPr txBox="1"/>
          <p:nvPr/>
        </p:nvSpPr>
        <p:spPr>
          <a:xfrm>
            <a:off x="6145800" y="1150000"/>
            <a:ext cx="5000000" cy="330200"/>
          </a:xfrm>
          <a:prstGeom prst="rect">
            <a:avLst/>
          </a:prstGeom>
          <a:noFill/>
          <a:ln>
            <a:noFill/>
          </a:ln>
        </p:spPr>
        <p:txBody>
          <a:bodyPr wrap="square" lIns="0" tIns="0" rIns="0" bIns="0" rtlCol="0" anchor="ctr"/>
          <a:lstStyle/>
          <a:p>
            <a:pPr marL="0" algn="l">
              <a:lnSpc>
                <a:spcPct val="120000"/>
              </a:lnSpc>
            </a:pPr>
            <a:r>
              <a:rPr lang="en-US" sz="1900" b="1" noProof="1">
                <a:solidFill>
                  <a:srgbClr val="0E4D3A"/>
                </a:solidFill>
                <a:latin typeface="Aptos"/>
                <a:ea typeface="Aptos"/>
              </a:rPr>
              <a:t>AI-Enabled SDLC for Engineers</a:t>
            </a:r>
            <a:endParaRPr lang="en-US" sz="1900" noProof="1"/>
          </a:p>
        </p:txBody>
      </p:sp>
      <p:sp>
        <p:nvSpPr>
          <p:cNvPr id="10" name="R Meta"/>
          <p:cNvSpPr txBox="1"/>
          <p:nvPr/>
        </p:nvSpPr>
        <p:spPr>
          <a:xfrm>
            <a:off x="6145800" y="1500000"/>
            <a:ext cx="5000000" cy="560000"/>
          </a:xfrm>
          <a:prstGeom prst="rect">
            <a:avLst/>
          </a:prstGeom>
          <a:noFill/>
          <a:ln>
            <a:noFill/>
          </a:ln>
        </p:spPr>
        <p:txBody>
          <a:bodyPr wrap="square" lIns="0" tIns="0" rIns="0" bIns="0" rtlCol="0" anchor="t"/>
          <a:lstStyle/>
          <a:p>
            <a:pPr marL="0" algn="l">
              <a:lnSpc>
                <a:spcPct val="120000"/>
              </a:lnSpc>
            </a:pPr>
            <a:r>
              <a:rPr lang="en-US" sz="1300" b="1" noProof="1">
                <a:solidFill>
                  <a:srgbClr val="33C27A"/>
                </a:solidFill>
                <a:latin typeface="Aptos"/>
                <a:ea typeface="Aptos"/>
              </a:rPr>
              <a:t>5 days, hands-on</a:t>
            </a:r>
            <a:endParaRPr lang="en-US" sz="1300" noProof="1"/>
          </a:p>
          <a:p>
            <a:pPr marL="0" algn="l">
              <a:lnSpc>
                <a:spcPct val="120000"/>
              </a:lnSpc>
            </a:pPr>
            <a:r>
              <a:rPr lang="en-US" sz="1300" noProof="1">
                <a:solidFill>
                  <a:srgbClr val="5B6770"/>
                </a:solidFill>
                <a:latin typeface="Aptos"/>
                <a:ea typeface="Aptos"/>
              </a:rPr>
              <a:t>IC engineers, tech leads, forward-deployed engineers</a:t>
            </a:r>
            <a:endParaRPr lang="en-US" sz="1300" noProof="1"/>
          </a:p>
        </p:txBody>
      </p:sp>
      <p:sp>
        <p:nvSpPr>
          <p:cNvPr id="11" name="R Bullets"/>
          <p:cNvSpPr txBox="1"/>
          <p:nvPr/>
        </p:nvSpPr>
        <p:spPr>
          <a:xfrm>
            <a:off x="6145800" y="2160000"/>
            <a:ext cx="5000000" cy="2750000"/>
          </a:xfrm>
          <a:prstGeom prst="rect">
            <a:avLst/>
          </a:prstGeom>
          <a:noFill/>
          <a:ln>
            <a:noFill/>
          </a:ln>
        </p:spPr>
        <p:txBody>
          <a:bodyPr wrap="square" lIns="0" tIns="0" rIns="0" bIns="0" rtlCol="0" anchor="t"/>
          <a:lstStyle/>
          <a:p>
            <a:pPr marL="285750" indent="-285750" algn="l">
              <a:lnSpc>
                <a:spcPct val="122000"/>
              </a:lnSpc>
              <a:buFont typeface="Arial" panose="020B0604020202020204" pitchFamily="34" charset="0"/>
              <a:buChar char="•"/>
            </a:pPr>
            <a:r>
              <a:rPr lang="en-US" sz="1350" noProof="1">
                <a:solidFill>
                  <a:srgbClr val="15221E"/>
                </a:solidFill>
                <a:latin typeface="Aptos"/>
                <a:ea typeface="Aptos"/>
              </a:rPr>
              <a:t>9 modules: AI SDLC, RAG pipelines, agent orchestration, evaluation, data sovereignty and shadow AI</a:t>
            </a:r>
            <a:endParaRPr lang="en-US" sz="1350" noProof="1"/>
          </a:p>
          <a:p>
            <a:pPr marL="285750" indent="-285750" algn="l">
              <a:lnSpc>
                <a:spcPct val="122000"/>
              </a:lnSpc>
              <a:buFont typeface="Arial" panose="020B0604020202020204" pitchFamily="34" charset="0"/>
              <a:buChar char="•"/>
            </a:pPr>
            <a:r>
              <a:rPr lang="en-US" sz="1350" noProof="1">
                <a:solidFill>
                  <a:srgbClr val="15221E"/>
                </a:solidFill>
                <a:latin typeface="Aptos"/>
                <a:ea typeface="Aptos"/>
              </a:rPr>
              <a:t>Code review and QA for AI-generated code; FDE delivery mindset</a:t>
            </a:r>
            <a:endParaRPr lang="en-US" sz="1350" noProof="1"/>
          </a:p>
          <a:p>
            <a:pPr marL="285750" indent="-285750" algn="l">
              <a:lnSpc>
                <a:spcPct val="122000"/>
              </a:lnSpc>
              <a:buFont typeface="Arial" panose="020B0604020202020204" pitchFamily="34" charset="0"/>
              <a:buChar char="•"/>
            </a:pPr>
            <a:r>
              <a:rPr lang="en-US" sz="1350" noProof="1">
                <a:solidFill>
                  <a:srgbClr val="15221E"/>
                </a:solidFill>
                <a:latin typeface="Aptos"/>
                <a:ea typeface="Aptos"/>
              </a:rPr>
              <a:t>Dedicated module on the architect's Technology Triage Framework and its build impact</a:t>
            </a:r>
            <a:endParaRPr lang="en-US" sz="1350" noProof="1"/>
          </a:p>
          <a:p>
            <a:pPr marL="285750" indent="-285750" algn="l">
              <a:lnSpc>
                <a:spcPct val="122000"/>
              </a:lnSpc>
              <a:buFont typeface="Arial" panose="020B0604020202020204" pitchFamily="34" charset="0"/>
              <a:buChar char="•"/>
            </a:pPr>
            <a:r>
              <a:rPr lang="en-US" sz="1350" noProof="1">
                <a:solidFill>
                  <a:srgbClr val="15221E"/>
                </a:solidFill>
                <a:latin typeface="Aptos"/>
                <a:ea typeface="Aptos"/>
              </a:rPr>
              <a:t>Capstone: build an AI feature end-to-end in the client's own environment</a:t>
            </a:r>
            <a:endParaRPr lang="en-US" sz="1350" noProof="1"/>
          </a:p>
        </p:txBody>
      </p:sp>
      <p:cxnSp>
        <p:nvCxnSpPr>
          <p:cNvPr id="12" name="Shape Divider"/>
          <p:cNvCxnSpPr/>
          <p:nvPr/>
        </p:nvCxnSpPr>
        <p:spPr>
          <a:xfrm>
            <a:off x="566420" y="5100000"/>
            <a:ext cx="11064240" cy="0"/>
          </a:xfrm>
          <a:prstGeom prst="straightConnector1">
            <a:avLst/>
          </a:prstGeom>
          <a:ln w="8890">
            <a:solidFill>
              <a:srgbClr val="C7DDD1"/>
            </a:solidFill>
          </a:ln>
        </p:spPr>
      </p:cxnSp>
      <p:sp>
        <p:nvSpPr>
          <p:cNvPr id="13" name="Footer Note"/>
          <p:cNvSpPr txBox="1"/>
          <p:nvPr/>
        </p:nvSpPr>
        <p:spPr>
          <a:xfrm>
            <a:off x="685800" y="5340000"/>
            <a:ext cx="10469880" cy="600000"/>
          </a:xfrm>
          <a:prstGeom prst="rect">
            <a:avLst/>
          </a:prstGeom>
          <a:noFill/>
          <a:ln>
            <a:noFill/>
          </a:ln>
        </p:spPr>
        <p:txBody>
          <a:bodyPr wrap="square" lIns="0" tIns="0" rIns="0" bIns="0" rtlCol="0" anchor="ctr"/>
          <a:lstStyle/>
          <a:p>
            <a:pPr marL="0" algn="l">
              <a:lnSpc>
                <a:spcPct val="125000"/>
              </a:lnSpc>
            </a:pPr>
            <a:r>
              <a:rPr lang="en-US" sz="1600" i="1" noProof="1">
                <a:solidFill>
                  <a:srgbClr val="5B6770"/>
                </a:solidFill>
                <a:latin typeface="Aptos"/>
                <a:ea typeface="Aptos"/>
              </a:rPr>
              <a:t>Design Thinking for Architects is the differentiated wedge — no competitor offers a working use case drawn from the client's own industry.</a:t>
            </a:r>
            <a:endParaRPr lang="en-US" sz="1600" noProof="1"/>
          </a:p>
        </p:txBody>
      </p:sp>
      <p:sp>
        <p:nvSpPr>
          <p:cNvPr id="15" name="Text 12"/>
          <p:cNvSpPr txBox="1"/>
          <p:nvPr/>
        </p:nvSpPr>
        <p:spPr>
          <a:xfrm>
            <a:off x="11201400" y="6510020"/>
            <a:ext cx="411480" cy="146050"/>
          </a:xfrm>
          <a:prstGeom prst="rect">
            <a:avLst/>
          </a:prstGeom>
          <a:noFill/>
          <a:ln>
            <a:noFill/>
          </a:ln>
        </p:spPr>
        <p:txBody>
          <a:bodyPr wrap="square" lIns="0" tIns="0" rIns="0" bIns="0" rtlCol="0" anchor="ctr"/>
          <a:lstStyle/>
          <a:p>
            <a:pPr marL="0" algn="r">
              <a:lnSpc>
                <a:spcPct val="120000"/>
              </a:lnSpc>
            </a:pPr>
            <a:r>
              <a:rPr lang="en-US" sz="800" noProof="1">
                <a:solidFill>
                  <a:srgbClr val="8A9A92"/>
                </a:solidFill>
                <a:latin typeface="MiSans"/>
                <a:ea typeface="MiSans"/>
              </a:rPr>
              <a:t>06</a:t>
            </a:r>
            <a:endParaRPr lang="en-US" sz="800" noProof="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420" y="274320"/>
            <a:ext cx="8961120" cy="383540"/>
          </a:xfrm>
          <a:prstGeom prst="rect">
            <a:avLst/>
          </a:prstGeom>
          <a:noFill/>
          <a:ln>
            <a:noFill/>
          </a:ln>
        </p:spPr>
        <p:txBody>
          <a:bodyPr wrap="square" lIns="0" tIns="0" rIns="0" bIns="0" rtlCol="0" anchor="ctr"/>
          <a:lstStyle/>
          <a:p>
            <a:pPr marL="0" algn="l">
              <a:lnSpc>
                <a:spcPct val="120000"/>
              </a:lnSpc>
            </a:pPr>
            <a:r>
              <a:rPr lang="en-US" sz="2100" b="1" noProof="1">
                <a:solidFill>
                  <a:srgbClr val="0E4D3A"/>
                </a:solidFill>
                <a:latin typeface="Aptos Display"/>
                <a:ea typeface="Aptos Display"/>
              </a:rPr>
              <a:t>Tier 4: Power User Scale — Advanced AI Tool Building</a:t>
            </a:r>
            <a:endParaRPr lang="en-US" sz="2100" noProof="1"/>
          </a:p>
        </p:txBody>
      </p:sp>
      <p:sp>
        <p:nvSpPr>
          <p:cNvPr id="3" name="Text 1"/>
          <p:cNvSpPr txBox="1"/>
          <p:nvPr/>
        </p:nvSpPr>
        <p:spPr>
          <a:xfrm>
            <a:off x="566420" y="694690"/>
            <a:ext cx="7863840" cy="246380"/>
          </a:xfrm>
          <a:prstGeom prst="rect">
            <a:avLst/>
          </a:prstGeom>
          <a:noFill/>
          <a:ln>
            <a:noFill/>
          </a:ln>
        </p:spPr>
        <p:txBody>
          <a:bodyPr wrap="square" lIns="0" tIns="0" rIns="0" bIns="0" rtlCol="0" anchor="ctr"/>
          <a:lstStyle/>
          <a:p>
            <a:pPr marL="0" algn="l">
              <a:lnSpc>
                <a:spcPct val="120000"/>
              </a:lnSpc>
            </a:pPr>
            <a:r>
              <a:rPr lang="en-US" sz="900" noProof="1">
                <a:solidFill>
                  <a:srgbClr val="5B6770"/>
                </a:solidFill>
                <a:latin typeface="MiSans"/>
                <a:ea typeface="MiSans"/>
              </a:rPr>
              <a:t>12 hours (4 x 3-hour sessions) | Business power users across towers</a:t>
            </a:r>
            <a:endParaRPr lang="en-US" sz="900" noProof="1"/>
          </a:p>
        </p:txBody>
      </p:sp>
      <p:pic>
        <p:nvPicPr>
          <p:cNvPr id="4" name="Image 0"/>
          <p:cNvPicPr/>
          <p:nvPr/>
        </p:nvPicPr>
        <p:blipFill>
          <a:blip r:embed="rId3"/>
          <a:stretch>
            <a:fillRect/>
          </a:stretch>
        </p:blipFill>
        <p:spPr>
          <a:xfrm>
            <a:off x="9966960" y="228600"/>
            <a:ext cx="1572260" cy="411480"/>
          </a:xfrm>
          <a:prstGeom prst="rect">
            <a:avLst/>
          </a:prstGeom>
          <a:ln>
            <a:noFill/>
          </a:ln>
        </p:spPr>
      </p:pic>
      <p:cxnSp>
        <p:nvCxnSpPr>
          <p:cNvPr id="5" name="Shape 2"/>
          <p:cNvCxnSpPr/>
          <p:nvPr/>
        </p:nvCxnSpPr>
        <p:spPr>
          <a:xfrm>
            <a:off x="566420" y="932180"/>
            <a:ext cx="11064240" cy="12700"/>
          </a:xfrm>
          <a:prstGeom prst="straightConnector1">
            <a:avLst/>
          </a:prstGeom>
          <a:ln w="8890">
            <a:solidFill>
              <a:srgbClr val="C7DDD1"/>
            </a:solidFill>
          </a:ln>
        </p:spPr>
      </p:cxnSp>
      <p:sp>
        <p:nvSpPr>
          <p:cNvPr id="6" name="Text 3"/>
          <p:cNvSpPr txBox="1"/>
          <p:nvPr/>
        </p:nvSpPr>
        <p:spPr>
          <a:xfrm>
            <a:off x="685800" y="1183267"/>
            <a:ext cx="4572000" cy="209550"/>
          </a:xfrm>
          <a:prstGeom prst="rect">
            <a:avLst/>
          </a:prstGeom>
          <a:noFill/>
          <a:ln>
            <a:noFill/>
          </a:ln>
        </p:spPr>
        <p:txBody>
          <a:bodyPr wrap="square" lIns="0" tIns="0" rIns="0" bIns="0" rtlCol="0" anchor="ctr"/>
          <a:lstStyle/>
          <a:p>
            <a:pPr marL="0" algn="l">
              <a:lnSpc>
                <a:spcPct val="120000"/>
              </a:lnSpc>
            </a:pPr>
            <a:r>
              <a:rPr lang="en-US" sz="1200" b="1" noProof="1">
                <a:solidFill>
                  <a:srgbClr val="33C27A"/>
                </a:solidFill>
                <a:latin typeface="Aptos"/>
                <a:ea typeface="Aptos"/>
              </a:rPr>
              <a:t>OBJECTIVE</a:t>
            </a:r>
            <a:endParaRPr lang="en-US" sz="1200" noProof="1"/>
          </a:p>
        </p:txBody>
      </p:sp>
      <p:sp>
        <p:nvSpPr>
          <p:cNvPr id="7" name="Text 4"/>
          <p:cNvSpPr txBox="1"/>
          <p:nvPr/>
        </p:nvSpPr>
        <p:spPr>
          <a:xfrm>
            <a:off x="685800" y="1468749"/>
            <a:ext cx="10378440" cy="529590"/>
          </a:xfrm>
          <a:prstGeom prst="rect">
            <a:avLst/>
          </a:prstGeom>
          <a:noFill/>
          <a:ln>
            <a:noFill/>
          </a:ln>
        </p:spPr>
        <p:txBody>
          <a:bodyPr wrap="square" lIns="0" tIns="0" rIns="0" bIns="0" rtlCol="0" anchor="ctr"/>
          <a:lstStyle/>
          <a:p>
            <a:pPr marL="285750" indent="-285750" algn="l">
              <a:lnSpc>
                <a:spcPct val="120000"/>
              </a:lnSpc>
              <a:buFont typeface="Arial" panose="020B0604020202020204" pitchFamily="34" charset="0"/>
              <a:buChar char="•"/>
            </a:pPr>
            <a:r>
              <a:rPr lang="en-US" sz="1600" noProof="1">
                <a:solidFill>
                  <a:srgbClr val="15221E"/>
                </a:solidFill>
                <a:latin typeface="Aptos" panose="020B0004020202020204" pitchFamily="34" charset="0"/>
                <a:ea typeface="Aptos"/>
              </a:rPr>
              <a:t>Enable business power users to build working AI workflows and agents on the tools their organization already owns — no code required.</a:t>
            </a:r>
            <a:endParaRPr lang="en-US" sz="1600" noProof="1">
              <a:latin typeface="Aptos" panose="020B0004020202020204" pitchFamily="34" charset="0"/>
            </a:endParaRPr>
          </a:p>
        </p:txBody>
      </p:sp>
      <p:sp>
        <p:nvSpPr>
          <p:cNvPr id="8" name="Text 5"/>
          <p:cNvSpPr txBox="1"/>
          <p:nvPr/>
        </p:nvSpPr>
        <p:spPr>
          <a:xfrm>
            <a:off x="685800" y="2212596"/>
            <a:ext cx="4572000" cy="209550"/>
          </a:xfrm>
          <a:prstGeom prst="rect">
            <a:avLst/>
          </a:prstGeom>
          <a:noFill/>
          <a:ln>
            <a:noFill/>
          </a:ln>
        </p:spPr>
        <p:txBody>
          <a:bodyPr wrap="square" lIns="0" tIns="0" rIns="0" bIns="0" rtlCol="0" anchor="ctr"/>
          <a:lstStyle/>
          <a:p>
            <a:pPr marL="0" algn="l">
              <a:lnSpc>
                <a:spcPct val="120000"/>
              </a:lnSpc>
            </a:pPr>
            <a:r>
              <a:rPr lang="en-US" sz="1200" b="1" noProof="1">
                <a:solidFill>
                  <a:srgbClr val="33C27A"/>
                </a:solidFill>
                <a:latin typeface="Aptos"/>
                <a:ea typeface="Aptos"/>
              </a:rPr>
              <a:t>CAPSTONE-FIRST DESIGN</a:t>
            </a:r>
            <a:endParaRPr lang="en-US" sz="1200" noProof="1"/>
          </a:p>
        </p:txBody>
      </p:sp>
      <p:sp>
        <p:nvSpPr>
          <p:cNvPr id="9" name="Text 6"/>
          <p:cNvSpPr txBox="1"/>
          <p:nvPr/>
        </p:nvSpPr>
        <p:spPr>
          <a:xfrm>
            <a:off x="685800" y="2531133"/>
            <a:ext cx="9966960" cy="900000"/>
          </a:xfrm>
          <a:prstGeom prst="rect">
            <a:avLst/>
          </a:prstGeom>
          <a:noFill/>
          <a:ln>
            <a:noFill/>
          </a:ln>
        </p:spPr>
        <p:txBody>
          <a:bodyPr wrap="square" lIns="0" tIns="0" rIns="0" bIns="0" rtlCol="0" anchor="ctr"/>
          <a:lstStyle/>
          <a:p>
            <a:pPr marL="285750" indent="-285750" algn="l">
              <a:lnSpc>
                <a:spcPct val="120000"/>
              </a:lnSpc>
              <a:buFont typeface="Arial" panose="020B0604020202020204" pitchFamily="34" charset="0"/>
              <a:buChar char="•"/>
            </a:pPr>
            <a:r>
              <a:rPr lang="en-US" sz="1600" noProof="1">
                <a:solidFill>
                  <a:srgbClr val="15221E"/>
                </a:solidFill>
                <a:latin typeface="Aptos" panose="020B0004020202020204" pitchFamily="34" charset="0"/>
                <a:ea typeface="Aptos"/>
              </a:rPr>
              <a:t>Each participant picks a workflow from their own function in Session 1 and builds it end to end by Session 4.</a:t>
            </a:r>
            <a:endParaRPr lang="en-US" sz="1600" noProof="1">
              <a:latin typeface="Aptos" panose="020B0004020202020204" pitchFamily="34" charset="0"/>
            </a:endParaRPr>
          </a:p>
          <a:p>
            <a:pPr marL="285750" indent="-285750" algn="l">
              <a:lnSpc>
                <a:spcPct val="120000"/>
              </a:lnSpc>
              <a:buFont typeface="Arial" panose="020B0604020202020204" pitchFamily="34" charset="0"/>
              <a:buChar char="•"/>
            </a:pPr>
            <a:r>
              <a:rPr lang="en-US" sz="1600" noProof="1">
                <a:solidFill>
                  <a:srgbClr val="15221E"/>
                </a:solidFill>
                <a:latin typeface="Aptos" panose="020B0004020202020204" pitchFamily="34" charset="0"/>
                <a:ea typeface="Aptos"/>
              </a:rPr>
              <a:t>Every module feeds the capstone.</a:t>
            </a:r>
            <a:endParaRPr lang="en-US" sz="1600" noProof="1">
              <a:latin typeface="Aptos" panose="020B0004020202020204" pitchFamily="34" charset="0"/>
            </a:endParaRPr>
          </a:p>
        </p:txBody>
      </p:sp>
      <p:sp>
        <p:nvSpPr>
          <p:cNvPr id="10" name="Text 7"/>
          <p:cNvSpPr txBox="1"/>
          <p:nvPr/>
        </p:nvSpPr>
        <p:spPr>
          <a:xfrm>
            <a:off x="685800" y="3500000"/>
            <a:ext cx="4572000" cy="209550"/>
          </a:xfrm>
          <a:prstGeom prst="rect">
            <a:avLst/>
          </a:prstGeom>
          <a:noFill/>
          <a:ln>
            <a:noFill/>
          </a:ln>
        </p:spPr>
        <p:txBody>
          <a:bodyPr wrap="square" lIns="0" tIns="0" rIns="0" bIns="0" rtlCol="0" anchor="ctr"/>
          <a:lstStyle/>
          <a:p>
            <a:pPr marL="0" algn="l">
              <a:lnSpc>
                <a:spcPct val="120000"/>
              </a:lnSpc>
            </a:pPr>
            <a:r>
              <a:rPr lang="en-US" sz="1200" b="1" noProof="1">
                <a:solidFill>
                  <a:srgbClr val="33C27A"/>
                </a:solidFill>
                <a:latin typeface="Aptos"/>
                <a:ea typeface="Aptos"/>
              </a:rPr>
              <a:t>WHAT IT COVERS</a:t>
            </a:r>
            <a:endParaRPr lang="en-US" sz="1200" noProof="1"/>
          </a:p>
        </p:txBody>
      </p:sp>
      <p:sp>
        <p:nvSpPr>
          <p:cNvPr id="11" name="Text 8"/>
          <p:cNvSpPr txBox="1"/>
          <p:nvPr/>
        </p:nvSpPr>
        <p:spPr>
          <a:xfrm>
            <a:off x="685800" y="3780000"/>
            <a:ext cx="11064240" cy="1250000"/>
          </a:xfrm>
          <a:prstGeom prst="rect">
            <a:avLst/>
          </a:prstGeom>
          <a:noFill/>
          <a:ln>
            <a:noFill/>
          </a:ln>
        </p:spPr>
        <p:txBody>
          <a:bodyPr wrap="square" lIns="0" tIns="0" rIns="0" bIns="0" rtlCol="0" anchor="t"/>
          <a:lstStyle/>
          <a:p>
            <a:pPr marL="285750" indent="-285750" algn="l">
              <a:lnSpc>
                <a:spcPct val="120000"/>
              </a:lnSpc>
              <a:buFont typeface="Arial" panose="020B0604020202020204" pitchFamily="34" charset="0"/>
              <a:buChar char="•"/>
            </a:pPr>
            <a:r>
              <a:rPr lang="en-US" sz="1600" noProof="1">
                <a:solidFill>
                  <a:srgbClr val="15221E"/>
                </a:solidFill>
                <a:latin typeface="Aptos" panose="020B0004020202020204" pitchFamily="34" charset="0"/>
                <a:ea typeface="Aptos"/>
              </a:rPr>
              <a:t>Advanced prompting and the mental model shift: chat answers vs workflows vs agents</a:t>
            </a:r>
            <a:endParaRPr lang="en-US" sz="1600" noProof="1">
              <a:latin typeface="Aptos" panose="020B0004020202020204" pitchFamily="34" charset="0"/>
            </a:endParaRPr>
          </a:p>
          <a:p>
            <a:pPr marL="285750" indent="-285750" algn="l">
              <a:lnSpc>
                <a:spcPct val="120000"/>
              </a:lnSpc>
              <a:buFont typeface="Arial" panose="020B0604020202020204" pitchFamily="34" charset="0"/>
              <a:buChar char="•"/>
            </a:pPr>
            <a:r>
              <a:rPr lang="en-US" sz="1600" noProof="1">
                <a:solidFill>
                  <a:srgbClr val="15221E"/>
                </a:solidFill>
                <a:latin typeface="Aptos" panose="020B0004020202020204" pitchFamily="34" charset="0"/>
                <a:ea typeface="Aptos"/>
              </a:rPr>
              <a:t>Building automated workflows — trigger, steps, decisions, exceptions</a:t>
            </a:r>
            <a:endParaRPr lang="en-US" sz="1600" noProof="1">
              <a:latin typeface="Aptos" panose="020B0004020202020204" pitchFamily="34" charset="0"/>
            </a:endParaRPr>
          </a:p>
          <a:p>
            <a:pPr marL="285750" indent="-285750" algn="l">
              <a:lnSpc>
                <a:spcPct val="120000"/>
              </a:lnSpc>
              <a:buFont typeface="Arial" panose="020B0604020202020204" pitchFamily="34" charset="0"/>
              <a:buChar char="•"/>
            </a:pPr>
            <a:r>
              <a:rPr lang="en-US" sz="1600" noProof="1">
                <a:solidFill>
                  <a:srgbClr val="15221E"/>
                </a:solidFill>
                <a:latin typeface="Aptos" panose="020B0004020202020204" pitchFamily="34" charset="0"/>
                <a:ea typeface="Aptos"/>
              </a:rPr>
              <a:t>Building agents that act — Q&amp;A over documents, connecting agents to business tools</a:t>
            </a:r>
            <a:endParaRPr lang="en-US" sz="1600" noProof="1">
              <a:latin typeface="Aptos" panose="020B0004020202020204" pitchFamily="34" charset="0"/>
            </a:endParaRPr>
          </a:p>
          <a:p>
            <a:pPr marL="285750" indent="-285750" algn="l">
              <a:lnSpc>
                <a:spcPct val="120000"/>
              </a:lnSpc>
              <a:buFont typeface="Arial" panose="020B0604020202020204" pitchFamily="34" charset="0"/>
              <a:buChar char="•"/>
            </a:pPr>
            <a:r>
              <a:rPr lang="en-US" sz="1600" noProof="1">
                <a:solidFill>
                  <a:srgbClr val="15221E"/>
                </a:solidFill>
                <a:latin typeface="Aptos" panose="020B0004020202020204" pitchFamily="34" charset="0"/>
                <a:ea typeface="Aptos"/>
              </a:rPr>
              <a:t>Governance guardrails: what to build yourself vs what needs IT</a:t>
            </a:r>
            <a:endParaRPr lang="en-US" sz="1600" noProof="1">
              <a:latin typeface="Aptos" panose="020B0004020202020204" pitchFamily="34" charset="0"/>
            </a:endParaRPr>
          </a:p>
        </p:txBody>
      </p:sp>
      <p:sp>
        <p:nvSpPr>
          <p:cNvPr id="12" name="Footer Note"/>
          <p:cNvSpPr txBox="1"/>
          <p:nvPr/>
        </p:nvSpPr>
        <p:spPr>
          <a:xfrm>
            <a:off x="685800" y="5250000"/>
            <a:ext cx="10350500" cy="700000"/>
          </a:xfrm>
          <a:prstGeom prst="rect">
            <a:avLst/>
          </a:prstGeom>
          <a:noFill/>
          <a:ln>
            <a:noFill/>
          </a:ln>
        </p:spPr>
        <p:txBody>
          <a:bodyPr wrap="square" lIns="0" tIns="0" rIns="0" bIns="0" rtlCol="0" anchor="ctr"/>
          <a:lstStyle/>
          <a:p>
            <a:pPr marL="0" algn="l">
              <a:lnSpc>
                <a:spcPct val="125000"/>
              </a:lnSpc>
            </a:pPr>
            <a:r>
              <a:rPr lang="en-US" sz="1600" i="1" noProof="1">
                <a:solidFill>
                  <a:srgbClr val="5B6770"/>
                </a:solidFill>
                <a:latin typeface="Aptos"/>
                <a:ea typeface="Aptos"/>
              </a:rPr>
              <a:t>Enables non-technical teams across towers to build AI workflows and agents on the tools the organization already owns.</a:t>
            </a:r>
            <a:endParaRPr lang="en-US" sz="1600" noProof="1"/>
          </a:p>
        </p:txBody>
      </p:sp>
      <p:sp>
        <p:nvSpPr>
          <p:cNvPr id="15" name="Text 12"/>
          <p:cNvSpPr txBox="1"/>
          <p:nvPr/>
        </p:nvSpPr>
        <p:spPr>
          <a:xfrm>
            <a:off x="11201400" y="6510020"/>
            <a:ext cx="411480" cy="146050"/>
          </a:xfrm>
          <a:prstGeom prst="rect">
            <a:avLst/>
          </a:prstGeom>
          <a:noFill/>
          <a:ln>
            <a:noFill/>
          </a:ln>
        </p:spPr>
        <p:txBody>
          <a:bodyPr wrap="square" lIns="0" tIns="0" rIns="0" bIns="0" rtlCol="0" anchor="ctr"/>
          <a:lstStyle/>
          <a:p>
            <a:pPr marL="0" algn="r">
              <a:lnSpc>
                <a:spcPct val="120000"/>
              </a:lnSpc>
            </a:pPr>
            <a:r>
              <a:rPr lang="en-US" sz="800" noProof="1">
                <a:solidFill>
                  <a:srgbClr val="8A9A92"/>
                </a:solidFill>
                <a:latin typeface="MiSans"/>
                <a:ea typeface="MiSans"/>
              </a:rPr>
              <a:t>08</a:t>
            </a:r>
            <a:endParaRPr lang="en-US" sz="800" noProof="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420" y="274320"/>
            <a:ext cx="8961120" cy="383540"/>
          </a:xfrm>
          <a:prstGeom prst="rect">
            <a:avLst/>
          </a:prstGeom>
          <a:noFill/>
          <a:ln>
            <a:noFill/>
          </a:ln>
        </p:spPr>
        <p:txBody>
          <a:bodyPr wrap="square" lIns="0" tIns="0" rIns="0" bIns="0" rtlCol="0" anchor="ctr"/>
          <a:lstStyle/>
          <a:p>
            <a:pPr marL="0" algn="l">
              <a:lnSpc>
                <a:spcPct val="120000"/>
              </a:lnSpc>
            </a:pPr>
            <a:r>
              <a:rPr lang="en-US" sz="2400" b="1" noProof="1">
                <a:solidFill>
                  <a:srgbClr val="0E4D3A"/>
                </a:solidFill>
                <a:latin typeface="Aptos Display"/>
                <a:ea typeface="Aptos Display"/>
              </a:rPr>
              <a:t>The GCC Opportunity</a:t>
            </a:r>
            <a:endParaRPr lang="en-US" sz="2400" noProof="1"/>
          </a:p>
        </p:txBody>
      </p:sp>
      <p:sp>
        <p:nvSpPr>
          <p:cNvPr id="3" name="Text 1"/>
          <p:cNvSpPr txBox="1"/>
          <p:nvPr/>
        </p:nvSpPr>
        <p:spPr>
          <a:xfrm>
            <a:off x="566420" y="694690"/>
            <a:ext cx="7863840" cy="246380"/>
          </a:xfrm>
          <a:prstGeom prst="rect">
            <a:avLst/>
          </a:prstGeom>
          <a:noFill/>
          <a:ln>
            <a:noFill/>
          </a:ln>
        </p:spPr>
        <p:txBody>
          <a:bodyPr wrap="square" lIns="0" tIns="0" rIns="0" bIns="0" rtlCol="0" anchor="ctr"/>
          <a:lstStyle/>
          <a:p>
            <a:pPr marL="0" algn="l">
              <a:lnSpc>
                <a:spcPct val="120000"/>
              </a:lnSpc>
            </a:pPr>
            <a:r>
              <a:rPr lang="en-US" sz="900" noProof="1">
                <a:solidFill>
                  <a:srgbClr val="5B6770"/>
                </a:solidFill>
                <a:latin typeface="MiSans"/>
                <a:ea typeface="MiSans"/>
              </a:rPr>
              <a:t>India's Global Capability Centers are at an inflection point</a:t>
            </a:r>
            <a:endParaRPr lang="en-US" sz="900" noProof="1"/>
          </a:p>
        </p:txBody>
      </p:sp>
      <p:pic>
        <p:nvPicPr>
          <p:cNvPr id="4" name="Image 0"/>
          <p:cNvPicPr/>
          <p:nvPr/>
        </p:nvPicPr>
        <p:blipFill>
          <a:blip r:embed="rId3"/>
          <a:stretch>
            <a:fillRect/>
          </a:stretch>
        </p:blipFill>
        <p:spPr>
          <a:xfrm>
            <a:off x="9966960" y="228600"/>
            <a:ext cx="1572260" cy="411480"/>
          </a:xfrm>
          <a:prstGeom prst="rect">
            <a:avLst/>
          </a:prstGeom>
          <a:ln>
            <a:noFill/>
          </a:ln>
        </p:spPr>
      </p:pic>
      <p:cxnSp>
        <p:nvCxnSpPr>
          <p:cNvPr id="5" name="Shape 2"/>
          <p:cNvCxnSpPr/>
          <p:nvPr/>
        </p:nvCxnSpPr>
        <p:spPr>
          <a:xfrm>
            <a:off x="566420" y="932180"/>
            <a:ext cx="11064240" cy="0"/>
          </a:xfrm>
          <a:prstGeom prst="straightConnector1">
            <a:avLst/>
          </a:prstGeom>
          <a:ln w="8890">
            <a:solidFill>
              <a:srgbClr val="C7DDD1"/>
            </a:solidFill>
          </a:ln>
        </p:spPr>
      </p:cxnSp>
      <p:sp>
        <p:nvSpPr>
          <p:cNvPr id="30" name="Stat1 Num"/>
          <p:cNvSpPr txBox="1"/>
          <p:nvPr/>
        </p:nvSpPr>
        <p:spPr>
          <a:xfrm>
            <a:off x="685800" y="1300480"/>
            <a:ext cx="3363320" cy="457200"/>
          </a:xfrm>
          <a:prstGeom prst="rect">
            <a:avLst/>
          </a:prstGeom>
          <a:noFill/>
          <a:ln>
            <a:noFill/>
          </a:ln>
        </p:spPr>
        <p:txBody>
          <a:bodyPr wrap="square" lIns="0" tIns="0" rIns="0" bIns="0" rtlCol="0" anchor="ctr"/>
          <a:lstStyle/>
          <a:p>
            <a:pPr marL="0" algn="l">
              <a:lnSpc>
                <a:spcPct val="120000"/>
              </a:lnSpc>
            </a:pPr>
            <a:r>
              <a:rPr lang="en-US" sz="2800" b="1" noProof="1">
                <a:solidFill>
                  <a:srgbClr val="33C27A"/>
                </a:solidFill>
                <a:latin typeface="Aptos"/>
                <a:ea typeface="Aptos"/>
              </a:rPr>
              <a:t>2,117</a:t>
            </a:r>
            <a:endParaRPr lang="en-US" sz="2800" noProof="1"/>
          </a:p>
        </p:txBody>
      </p:sp>
      <p:sp>
        <p:nvSpPr>
          <p:cNvPr id="31" name="Stat1 Title"/>
          <p:cNvSpPr txBox="1"/>
          <p:nvPr/>
        </p:nvSpPr>
        <p:spPr>
          <a:xfrm>
            <a:off x="685800" y="1810000"/>
            <a:ext cx="3363320" cy="330200"/>
          </a:xfrm>
          <a:prstGeom prst="rect">
            <a:avLst/>
          </a:prstGeom>
          <a:noFill/>
          <a:ln>
            <a:noFill/>
          </a:ln>
        </p:spPr>
        <p:txBody>
          <a:bodyPr wrap="square" lIns="0" tIns="0" rIns="0" bIns="0" rtlCol="0" anchor="ctr"/>
          <a:lstStyle/>
          <a:p>
            <a:pPr marL="0" algn="l">
              <a:lnSpc>
                <a:spcPct val="120000"/>
              </a:lnSpc>
            </a:pPr>
            <a:r>
              <a:rPr lang="en-US" sz="1700" b="1" noProof="1">
                <a:solidFill>
                  <a:srgbClr val="0E4D3A"/>
                </a:solidFill>
                <a:latin typeface="Aptos"/>
                <a:ea typeface="Aptos"/>
              </a:rPr>
              <a:t>GCCs in India</a:t>
            </a:r>
            <a:endParaRPr lang="en-US" sz="1700" noProof="1"/>
          </a:p>
        </p:txBody>
      </p:sp>
      <p:sp>
        <p:nvSpPr>
          <p:cNvPr id="32" name="Stat1 Desc"/>
          <p:cNvSpPr txBox="1"/>
          <p:nvPr/>
        </p:nvSpPr>
        <p:spPr>
          <a:xfrm>
            <a:off x="685800" y="2170000"/>
            <a:ext cx="3200000" cy="474980"/>
          </a:xfrm>
          <a:prstGeom prst="rect">
            <a:avLst/>
          </a:prstGeom>
          <a:noFill/>
          <a:ln>
            <a:noFill/>
          </a:ln>
        </p:spPr>
        <p:txBody>
          <a:bodyPr wrap="square" lIns="0" tIns="0" rIns="0" bIns="0" rtlCol="0" anchor="ctr"/>
          <a:lstStyle/>
          <a:p>
            <a:pPr marL="0" algn="l">
              <a:lnSpc>
                <a:spcPct val="120000"/>
              </a:lnSpc>
            </a:pPr>
            <a:r>
              <a:rPr lang="en-US" sz="1400" noProof="1">
                <a:solidFill>
                  <a:srgbClr val="5B6770"/>
                </a:solidFill>
                <a:latin typeface="Aptos"/>
                <a:ea typeface="Aptos"/>
              </a:rPr>
              <a:t>Now employing professionals across every function</a:t>
            </a:r>
            <a:endParaRPr lang="en-US" sz="1400" noProof="1"/>
          </a:p>
        </p:txBody>
      </p:sp>
      <p:sp>
        <p:nvSpPr>
          <p:cNvPr id="33" name="Stat2 Num"/>
          <p:cNvSpPr txBox="1"/>
          <p:nvPr/>
        </p:nvSpPr>
        <p:spPr>
          <a:xfrm>
            <a:off x="4414880" y="1300480"/>
            <a:ext cx="3363320" cy="457200"/>
          </a:xfrm>
          <a:prstGeom prst="rect">
            <a:avLst/>
          </a:prstGeom>
          <a:noFill/>
          <a:ln>
            <a:noFill/>
          </a:ln>
        </p:spPr>
        <p:txBody>
          <a:bodyPr wrap="square" lIns="0" tIns="0" rIns="0" bIns="0" rtlCol="0" anchor="ctr"/>
          <a:lstStyle/>
          <a:p>
            <a:pPr marL="0" algn="l">
              <a:lnSpc>
                <a:spcPct val="120000"/>
              </a:lnSpc>
            </a:pPr>
            <a:r>
              <a:rPr lang="en-US" sz="2800" b="1" noProof="1">
                <a:solidFill>
                  <a:srgbClr val="33C27A"/>
                </a:solidFill>
                <a:latin typeface="Aptos"/>
                <a:ea typeface="Aptos"/>
              </a:rPr>
              <a:t>2.36M</a:t>
            </a:r>
            <a:endParaRPr lang="en-US" sz="2800" noProof="1"/>
          </a:p>
        </p:txBody>
      </p:sp>
      <p:sp>
        <p:nvSpPr>
          <p:cNvPr id="34" name="Stat2 Title"/>
          <p:cNvSpPr txBox="1"/>
          <p:nvPr/>
        </p:nvSpPr>
        <p:spPr>
          <a:xfrm>
            <a:off x="4414880" y="1810000"/>
            <a:ext cx="3363320" cy="330200"/>
          </a:xfrm>
          <a:prstGeom prst="rect">
            <a:avLst/>
          </a:prstGeom>
          <a:noFill/>
          <a:ln>
            <a:noFill/>
          </a:ln>
        </p:spPr>
        <p:txBody>
          <a:bodyPr wrap="square" lIns="0" tIns="0" rIns="0" bIns="0" rtlCol="0" anchor="ctr"/>
          <a:lstStyle/>
          <a:p>
            <a:pPr marL="0" algn="l">
              <a:lnSpc>
                <a:spcPct val="120000"/>
              </a:lnSpc>
            </a:pPr>
            <a:r>
              <a:rPr lang="en-US" sz="1700" b="1" noProof="1">
                <a:solidFill>
                  <a:srgbClr val="0E4D3A"/>
                </a:solidFill>
                <a:latin typeface="Aptos"/>
                <a:ea typeface="Aptos"/>
              </a:rPr>
              <a:t>Professionals employed</a:t>
            </a:r>
            <a:endParaRPr lang="en-US" sz="1700" noProof="1"/>
          </a:p>
        </p:txBody>
      </p:sp>
      <p:sp>
        <p:nvSpPr>
          <p:cNvPr id="35" name="Stat2 Desc"/>
          <p:cNvSpPr txBox="1"/>
          <p:nvPr/>
        </p:nvSpPr>
        <p:spPr>
          <a:xfrm>
            <a:off x="4414880" y="2170000"/>
            <a:ext cx="3200000" cy="474980"/>
          </a:xfrm>
          <a:prstGeom prst="rect">
            <a:avLst/>
          </a:prstGeom>
          <a:noFill/>
          <a:ln>
            <a:noFill/>
          </a:ln>
        </p:spPr>
        <p:txBody>
          <a:bodyPr wrap="square" lIns="0" tIns="0" rIns="0" bIns="0" rtlCol="0" anchor="ctr"/>
          <a:lstStyle/>
          <a:p>
            <a:pPr marL="0" algn="l">
              <a:lnSpc>
                <a:spcPct val="120000"/>
              </a:lnSpc>
            </a:pPr>
            <a:r>
              <a:rPr lang="en-US" sz="1400" noProof="1">
                <a:solidFill>
                  <a:srgbClr val="5B6770"/>
                </a:solidFill>
                <a:latin typeface="Aptos"/>
                <a:ea typeface="Aptos"/>
              </a:rPr>
              <a:t>Across India's Global Capability Centers</a:t>
            </a:r>
            <a:endParaRPr lang="en-US" sz="1400" noProof="1"/>
          </a:p>
        </p:txBody>
      </p:sp>
      <p:sp>
        <p:nvSpPr>
          <p:cNvPr id="36" name="Stat3 Num"/>
          <p:cNvSpPr txBox="1"/>
          <p:nvPr/>
        </p:nvSpPr>
        <p:spPr>
          <a:xfrm>
            <a:off x="8143960" y="1300480"/>
            <a:ext cx="3363320" cy="457200"/>
          </a:xfrm>
          <a:prstGeom prst="rect">
            <a:avLst/>
          </a:prstGeom>
          <a:noFill/>
          <a:ln>
            <a:noFill/>
          </a:ln>
        </p:spPr>
        <p:txBody>
          <a:bodyPr wrap="square" lIns="0" tIns="0" rIns="0" bIns="0" rtlCol="0" anchor="ctr"/>
          <a:lstStyle/>
          <a:p>
            <a:pPr marL="0" algn="l">
              <a:lnSpc>
                <a:spcPct val="120000"/>
              </a:lnSpc>
            </a:pPr>
            <a:r>
              <a:rPr lang="en-US" sz="2800" b="1" noProof="1">
                <a:solidFill>
                  <a:srgbClr val="33C27A"/>
                </a:solidFill>
                <a:latin typeface="Aptos"/>
                <a:ea typeface="Aptos"/>
              </a:rPr>
              <a:t>$98.4B</a:t>
            </a:r>
            <a:endParaRPr lang="en-US" sz="2800" noProof="1"/>
          </a:p>
        </p:txBody>
      </p:sp>
      <p:sp>
        <p:nvSpPr>
          <p:cNvPr id="37" name="Stat3 Title"/>
          <p:cNvSpPr txBox="1"/>
          <p:nvPr/>
        </p:nvSpPr>
        <p:spPr>
          <a:xfrm>
            <a:off x="8143960" y="1810000"/>
            <a:ext cx="3363320" cy="330200"/>
          </a:xfrm>
          <a:prstGeom prst="rect">
            <a:avLst/>
          </a:prstGeom>
          <a:noFill/>
          <a:ln>
            <a:noFill/>
          </a:ln>
        </p:spPr>
        <p:txBody>
          <a:bodyPr wrap="square" lIns="0" tIns="0" rIns="0" bIns="0" rtlCol="0" anchor="ctr"/>
          <a:lstStyle/>
          <a:p>
            <a:pPr marL="0" algn="l">
              <a:lnSpc>
                <a:spcPct val="120000"/>
              </a:lnSpc>
            </a:pPr>
            <a:r>
              <a:rPr lang="en-US" sz="1700" b="1" noProof="1">
                <a:solidFill>
                  <a:srgbClr val="0E4D3A"/>
                </a:solidFill>
                <a:latin typeface="Aptos"/>
                <a:ea typeface="Aptos"/>
              </a:rPr>
              <a:t>Revenue generated</a:t>
            </a:r>
            <a:endParaRPr lang="en-US" sz="1700" noProof="1"/>
          </a:p>
        </p:txBody>
      </p:sp>
      <p:sp>
        <p:nvSpPr>
          <p:cNvPr id="38" name="Stat3 Desc"/>
          <p:cNvSpPr txBox="1"/>
          <p:nvPr/>
        </p:nvSpPr>
        <p:spPr>
          <a:xfrm>
            <a:off x="8143960" y="2170000"/>
            <a:ext cx="3363320" cy="474980"/>
          </a:xfrm>
          <a:prstGeom prst="rect">
            <a:avLst/>
          </a:prstGeom>
          <a:noFill/>
          <a:ln>
            <a:noFill/>
          </a:ln>
        </p:spPr>
        <p:txBody>
          <a:bodyPr wrap="square" lIns="0" tIns="0" rIns="0" bIns="0" rtlCol="0" anchor="ctr"/>
          <a:lstStyle/>
          <a:p>
            <a:pPr marL="0" algn="l">
              <a:lnSpc>
                <a:spcPct val="120000"/>
              </a:lnSpc>
            </a:pPr>
            <a:r>
              <a:rPr lang="en-US" sz="1400" noProof="1">
                <a:solidFill>
                  <a:srgbClr val="5B6770"/>
                </a:solidFill>
                <a:latin typeface="Aptos"/>
                <a:ea typeface="Aptos"/>
              </a:rPr>
              <a:t>By the GCC ecosystem in India</a:t>
            </a:r>
            <a:endParaRPr lang="en-US" sz="1400" noProof="1"/>
          </a:p>
        </p:txBody>
      </p:sp>
      <p:sp>
        <p:nvSpPr>
          <p:cNvPr id="39" name="Stat4 Num"/>
          <p:cNvSpPr txBox="1"/>
          <p:nvPr/>
        </p:nvSpPr>
        <p:spPr>
          <a:xfrm>
            <a:off x="685800" y="3250000"/>
            <a:ext cx="3363320" cy="457200"/>
          </a:xfrm>
          <a:prstGeom prst="rect">
            <a:avLst/>
          </a:prstGeom>
          <a:noFill/>
          <a:ln>
            <a:noFill/>
          </a:ln>
        </p:spPr>
        <p:txBody>
          <a:bodyPr wrap="square" lIns="0" tIns="0" rIns="0" bIns="0" rtlCol="0" anchor="ctr"/>
          <a:lstStyle/>
          <a:p>
            <a:pPr marL="0" algn="l">
              <a:lnSpc>
                <a:spcPct val="120000"/>
              </a:lnSpc>
            </a:pPr>
            <a:r>
              <a:rPr lang="en-US" sz="2800" b="1" noProof="1">
                <a:solidFill>
                  <a:srgbClr val="33C27A"/>
                </a:solidFill>
                <a:latin typeface="Aptos"/>
                <a:ea typeface="Aptos"/>
              </a:rPr>
              <a:t>506</a:t>
            </a:r>
            <a:endParaRPr lang="en-US" sz="2800" noProof="1"/>
          </a:p>
        </p:txBody>
      </p:sp>
      <p:sp>
        <p:nvSpPr>
          <p:cNvPr id="40" name="Stat4 Title"/>
          <p:cNvSpPr txBox="1"/>
          <p:nvPr/>
        </p:nvSpPr>
        <p:spPr>
          <a:xfrm>
            <a:off x="685800" y="3759520"/>
            <a:ext cx="3363320" cy="330200"/>
          </a:xfrm>
          <a:prstGeom prst="rect">
            <a:avLst/>
          </a:prstGeom>
          <a:noFill/>
          <a:ln>
            <a:noFill/>
          </a:ln>
        </p:spPr>
        <p:txBody>
          <a:bodyPr wrap="square" lIns="0" tIns="0" rIns="0" bIns="0" rtlCol="0" anchor="ctr"/>
          <a:lstStyle/>
          <a:p>
            <a:pPr marL="0" algn="l">
              <a:lnSpc>
                <a:spcPct val="120000"/>
              </a:lnSpc>
            </a:pPr>
            <a:r>
              <a:rPr lang="en-US" sz="1700" b="1" noProof="1">
                <a:solidFill>
                  <a:srgbClr val="0E4D3A"/>
                </a:solidFill>
                <a:latin typeface="Aptos"/>
                <a:ea typeface="Aptos"/>
              </a:rPr>
              <a:t>Forbes Global 2000 firms</a:t>
            </a:r>
            <a:endParaRPr lang="en-US" sz="1700" noProof="1"/>
          </a:p>
        </p:txBody>
      </p:sp>
      <p:sp>
        <p:nvSpPr>
          <p:cNvPr id="41" name="Stat4 Desc"/>
          <p:cNvSpPr txBox="1"/>
          <p:nvPr/>
        </p:nvSpPr>
        <p:spPr>
          <a:xfrm>
            <a:off x="685800" y="4119520"/>
            <a:ext cx="3200000" cy="474980"/>
          </a:xfrm>
          <a:prstGeom prst="rect">
            <a:avLst/>
          </a:prstGeom>
          <a:noFill/>
          <a:ln>
            <a:noFill/>
          </a:ln>
        </p:spPr>
        <p:txBody>
          <a:bodyPr wrap="square" lIns="0" tIns="0" rIns="0" bIns="0" rtlCol="0" anchor="ctr"/>
          <a:lstStyle/>
          <a:p>
            <a:pPr marL="0" algn="l">
              <a:lnSpc>
                <a:spcPct val="120000"/>
              </a:lnSpc>
            </a:pPr>
            <a:r>
              <a:rPr lang="en-US" sz="1400" noProof="1">
                <a:solidFill>
                  <a:srgbClr val="5B6770"/>
                </a:solidFill>
                <a:latin typeface="Aptos"/>
                <a:ea typeface="Aptos"/>
              </a:rPr>
              <a:t>Run operations from India</a:t>
            </a:r>
            <a:endParaRPr lang="en-US" sz="1400" noProof="1"/>
          </a:p>
        </p:txBody>
      </p:sp>
      <p:sp>
        <p:nvSpPr>
          <p:cNvPr id="42" name="Stat5 Num"/>
          <p:cNvSpPr txBox="1"/>
          <p:nvPr/>
        </p:nvSpPr>
        <p:spPr>
          <a:xfrm>
            <a:off x="4414880" y="3250000"/>
            <a:ext cx="3363320" cy="457200"/>
          </a:xfrm>
          <a:prstGeom prst="rect">
            <a:avLst/>
          </a:prstGeom>
          <a:noFill/>
          <a:ln>
            <a:noFill/>
          </a:ln>
        </p:spPr>
        <p:txBody>
          <a:bodyPr wrap="square" lIns="0" tIns="0" rIns="0" bIns="0" rtlCol="0" anchor="ctr"/>
          <a:lstStyle/>
          <a:p>
            <a:pPr marL="0" algn="l">
              <a:lnSpc>
                <a:spcPct val="120000"/>
              </a:lnSpc>
            </a:pPr>
            <a:r>
              <a:rPr lang="en-US" sz="2800" b="1" noProof="1">
                <a:solidFill>
                  <a:srgbClr val="33C27A"/>
                </a:solidFill>
                <a:latin typeface="Aptos"/>
                <a:ea typeface="Aptos"/>
              </a:rPr>
              <a:t>83%</a:t>
            </a:r>
            <a:endParaRPr lang="en-US" sz="2800" noProof="1"/>
          </a:p>
        </p:txBody>
      </p:sp>
      <p:sp>
        <p:nvSpPr>
          <p:cNvPr id="43" name="Stat5 Title"/>
          <p:cNvSpPr txBox="1"/>
          <p:nvPr/>
        </p:nvSpPr>
        <p:spPr>
          <a:xfrm>
            <a:off x="4414880" y="3759520"/>
            <a:ext cx="3363320" cy="330200"/>
          </a:xfrm>
          <a:prstGeom prst="rect">
            <a:avLst/>
          </a:prstGeom>
          <a:noFill/>
          <a:ln>
            <a:noFill/>
          </a:ln>
        </p:spPr>
        <p:txBody>
          <a:bodyPr wrap="square" lIns="0" tIns="0" rIns="0" bIns="0" rtlCol="0" anchor="ctr"/>
          <a:lstStyle/>
          <a:p>
            <a:pPr marL="0" algn="l">
              <a:lnSpc>
                <a:spcPct val="120000"/>
              </a:lnSpc>
            </a:pPr>
            <a:r>
              <a:rPr lang="en-US" sz="1700" b="1" noProof="1">
                <a:solidFill>
                  <a:srgbClr val="0E4D3A"/>
                </a:solidFill>
                <a:latin typeface="Aptos"/>
                <a:ea typeface="Aptos"/>
              </a:rPr>
              <a:t>Investing in GenAI</a:t>
            </a:r>
            <a:endParaRPr lang="en-US" sz="1700" noProof="1"/>
          </a:p>
        </p:txBody>
      </p:sp>
      <p:sp>
        <p:nvSpPr>
          <p:cNvPr id="44" name="Stat5 Desc"/>
          <p:cNvSpPr txBox="1"/>
          <p:nvPr/>
        </p:nvSpPr>
        <p:spPr>
          <a:xfrm>
            <a:off x="4414880" y="4119520"/>
            <a:ext cx="3363320" cy="474980"/>
          </a:xfrm>
          <a:prstGeom prst="rect">
            <a:avLst/>
          </a:prstGeom>
          <a:noFill/>
          <a:ln>
            <a:noFill/>
          </a:ln>
        </p:spPr>
        <p:txBody>
          <a:bodyPr wrap="square" lIns="0" tIns="0" rIns="0" bIns="0" rtlCol="0" anchor="ctr"/>
          <a:lstStyle/>
          <a:p>
            <a:pPr marL="0" algn="l">
              <a:lnSpc>
                <a:spcPct val="120000"/>
              </a:lnSpc>
            </a:pPr>
            <a:r>
              <a:rPr lang="en-US" sz="1400" noProof="1">
                <a:solidFill>
                  <a:srgbClr val="5B6770"/>
                </a:solidFill>
                <a:latin typeface="Aptos"/>
                <a:ea typeface="Aptos"/>
              </a:rPr>
              <a:t>58% are also investing in Agentic AI</a:t>
            </a:r>
            <a:endParaRPr lang="en-US" sz="1400" noProof="1"/>
          </a:p>
        </p:txBody>
      </p:sp>
      <p:sp>
        <p:nvSpPr>
          <p:cNvPr id="45" name="Stat6 Num"/>
          <p:cNvSpPr txBox="1"/>
          <p:nvPr/>
        </p:nvSpPr>
        <p:spPr>
          <a:xfrm>
            <a:off x="8143960" y="3250000"/>
            <a:ext cx="3363320" cy="457200"/>
          </a:xfrm>
          <a:prstGeom prst="rect">
            <a:avLst/>
          </a:prstGeom>
          <a:noFill/>
          <a:ln>
            <a:noFill/>
          </a:ln>
        </p:spPr>
        <p:txBody>
          <a:bodyPr wrap="square" lIns="0" tIns="0" rIns="0" bIns="0" rtlCol="0" anchor="ctr"/>
          <a:lstStyle/>
          <a:p>
            <a:pPr marL="0" algn="l">
              <a:lnSpc>
                <a:spcPct val="120000"/>
              </a:lnSpc>
            </a:pPr>
            <a:r>
              <a:rPr lang="en-US" sz="2800" b="1" noProof="1">
                <a:solidFill>
                  <a:srgbClr val="33C27A"/>
                </a:solidFill>
                <a:latin typeface="Aptos"/>
                <a:ea typeface="Aptos"/>
              </a:rPr>
              <a:t>300%</a:t>
            </a:r>
            <a:endParaRPr lang="en-US" sz="2800" noProof="1"/>
          </a:p>
        </p:txBody>
      </p:sp>
      <p:sp>
        <p:nvSpPr>
          <p:cNvPr id="46" name="Stat6 Title"/>
          <p:cNvSpPr txBox="1"/>
          <p:nvPr/>
        </p:nvSpPr>
        <p:spPr>
          <a:xfrm>
            <a:off x="8143960" y="3759520"/>
            <a:ext cx="3363320" cy="330200"/>
          </a:xfrm>
          <a:prstGeom prst="rect">
            <a:avLst/>
          </a:prstGeom>
          <a:noFill/>
          <a:ln>
            <a:noFill/>
          </a:ln>
        </p:spPr>
        <p:txBody>
          <a:bodyPr wrap="square" lIns="0" tIns="0" rIns="0" bIns="0" rtlCol="0" anchor="ctr"/>
          <a:lstStyle/>
          <a:p>
            <a:pPr marL="0" algn="l">
              <a:lnSpc>
                <a:spcPct val="120000"/>
              </a:lnSpc>
            </a:pPr>
            <a:r>
              <a:rPr lang="en-US" sz="1700" b="1" noProof="1">
                <a:solidFill>
                  <a:srgbClr val="0E4D3A"/>
                </a:solidFill>
                <a:latin typeface="Aptos"/>
                <a:ea typeface="Aptos"/>
              </a:rPr>
              <a:t>YoY surge in AI hiring</a:t>
            </a:r>
            <a:endParaRPr lang="en-US" sz="1700" noProof="1"/>
          </a:p>
        </p:txBody>
      </p:sp>
      <p:sp>
        <p:nvSpPr>
          <p:cNvPr id="47" name="Stat6 Desc"/>
          <p:cNvSpPr txBox="1"/>
          <p:nvPr/>
        </p:nvSpPr>
        <p:spPr>
          <a:xfrm>
            <a:off x="8143960" y="4119520"/>
            <a:ext cx="3363320" cy="474980"/>
          </a:xfrm>
          <a:prstGeom prst="rect">
            <a:avLst/>
          </a:prstGeom>
          <a:noFill/>
          <a:ln>
            <a:noFill/>
          </a:ln>
        </p:spPr>
        <p:txBody>
          <a:bodyPr wrap="square" lIns="0" tIns="0" rIns="0" bIns="0" rtlCol="0" anchor="ctr"/>
          <a:lstStyle/>
          <a:p>
            <a:pPr marL="0" algn="l">
              <a:lnSpc>
                <a:spcPct val="120000"/>
              </a:lnSpc>
            </a:pPr>
            <a:r>
              <a:rPr lang="en-US" sz="1400" noProof="1">
                <a:solidFill>
                  <a:srgbClr val="5B6770"/>
                </a:solidFill>
                <a:latin typeface="Aptos"/>
                <a:ea typeface="Aptos"/>
              </a:rPr>
              <a:t>Demand for AI roles is accelerating fast</a:t>
            </a:r>
            <a:endParaRPr lang="en-US" sz="1400" noProof="1"/>
          </a:p>
        </p:txBody>
      </p:sp>
      <p:cxnSp>
        <p:nvCxnSpPr>
          <p:cNvPr id="48" name="Shape Divider"/>
          <p:cNvCxnSpPr/>
          <p:nvPr/>
        </p:nvCxnSpPr>
        <p:spPr>
          <a:xfrm>
            <a:off x="566420" y="4990000"/>
            <a:ext cx="11064240" cy="0"/>
          </a:xfrm>
          <a:prstGeom prst="straightConnector1">
            <a:avLst/>
          </a:prstGeom>
          <a:ln w="8890">
            <a:solidFill>
              <a:srgbClr val="C7DDD1"/>
            </a:solidFill>
          </a:ln>
        </p:spPr>
      </p:cxnSp>
      <p:sp>
        <p:nvSpPr>
          <p:cNvPr id="27" name="Text 24"/>
          <p:cNvSpPr txBox="1"/>
          <p:nvPr/>
        </p:nvSpPr>
        <p:spPr>
          <a:xfrm>
            <a:off x="685800" y="5240000"/>
            <a:ext cx="10149840" cy="700000"/>
          </a:xfrm>
          <a:prstGeom prst="rect">
            <a:avLst/>
          </a:prstGeom>
          <a:noFill/>
          <a:ln>
            <a:noFill/>
          </a:ln>
        </p:spPr>
        <p:txBody>
          <a:bodyPr wrap="square" lIns="0" tIns="0" rIns="0" bIns="0" rtlCol="0" anchor="ctr"/>
          <a:lstStyle/>
          <a:p>
            <a:pPr marL="0" algn="l">
              <a:lnSpc>
                <a:spcPct val="120000"/>
              </a:lnSpc>
            </a:pPr>
            <a:r>
              <a:rPr lang="en-US" sz="1600" i="1" noProof="1">
                <a:solidFill>
                  <a:srgbClr val="5B6770"/>
                </a:solidFill>
                <a:latin typeface="Aptos"/>
                <a:ea typeface="Aptos"/>
              </a:rPr>
              <a:t>GCCs are shifting from cost centers to innovation hubs — expected to own products, platforms and AI-led transformation.</a:t>
            </a:r>
            <a:endParaRPr lang="en-US" sz="1600" noProof="1"/>
          </a:p>
        </p:txBody>
      </p:sp>
      <p:sp>
        <p:nvSpPr>
          <p:cNvPr id="29" name="Text 26"/>
          <p:cNvSpPr txBox="1"/>
          <p:nvPr/>
        </p:nvSpPr>
        <p:spPr>
          <a:xfrm>
            <a:off x="11201400" y="6510020"/>
            <a:ext cx="411480" cy="146050"/>
          </a:xfrm>
          <a:prstGeom prst="rect">
            <a:avLst/>
          </a:prstGeom>
          <a:noFill/>
          <a:ln>
            <a:noFill/>
          </a:ln>
        </p:spPr>
        <p:txBody>
          <a:bodyPr wrap="square" lIns="0" tIns="0" rIns="0" bIns="0" rtlCol="0" anchor="ctr"/>
          <a:lstStyle/>
          <a:p>
            <a:pPr marL="0" algn="r">
              <a:lnSpc>
                <a:spcPct val="120000"/>
              </a:lnSpc>
            </a:pPr>
            <a:r>
              <a:rPr lang="en-US" sz="800" noProof="1">
                <a:solidFill>
                  <a:srgbClr val="8A9A92"/>
                </a:solidFill>
                <a:latin typeface="MiSans"/>
                <a:ea typeface="MiSans"/>
              </a:rPr>
              <a:t>02</a:t>
            </a:r>
            <a:endParaRPr lang="en-US" sz="800" noProof="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420" y="274320"/>
            <a:ext cx="8961120" cy="383540"/>
          </a:xfrm>
          <a:prstGeom prst="rect">
            <a:avLst/>
          </a:prstGeom>
          <a:noFill/>
          <a:ln>
            <a:noFill/>
          </a:ln>
        </p:spPr>
        <p:txBody>
          <a:bodyPr wrap="square" lIns="0" tIns="0" rIns="0" bIns="0" rtlCol="0" anchor="ctr"/>
          <a:lstStyle/>
          <a:p>
            <a:pPr marL="0" algn="l">
              <a:lnSpc>
                <a:spcPct val="120000"/>
              </a:lnSpc>
            </a:pPr>
            <a:r>
              <a:rPr lang="en-US" sz="2400" b="1" noProof="1">
                <a:solidFill>
                  <a:srgbClr val="0E4D3A"/>
                </a:solidFill>
                <a:latin typeface="Aptos Display"/>
                <a:ea typeface="Aptos Display"/>
              </a:rPr>
              <a:t>Go-to-Market</a:t>
            </a:r>
            <a:endParaRPr lang="en-US" sz="2400" noProof="1"/>
          </a:p>
        </p:txBody>
      </p:sp>
      <p:sp>
        <p:nvSpPr>
          <p:cNvPr id="3" name="Text 1"/>
          <p:cNvSpPr txBox="1"/>
          <p:nvPr/>
        </p:nvSpPr>
        <p:spPr>
          <a:xfrm>
            <a:off x="566420" y="694690"/>
            <a:ext cx="7863840" cy="246380"/>
          </a:xfrm>
          <a:prstGeom prst="rect">
            <a:avLst/>
          </a:prstGeom>
          <a:noFill/>
          <a:ln>
            <a:noFill/>
          </a:ln>
        </p:spPr>
        <p:txBody>
          <a:bodyPr wrap="square" lIns="0" tIns="0" rIns="0" bIns="0" rtlCol="0" anchor="ctr"/>
          <a:lstStyle/>
          <a:p>
            <a:pPr marL="0" algn="l">
              <a:lnSpc>
                <a:spcPct val="120000"/>
              </a:lnSpc>
            </a:pPr>
            <a:r>
              <a:rPr lang="en-US" sz="900" noProof="1">
                <a:solidFill>
                  <a:srgbClr val="5B6770"/>
                </a:solidFill>
                <a:latin typeface="MiSans"/>
                <a:ea typeface="MiSans"/>
              </a:rPr>
              <a:t>A four-step path from entry conversation to full-menu partnership</a:t>
            </a:r>
            <a:endParaRPr lang="en-US" sz="900" noProof="1"/>
          </a:p>
        </p:txBody>
      </p:sp>
      <p:pic>
        <p:nvPicPr>
          <p:cNvPr id="4" name="Image 0"/>
          <p:cNvPicPr/>
          <p:nvPr/>
        </p:nvPicPr>
        <p:blipFill>
          <a:blip r:embed="rId3"/>
          <a:stretch>
            <a:fillRect/>
          </a:stretch>
        </p:blipFill>
        <p:spPr>
          <a:xfrm>
            <a:off x="9966960" y="228600"/>
            <a:ext cx="1572260" cy="411480"/>
          </a:xfrm>
          <a:prstGeom prst="rect">
            <a:avLst/>
          </a:prstGeom>
          <a:ln>
            <a:noFill/>
          </a:ln>
        </p:spPr>
      </p:pic>
      <p:cxnSp>
        <p:nvCxnSpPr>
          <p:cNvPr id="5" name="Shape 2"/>
          <p:cNvCxnSpPr/>
          <p:nvPr/>
        </p:nvCxnSpPr>
        <p:spPr>
          <a:xfrm>
            <a:off x="566420" y="932180"/>
            <a:ext cx="11064240" cy="0"/>
          </a:xfrm>
          <a:prstGeom prst="straightConnector1">
            <a:avLst/>
          </a:prstGeom>
          <a:ln w="8890">
            <a:solidFill>
              <a:srgbClr val="C7DDD1"/>
            </a:solidFill>
          </a:ln>
        </p:spPr>
      </p:cxnSp>
      <p:sp>
        <p:nvSpPr>
          <p:cNvPr id="6" name="Text 3"/>
          <p:cNvSpPr txBox="1"/>
          <p:nvPr/>
        </p:nvSpPr>
        <p:spPr>
          <a:xfrm>
            <a:off x="685800" y="1353820"/>
            <a:ext cx="320040" cy="292100"/>
          </a:xfrm>
          <a:prstGeom prst="rect">
            <a:avLst/>
          </a:prstGeom>
          <a:noFill/>
          <a:ln>
            <a:noFill/>
          </a:ln>
        </p:spPr>
        <p:txBody>
          <a:bodyPr wrap="square" lIns="0" tIns="0" rIns="0" bIns="0" rtlCol="0" anchor="ctr"/>
          <a:lstStyle/>
          <a:p>
            <a:pPr marL="0" algn="l">
              <a:lnSpc>
                <a:spcPct val="120000"/>
              </a:lnSpc>
            </a:pPr>
            <a:r>
              <a:rPr lang="en-US" sz="1900" b="1" noProof="1">
                <a:solidFill>
                  <a:srgbClr val="33C27A"/>
                </a:solidFill>
                <a:latin typeface="Aptos"/>
                <a:ea typeface="Aptos"/>
              </a:rPr>
              <a:t>1</a:t>
            </a:r>
            <a:endParaRPr lang="en-US" sz="1900" noProof="1"/>
          </a:p>
        </p:txBody>
      </p:sp>
      <p:sp>
        <p:nvSpPr>
          <p:cNvPr id="7" name="Text 4"/>
          <p:cNvSpPr txBox="1"/>
          <p:nvPr/>
        </p:nvSpPr>
        <p:spPr>
          <a:xfrm>
            <a:off x="1162050" y="1353820"/>
            <a:ext cx="4754880" cy="264160"/>
          </a:xfrm>
          <a:prstGeom prst="rect">
            <a:avLst/>
          </a:prstGeom>
          <a:noFill/>
          <a:ln>
            <a:noFill/>
          </a:ln>
        </p:spPr>
        <p:txBody>
          <a:bodyPr wrap="square" lIns="0" tIns="0" rIns="0" bIns="0" rtlCol="0" anchor="ctr"/>
          <a:lstStyle/>
          <a:p>
            <a:pPr marL="0" algn="l">
              <a:lnSpc>
                <a:spcPct val="120000"/>
              </a:lnSpc>
            </a:pPr>
            <a:r>
              <a:rPr lang="en-US" b="1" noProof="1">
                <a:solidFill>
                  <a:srgbClr val="0E4D3A"/>
                </a:solidFill>
                <a:latin typeface="Aptos"/>
                <a:ea typeface="Aptos"/>
              </a:rPr>
              <a:t>Leadership is the entry conversation</a:t>
            </a:r>
            <a:endParaRPr lang="en-US" noProof="1"/>
          </a:p>
        </p:txBody>
      </p:sp>
      <p:sp>
        <p:nvSpPr>
          <p:cNvPr id="8" name="Text 5"/>
          <p:cNvSpPr txBox="1"/>
          <p:nvPr/>
        </p:nvSpPr>
        <p:spPr>
          <a:xfrm>
            <a:off x="1162050" y="2080000"/>
            <a:ext cx="4983480" cy="750000"/>
          </a:xfrm>
          <a:prstGeom prst="rect">
            <a:avLst/>
          </a:prstGeom>
          <a:noFill/>
          <a:ln>
            <a:noFill/>
          </a:ln>
        </p:spPr>
        <p:txBody>
          <a:bodyPr wrap="square" lIns="0" tIns="0" rIns="0" bIns="0" rtlCol="0" anchor="ctr"/>
          <a:lstStyle/>
          <a:p>
            <a:pPr marL="0" algn="l">
              <a:lnSpc>
                <a:spcPct val="120000"/>
              </a:lnSpc>
            </a:pPr>
            <a:r>
              <a:rPr lang="en-US" sz="1600" noProof="1">
                <a:solidFill>
                  <a:srgbClr val="5B6770"/>
                </a:solidFill>
                <a:latin typeface="Aptos"/>
                <a:ea typeface="Aptos"/>
              </a:rPr>
              <a:t>The 4.5-hour Leadership program opens the C-suite door — it directly addresses the #1 operating-model gap.</a:t>
            </a:r>
            <a:endParaRPr lang="en-US" sz="1600" noProof="1"/>
          </a:p>
        </p:txBody>
      </p:sp>
      <p:sp>
        <p:nvSpPr>
          <p:cNvPr id="9" name="Text 6"/>
          <p:cNvSpPr txBox="1"/>
          <p:nvPr/>
        </p:nvSpPr>
        <p:spPr>
          <a:xfrm>
            <a:off x="685800" y="3000000"/>
            <a:ext cx="320040" cy="292100"/>
          </a:xfrm>
          <a:prstGeom prst="rect">
            <a:avLst/>
          </a:prstGeom>
          <a:noFill/>
          <a:ln>
            <a:noFill/>
          </a:ln>
        </p:spPr>
        <p:txBody>
          <a:bodyPr wrap="square" lIns="0" tIns="0" rIns="0" bIns="0" rtlCol="0" anchor="ctr"/>
          <a:lstStyle/>
          <a:p>
            <a:pPr marL="0" algn="l">
              <a:lnSpc>
                <a:spcPct val="120000"/>
              </a:lnSpc>
            </a:pPr>
            <a:r>
              <a:rPr lang="en-US" sz="1900" b="1" noProof="1">
                <a:solidFill>
                  <a:srgbClr val="33C27A"/>
                </a:solidFill>
                <a:latin typeface="Aptos"/>
                <a:ea typeface="Aptos"/>
              </a:rPr>
              <a:t>3</a:t>
            </a:r>
            <a:endParaRPr lang="en-US" sz="1900" noProof="1"/>
          </a:p>
        </p:txBody>
      </p:sp>
      <p:sp>
        <p:nvSpPr>
          <p:cNvPr id="10" name="Text 7"/>
          <p:cNvSpPr txBox="1"/>
          <p:nvPr/>
        </p:nvSpPr>
        <p:spPr>
          <a:xfrm>
            <a:off x="1162050" y="3000000"/>
            <a:ext cx="4754880" cy="264160"/>
          </a:xfrm>
          <a:prstGeom prst="rect">
            <a:avLst/>
          </a:prstGeom>
          <a:noFill/>
          <a:ln>
            <a:noFill/>
          </a:ln>
        </p:spPr>
        <p:txBody>
          <a:bodyPr wrap="square" lIns="0" tIns="0" rIns="0" bIns="0" rtlCol="0" anchor="ctr"/>
          <a:lstStyle/>
          <a:p>
            <a:pPr marL="0" algn="l">
              <a:lnSpc>
                <a:spcPct val="120000"/>
              </a:lnSpc>
            </a:pPr>
            <a:r>
              <a:rPr lang="en-US" b="1" noProof="1">
                <a:solidFill>
                  <a:srgbClr val="0E4D3A"/>
                </a:solidFill>
                <a:latin typeface="Aptos"/>
                <a:ea typeface="Aptos"/>
              </a:rPr>
              <a:t>Capability Core is the follow-on</a:t>
            </a:r>
            <a:endParaRPr lang="en-US" noProof="1"/>
          </a:p>
        </p:txBody>
      </p:sp>
      <p:sp>
        <p:nvSpPr>
          <p:cNvPr id="11" name="Text 8"/>
          <p:cNvSpPr txBox="1"/>
          <p:nvPr/>
        </p:nvSpPr>
        <p:spPr>
          <a:xfrm>
            <a:off x="1162050" y="3420000"/>
            <a:ext cx="4983480" cy="750000"/>
          </a:xfrm>
          <a:prstGeom prst="rect">
            <a:avLst/>
          </a:prstGeom>
          <a:noFill/>
          <a:ln>
            <a:noFill/>
          </a:ln>
        </p:spPr>
        <p:txBody>
          <a:bodyPr wrap="square" lIns="0" tIns="0" rIns="0" bIns="0" rtlCol="0" anchor="ctr"/>
          <a:lstStyle/>
          <a:p>
            <a:pPr marL="0" algn="l">
              <a:lnSpc>
                <a:spcPct val="120000"/>
              </a:lnSpc>
            </a:pPr>
            <a:r>
              <a:rPr lang="en-US" sz="1600" noProof="1">
                <a:solidFill>
                  <a:srgbClr val="5B6770"/>
                </a:solidFill>
                <a:latin typeface="Aptos"/>
                <a:ea typeface="Aptos"/>
              </a:rPr>
              <a:t>Design Thinking for Architects is the wedge — it solves a problem GCCs don't know they have.</a:t>
            </a:r>
            <a:endParaRPr lang="en-US" sz="1600" noProof="1"/>
          </a:p>
        </p:txBody>
      </p:sp>
      <p:sp>
        <p:nvSpPr>
          <p:cNvPr id="15" name="Text 12"/>
          <p:cNvSpPr txBox="1"/>
          <p:nvPr/>
        </p:nvSpPr>
        <p:spPr>
          <a:xfrm>
            <a:off x="6263640" y="1353820"/>
            <a:ext cx="320040" cy="292100"/>
          </a:xfrm>
          <a:prstGeom prst="rect">
            <a:avLst/>
          </a:prstGeom>
          <a:noFill/>
          <a:ln>
            <a:noFill/>
          </a:ln>
        </p:spPr>
        <p:txBody>
          <a:bodyPr wrap="square" lIns="0" tIns="0" rIns="0" bIns="0" rtlCol="0" anchor="ctr"/>
          <a:lstStyle/>
          <a:p>
            <a:pPr marL="0" algn="l">
              <a:lnSpc>
                <a:spcPct val="120000"/>
              </a:lnSpc>
            </a:pPr>
            <a:r>
              <a:rPr lang="en-US" sz="1900" b="1" noProof="1">
                <a:solidFill>
                  <a:srgbClr val="33C27A"/>
                </a:solidFill>
                <a:latin typeface="Aptos"/>
                <a:ea typeface="Aptos"/>
              </a:rPr>
              <a:t>2</a:t>
            </a:r>
            <a:endParaRPr lang="en-US" sz="1900" noProof="1"/>
          </a:p>
        </p:txBody>
      </p:sp>
      <p:sp>
        <p:nvSpPr>
          <p:cNvPr id="16" name="Text 13"/>
          <p:cNvSpPr txBox="1"/>
          <p:nvPr/>
        </p:nvSpPr>
        <p:spPr>
          <a:xfrm>
            <a:off x="6739890" y="1353820"/>
            <a:ext cx="4754880" cy="264160"/>
          </a:xfrm>
          <a:prstGeom prst="rect">
            <a:avLst/>
          </a:prstGeom>
          <a:noFill/>
          <a:ln>
            <a:noFill/>
          </a:ln>
        </p:spPr>
        <p:txBody>
          <a:bodyPr wrap="square" lIns="0" tIns="0" rIns="0" bIns="0" rtlCol="0" anchor="ctr"/>
          <a:lstStyle/>
          <a:p>
            <a:pPr marL="0" algn="l">
              <a:lnSpc>
                <a:spcPct val="120000"/>
              </a:lnSpc>
            </a:pPr>
            <a:r>
              <a:rPr lang="en-US" b="1" noProof="1">
                <a:solidFill>
                  <a:srgbClr val="0E4D3A"/>
                </a:solidFill>
                <a:latin typeface="Aptos"/>
                <a:ea typeface="Aptos"/>
              </a:rPr>
              <a:t>Offer the Capability Pulse as a bridge</a:t>
            </a:r>
            <a:endParaRPr lang="en-US" noProof="1"/>
          </a:p>
        </p:txBody>
      </p:sp>
      <p:sp>
        <p:nvSpPr>
          <p:cNvPr id="17" name="Text 14"/>
          <p:cNvSpPr txBox="1"/>
          <p:nvPr/>
        </p:nvSpPr>
        <p:spPr>
          <a:xfrm>
            <a:off x="6739890" y="2080000"/>
            <a:ext cx="4983480" cy="750000"/>
          </a:xfrm>
          <a:prstGeom prst="rect">
            <a:avLst/>
          </a:prstGeom>
          <a:noFill/>
          <a:ln>
            <a:noFill/>
          </a:ln>
        </p:spPr>
        <p:txBody>
          <a:bodyPr wrap="square" lIns="0" tIns="0" rIns="0" bIns="0" rtlCol="0" anchor="ctr"/>
          <a:lstStyle/>
          <a:p>
            <a:pPr marL="0" algn="l">
              <a:lnSpc>
                <a:spcPct val="120000"/>
              </a:lnSpc>
            </a:pPr>
            <a:r>
              <a:rPr lang="en-US" sz="1600" noProof="1">
                <a:solidFill>
                  <a:srgbClr val="5B6770"/>
                </a:solidFill>
                <a:latin typeface="Aptos"/>
                <a:ea typeface="Aptos"/>
              </a:rPr>
              <a:t>The Pulse makes the operating-model gap visible across towers — a concrete map of where each tower is weak.</a:t>
            </a:r>
            <a:endParaRPr lang="en-US" sz="1600" noProof="1"/>
          </a:p>
        </p:txBody>
      </p:sp>
      <p:sp>
        <p:nvSpPr>
          <p:cNvPr id="18" name="Text 15"/>
          <p:cNvSpPr txBox="1"/>
          <p:nvPr/>
        </p:nvSpPr>
        <p:spPr>
          <a:xfrm>
            <a:off x="6263640" y="3000000"/>
            <a:ext cx="320040" cy="292100"/>
          </a:xfrm>
          <a:prstGeom prst="rect">
            <a:avLst/>
          </a:prstGeom>
          <a:noFill/>
          <a:ln>
            <a:noFill/>
          </a:ln>
        </p:spPr>
        <p:txBody>
          <a:bodyPr wrap="square" lIns="0" tIns="0" rIns="0" bIns="0" rtlCol="0" anchor="ctr"/>
          <a:lstStyle/>
          <a:p>
            <a:pPr marL="0" algn="l">
              <a:lnSpc>
                <a:spcPct val="120000"/>
              </a:lnSpc>
            </a:pPr>
            <a:r>
              <a:rPr lang="en-US" sz="1900" b="1" noProof="1">
                <a:solidFill>
                  <a:srgbClr val="33C27A"/>
                </a:solidFill>
                <a:latin typeface="Aptos"/>
                <a:ea typeface="Aptos"/>
              </a:rPr>
              <a:t>4</a:t>
            </a:r>
            <a:endParaRPr lang="en-US" sz="1900" noProof="1"/>
          </a:p>
        </p:txBody>
      </p:sp>
      <p:sp>
        <p:nvSpPr>
          <p:cNvPr id="19" name="Text 16"/>
          <p:cNvSpPr txBox="1"/>
          <p:nvPr/>
        </p:nvSpPr>
        <p:spPr>
          <a:xfrm>
            <a:off x="6739890" y="3000000"/>
            <a:ext cx="4754880" cy="264160"/>
          </a:xfrm>
          <a:prstGeom prst="rect">
            <a:avLst/>
          </a:prstGeom>
          <a:noFill/>
          <a:ln>
            <a:noFill/>
          </a:ln>
        </p:spPr>
        <p:txBody>
          <a:bodyPr wrap="square" lIns="0" tIns="0" rIns="0" bIns="0" rtlCol="0" anchor="ctr"/>
          <a:lstStyle/>
          <a:p>
            <a:pPr marL="0" algn="l">
              <a:lnSpc>
                <a:spcPct val="120000"/>
              </a:lnSpc>
            </a:pPr>
            <a:r>
              <a:rPr lang="en-US" b="1" noProof="1">
                <a:solidFill>
                  <a:srgbClr val="0E4D3A"/>
                </a:solidFill>
                <a:latin typeface="Aptos"/>
                <a:ea typeface="Aptos"/>
              </a:rPr>
              <a:t>Expand up and down the menu</a:t>
            </a:r>
            <a:endParaRPr lang="en-US" noProof="1"/>
          </a:p>
        </p:txBody>
      </p:sp>
      <p:sp>
        <p:nvSpPr>
          <p:cNvPr id="20" name="Text 17"/>
          <p:cNvSpPr txBox="1"/>
          <p:nvPr/>
        </p:nvSpPr>
        <p:spPr>
          <a:xfrm>
            <a:off x="6739890" y="3420000"/>
            <a:ext cx="4983480" cy="750000"/>
          </a:xfrm>
          <a:prstGeom prst="rect">
            <a:avLst/>
          </a:prstGeom>
          <a:noFill/>
          <a:ln>
            <a:noFill/>
          </a:ln>
        </p:spPr>
        <p:txBody>
          <a:bodyPr wrap="square" lIns="0" tIns="0" rIns="0" bIns="0" rtlCol="0" anchor="ctr"/>
          <a:lstStyle/>
          <a:p>
            <a:pPr marL="0" algn="l">
              <a:lnSpc>
                <a:spcPct val="120000"/>
              </a:lnSpc>
            </a:pPr>
            <a:r>
              <a:rPr lang="en-US" sz="1600" noProof="1">
                <a:solidFill>
                  <a:srgbClr val="5B6770"/>
                </a:solidFill>
                <a:latin typeface="Aptos"/>
                <a:ea typeface="Aptos"/>
              </a:rPr>
              <a:t>Managers need governance (Tier 3), business teams want to build tools (Tier 4), and the GCC needs to sustain it (Tier 5).</a:t>
            </a:r>
            <a:endParaRPr lang="en-US" sz="1600" noProof="1"/>
          </a:p>
        </p:txBody>
      </p:sp>
      <p:sp>
        <p:nvSpPr>
          <p:cNvPr id="26" name="Text 23"/>
          <p:cNvSpPr txBox="1"/>
          <p:nvPr/>
        </p:nvSpPr>
        <p:spPr>
          <a:xfrm>
            <a:off x="11201400" y="6510020"/>
            <a:ext cx="411480" cy="146050"/>
          </a:xfrm>
          <a:prstGeom prst="rect">
            <a:avLst/>
          </a:prstGeom>
          <a:noFill/>
          <a:ln>
            <a:noFill/>
          </a:ln>
        </p:spPr>
        <p:txBody>
          <a:bodyPr wrap="square" lIns="0" tIns="0" rIns="0" bIns="0" rtlCol="0" anchor="ctr"/>
          <a:lstStyle/>
          <a:p>
            <a:pPr marL="0" algn="r">
              <a:lnSpc>
                <a:spcPct val="120000"/>
              </a:lnSpc>
            </a:pPr>
            <a:r>
              <a:rPr lang="en-US" sz="800" noProof="1">
                <a:solidFill>
                  <a:srgbClr val="8A9A92"/>
                </a:solidFill>
                <a:latin typeface="MiSans"/>
                <a:ea typeface="MiSans"/>
              </a:rPr>
              <a:t>10</a:t>
            </a:r>
            <a:endParaRPr lang="en-US" sz="800" noProof="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420" y="274320"/>
            <a:ext cx="8961120" cy="383540"/>
          </a:xfrm>
          <a:prstGeom prst="rect">
            <a:avLst/>
          </a:prstGeom>
          <a:noFill/>
          <a:ln>
            <a:noFill/>
          </a:ln>
        </p:spPr>
        <p:txBody>
          <a:bodyPr wrap="square" lIns="0" tIns="0" rIns="0" bIns="0" rtlCol="0" anchor="ctr"/>
          <a:lstStyle/>
          <a:p>
            <a:pPr marL="0" algn="l">
              <a:lnSpc>
                <a:spcPct val="120000"/>
              </a:lnSpc>
            </a:pPr>
            <a:r>
              <a:rPr lang="en-US" sz="2100" b="1" noProof="1">
                <a:solidFill>
                  <a:srgbClr val="0E4D3A"/>
                </a:solidFill>
                <a:latin typeface="Aptos Display"/>
                <a:ea typeface="Aptos Display"/>
              </a:rPr>
              <a:t>Outcomes to Expect</a:t>
            </a:r>
            <a:endParaRPr lang="en-US" sz="2100" noProof="1"/>
          </a:p>
        </p:txBody>
      </p:sp>
      <p:sp>
        <p:nvSpPr>
          <p:cNvPr id="3" name="Text 1"/>
          <p:cNvSpPr txBox="1"/>
          <p:nvPr/>
        </p:nvSpPr>
        <p:spPr>
          <a:xfrm>
            <a:off x="566420" y="694690"/>
            <a:ext cx="7863840" cy="246380"/>
          </a:xfrm>
          <a:prstGeom prst="rect">
            <a:avLst/>
          </a:prstGeom>
          <a:noFill/>
          <a:ln>
            <a:noFill/>
          </a:ln>
        </p:spPr>
        <p:txBody>
          <a:bodyPr wrap="square" lIns="0" tIns="0" rIns="0" bIns="0" rtlCol="0" anchor="ctr"/>
          <a:lstStyle/>
          <a:p>
            <a:pPr marL="0" algn="l">
              <a:lnSpc>
                <a:spcPct val="120000"/>
              </a:lnSpc>
            </a:pPr>
            <a:r>
              <a:rPr lang="en-US" sz="900" noProof="1">
                <a:solidFill>
                  <a:srgbClr val="5B6770"/>
                </a:solidFill>
                <a:latin typeface="MiSans"/>
                <a:ea typeface="MiSans"/>
              </a:rPr>
              <a:t>What changes for the GCC, immediately and over the following quarter</a:t>
            </a:r>
            <a:endParaRPr lang="en-US" sz="900" noProof="1"/>
          </a:p>
        </p:txBody>
      </p:sp>
      <p:pic>
        <p:nvPicPr>
          <p:cNvPr id="4" name="Image 0"/>
          <p:cNvPicPr/>
          <p:nvPr/>
        </p:nvPicPr>
        <p:blipFill>
          <a:blip r:embed="rId3"/>
          <a:stretch>
            <a:fillRect/>
          </a:stretch>
        </p:blipFill>
        <p:spPr>
          <a:xfrm>
            <a:off x="9966960" y="228600"/>
            <a:ext cx="1572260" cy="411480"/>
          </a:xfrm>
          <a:prstGeom prst="rect">
            <a:avLst/>
          </a:prstGeom>
          <a:ln>
            <a:noFill/>
          </a:ln>
        </p:spPr>
      </p:pic>
      <p:cxnSp>
        <p:nvCxnSpPr>
          <p:cNvPr id="5" name="Shape 2"/>
          <p:cNvCxnSpPr/>
          <p:nvPr/>
        </p:nvCxnSpPr>
        <p:spPr>
          <a:xfrm>
            <a:off x="566420" y="932180"/>
            <a:ext cx="11064240" cy="0"/>
          </a:xfrm>
          <a:prstGeom prst="straightConnector1">
            <a:avLst/>
          </a:prstGeom>
          <a:ln w="8890">
            <a:solidFill>
              <a:srgbClr val="C7DDD1"/>
            </a:solidFill>
          </a:ln>
        </p:spPr>
      </p:cxnSp>
      <p:sp>
        <p:nvSpPr>
          <p:cNvPr id="6" name="L Header"/>
          <p:cNvSpPr txBox="1"/>
          <p:nvPr/>
        </p:nvSpPr>
        <p:spPr>
          <a:xfrm>
            <a:off x="685800" y="1200000"/>
            <a:ext cx="5000000" cy="400000"/>
          </a:xfrm>
          <a:prstGeom prst="rect">
            <a:avLst/>
          </a:prstGeom>
          <a:noFill/>
          <a:ln>
            <a:noFill/>
          </a:ln>
        </p:spPr>
        <p:txBody>
          <a:bodyPr wrap="square" lIns="0" tIns="0" rIns="0" bIns="0" rtlCol="0" anchor="ctr"/>
          <a:lstStyle/>
          <a:p>
            <a:pPr marL="0" algn="l">
              <a:lnSpc>
                <a:spcPct val="120000"/>
              </a:lnSpc>
            </a:pPr>
            <a:r>
              <a:rPr lang="en-US" sz="1900" b="1" noProof="1">
                <a:solidFill>
                  <a:srgbClr val="0E4D3A"/>
                </a:solidFill>
                <a:latin typeface="Aptos"/>
                <a:ea typeface="Aptos"/>
              </a:rPr>
              <a:t>Immediate</a:t>
            </a:r>
            <a:endParaRPr lang="en-US" sz="1900" noProof="1"/>
          </a:p>
        </p:txBody>
      </p:sp>
      <p:sp>
        <p:nvSpPr>
          <p:cNvPr id="7" name="L Bullets"/>
          <p:cNvSpPr txBox="1"/>
          <p:nvPr/>
        </p:nvSpPr>
        <p:spPr>
          <a:xfrm>
            <a:off x="685800" y="1720000"/>
            <a:ext cx="5000000" cy="2800000"/>
          </a:xfrm>
          <a:prstGeom prst="rect">
            <a:avLst/>
          </a:prstGeom>
          <a:noFill/>
          <a:ln>
            <a:noFill/>
          </a:ln>
        </p:spPr>
        <p:txBody>
          <a:bodyPr wrap="square" lIns="0" tIns="0" rIns="0" bIns="0" rtlCol="0" anchor="t"/>
          <a:lstStyle/>
          <a:p>
            <a:pPr marL="285750" indent="-285750" algn="l">
              <a:lnSpc>
                <a:spcPct val="140000"/>
              </a:lnSpc>
              <a:buFont typeface="Arial" panose="020B0604020202020204" pitchFamily="34" charset="0"/>
              <a:buChar char="•"/>
            </a:pPr>
            <a:r>
              <a:rPr lang="en-US" sz="1500" noProof="1">
                <a:solidFill>
                  <a:srgbClr val="15221E"/>
                </a:solidFill>
                <a:latin typeface="Aptos"/>
                <a:ea typeface="Aptos"/>
              </a:rPr>
              <a:t>Leadership develops a shared AI operating model with clear accountabilities</a:t>
            </a:r>
            <a:endParaRPr lang="en-US" sz="1500" noProof="1"/>
          </a:p>
          <a:p>
            <a:pPr marL="285750" indent="-285750" algn="l">
              <a:lnSpc>
                <a:spcPct val="140000"/>
              </a:lnSpc>
              <a:buFont typeface="Arial" panose="020B0604020202020204" pitchFamily="34" charset="0"/>
              <a:buChar char="•"/>
            </a:pPr>
            <a:r>
              <a:rPr lang="en-US" sz="1500" noProof="1">
                <a:solidFill>
                  <a:srgbClr val="15221E"/>
                </a:solidFill>
                <a:latin typeface="Aptos"/>
                <a:ea typeface="Aptos"/>
              </a:rPr>
              <a:t>Architects leave with a repeatable Technology Triage Framework and defended architecture decisions</a:t>
            </a:r>
            <a:endParaRPr lang="en-US" sz="1500" noProof="1"/>
          </a:p>
          <a:p>
            <a:pPr marL="285750" indent="-285750" algn="l">
              <a:lnSpc>
                <a:spcPct val="140000"/>
              </a:lnSpc>
              <a:buFont typeface="Arial" panose="020B0604020202020204" pitchFamily="34" charset="0"/>
              <a:buChar char="•"/>
            </a:pPr>
            <a:r>
              <a:rPr lang="en-US" sz="1500" noProof="1">
                <a:solidFill>
                  <a:srgbClr val="15221E"/>
                </a:solidFill>
                <a:latin typeface="Aptos"/>
                <a:ea typeface="Aptos"/>
              </a:rPr>
              <a:t>Engineers can build and evaluate AI features end-to-end in their own environment</a:t>
            </a:r>
            <a:endParaRPr lang="en-US" sz="1500" noProof="1"/>
          </a:p>
          <a:p>
            <a:pPr marL="285750" indent="-285750" algn="l">
              <a:lnSpc>
                <a:spcPct val="140000"/>
              </a:lnSpc>
              <a:buFont typeface="Arial" panose="020B0604020202020204" pitchFamily="34" charset="0"/>
              <a:buChar char="•"/>
            </a:pPr>
            <a:r>
              <a:rPr lang="en-US" sz="1500" noProof="1">
                <a:solidFill>
                  <a:srgbClr val="15221E"/>
                </a:solidFill>
                <a:latin typeface="Aptos"/>
                <a:ea typeface="Aptos"/>
              </a:rPr>
              <a:t>Managers have a governance framework for AI project delivery</a:t>
            </a:r>
            <a:endParaRPr lang="en-US" sz="1500" noProof="1"/>
          </a:p>
        </p:txBody>
      </p:sp>
      <p:sp>
        <p:nvSpPr>
          <p:cNvPr id="8" name="R Header"/>
          <p:cNvSpPr txBox="1"/>
          <p:nvPr/>
        </p:nvSpPr>
        <p:spPr>
          <a:xfrm>
            <a:off x="6145800" y="1200000"/>
            <a:ext cx="5000000" cy="400000"/>
          </a:xfrm>
          <a:prstGeom prst="rect">
            <a:avLst/>
          </a:prstGeom>
          <a:noFill/>
          <a:ln>
            <a:noFill/>
          </a:ln>
        </p:spPr>
        <p:txBody>
          <a:bodyPr wrap="square" lIns="0" tIns="0" rIns="0" bIns="0" rtlCol="0" anchor="ctr"/>
          <a:lstStyle/>
          <a:p>
            <a:pPr marL="0" algn="l">
              <a:lnSpc>
                <a:spcPct val="120000"/>
              </a:lnSpc>
            </a:pPr>
            <a:r>
              <a:rPr lang="en-US" sz="1900" b="1" noProof="1">
                <a:solidFill>
                  <a:srgbClr val="0E4D3A"/>
                </a:solidFill>
                <a:latin typeface="Aptos"/>
                <a:ea typeface="Aptos"/>
              </a:rPr>
              <a:t>30-90 Days</a:t>
            </a:r>
            <a:endParaRPr lang="en-US" sz="1900" noProof="1"/>
          </a:p>
        </p:txBody>
      </p:sp>
      <p:sp>
        <p:nvSpPr>
          <p:cNvPr id="9" name="R Bullets"/>
          <p:cNvSpPr txBox="1"/>
          <p:nvPr/>
        </p:nvSpPr>
        <p:spPr>
          <a:xfrm>
            <a:off x="6145800" y="1720000"/>
            <a:ext cx="5000000" cy="2800000"/>
          </a:xfrm>
          <a:prstGeom prst="rect">
            <a:avLst/>
          </a:prstGeom>
          <a:noFill/>
          <a:ln>
            <a:noFill/>
          </a:ln>
        </p:spPr>
        <p:txBody>
          <a:bodyPr wrap="square" lIns="0" tIns="0" rIns="0" bIns="0" rtlCol="0" anchor="t"/>
          <a:lstStyle/>
          <a:p>
            <a:pPr marL="285750" indent="-285750" algn="l">
              <a:lnSpc>
                <a:spcPct val="140000"/>
              </a:lnSpc>
              <a:buFont typeface="Arial" panose="020B0604020202020204" pitchFamily="34" charset="0"/>
              <a:buChar char="•"/>
            </a:pPr>
            <a:r>
              <a:rPr lang="en-US" sz="1500" noProof="1">
                <a:solidFill>
                  <a:srgbClr val="15221E"/>
                </a:solidFill>
                <a:latin typeface="Aptos"/>
                <a:ea typeface="Aptos"/>
              </a:rPr>
              <a:t>Technology Triage Framework applied to live pipeline opportunities and architecture reviews</a:t>
            </a:r>
            <a:endParaRPr lang="en-US" sz="1500" noProof="1"/>
          </a:p>
          <a:p>
            <a:pPr marL="285750" indent="-285750" algn="l">
              <a:lnSpc>
                <a:spcPct val="140000"/>
              </a:lnSpc>
              <a:buFont typeface="Arial" panose="020B0604020202020204" pitchFamily="34" charset="0"/>
              <a:buChar char="•"/>
            </a:pPr>
            <a:r>
              <a:rPr lang="en-US" sz="1500" noProof="1">
                <a:solidFill>
                  <a:srgbClr val="15221E"/>
                </a:solidFill>
                <a:latin typeface="Aptos"/>
                <a:ea typeface="Aptos"/>
              </a:rPr>
              <a:t>More consistent, comparable, defensible proposals across review boards</a:t>
            </a:r>
            <a:endParaRPr lang="en-US" sz="1500" noProof="1"/>
          </a:p>
          <a:p>
            <a:pPr marL="285750" indent="-285750" algn="l">
              <a:lnSpc>
                <a:spcPct val="140000"/>
              </a:lnSpc>
              <a:buFont typeface="Arial" panose="020B0604020202020204" pitchFamily="34" charset="0"/>
              <a:buChar char="•"/>
            </a:pPr>
            <a:r>
              <a:rPr lang="en-US" sz="1500" noProof="1">
                <a:solidFill>
                  <a:srgbClr val="15221E"/>
                </a:solidFill>
                <a:latin typeface="Aptos"/>
                <a:ea typeface="Aptos"/>
              </a:rPr>
              <a:t>Measured reduction in overengineered solutions and wrong-technology choices</a:t>
            </a:r>
            <a:endParaRPr lang="en-US" sz="1500" noProof="1"/>
          </a:p>
          <a:p>
            <a:pPr marL="285750" indent="-285750" algn="l">
              <a:lnSpc>
                <a:spcPct val="140000"/>
              </a:lnSpc>
              <a:buFont typeface="Arial" panose="020B0604020202020204" pitchFamily="34" charset="0"/>
              <a:buChar char="•"/>
            </a:pPr>
            <a:r>
              <a:rPr lang="en-US" sz="1500" noProof="1">
                <a:solidFill>
                  <a:srgbClr val="15221E"/>
                </a:solidFill>
                <a:latin typeface="Aptos"/>
                <a:ea typeface="Aptos"/>
              </a:rPr>
              <a:t>Reduction in high-performer attrition as the GCC demonstrates investment in skill growth</a:t>
            </a:r>
            <a:endParaRPr lang="en-US" sz="1500" noProof="1"/>
          </a:p>
        </p:txBody>
      </p:sp>
      <p:sp>
        <p:nvSpPr>
          <p:cNvPr id="13" name="Text 10"/>
          <p:cNvSpPr txBox="1"/>
          <p:nvPr/>
        </p:nvSpPr>
        <p:spPr>
          <a:xfrm>
            <a:off x="11201400" y="6510020"/>
            <a:ext cx="411480" cy="146050"/>
          </a:xfrm>
          <a:prstGeom prst="rect">
            <a:avLst/>
          </a:prstGeom>
          <a:noFill/>
          <a:ln>
            <a:noFill/>
          </a:ln>
        </p:spPr>
        <p:txBody>
          <a:bodyPr wrap="square" lIns="0" tIns="0" rIns="0" bIns="0" rtlCol="0" anchor="ctr"/>
          <a:lstStyle/>
          <a:p>
            <a:pPr marL="0" algn="r">
              <a:lnSpc>
                <a:spcPct val="120000"/>
              </a:lnSpc>
            </a:pPr>
            <a:r>
              <a:rPr lang="en-US" sz="800" noProof="1">
                <a:solidFill>
                  <a:srgbClr val="8A9A92"/>
                </a:solidFill>
                <a:latin typeface="MiSans"/>
                <a:ea typeface="MiSans"/>
              </a:rPr>
              <a:t>11</a:t>
            </a:r>
            <a:endParaRPr lang="en-US" sz="800" noProof="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3A2D"/>
        </a:solidFill>
        <a:effectLst/>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0" cap="none" spc="220" normalizeH="0" baseline="0" noProof="0" dirty="0">
                <a:ln>
                  <a:noFill/>
                </a:ln>
                <a:solidFill>
                  <a:srgbClr val="4FB97A"/>
                </a:solidFill>
                <a:effectLst/>
                <a:uLnTx/>
                <a:uFillTx/>
                <a:latin typeface="Aptos" panose="020B0004020202020204" pitchFamily="34" charset="0"/>
                <a:ea typeface="Calibri" pitchFamily="34" charset="-122"/>
                <a:cs typeface="Calibri" pitchFamily="34" charset="-120"/>
              </a:rPr>
              <a:t>TRACK RECORD</a:t>
            </a:r>
            <a:endParaRPr kumimoji="0" lang="en-US" sz="11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3" name="Text 1"/>
          <p:cNvSpPr/>
          <p:nvPr/>
        </p:nvSpPr>
        <p:spPr>
          <a:xfrm>
            <a:off x="548640" y="713232"/>
            <a:ext cx="1109167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Aptos" panose="020B0004020202020204" pitchFamily="34" charset="0"/>
                <a:ea typeface="Cambria" pitchFamily="34" charset="-122"/>
                <a:cs typeface="Cambria" pitchFamily="34" charset="-120"/>
              </a:rPr>
              <a:t>Proven at scale - on campus and in the enterprise</a:t>
            </a:r>
            <a:endParaRPr kumimoji="0" lang="en-US" sz="3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 name="Text 2"/>
          <p:cNvSpPr/>
          <p:nvPr/>
        </p:nvSpPr>
        <p:spPr>
          <a:xfrm>
            <a:off x="548640" y="1298448"/>
            <a:ext cx="103327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DDE5E0"/>
                </a:solidFill>
                <a:effectLst/>
                <a:uLnTx/>
                <a:uFillTx/>
                <a:latin typeface="Aptos" panose="020B0004020202020204" pitchFamily="34" charset="0"/>
                <a:ea typeface="Calibri" pitchFamily="34" charset="-122"/>
                <a:cs typeface="Calibri" pitchFamily="34" charset="-120"/>
              </a:rPr>
              <a:t>A network of 30+ researchers and product architects holding PhDs from the world’s finest universities.</a:t>
            </a:r>
            <a:endParaRPr kumimoji="0" lang="en-US" sz="13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5" name="Shape 3"/>
          <p:cNvSpPr/>
          <p:nvPr/>
        </p:nvSpPr>
        <p:spPr>
          <a:xfrm>
            <a:off x="548640" y="1737360"/>
            <a:ext cx="3511296" cy="1133856"/>
          </a:xfrm>
          <a:prstGeom prst="roundRect">
            <a:avLst>
              <a:gd name="adj" fmla="val 5645"/>
            </a:avLst>
          </a:prstGeom>
          <a:solidFill>
            <a:srgbClr val="1B5C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6" name="Text 4"/>
          <p:cNvSpPr/>
          <p:nvPr/>
        </p:nvSpPr>
        <p:spPr>
          <a:xfrm>
            <a:off x="786384" y="1847088"/>
            <a:ext cx="3054096"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4FB97A"/>
                </a:solidFill>
                <a:effectLst/>
                <a:uLnTx/>
                <a:uFillTx/>
                <a:latin typeface="Aptos" panose="020B0004020202020204" pitchFamily="34" charset="0"/>
                <a:ea typeface="Cambria" pitchFamily="34" charset="-122"/>
                <a:cs typeface="Cambria" pitchFamily="34" charset="-120"/>
              </a:rPr>
              <a:t>20+</a:t>
            </a:r>
            <a:endParaRPr kumimoji="0" lang="en-US" sz="27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7" name="Text 5"/>
          <p:cNvSpPr/>
          <p:nvPr/>
        </p:nvSpPr>
        <p:spPr>
          <a:xfrm>
            <a:off x="786384" y="2249424"/>
            <a:ext cx="309981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ptos" panose="020B0004020202020204" pitchFamily="34" charset="0"/>
                <a:ea typeface="Calibri" pitchFamily="34" charset="-122"/>
                <a:cs typeface="Calibri" pitchFamily="34" charset="-120"/>
              </a:rPr>
              <a:t>Years of excellence</a:t>
            </a:r>
            <a:endParaRPr kumimoji="0" lang="en-US" sz="11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8" name="Text 6"/>
          <p:cNvSpPr/>
          <p:nvPr/>
        </p:nvSpPr>
        <p:spPr>
          <a:xfrm>
            <a:off x="786384" y="2478024"/>
            <a:ext cx="3099816" cy="329184"/>
          </a:xfrm>
          <a:prstGeom prst="rect">
            <a:avLst/>
          </a:prstGeom>
          <a:noFill/>
          <a:ln/>
        </p:spPr>
        <p:txBody>
          <a:bodyPr wrap="square"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9D8CF"/>
                </a:solidFill>
                <a:effectLst/>
                <a:uLnTx/>
                <a:uFillTx/>
                <a:latin typeface="Aptos" panose="020B0004020202020204" pitchFamily="34" charset="0"/>
                <a:ea typeface="Calibri" pitchFamily="34" charset="-122"/>
                <a:cs typeface="Calibri" pitchFamily="34" charset="-120"/>
              </a:rPr>
              <a:t>Guiding global enterprises through technology adoption</a:t>
            </a:r>
            <a:endParaRPr kumimoji="0" lang="en-US" sz="9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9" name="Shape 7"/>
          <p:cNvSpPr/>
          <p:nvPr/>
        </p:nvSpPr>
        <p:spPr>
          <a:xfrm>
            <a:off x="4334256" y="1737360"/>
            <a:ext cx="3511296" cy="1133856"/>
          </a:xfrm>
          <a:prstGeom prst="roundRect">
            <a:avLst>
              <a:gd name="adj" fmla="val 5645"/>
            </a:avLst>
          </a:prstGeom>
          <a:solidFill>
            <a:srgbClr val="1B5C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 name="Text 8"/>
          <p:cNvSpPr/>
          <p:nvPr/>
        </p:nvSpPr>
        <p:spPr>
          <a:xfrm>
            <a:off x="4572000" y="1847088"/>
            <a:ext cx="3054096"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4FB97A"/>
                </a:solidFill>
                <a:effectLst/>
                <a:uLnTx/>
                <a:uFillTx/>
                <a:latin typeface="Aptos" panose="020B0004020202020204" pitchFamily="34" charset="0"/>
                <a:ea typeface="Cambria" pitchFamily="34" charset="-122"/>
                <a:cs typeface="Cambria" pitchFamily="34" charset="-120"/>
              </a:rPr>
              <a:t>100+</a:t>
            </a:r>
            <a:endParaRPr kumimoji="0" lang="en-US" sz="27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11" name="Text 9"/>
          <p:cNvSpPr/>
          <p:nvPr/>
        </p:nvSpPr>
        <p:spPr>
          <a:xfrm>
            <a:off x="4572000" y="2249424"/>
            <a:ext cx="309981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ptos" panose="020B0004020202020204" pitchFamily="34" charset="0"/>
                <a:ea typeface="Calibri" pitchFamily="34" charset="-122"/>
                <a:cs typeface="Calibri" pitchFamily="34" charset="-120"/>
              </a:rPr>
              <a:t>Global clients</a:t>
            </a:r>
            <a:endParaRPr kumimoji="0" lang="en-US" sz="11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12" name="Text 10"/>
          <p:cNvSpPr/>
          <p:nvPr/>
        </p:nvSpPr>
        <p:spPr>
          <a:xfrm>
            <a:off x="4572000" y="2478024"/>
            <a:ext cx="3099816" cy="329184"/>
          </a:xfrm>
          <a:prstGeom prst="rect">
            <a:avLst/>
          </a:prstGeom>
          <a:noFill/>
          <a:ln/>
        </p:spPr>
        <p:txBody>
          <a:bodyPr wrap="square"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9D8CF"/>
                </a:solidFill>
                <a:effectLst/>
                <a:uLnTx/>
                <a:uFillTx/>
                <a:latin typeface="Aptos" panose="020B0004020202020204" pitchFamily="34" charset="0"/>
                <a:ea typeface="Calibri" pitchFamily="34" charset="-122"/>
                <a:cs typeface="Calibri" pitchFamily="34" charset="-120"/>
              </a:rPr>
              <a:t>AI-driven solutions delivered across industries</a:t>
            </a:r>
            <a:endParaRPr kumimoji="0" lang="en-US" sz="9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13" name="Shape 11"/>
          <p:cNvSpPr/>
          <p:nvPr/>
        </p:nvSpPr>
        <p:spPr>
          <a:xfrm>
            <a:off x="8119872" y="1737360"/>
            <a:ext cx="3511296" cy="1133856"/>
          </a:xfrm>
          <a:prstGeom prst="roundRect">
            <a:avLst>
              <a:gd name="adj" fmla="val 5645"/>
            </a:avLst>
          </a:prstGeom>
          <a:solidFill>
            <a:srgbClr val="1B5C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4" name="Text 12"/>
          <p:cNvSpPr/>
          <p:nvPr/>
        </p:nvSpPr>
        <p:spPr>
          <a:xfrm>
            <a:off x="8357616" y="1847088"/>
            <a:ext cx="3054096"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4FB97A"/>
                </a:solidFill>
                <a:effectLst/>
                <a:uLnTx/>
                <a:uFillTx/>
                <a:latin typeface="Aptos" panose="020B0004020202020204" pitchFamily="34" charset="0"/>
                <a:ea typeface="Cambria" pitchFamily="34" charset="-122"/>
                <a:cs typeface="Cambria" pitchFamily="34" charset="-120"/>
              </a:rPr>
              <a:t>15+</a:t>
            </a:r>
            <a:endParaRPr kumimoji="0" lang="en-US" sz="27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15" name="Text 13"/>
          <p:cNvSpPr/>
          <p:nvPr/>
        </p:nvSpPr>
        <p:spPr>
          <a:xfrm>
            <a:off x="8357616" y="2249424"/>
            <a:ext cx="309981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ptos" panose="020B0004020202020204" pitchFamily="34" charset="0"/>
                <a:ea typeface="Calibri" pitchFamily="34" charset="-122"/>
                <a:cs typeface="Calibri" pitchFamily="34" charset="-120"/>
              </a:rPr>
              <a:t>Patents</a:t>
            </a:r>
            <a:endParaRPr kumimoji="0" lang="en-US" sz="11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16" name="Text 14"/>
          <p:cNvSpPr/>
          <p:nvPr/>
        </p:nvSpPr>
        <p:spPr>
          <a:xfrm>
            <a:off x="8357616" y="2478024"/>
            <a:ext cx="3099816" cy="329184"/>
          </a:xfrm>
          <a:prstGeom prst="rect">
            <a:avLst/>
          </a:prstGeom>
          <a:noFill/>
          <a:ln/>
        </p:spPr>
        <p:txBody>
          <a:bodyPr wrap="square"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9D8CF"/>
                </a:solidFill>
                <a:effectLst/>
                <a:uLnTx/>
                <a:uFillTx/>
                <a:latin typeface="Aptos" panose="020B0004020202020204" pitchFamily="34" charset="0"/>
                <a:ea typeface="Calibri" pitchFamily="34" charset="-122"/>
                <a:cs typeface="Calibri" pitchFamily="34" charset="-120"/>
              </a:rPr>
              <a:t>In automation and intelligent systems innovation</a:t>
            </a:r>
            <a:endParaRPr kumimoji="0" lang="en-US" sz="9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17" name="Shape 15"/>
          <p:cNvSpPr/>
          <p:nvPr/>
        </p:nvSpPr>
        <p:spPr>
          <a:xfrm>
            <a:off x="548640" y="3017520"/>
            <a:ext cx="3511296" cy="1133856"/>
          </a:xfrm>
          <a:prstGeom prst="roundRect">
            <a:avLst>
              <a:gd name="adj" fmla="val 5645"/>
            </a:avLst>
          </a:prstGeom>
          <a:solidFill>
            <a:srgbClr val="1B5C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8" name="Text 16"/>
          <p:cNvSpPr/>
          <p:nvPr/>
        </p:nvSpPr>
        <p:spPr>
          <a:xfrm>
            <a:off x="786384" y="3127248"/>
            <a:ext cx="3054096"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4FB97A"/>
                </a:solidFill>
                <a:effectLst/>
                <a:uLnTx/>
                <a:uFillTx/>
                <a:latin typeface="Aptos" panose="020B0004020202020204" pitchFamily="34" charset="0"/>
                <a:ea typeface="Cambria" pitchFamily="34" charset="-122"/>
                <a:cs typeface="Cambria" pitchFamily="34" charset="-120"/>
              </a:rPr>
              <a:t>1,000+</a:t>
            </a:r>
            <a:endParaRPr kumimoji="0" lang="en-US" sz="27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19" name="Text 17"/>
          <p:cNvSpPr/>
          <p:nvPr/>
        </p:nvSpPr>
        <p:spPr>
          <a:xfrm>
            <a:off x="786384" y="3529584"/>
            <a:ext cx="309981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ptos" panose="020B0004020202020204" pitchFamily="34" charset="0"/>
                <a:ea typeface="Calibri" pitchFamily="34" charset="-122"/>
                <a:cs typeface="Calibri" pitchFamily="34" charset="-120"/>
              </a:rPr>
              <a:t>CXOs and senior leaders trained</a:t>
            </a:r>
            <a:endParaRPr kumimoji="0" lang="en-US" sz="11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0" name="Text 18"/>
          <p:cNvSpPr/>
          <p:nvPr/>
        </p:nvSpPr>
        <p:spPr>
          <a:xfrm>
            <a:off x="786384" y="3758184"/>
            <a:ext cx="3099816" cy="329184"/>
          </a:xfrm>
          <a:prstGeom prst="rect">
            <a:avLst/>
          </a:prstGeom>
          <a:noFill/>
          <a:ln/>
        </p:spPr>
        <p:txBody>
          <a:bodyPr wrap="square"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9D8CF"/>
                </a:solidFill>
                <a:effectLst/>
                <a:uLnTx/>
                <a:uFillTx/>
                <a:latin typeface="Aptos" panose="020B0004020202020204" pitchFamily="34" charset="0"/>
                <a:ea typeface="Calibri" pitchFamily="34" charset="-122"/>
                <a:cs typeface="Calibri" pitchFamily="34" charset="-120"/>
              </a:rPr>
              <a:t>Decision-makers built to AI fluency and readiness</a:t>
            </a:r>
            <a:endParaRPr kumimoji="0" lang="en-US" sz="9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1" name="Shape 19"/>
          <p:cNvSpPr/>
          <p:nvPr/>
        </p:nvSpPr>
        <p:spPr>
          <a:xfrm>
            <a:off x="4334256" y="3017520"/>
            <a:ext cx="3511296" cy="1133856"/>
          </a:xfrm>
          <a:prstGeom prst="roundRect">
            <a:avLst>
              <a:gd name="adj" fmla="val 5645"/>
            </a:avLst>
          </a:prstGeom>
          <a:solidFill>
            <a:srgbClr val="1B5C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2" name="Text 20"/>
          <p:cNvSpPr/>
          <p:nvPr/>
        </p:nvSpPr>
        <p:spPr>
          <a:xfrm>
            <a:off x="4572000" y="3127248"/>
            <a:ext cx="3054096"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4FB97A"/>
                </a:solidFill>
                <a:effectLst/>
                <a:uLnTx/>
                <a:uFillTx/>
                <a:latin typeface="Aptos" panose="020B0004020202020204" pitchFamily="34" charset="0"/>
                <a:ea typeface="Cambria" pitchFamily="34" charset="-122"/>
                <a:cs typeface="Cambria" pitchFamily="34" charset="-120"/>
              </a:rPr>
              <a:t>10,000+</a:t>
            </a:r>
            <a:endParaRPr kumimoji="0" lang="en-US" sz="27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3" name="Text 21"/>
          <p:cNvSpPr/>
          <p:nvPr/>
        </p:nvSpPr>
        <p:spPr>
          <a:xfrm>
            <a:off x="4572000" y="3529584"/>
            <a:ext cx="309981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ptos" panose="020B0004020202020204" pitchFamily="34" charset="0"/>
                <a:ea typeface="Calibri" pitchFamily="34" charset="-122"/>
                <a:cs typeface="Calibri" pitchFamily="34" charset="-120"/>
              </a:rPr>
              <a:t>Professionals trained</a:t>
            </a:r>
            <a:endParaRPr kumimoji="0" lang="en-US" sz="11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4" name="Text 22"/>
          <p:cNvSpPr/>
          <p:nvPr/>
        </p:nvSpPr>
        <p:spPr>
          <a:xfrm>
            <a:off x="4572000" y="3758184"/>
            <a:ext cx="3099816" cy="329184"/>
          </a:xfrm>
          <a:prstGeom prst="rect">
            <a:avLst/>
          </a:prstGeom>
          <a:noFill/>
          <a:ln/>
        </p:spPr>
        <p:txBody>
          <a:bodyPr wrap="square"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9D8CF"/>
                </a:solidFill>
                <a:effectLst/>
                <a:uLnTx/>
                <a:uFillTx/>
                <a:latin typeface="Aptos" panose="020B0004020202020204" pitchFamily="34" charset="0"/>
                <a:ea typeface="Calibri" pitchFamily="34" charset="-122"/>
                <a:cs typeface="Calibri" pitchFamily="34" charset="-120"/>
              </a:rPr>
              <a:t>Combined team experience in enterprise AI upskilling</a:t>
            </a:r>
            <a:endParaRPr kumimoji="0" lang="en-US" sz="9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5" name="Shape 23"/>
          <p:cNvSpPr/>
          <p:nvPr/>
        </p:nvSpPr>
        <p:spPr>
          <a:xfrm>
            <a:off x="8119872" y="3017520"/>
            <a:ext cx="3511296" cy="1133856"/>
          </a:xfrm>
          <a:prstGeom prst="roundRect">
            <a:avLst>
              <a:gd name="adj" fmla="val 5645"/>
            </a:avLst>
          </a:prstGeom>
          <a:solidFill>
            <a:srgbClr val="1B5C4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6" name="Text 24"/>
          <p:cNvSpPr/>
          <p:nvPr/>
        </p:nvSpPr>
        <p:spPr>
          <a:xfrm>
            <a:off x="8357616" y="3127248"/>
            <a:ext cx="3054096"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4FB97A"/>
                </a:solidFill>
                <a:effectLst/>
                <a:uLnTx/>
                <a:uFillTx/>
                <a:latin typeface="Aptos" panose="020B0004020202020204" pitchFamily="34" charset="0"/>
                <a:ea typeface="Cambria" pitchFamily="34" charset="-122"/>
                <a:cs typeface="Cambria" pitchFamily="34" charset="-120"/>
              </a:rPr>
              <a:t>2,400+</a:t>
            </a:r>
            <a:endParaRPr kumimoji="0" lang="en-US" sz="27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7" name="Text 25"/>
          <p:cNvSpPr/>
          <p:nvPr/>
        </p:nvSpPr>
        <p:spPr>
          <a:xfrm>
            <a:off x="8357616" y="3529584"/>
            <a:ext cx="309981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ptos" panose="020B0004020202020204" pitchFamily="34" charset="0"/>
                <a:ea typeface="Calibri" pitchFamily="34" charset="-122"/>
                <a:cs typeface="Calibri" pitchFamily="34" charset="-120"/>
              </a:rPr>
              <a:t>Learners in academic programs</a:t>
            </a:r>
            <a:endParaRPr kumimoji="0" lang="en-US" sz="11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8" name="Text 26"/>
          <p:cNvSpPr/>
          <p:nvPr/>
        </p:nvSpPr>
        <p:spPr>
          <a:xfrm>
            <a:off x="8357616" y="3758184"/>
            <a:ext cx="3099816" cy="329184"/>
          </a:xfrm>
          <a:prstGeom prst="rect">
            <a:avLst/>
          </a:prstGeom>
          <a:noFill/>
          <a:ln/>
        </p:spPr>
        <p:txBody>
          <a:bodyPr wrap="square"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9D8CF"/>
                </a:solidFill>
                <a:effectLst/>
                <a:uLnTx/>
                <a:uFillTx/>
                <a:latin typeface="Aptos" panose="020B0004020202020204" pitchFamily="34" charset="0"/>
                <a:ea typeface="Calibri" pitchFamily="34" charset="-122"/>
                <a:cs typeface="Calibri" pitchFamily="34" charset="-120"/>
              </a:rPr>
              <a:t>Across UG, PG, credit-transfer and doctoral formats</a:t>
            </a:r>
            <a:endParaRPr kumimoji="0" lang="en-US" sz="9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9" name="Shape 27"/>
          <p:cNvSpPr/>
          <p:nvPr/>
        </p:nvSpPr>
        <p:spPr>
          <a:xfrm>
            <a:off x="548640" y="4462272"/>
            <a:ext cx="11091672" cy="1517904"/>
          </a:xfrm>
          <a:prstGeom prst="roundRect">
            <a:avLst>
              <a:gd name="adj" fmla="val 4819"/>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0" name="Text 28"/>
          <p:cNvSpPr/>
          <p:nvPr/>
        </p:nvSpPr>
        <p:spPr>
          <a:xfrm>
            <a:off x="914400" y="4663440"/>
            <a:ext cx="76809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50" normalizeH="0" baseline="0" noProof="0" dirty="0">
                <a:ln>
                  <a:noFill/>
                </a:ln>
                <a:solidFill>
                  <a:srgbClr val="1B5C48"/>
                </a:solidFill>
                <a:effectLst/>
                <a:uLnTx/>
                <a:uFillTx/>
                <a:latin typeface="Aptos" panose="020B0004020202020204" pitchFamily="34" charset="0"/>
                <a:ea typeface="Calibri" pitchFamily="34" charset="-122"/>
                <a:cs typeface="Calibri" pitchFamily="34" charset="-120"/>
              </a:rPr>
              <a:t>GLOBALLY RECOGNISED, ACADEMICALLY VALIDATED</a:t>
            </a:r>
            <a:endParaRPr kumimoji="0" lang="en-US" sz="10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31" name="Text 29"/>
          <p:cNvSpPr/>
          <p:nvPr/>
        </p:nvSpPr>
        <p:spPr>
          <a:xfrm>
            <a:off x="914400" y="4937760"/>
            <a:ext cx="7315200" cy="960120"/>
          </a:xfrm>
          <a:prstGeom prst="rect">
            <a:avLst/>
          </a:prstGeom>
          <a:noFill/>
          <a:ln/>
        </p:spPr>
        <p:txBody>
          <a:bodyPr wrap="square" lIns="0" tIns="0" rIns="0" bIns="0" rtlCol="0" anchor="t"/>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01820"/>
                </a:solidFill>
                <a:effectLst/>
                <a:uLnTx/>
                <a:uFillTx/>
                <a:latin typeface="Aptos" panose="020B0004020202020204" pitchFamily="34" charset="0"/>
                <a:ea typeface="Calibri" pitchFamily="34" charset="-122"/>
                <a:cs typeface="Calibri" pitchFamily="34" charset="-120"/>
              </a:rPr>
              <a:t>A Data Science certificate program designed by our team was ranked #3 worldwide by CIO.com - alongside Stanford and Columbia - and was the only independent private-institute program on the list. Its content, pedagogy and assessment were certified by Carnegie Mellon University’s Language Technologies Institute.</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pic>
        <p:nvPicPr>
          <p:cNvPr id="32" name="Image 0" descr="assets/cmu_lti.png"/>
          <p:cNvPicPr>
            <a:picLocks noChangeAspect="1"/>
          </p:cNvPicPr>
          <p:nvPr/>
        </p:nvPicPr>
        <p:blipFill>
          <a:blip r:embed="rId3"/>
          <a:stretch>
            <a:fillRect/>
          </a:stretch>
        </p:blipFill>
        <p:spPr>
          <a:xfrm>
            <a:off x="8620049" y="4864608"/>
            <a:ext cx="2648102" cy="731520"/>
          </a:xfrm>
          <a:prstGeom prst="rect">
            <a:avLst/>
          </a:prstGeom>
        </p:spPr>
      </p:pic>
      <p:sp>
        <p:nvSpPr>
          <p:cNvPr id="33" name="Text 30"/>
          <p:cNvSpPr/>
          <p:nvPr/>
        </p:nvSpPr>
        <p:spPr>
          <a:xfrm>
            <a:off x="548640" y="638251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C9D8CF"/>
                </a:solidFill>
                <a:effectLst/>
                <a:uLnTx/>
                <a:uFillTx/>
                <a:latin typeface="Aptos" panose="020B0004020202020204" pitchFamily="34" charset="0"/>
                <a:ea typeface="Calibri" pitchFamily="34" charset="-122"/>
                <a:cs typeface="Calibri" pitchFamily="34" charset="-120"/>
              </a:rPr>
              <a:t>© 2026 InsightVerge. Confidential &amp; Proprietary.</a:t>
            </a:r>
            <a:endParaRPr kumimoji="0" lang="en-US" sz="8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pic>
        <p:nvPicPr>
          <p:cNvPr id="34" name="Image 1" descr="assets/wordmark_white.png"/>
          <p:cNvPicPr>
            <a:picLocks noChangeAspect="1"/>
          </p:cNvPicPr>
          <p:nvPr/>
        </p:nvPicPr>
        <p:blipFill>
          <a:blip r:embed="rId4"/>
          <a:stretch>
            <a:fillRect/>
          </a:stretch>
        </p:blipFill>
        <p:spPr>
          <a:xfrm>
            <a:off x="10497312" y="6408875"/>
            <a:ext cx="1143000" cy="1850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83FE3-D6B8-A906-4A23-1EBEBE06D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581B6-C6E9-5189-DA15-2D4C3CC89077}"/>
              </a:ext>
            </a:extLst>
          </p:cNvPr>
          <p:cNvSpPr>
            <a:spLocks noGrp="1"/>
          </p:cNvSpPr>
          <p:nvPr>
            <p:ph type="title"/>
          </p:nvPr>
        </p:nvSpPr>
        <p:spPr/>
        <p:txBody>
          <a:bodyPr/>
          <a:lstStyle/>
          <a:p>
            <a:r>
              <a:rPr lang="en-US" sz="2933" b="1" dirty="0">
                <a:solidFill>
                  <a:srgbClr val="4FB97A"/>
                </a:solidFill>
                <a:latin typeface="Aptos" panose="020B0004020202020204" pitchFamily="34" charset="0"/>
                <a:ea typeface="Lato" panose="020F0502020204030203" pitchFamily="34" charset="0"/>
                <a:cs typeface="Lato" panose="020F0502020204030203" pitchFamily="34" charset="0"/>
              </a:rPr>
              <a:t>Some of our AI Research Leadership</a:t>
            </a:r>
          </a:p>
        </p:txBody>
      </p:sp>
      <p:sp>
        <p:nvSpPr>
          <p:cNvPr id="13" name="Rectangle 9">
            <a:extLst>
              <a:ext uri="{FF2B5EF4-FFF2-40B4-BE49-F238E27FC236}">
                <a16:creationId xmlns:a16="http://schemas.microsoft.com/office/drawing/2014/main" id="{B78B7649-8DCC-FE73-AE36-C55E5DCC57B4}"/>
              </a:ext>
            </a:extLst>
          </p:cNvPr>
          <p:cNvSpPr>
            <a:spLocks noChangeArrowheads="1"/>
          </p:cNvSpPr>
          <p:nvPr/>
        </p:nvSpPr>
        <p:spPr bwMode="auto">
          <a:xfrm>
            <a:off x="4934010" y="5588000"/>
            <a:ext cx="3571875"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0" algn="l"/>
                <a:tab pos="914400" algn="l"/>
                <a:tab pos="1828800" algn="l"/>
                <a:tab pos="2743200" algn="l"/>
              </a:tabLst>
              <a:defRPr>
                <a:solidFill>
                  <a:srgbClr val="000000"/>
                </a:solidFill>
                <a:latin typeface="Arial" panose="020B0604020202020204" pitchFamily="34" charset="0"/>
                <a:cs typeface="AR PL SungtiL GB" charset="0"/>
              </a:defRPr>
            </a:lvl1pPr>
            <a:lvl2pPr>
              <a:tabLst>
                <a:tab pos="0" algn="l"/>
                <a:tab pos="914400" algn="l"/>
                <a:tab pos="1828800" algn="l"/>
                <a:tab pos="2743200" algn="l"/>
              </a:tabLst>
              <a:defRPr>
                <a:solidFill>
                  <a:srgbClr val="000000"/>
                </a:solidFill>
                <a:latin typeface="Arial" panose="020B0604020202020204" pitchFamily="34" charset="0"/>
                <a:cs typeface="AR PL SungtiL GB" charset="0"/>
              </a:defRPr>
            </a:lvl2pPr>
            <a:lvl3pPr>
              <a:tabLst>
                <a:tab pos="0" algn="l"/>
                <a:tab pos="914400" algn="l"/>
                <a:tab pos="1828800" algn="l"/>
                <a:tab pos="2743200" algn="l"/>
              </a:tabLst>
              <a:defRPr>
                <a:solidFill>
                  <a:srgbClr val="000000"/>
                </a:solidFill>
                <a:latin typeface="Arial" panose="020B0604020202020204" pitchFamily="34" charset="0"/>
                <a:cs typeface="AR PL SungtiL GB" charset="0"/>
              </a:defRPr>
            </a:lvl3pPr>
            <a:lvl4pPr>
              <a:tabLst>
                <a:tab pos="0" algn="l"/>
                <a:tab pos="914400" algn="l"/>
                <a:tab pos="1828800" algn="l"/>
                <a:tab pos="2743200" algn="l"/>
              </a:tabLst>
              <a:defRPr>
                <a:solidFill>
                  <a:srgbClr val="000000"/>
                </a:solidFill>
                <a:latin typeface="Arial" panose="020B0604020202020204" pitchFamily="34" charset="0"/>
                <a:cs typeface="AR PL SungtiL GB" charset="0"/>
              </a:defRPr>
            </a:lvl4pPr>
            <a:lvl5pPr>
              <a:tabLst>
                <a:tab pos="0" algn="l"/>
                <a:tab pos="914400" algn="l"/>
                <a:tab pos="1828800" algn="l"/>
                <a:tab pos="2743200" algn="l"/>
              </a:tabLst>
              <a:defRPr>
                <a:solidFill>
                  <a:srgbClr val="000000"/>
                </a:solidFill>
                <a:latin typeface="Arial" panose="020B0604020202020204" pitchFamily="34" charset="0"/>
                <a:cs typeface="AR PL SungtiL GB"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Lst>
              <a:defRPr>
                <a:solidFill>
                  <a:srgbClr val="000000"/>
                </a:solidFill>
                <a:latin typeface="Arial" panose="020B0604020202020204" pitchFamily="34" charset="0"/>
                <a:cs typeface="AR PL SungtiL GB"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Lst>
              <a:defRPr>
                <a:solidFill>
                  <a:srgbClr val="000000"/>
                </a:solidFill>
                <a:latin typeface="Arial" panose="020B0604020202020204" pitchFamily="34" charset="0"/>
                <a:cs typeface="AR PL SungtiL GB"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Lst>
              <a:defRPr>
                <a:solidFill>
                  <a:srgbClr val="000000"/>
                </a:solidFill>
                <a:latin typeface="Arial" panose="020B0604020202020204" pitchFamily="34" charset="0"/>
                <a:cs typeface="AR PL SungtiL GB"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Lst>
              <a:defRPr>
                <a:solidFill>
                  <a:srgbClr val="000000"/>
                </a:solidFill>
                <a:latin typeface="Arial" panose="020B0604020202020204" pitchFamily="34" charset="0"/>
                <a:cs typeface="AR PL SungtiL GB" charset="0"/>
              </a:defRPr>
            </a:lvl9pPr>
          </a:lstStyle>
          <a:p>
            <a:pPr defTabSz="914492">
              <a:lnSpc>
                <a:spcPct val="150000"/>
              </a:lnSpc>
              <a:tabLst>
                <a:tab pos="0" algn="l"/>
                <a:tab pos="914492" algn="l"/>
                <a:tab pos="1828983" algn="l"/>
                <a:tab pos="2743475" algn="l"/>
              </a:tabLst>
              <a:defRPr/>
            </a:pPr>
            <a:endParaRPr lang="en-US" altLang="en-US" sz="1600" dirty="0">
              <a:latin typeface="Aptos" panose="020B0004020202020204" pitchFamily="34" charset="0"/>
              <a:ea typeface="Lato" panose="020F0502020204030203" pitchFamily="34" charset="0"/>
              <a:cs typeface="Lato" panose="020F0502020204030203" pitchFamily="34" charset="0"/>
            </a:endParaRPr>
          </a:p>
        </p:txBody>
      </p:sp>
      <p:sp>
        <p:nvSpPr>
          <p:cNvPr id="4" name="Rectangle: Rounded Corners 462">
            <a:extLst>
              <a:ext uri="{FF2B5EF4-FFF2-40B4-BE49-F238E27FC236}">
                <a16:creationId xmlns:a16="http://schemas.microsoft.com/office/drawing/2014/main" id="{EB5887D7-827D-7CED-F738-85C82FC0F887}"/>
              </a:ext>
            </a:extLst>
          </p:cNvPr>
          <p:cNvSpPr/>
          <p:nvPr/>
        </p:nvSpPr>
        <p:spPr>
          <a:xfrm rot="5400000">
            <a:off x="-54628" y="2873848"/>
            <a:ext cx="4190474" cy="2609429"/>
          </a:xfrm>
          <a:prstGeom prst="roundRect">
            <a:avLst>
              <a:gd name="adj" fmla="val 4867"/>
            </a:avLst>
          </a:prstGeom>
          <a:gradFill flip="none" rotWithShape="1">
            <a:gsLst>
              <a:gs pos="0">
                <a:schemeClr val="bg2">
                  <a:lumMod val="20000"/>
                  <a:lumOff val="80000"/>
                </a:schemeClr>
              </a:gs>
              <a:gs pos="100000">
                <a:schemeClr val="bg1"/>
              </a:gs>
            </a:gsLst>
            <a:lin ang="16200000" scaled="1"/>
            <a:tileRect/>
          </a:gradFill>
          <a:ln w="3175">
            <a:gradFill flip="none" rotWithShape="1">
              <a:gsLst>
                <a:gs pos="15000">
                  <a:srgbClr val="01B9CE">
                    <a:alpha val="43000"/>
                  </a:srgbClr>
                </a:gs>
                <a:gs pos="89000">
                  <a:schemeClr val="accent1"/>
                </a:gs>
              </a:gsLst>
              <a:lin ang="16200000" scaled="1"/>
              <a:tileRect/>
            </a:gradFill>
          </a:ln>
          <a:effectLst>
            <a:outerShdw blurRad="228600" dist="76200" dir="2700000" algn="tl" rotWithShape="0">
              <a:schemeClr val="tx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defTabSz="914492">
              <a:defRPr/>
            </a:pPr>
            <a:endParaRPr lang="en-IN" sz="1600" dirty="0">
              <a:solidFill>
                <a:srgbClr val="00A2B8"/>
              </a:solidFill>
              <a:latin typeface="Aptos" panose="020B0004020202020204"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0AA8B887-16A8-7FE3-808E-E3D257100ED7}"/>
              </a:ext>
            </a:extLst>
          </p:cNvPr>
          <p:cNvSpPr txBox="1"/>
          <p:nvPr/>
        </p:nvSpPr>
        <p:spPr>
          <a:xfrm>
            <a:off x="745132" y="2418292"/>
            <a:ext cx="2609429" cy="688907"/>
          </a:xfrm>
          <a:prstGeom prst="rect">
            <a:avLst/>
          </a:prstGeom>
          <a:noFill/>
        </p:spPr>
        <p:txBody>
          <a:bodyPr wrap="square">
            <a:spAutoFit/>
          </a:bodyPr>
          <a:lstStyle/>
          <a:p>
            <a:pPr algn="ctr" defTabSz="914492">
              <a:lnSpc>
                <a:spcPct val="150000"/>
              </a:lnSpc>
              <a:defRPr/>
            </a:pPr>
            <a:r>
              <a:rPr lang="en-IN" sz="1500" dirty="0">
                <a:solidFill>
                  <a:srgbClr val="004068"/>
                </a:solidFill>
                <a:latin typeface="Aptos" panose="020B0004020202020204" pitchFamily="34" charset="0"/>
                <a:ea typeface="Lato" panose="020F0502020204030203" pitchFamily="34" charset="0"/>
                <a:cs typeface="Lato" panose="020F0502020204030203" pitchFamily="34" charset="0"/>
              </a:rPr>
              <a:t>Dr. Dakshinamurthy V Kolluru</a:t>
            </a:r>
          </a:p>
          <a:p>
            <a:pPr algn="ctr" defTabSz="914492">
              <a:lnSpc>
                <a:spcPct val="150000"/>
              </a:lnSpc>
              <a:spcAft>
                <a:spcPts val="600"/>
              </a:spcAft>
              <a:defRPr/>
            </a:pPr>
            <a:r>
              <a:rPr lang="en-IN" sz="1200" dirty="0">
                <a:solidFill>
                  <a:srgbClr val="101820"/>
                </a:solidFill>
                <a:latin typeface="Aptos" panose="020B0004020202020204" pitchFamily="34" charset="0"/>
                <a:ea typeface="Lato" panose="020F0502020204030203" pitchFamily="34" charset="0"/>
                <a:cs typeface="Lato" panose="020F0502020204030203" pitchFamily="34" charset="0"/>
              </a:rPr>
              <a:t>PhD – Carnegie Mellon Univ., USA</a:t>
            </a:r>
          </a:p>
        </p:txBody>
      </p:sp>
      <p:sp>
        <p:nvSpPr>
          <p:cNvPr id="11" name="TextBox 10">
            <a:extLst>
              <a:ext uri="{FF2B5EF4-FFF2-40B4-BE49-F238E27FC236}">
                <a16:creationId xmlns:a16="http://schemas.microsoft.com/office/drawing/2014/main" id="{586B13CE-316C-45DB-9322-3CA8F2464D22}"/>
              </a:ext>
            </a:extLst>
          </p:cNvPr>
          <p:cNvSpPr txBox="1"/>
          <p:nvPr/>
        </p:nvSpPr>
        <p:spPr>
          <a:xfrm>
            <a:off x="923259" y="3605086"/>
            <a:ext cx="2150244" cy="2435539"/>
          </a:xfrm>
          <a:prstGeom prst="rect">
            <a:avLst/>
          </a:prstGeom>
          <a:noFill/>
        </p:spPr>
        <p:txBody>
          <a:bodyPr wrap="square">
            <a:spAutoFit/>
          </a:bodyPr>
          <a:lstStyle/>
          <a:p>
            <a:pPr marL="171468" indent="-171468" defTabSz="914492">
              <a:lnSpc>
                <a:spcPct val="150000"/>
              </a:lnSpc>
              <a:spcAft>
                <a:spcPts val="600"/>
              </a:spcAft>
              <a:buFont typeface="Arial" panose="020B0604020202020204" pitchFamily="34" charset="0"/>
              <a:buChar char="•"/>
              <a:defRPr/>
            </a:pPr>
            <a:r>
              <a:rPr lang="en-IN" sz="1200" dirty="0">
                <a:solidFill>
                  <a:srgbClr val="101820"/>
                </a:solidFill>
                <a:latin typeface="Aptos" panose="020B0004020202020204" pitchFamily="34" charset="0"/>
                <a:ea typeface="Lato" panose="020F0502020204030203" pitchFamily="34" charset="0"/>
                <a:cs typeface="Lato" panose="020F0502020204030203" pitchFamily="34" charset="0"/>
              </a:rPr>
              <a:t>30+ years across academia, defence, and enterprise AI</a:t>
            </a:r>
          </a:p>
          <a:p>
            <a:pPr marL="171468" indent="-171468" defTabSz="914492">
              <a:lnSpc>
                <a:spcPct val="150000"/>
              </a:lnSpc>
              <a:spcAft>
                <a:spcPts val="600"/>
              </a:spcAft>
              <a:buFont typeface="Arial" panose="020B0604020202020204" pitchFamily="34" charset="0"/>
              <a:buChar char="•"/>
              <a:defRPr/>
            </a:pPr>
            <a:r>
              <a:rPr lang="en-IN" sz="1200" dirty="0">
                <a:solidFill>
                  <a:srgbClr val="101820"/>
                </a:solidFill>
                <a:latin typeface="Aptos" panose="020B0004020202020204" pitchFamily="34" charset="0"/>
                <a:ea typeface="Lato" panose="020F0502020204030203" pitchFamily="34" charset="0"/>
                <a:cs typeface="Lato" panose="020F0502020204030203" pitchFamily="34" charset="0"/>
              </a:rPr>
              <a:t>CMU PhD; Top 10 Analytics Academician (India)</a:t>
            </a:r>
          </a:p>
          <a:p>
            <a:pPr marL="171468" indent="-171468" defTabSz="914492">
              <a:lnSpc>
                <a:spcPct val="150000"/>
              </a:lnSpc>
              <a:spcAft>
                <a:spcPts val="600"/>
              </a:spcAft>
              <a:buFont typeface="Arial" panose="020B0604020202020204" pitchFamily="34" charset="0"/>
              <a:buChar char="•"/>
              <a:defRPr/>
            </a:pPr>
            <a:r>
              <a:rPr lang="en-IN" sz="1200" dirty="0">
                <a:solidFill>
                  <a:srgbClr val="101820"/>
                </a:solidFill>
                <a:latin typeface="Aptos" panose="020B0004020202020204" pitchFamily="34" charset="0"/>
                <a:ea typeface="Lato" panose="020F0502020204030203" pitchFamily="34" charset="0"/>
                <a:cs typeface="Lato" panose="020F0502020204030203" pitchFamily="34" charset="0"/>
              </a:rPr>
              <a:t>Led CXO AI education globally; missile systems innovation contributor</a:t>
            </a:r>
          </a:p>
        </p:txBody>
      </p:sp>
      <p:pic>
        <p:nvPicPr>
          <p:cNvPr id="16" name="Picture 15" descr="tmp0.jpg">
            <a:extLst>
              <a:ext uri="{FF2B5EF4-FFF2-40B4-BE49-F238E27FC236}">
                <a16:creationId xmlns:a16="http://schemas.microsoft.com/office/drawing/2014/main" id="{62785522-D52A-EF7C-2B7C-0C1B3BCED58A}"/>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573344" y="1355317"/>
            <a:ext cx="1068256" cy="1068256"/>
          </a:xfrm>
          <a:custGeom>
            <a:avLst/>
            <a:gdLst>
              <a:gd name="csX0" fmla="*/ 534128 w 1068256"/>
              <a:gd name="csY0" fmla="*/ 0 h 1068256"/>
              <a:gd name="csX1" fmla="*/ 1068256 w 1068256"/>
              <a:gd name="csY1" fmla="*/ 534128 h 1068256"/>
              <a:gd name="csX2" fmla="*/ 534128 w 1068256"/>
              <a:gd name="csY2" fmla="*/ 1068256 h 1068256"/>
              <a:gd name="csX3" fmla="*/ 0 w 1068256"/>
              <a:gd name="csY3" fmla="*/ 534128 h 1068256"/>
              <a:gd name="csX4" fmla="*/ 534128 w 1068256"/>
              <a:gd name="csY4" fmla="*/ 0 h 1068256"/>
            </a:gdLst>
            <a:ahLst/>
            <a:cxnLst>
              <a:cxn ang="0">
                <a:pos x="csX0" y="csY0"/>
              </a:cxn>
              <a:cxn ang="0">
                <a:pos x="csX1" y="csY1"/>
              </a:cxn>
              <a:cxn ang="0">
                <a:pos x="csX2" y="csY2"/>
              </a:cxn>
              <a:cxn ang="0">
                <a:pos x="csX3" y="csY3"/>
              </a:cxn>
              <a:cxn ang="0">
                <a:pos x="csX4" y="csY4"/>
              </a:cxn>
            </a:cxnLst>
            <a:rect l="l" t="t" r="r" b="b"/>
            <a:pathLst>
              <a:path w="1068256" h="1068256">
                <a:moveTo>
                  <a:pt x="534128" y="0"/>
                </a:moveTo>
                <a:cubicBezTo>
                  <a:pt x="829119" y="0"/>
                  <a:pt x="1068256" y="239137"/>
                  <a:pt x="1068256" y="534128"/>
                </a:cubicBezTo>
                <a:cubicBezTo>
                  <a:pt x="1068256" y="829119"/>
                  <a:pt x="829119" y="1068256"/>
                  <a:pt x="534128" y="1068256"/>
                </a:cubicBezTo>
                <a:cubicBezTo>
                  <a:pt x="239137" y="1068256"/>
                  <a:pt x="0" y="829119"/>
                  <a:pt x="0" y="534128"/>
                </a:cubicBezTo>
                <a:cubicBezTo>
                  <a:pt x="0" y="239137"/>
                  <a:pt x="239137" y="0"/>
                  <a:pt x="534128" y="0"/>
                </a:cubicBezTo>
                <a:close/>
              </a:path>
            </a:pathLst>
          </a:custGeom>
          <a:gradFill>
            <a:gsLst>
              <a:gs pos="16000">
                <a:schemeClr val="accent1"/>
              </a:gs>
              <a:gs pos="100000">
                <a:schemeClr val="bg1"/>
              </a:gs>
            </a:gsLst>
            <a:lin ang="0" scaled="0"/>
          </a:gradFill>
          <a:ln w="50800">
            <a:gradFill>
              <a:gsLst>
                <a:gs pos="17000">
                  <a:schemeClr val="accent1"/>
                </a:gs>
                <a:gs pos="100000">
                  <a:schemeClr val="bg1"/>
                </a:gs>
              </a:gsLst>
              <a:lin ang="5400000" scaled="1"/>
            </a:gradFill>
          </a:ln>
        </p:spPr>
      </p:pic>
      <p:sp>
        <p:nvSpPr>
          <p:cNvPr id="19" name="Rectangle: Rounded Corners 462">
            <a:extLst>
              <a:ext uri="{FF2B5EF4-FFF2-40B4-BE49-F238E27FC236}">
                <a16:creationId xmlns:a16="http://schemas.microsoft.com/office/drawing/2014/main" id="{0C1D5896-9B47-27C5-B07A-50C7BEF7430D}"/>
              </a:ext>
            </a:extLst>
          </p:cNvPr>
          <p:cNvSpPr/>
          <p:nvPr/>
        </p:nvSpPr>
        <p:spPr>
          <a:xfrm rot="5400000">
            <a:off x="2566630" y="2928474"/>
            <a:ext cx="4190474" cy="2500174"/>
          </a:xfrm>
          <a:prstGeom prst="roundRect">
            <a:avLst>
              <a:gd name="adj" fmla="val 4867"/>
            </a:avLst>
          </a:prstGeom>
          <a:gradFill flip="none" rotWithShape="1">
            <a:gsLst>
              <a:gs pos="0">
                <a:schemeClr val="bg2">
                  <a:lumMod val="20000"/>
                  <a:lumOff val="80000"/>
                </a:schemeClr>
              </a:gs>
              <a:gs pos="100000">
                <a:schemeClr val="bg1"/>
              </a:gs>
            </a:gsLst>
            <a:lin ang="16200000" scaled="1"/>
            <a:tileRect/>
          </a:gradFill>
          <a:ln w="3175">
            <a:gradFill flip="none" rotWithShape="1">
              <a:gsLst>
                <a:gs pos="15000">
                  <a:srgbClr val="01B9CE">
                    <a:alpha val="43000"/>
                  </a:srgbClr>
                </a:gs>
                <a:gs pos="89000">
                  <a:schemeClr val="accent1"/>
                </a:gs>
              </a:gsLst>
              <a:lin ang="16200000" scaled="1"/>
              <a:tileRect/>
            </a:gradFill>
          </a:ln>
          <a:effectLst>
            <a:outerShdw blurRad="228600" dist="76200" dir="2700000" algn="tl" rotWithShape="0">
              <a:schemeClr val="tx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defTabSz="914492">
              <a:defRPr/>
            </a:pPr>
            <a:endParaRPr lang="en-IN" sz="1600" dirty="0">
              <a:solidFill>
                <a:srgbClr val="00A2B8"/>
              </a:solidFill>
              <a:latin typeface="Aptos" panose="020B0004020202020204" pitchFamily="34" charset="0"/>
              <a:ea typeface="Lato" panose="020F0502020204030203" pitchFamily="34" charset="0"/>
              <a:cs typeface="Lato" panose="020F0502020204030203" pitchFamily="34" charset="0"/>
            </a:endParaRPr>
          </a:p>
        </p:txBody>
      </p:sp>
      <p:sp>
        <p:nvSpPr>
          <p:cNvPr id="20" name="TextBox 19">
            <a:extLst>
              <a:ext uri="{FF2B5EF4-FFF2-40B4-BE49-F238E27FC236}">
                <a16:creationId xmlns:a16="http://schemas.microsoft.com/office/drawing/2014/main" id="{E9E9AB39-2281-3B6B-F987-2188A28FE375}"/>
              </a:ext>
            </a:extLst>
          </p:cNvPr>
          <p:cNvSpPr txBox="1"/>
          <p:nvPr/>
        </p:nvSpPr>
        <p:spPr>
          <a:xfrm>
            <a:off x="3583581" y="2418292"/>
            <a:ext cx="2150244" cy="965905"/>
          </a:xfrm>
          <a:prstGeom prst="rect">
            <a:avLst/>
          </a:prstGeom>
          <a:noFill/>
        </p:spPr>
        <p:txBody>
          <a:bodyPr wrap="square">
            <a:spAutoFit/>
          </a:bodyPr>
          <a:lstStyle/>
          <a:p>
            <a:pPr algn="ctr" defTabSz="914492">
              <a:lnSpc>
                <a:spcPct val="150000"/>
              </a:lnSpc>
              <a:defRPr/>
            </a:pPr>
            <a:r>
              <a:rPr lang="en-IN" sz="1500" dirty="0">
                <a:solidFill>
                  <a:srgbClr val="004068"/>
                </a:solidFill>
                <a:latin typeface="Aptos" panose="020B0004020202020204" pitchFamily="34" charset="0"/>
                <a:ea typeface="Lato" panose="020F0502020204030203" pitchFamily="34" charset="0"/>
                <a:cs typeface="Lato" panose="020F0502020204030203" pitchFamily="34" charset="0"/>
              </a:rPr>
              <a:t>Dr. Sridhar Pappu</a:t>
            </a:r>
          </a:p>
          <a:p>
            <a:pPr algn="ctr" defTabSz="914492">
              <a:lnSpc>
                <a:spcPct val="150000"/>
              </a:lnSpc>
              <a:spcAft>
                <a:spcPts val="600"/>
              </a:spcAft>
              <a:defRPr/>
            </a:pPr>
            <a:r>
              <a:rPr lang="en-IN" sz="1200" dirty="0">
                <a:solidFill>
                  <a:srgbClr val="101820"/>
                </a:solidFill>
                <a:latin typeface="Aptos" panose="020B0004020202020204" pitchFamily="34" charset="0"/>
                <a:ea typeface="Lato" panose="020F0502020204030203" pitchFamily="34" charset="0"/>
                <a:cs typeface="Lato" panose="020F0502020204030203" pitchFamily="34" charset="0"/>
              </a:rPr>
              <a:t>PhD - Univ. of Texas at El Paso, USA</a:t>
            </a:r>
          </a:p>
        </p:txBody>
      </p:sp>
      <p:sp>
        <p:nvSpPr>
          <p:cNvPr id="21" name="TextBox 20">
            <a:extLst>
              <a:ext uri="{FF2B5EF4-FFF2-40B4-BE49-F238E27FC236}">
                <a16:creationId xmlns:a16="http://schemas.microsoft.com/office/drawing/2014/main" id="{46D5F45E-72E8-8399-9D15-CC872EB8DCC2}"/>
              </a:ext>
            </a:extLst>
          </p:cNvPr>
          <p:cNvSpPr txBox="1"/>
          <p:nvPr/>
        </p:nvSpPr>
        <p:spPr>
          <a:xfrm>
            <a:off x="3544528" y="3581401"/>
            <a:ext cx="2364911" cy="2158540"/>
          </a:xfrm>
          <a:prstGeom prst="rect">
            <a:avLst/>
          </a:prstGeom>
          <a:noFill/>
        </p:spPr>
        <p:txBody>
          <a:bodyPr wrap="square">
            <a:spAutoFit/>
          </a:bodyPr>
          <a:lstStyle/>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30 years across Silicon Valley, defense &amp; enterprise tech</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AI leader driving global capability programs</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Advisor, professor &amp; enterprise transformation architect</a:t>
            </a:r>
          </a:p>
        </p:txBody>
      </p:sp>
      <p:pic>
        <p:nvPicPr>
          <p:cNvPr id="22" name="Picture 21">
            <a:extLst>
              <a:ext uri="{FF2B5EF4-FFF2-40B4-BE49-F238E27FC236}">
                <a16:creationId xmlns:a16="http://schemas.microsoft.com/office/drawing/2014/main" id="{9704E2EF-3EEA-D845-7D75-F7852D3A300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4127738" y="1355317"/>
            <a:ext cx="1068256" cy="1068256"/>
          </a:xfrm>
          <a:custGeom>
            <a:avLst/>
            <a:gdLst>
              <a:gd name="csX0" fmla="*/ 534128 w 1068256"/>
              <a:gd name="csY0" fmla="*/ 0 h 1068256"/>
              <a:gd name="csX1" fmla="*/ 1068256 w 1068256"/>
              <a:gd name="csY1" fmla="*/ 534128 h 1068256"/>
              <a:gd name="csX2" fmla="*/ 534128 w 1068256"/>
              <a:gd name="csY2" fmla="*/ 1068256 h 1068256"/>
              <a:gd name="csX3" fmla="*/ 0 w 1068256"/>
              <a:gd name="csY3" fmla="*/ 534128 h 1068256"/>
              <a:gd name="csX4" fmla="*/ 534128 w 1068256"/>
              <a:gd name="csY4" fmla="*/ 0 h 1068256"/>
            </a:gdLst>
            <a:ahLst/>
            <a:cxnLst>
              <a:cxn ang="0">
                <a:pos x="csX0" y="csY0"/>
              </a:cxn>
              <a:cxn ang="0">
                <a:pos x="csX1" y="csY1"/>
              </a:cxn>
              <a:cxn ang="0">
                <a:pos x="csX2" y="csY2"/>
              </a:cxn>
              <a:cxn ang="0">
                <a:pos x="csX3" y="csY3"/>
              </a:cxn>
              <a:cxn ang="0">
                <a:pos x="csX4" y="csY4"/>
              </a:cxn>
            </a:cxnLst>
            <a:rect l="l" t="t" r="r" b="b"/>
            <a:pathLst>
              <a:path w="1068256" h="1068256">
                <a:moveTo>
                  <a:pt x="534128" y="0"/>
                </a:moveTo>
                <a:cubicBezTo>
                  <a:pt x="829119" y="0"/>
                  <a:pt x="1068256" y="239137"/>
                  <a:pt x="1068256" y="534128"/>
                </a:cubicBezTo>
                <a:cubicBezTo>
                  <a:pt x="1068256" y="829119"/>
                  <a:pt x="829119" y="1068256"/>
                  <a:pt x="534128" y="1068256"/>
                </a:cubicBezTo>
                <a:cubicBezTo>
                  <a:pt x="239137" y="1068256"/>
                  <a:pt x="0" y="829119"/>
                  <a:pt x="0" y="534128"/>
                </a:cubicBezTo>
                <a:cubicBezTo>
                  <a:pt x="0" y="239137"/>
                  <a:pt x="239137" y="0"/>
                  <a:pt x="534128" y="0"/>
                </a:cubicBezTo>
                <a:close/>
              </a:path>
            </a:pathLst>
          </a:custGeom>
          <a:gradFill>
            <a:gsLst>
              <a:gs pos="16000">
                <a:schemeClr val="accent1"/>
              </a:gs>
              <a:gs pos="100000">
                <a:schemeClr val="bg1"/>
              </a:gs>
            </a:gsLst>
            <a:lin ang="0" scaled="0"/>
          </a:gradFill>
          <a:ln w="50800">
            <a:gradFill>
              <a:gsLst>
                <a:gs pos="17000">
                  <a:schemeClr val="accent1"/>
                </a:gs>
                <a:gs pos="100000">
                  <a:schemeClr val="bg1"/>
                </a:gs>
              </a:gsLst>
              <a:lin ang="5400000" scaled="1"/>
            </a:gradFill>
          </a:ln>
        </p:spPr>
      </p:pic>
      <p:sp>
        <p:nvSpPr>
          <p:cNvPr id="25" name="Rectangle: Rounded Corners 462">
            <a:extLst>
              <a:ext uri="{FF2B5EF4-FFF2-40B4-BE49-F238E27FC236}">
                <a16:creationId xmlns:a16="http://schemas.microsoft.com/office/drawing/2014/main" id="{924DA030-FF82-154A-6A72-DCC3426F62E2}"/>
              </a:ext>
            </a:extLst>
          </p:cNvPr>
          <p:cNvSpPr/>
          <p:nvPr/>
        </p:nvSpPr>
        <p:spPr>
          <a:xfrm rot="5400000">
            <a:off x="5405080" y="2928474"/>
            <a:ext cx="4190474" cy="2500174"/>
          </a:xfrm>
          <a:prstGeom prst="roundRect">
            <a:avLst>
              <a:gd name="adj" fmla="val 4867"/>
            </a:avLst>
          </a:prstGeom>
          <a:gradFill flip="none" rotWithShape="1">
            <a:gsLst>
              <a:gs pos="0">
                <a:schemeClr val="bg2">
                  <a:lumMod val="20000"/>
                  <a:lumOff val="80000"/>
                </a:schemeClr>
              </a:gs>
              <a:gs pos="100000">
                <a:schemeClr val="bg1"/>
              </a:gs>
            </a:gsLst>
            <a:lin ang="16200000" scaled="1"/>
            <a:tileRect/>
          </a:gradFill>
          <a:ln w="3175">
            <a:gradFill flip="none" rotWithShape="1">
              <a:gsLst>
                <a:gs pos="15000">
                  <a:srgbClr val="01B9CE">
                    <a:alpha val="43000"/>
                  </a:srgbClr>
                </a:gs>
                <a:gs pos="89000">
                  <a:schemeClr val="accent1"/>
                </a:gs>
              </a:gsLst>
              <a:lin ang="16200000" scaled="1"/>
              <a:tileRect/>
            </a:gradFill>
          </a:ln>
          <a:effectLst>
            <a:outerShdw blurRad="228600" dist="76200" dir="2700000" algn="tl" rotWithShape="0">
              <a:schemeClr val="tx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defTabSz="914492">
              <a:defRPr/>
            </a:pPr>
            <a:endParaRPr lang="en-IN" sz="1600" dirty="0">
              <a:solidFill>
                <a:srgbClr val="00A2B8"/>
              </a:solidFill>
              <a:latin typeface="Aptos" panose="020B0004020202020204"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C5C5A565-FBCF-8FB4-1852-3C5734C54E99}"/>
              </a:ext>
            </a:extLst>
          </p:cNvPr>
          <p:cNvSpPr txBox="1"/>
          <p:nvPr/>
        </p:nvSpPr>
        <p:spPr>
          <a:xfrm>
            <a:off x="6319102" y="2418292"/>
            <a:ext cx="2412422" cy="965905"/>
          </a:xfrm>
          <a:prstGeom prst="rect">
            <a:avLst/>
          </a:prstGeom>
          <a:noFill/>
        </p:spPr>
        <p:txBody>
          <a:bodyPr wrap="square">
            <a:spAutoFit/>
          </a:bodyPr>
          <a:lstStyle/>
          <a:p>
            <a:pPr algn="ctr" defTabSz="914492">
              <a:lnSpc>
                <a:spcPct val="150000"/>
              </a:lnSpc>
              <a:defRPr/>
            </a:pPr>
            <a:r>
              <a:rPr lang="en-IN" sz="1500" dirty="0">
                <a:solidFill>
                  <a:srgbClr val="004068"/>
                </a:solidFill>
                <a:latin typeface="Aptos" panose="020B0004020202020204" pitchFamily="34" charset="0"/>
                <a:ea typeface="Lato" panose="020F0502020204030203" pitchFamily="34" charset="0"/>
                <a:cs typeface="Lato" panose="020F0502020204030203" pitchFamily="34" charset="0"/>
              </a:rPr>
              <a:t>Dr. Anand Jayaraman</a:t>
            </a:r>
          </a:p>
          <a:p>
            <a:pPr algn="ctr" defTabSz="914492">
              <a:lnSpc>
                <a:spcPct val="150000"/>
              </a:lnSpc>
              <a:spcAft>
                <a:spcPts val="600"/>
              </a:spcAft>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PhD - Univ. of </a:t>
            </a:r>
            <a:b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b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Pittsburgh, USA</a:t>
            </a:r>
          </a:p>
        </p:txBody>
      </p:sp>
      <p:sp>
        <p:nvSpPr>
          <p:cNvPr id="29" name="TextBox 28">
            <a:extLst>
              <a:ext uri="{FF2B5EF4-FFF2-40B4-BE49-F238E27FC236}">
                <a16:creationId xmlns:a16="http://schemas.microsoft.com/office/drawing/2014/main" id="{BF8EC3DC-1120-F82E-DF63-5B650F6CD3EA}"/>
              </a:ext>
            </a:extLst>
          </p:cNvPr>
          <p:cNvSpPr txBox="1"/>
          <p:nvPr/>
        </p:nvSpPr>
        <p:spPr>
          <a:xfrm>
            <a:off x="6382978" y="3581400"/>
            <a:ext cx="2150244" cy="2435539"/>
          </a:xfrm>
          <a:prstGeom prst="rect">
            <a:avLst/>
          </a:prstGeom>
          <a:noFill/>
        </p:spPr>
        <p:txBody>
          <a:bodyPr wrap="square">
            <a:spAutoFit/>
          </a:bodyPr>
          <a:lstStyle/>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20+ years in AI, cloud &amp; enterprise architecture</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Expert in MLOps, distributed systems, real-time data platforms</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Strategic advisor for AI-led digital transformation</a:t>
            </a:r>
            <a:b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br>
            <a:endParaRPr lang="en-US" sz="1200" dirty="0">
              <a:solidFill>
                <a:srgbClr val="101820"/>
              </a:solidFill>
              <a:latin typeface="Aptos" panose="020B0004020202020204" pitchFamily="34" charset="0"/>
              <a:ea typeface="Lato" panose="020F0502020204030203" pitchFamily="34" charset="0"/>
              <a:cs typeface="Lato" panose="020F0502020204030203" pitchFamily="34" charset="0"/>
            </a:endParaRPr>
          </a:p>
        </p:txBody>
      </p:sp>
      <p:pic>
        <p:nvPicPr>
          <p:cNvPr id="30" name="Picture 29">
            <a:extLst>
              <a:ext uri="{FF2B5EF4-FFF2-40B4-BE49-F238E27FC236}">
                <a16:creationId xmlns:a16="http://schemas.microsoft.com/office/drawing/2014/main" id="{570A7F76-FCBF-9499-C42D-22FC84EDD8F2}"/>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6966188" y="1355317"/>
            <a:ext cx="1068256" cy="1068256"/>
          </a:xfrm>
          <a:custGeom>
            <a:avLst/>
            <a:gdLst>
              <a:gd name="csX0" fmla="*/ 534128 w 1068256"/>
              <a:gd name="csY0" fmla="*/ 0 h 1068256"/>
              <a:gd name="csX1" fmla="*/ 1068256 w 1068256"/>
              <a:gd name="csY1" fmla="*/ 534128 h 1068256"/>
              <a:gd name="csX2" fmla="*/ 534128 w 1068256"/>
              <a:gd name="csY2" fmla="*/ 1068256 h 1068256"/>
              <a:gd name="csX3" fmla="*/ 0 w 1068256"/>
              <a:gd name="csY3" fmla="*/ 534128 h 1068256"/>
              <a:gd name="csX4" fmla="*/ 534128 w 1068256"/>
              <a:gd name="csY4" fmla="*/ 0 h 1068256"/>
            </a:gdLst>
            <a:ahLst/>
            <a:cxnLst>
              <a:cxn ang="0">
                <a:pos x="csX0" y="csY0"/>
              </a:cxn>
              <a:cxn ang="0">
                <a:pos x="csX1" y="csY1"/>
              </a:cxn>
              <a:cxn ang="0">
                <a:pos x="csX2" y="csY2"/>
              </a:cxn>
              <a:cxn ang="0">
                <a:pos x="csX3" y="csY3"/>
              </a:cxn>
              <a:cxn ang="0">
                <a:pos x="csX4" y="csY4"/>
              </a:cxn>
            </a:cxnLst>
            <a:rect l="l" t="t" r="r" b="b"/>
            <a:pathLst>
              <a:path w="1068256" h="1068256">
                <a:moveTo>
                  <a:pt x="534128" y="0"/>
                </a:moveTo>
                <a:cubicBezTo>
                  <a:pt x="829119" y="0"/>
                  <a:pt x="1068256" y="239137"/>
                  <a:pt x="1068256" y="534128"/>
                </a:cubicBezTo>
                <a:cubicBezTo>
                  <a:pt x="1068256" y="829119"/>
                  <a:pt x="829119" y="1068256"/>
                  <a:pt x="534128" y="1068256"/>
                </a:cubicBezTo>
                <a:cubicBezTo>
                  <a:pt x="239137" y="1068256"/>
                  <a:pt x="0" y="829119"/>
                  <a:pt x="0" y="534128"/>
                </a:cubicBezTo>
                <a:cubicBezTo>
                  <a:pt x="0" y="239137"/>
                  <a:pt x="239137" y="0"/>
                  <a:pt x="534128" y="0"/>
                </a:cubicBezTo>
                <a:close/>
              </a:path>
            </a:pathLst>
          </a:custGeom>
          <a:gradFill>
            <a:gsLst>
              <a:gs pos="16000">
                <a:schemeClr val="accent1"/>
              </a:gs>
              <a:gs pos="100000">
                <a:schemeClr val="bg1"/>
              </a:gs>
            </a:gsLst>
            <a:lin ang="0" scaled="0"/>
          </a:gradFill>
          <a:ln w="50800">
            <a:gradFill>
              <a:gsLst>
                <a:gs pos="17000">
                  <a:schemeClr val="accent1"/>
                </a:gs>
                <a:gs pos="100000">
                  <a:schemeClr val="bg1"/>
                </a:gs>
              </a:gsLst>
              <a:lin ang="5400000" scaled="1"/>
            </a:gradFill>
          </a:ln>
        </p:spPr>
      </p:pic>
      <p:sp>
        <p:nvSpPr>
          <p:cNvPr id="32" name="Rectangle: Rounded Corners 462">
            <a:extLst>
              <a:ext uri="{FF2B5EF4-FFF2-40B4-BE49-F238E27FC236}">
                <a16:creationId xmlns:a16="http://schemas.microsoft.com/office/drawing/2014/main" id="{07EEFDAE-863A-633F-9653-6BB427953CFF}"/>
              </a:ext>
            </a:extLst>
          </p:cNvPr>
          <p:cNvSpPr/>
          <p:nvPr/>
        </p:nvSpPr>
        <p:spPr>
          <a:xfrm rot="5400000">
            <a:off x="8001526" y="2928474"/>
            <a:ext cx="4190474" cy="2500174"/>
          </a:xfrm>
          <a:prstGeom prst="roundRect">
            <a:avLst>
              <a:gd name="adj" fmla="val 4867"/>
            </a:avLst>
          </a:prstGeom>
          <a:gradFill flip="none" rotWithShape="1">
            <a:gsLst>
              <a:gs pos="0">
                <a:schemeClr val="bg2">
                  <a:lumMod val="20000"/>
                  <a:lumOff val="80000"/>
                </a:schemeClr>
              </a:gs>
              <a:gs pos="100000">
                <a:schemeClr val="bg1"/>
              </a:gs>
            </a:gsLst>
            <a:lin ang="16200000" scaled="1"/>
            <a:tileRect/>
          </a:gradFill>
          <a:ln w="3175">
            <a:gradFill flip="none" rotWithShape="1">
              <a:gsLst>
                <a:gs pos="15000">
                  <a:srgbClr val="01B9CE">
                    <a:alpha val="43000"/>
                  </a:srgbClr>
                </a:gs>
                <a:gs pos="89000">
                  <a:schemeClr val="accent1"/>
                </a:gs>
              </a:gsLst>
              <a:lin ang="16200000" scaled="1"/>
              <a:tileRect/>
            </a:gradFill>
          </a:ln>
          <a:effectLst>
            <a:outerShdw blurRad="228600" dist="76200" dir="2700000" algn="tl" rotWithShape="0">
              <a:schemeClr val="tx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defTabSz="914492">
              <a:defRPr/>
            </a:pPr>
            <a:endParaRPr lang="en-IN" sz="1600" dirty="0">
              <a:solidFill>
                <a:srgbClr val="00A2B8"/>
              </a:solidFill>
              <a:latin typeface="Aptos" panose="020B0004020202020204" pitchFamily="34" charset="0"/>
              <a:ea typeface="Lato" panose="020F0502020204030203" pitchFamily="34" charset="0"/>
              <a:cs typeface="Lato" panose="020F0502020204030203" pitchFamily="34" charset="0"/>
            </a:endParaRPr>
          </a:p>
        </p:txBody>
      </p:sp>
      <p:sp>
        <p:nvSpPr>
          <p:cNvPr id="33" name="TextBox 32">
            <a:extLst>
              <a:ext uri="{FF2B5EF4-FFF2-40B4-BE49-F238E27FC236}">
                <a16:creationId xmlns:a16="http://schemas.microsoft.com/office/drawing/2014/main" id="{7BCA5DF1-A3C3-CC43-511B-CE11B142D0ED}"/>
              </a:ext>
            </a:extLst>
          </p:cNvPr>
          <p:cNvSpPr txBox="1"/>
          <p:nvPr/>
        </p:nvSpPr>
        <p:spPr>
          <a:xfrm>
            <a:off x="9081453" y="2418293"/>
            <a:ext cx="2150244" cy="965905"/>
          </a:xfrm>
          <a:prstGeom prst="rect">
            <a:avLst/>
          </a:prstGeom>
          <a:noFill/>
        </p:spPr>
        <p:txBody>
          <a:bodyPr wrap="square">
            <a:spAutoFit/>
          </a:bodyPr>
          <a:lstStyle/>
          <a:p>
            <a:pPr algn="ctr" defTabSz="914492">
              <a:lnSpc>
                <a:spcPct val="150000"/>
              </a:lnSpc>
              <a:defRPr/>
            </a:pPr>
            <a:r>
              <a:rPr lang="en-IN" sz="1500" dirty="0">
                <a:solidFill>
                  <a:srgbClr val="004068"/>
                </a:solidFill>
                <a:latin typeface="Aptos" panose="020B0004020202020204" pitchFamily="34" charset="0"/>
                <a:ea typeface="Lato" panose="020F0502020204030203" pitchFamily="34" charset="0"/>
                <a:cs typeface="Lato" panose="020F0502020204030203" pitchFamily="34" charset="0"/>
              </a:rPr>
              <a:t>Dr. Venkatesh Sunkad</a:t>
            </a:r>
          </a:p>
          <a:p>
            <a:pPr algn="ctr" defTabSz="914492">
              <a:lnSpc>
                <a:spcPct val="150000"/>
              </a:lnSpc>
              <a:spcAft>
                <a:spcPts val="600"/>
              </a:spcAft>
              <a:defRPr/>
            </a:pPr>
            <a:r>
              <a:rPr lang="en-IN" sz="1200" dirty="0">
                <a:solidFill>
                  <a:srgbClr val="101820"/>
                </a:solidFill>
                <a:latin typeface="Aptos" panose="020B0004020202020204" pitchFamily="34" charset="0"/>
                <a:ea typeface="Lato" panose="020F0502020204030203" pitchFamily="34" charset="0"/>
                <a:cs typeface="Lato" panose="020F0502020204030203" pitchFamily="34" charset="0"/>
              </a:rPr>
              <a:t>PhD – Univ. of Colorado Denver, USA</a:t>
            </a:r>
          </a:p>
        </p:txBody>
      </p:sp>
      <p:sp>
        <p:nvSpPr>
          <p:cNvPr id="34" name="TextBox 33">
            <a:extLst>
              <a:ext uri="{FF2B5EF4-FFF2-40B4-BE49-F238E27FC236}">
                <a16:creationId xmlns:a16="http://schemas.microsoft.com/office/drawing/2014/main" id="{BC2949A7-A3F7-8FAD-1F9B-1D3A9CF7BCD6}"/>
              </a:ext>
            </a:extLst>
          </p:cNvPr>
          <p:cNvSpPr txBox="1"/>
          <p:nvPr/>
        </p:nvSpPr>
        <p:spPr>
          <a:xfrm>
            <a:off x="9088679" y="3579091"/>
            <a:ext cx="2150244" cy="2158540"/>
          </a:xfrm>
          <a:prstGeom prst="rect">
            <a:avLst/>
          </a:prstGeom>
          <a:noFill/>
        </p:spPr>
        <p:txBody>
          <a:bodyPr wrap="square">
            <a:spAutoFit/>
          </a:bodyPr>
          <a:lstStyle/>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20+ years in AI, IoT &amp; telecom innovation</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Leadership roles at Vodafone, Viasat, CableLabs</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100+ global talks; award-winning technologist</a:t>
            </a:r>
          </a:p>
        </p:txBody>
      </p:sp>
      <p:pic>
        <p:nvPicPr>
          <p:cNvPr id="42" name="Picture 41">
            <a:extLst>
              <a:ext uri="{FF2B5EF4-FFF2-40B4-BE49-F238E27FC236}">
                <a16:creationId xmlns:a16="http://schemas.microsoft.com/office/drawing/2014/main" id="{2F0E2BEF-5DF6-5981-BC68-2A8B51001CCD}"/>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9625610" y="1355317"/>
            <a:ext cx="1068256" cy="1068256"/>
          </a:xfrm>
          <a:custGeom>
            <a:avLst/>
            <a:gdLst>
              <a:gd name="csX0" fmla="*/ 534128 w 1068256"/>
              <a:gd name="csY0" fmla="*/ 0 h 1068256"/>
              <a:gd name="csX1" fmla="*/ 1068256 w 1068256"/>
              <a:gd name="csY1" fmla="*/ 534128 h 1068256"/>
              <a:gd name="csX2" fmla="*/ 534128 w 1068256"/>
              <a:gd name="csY2" fmla="*/ 1068256 h 1068256"/>
              <a:gd name="csX3" fmla="*/ 0 w 1068256"/>
              <a:gd name="csY3" fmla="*/ 534128 h 1068256"/>
              <a:gd name="csX4" fmla="*/ 534128 w 1068256"/>
              <a:gd name="csY4" fmla="*/ 0 h 1068256"/>
            </a:gdLst>
            <a:ahLst/>
            <a:cxnLst>
              <a:cxn ang="0">
                <a:pos x="csX0" y="csY0"/>
              </a:cxn>
              <a:cxn ang="0">
                <a:pos x="csX1" y="csY1"/>
              </a:cxn>
              <a:cxn ang="0">
                <a:pos x="csX2" y="csY2"/>
              </a:cxn>
              <a:cxn ang="0">
                <a:pos x="csX3" y="csY3"/>
              </a:cxn>
              <a:cxn ang="0">
                <a:pos x="csX4" y="csY4"/>
              </a:cxn>
            </a:cxnLst>
            <a:rect l="l" t="t" r="r" b="b"/>
            <a:pathLst>
              <a:path w="1068256" h="1068256">
                <a:moveTo>
                  <a:pt x="534128" y="0"/>
                </a:moveTo>
                <a:cubicBezTo>
                  <a:pt x="829119" y="0"/>
                  <a:pt x="1068256" y="239137"/>
                  <a:pt x="1068256" y="534128"/>
                </a:cubicBezTo>
                <a:cubicBezTo>
                  <a:pt x="1068256" y="829119"/>
                  <a:pt x="829119" y="1068256"/>
                  <a:pt x="534128" y="1068256"/>
                </a:cubicBezTo>
                <a:cubicBezTo>
                  <a:pt x="239137" y="1068256"/>
                  <a:pt x="0" y="829119"/>
                  <a:pt x="0" y="534128"/>
                </a:cubicBezTo>
                <a:cubicBezTo>
                  <a:pt x="0" y="239137"/>
                  <a:pt x="239137" y="0"/>
                  <a:pt x="534128" y="0"/>
                </a:cubicBezTo>
                <a:close/>
              </a:path>
            </a:pathLst>
          </a:custGeom>
          <a:gradFill>
            <a:gsLst>
              <a:gs pos="16000">
                <a:schemeClr val="accent1"/>
              </a:gs>
              <a:gs pos="100000">
                <a:schemeClr val="bg1"/>
              </a:gs>
            </a:gsLst>
            <a:lin ang="0" scaled="0"/>
          </a:gradFill>
          <a:ln w="50800">
            <a:gradFill>
              <a:gsLst>
                <a:gs pos="17000">
                  <a:schemeClr val="accent1"/>
                </a:gs>
                <a:gs pos="100000">
                  <a:schemeClr val="bg1"/>
                </a:gs>
              </a:gsLst>
              <a:lin ang="5400000" scaled="1"/>
            </a:gradFill>
          </a:ln>
        </p:spPr>
      </p:pic>
      <p:pic>
        <p:nvPicPr>
          <p:cNvPr id="6" name="Picture 5" descr="A green hexagon with a white and white clock&#10;&#10;Description automatically generated">
            <a:extLst>
              <a:ext uri="{FF2B5EF4-FFF2-40B4-BE49-F238E27FC236}">
                <a16:creationId xmlns:a16="http://schemas.microsoft.com/office/drawing/2014/main" id="{73C0E150-3C33-DF09-9CD9-840A655F6E37}"/>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276796" y="81789"/>
            <a:ext cx="774393" cy="781973"/>
          </a:xfrm>
          <a:prstGeom prst="rect">
            <a:avLst/>
          </a:prstGeom>
        </p:spPr>
      </p:pic>
      <p:sp>
        <p:nvSpPr>
          <p:cNvPr id="7" name="TextBox 6">
            <a:extLst>
              <a:ext uri="{FF2B5EF4-FFF2-40B4-BE49-F238E27FC236}">
                <a16:creationId xmlns:a16="http://schemas.microsoft.com/office/drawing/2014/main" id="{047C2DF6-5F33-E670-B434-7FB90C6F860C}"/>
              </a:ext>
            </a:extLst>
          </p:cNvPr>
          <p:cNvSpPr txBox="1"/>
          <p:nvPr/>
        </p:nvSpPr>
        <p:spPr>
          <a:xfrm>
            <a:off x="2846091" y="6680201"/>
            <a:ext cx="6096000" cy="215444"/>
          </a:xfrm>
          <a:prstGeom prst="rect">
            <a:avLst/>
          </a:prstGeom>
          <a:noFill/>
        </p:spPr>
        <p:txBody>
          <a:bodyPr wrap="square">
            <a:spAutoFit/>
          </a:bodyPr>
          <a:lstStyle/>
          <a:p>
            <a:pPr algn="ctr" defTabSz="914446">
              <a:defRPr/>
            </a:pPr>
            <a:r>
              <a:rPr lang="en-US" sz="800" b="1" dirty="0">
                <a:solidFill>
                  <a:srgbClr val="0C3A2D"/>
                </a:solidFill>
                <a:latin typeface="Aptos" panose="020B0004020202020204" pitchFamily="34" charset="0"/>
                <a:ea typeface="Lato" panose="020F0502020204030203" pitchFamily="34" charset="0"/>
                <a:cs typeface="Lato" panose="020F0502020204030203" pitchFamily="34" charset="0"/>
              </a:rPr>
              <a:t>© 2026 </a:t>
            </a:r>
            <a:r>
              <a:rPr lang="en-US" sz="800" b="1" dirty="0" err="1">
                <a:solidFill>
                  <a:srgbClr val="0C3A2D"/>
                </a:solidFill>
                <a:latin typeface="Aptos" panose="020B0004020202020204" pitchFamily="34" charset="0"/>
                <a:ea typeface="Lato" panose="020F0502020204030203" pitchFamily="34" charset="0"/>
                <a:cs typeface="Lato" panose="020F0502020204030203" pitchFamily="34" charset="0"/>
              </a:rPr>
              <a:t>InsightVerge</a:t>
            </a:r>
            <a:r>
              <a:rPr lang="en-US" sz="800" b="1" dirty="0">
                <a:solidFill>
                  <a:srgbClr val="0C3A2D"/>
                </a:solidFill>
                <a:latin typeface="Aptos" panose="020B0004020202020204" pitchFamily="34" charset="0"/>
                <a:ea typeface="Lato" panose="020F0502020204030203" pitchFamily="34" charset="0"/>
                <a:cs typeface="Lato" panose="020F0502020204030203" pitchFamily="34" charset="0"/>
              </a:rPr>
              <a:t>. Confidential &amp; Proprietary. </a:t>
            </a:r>
            <a:endParaRPr lang="en-IN" sz="800" b="1" dirty="0">
              <a:solidFill>
                <a:srgbClr val="0C3A2D"/>
              </a:solidFill>
              <a:latin typeface="Aptos" panose="020B0004020202020204" pitchFamily="34" charset="0"/>
            </a:endParaRPr>
          </a:p>
        </p:txBody>
      </p:sp>
      <p:sp>
        <p:nvSpPr>
          <p:cNvPr id="5" name="TextBox 4">
            <a:hlinkClick r:id="rId7" action="ppaction://hlinksldjump"/>
            <a:extLst>
              <a:ext uri="{FF2B5EF4-FFF2-40B4-BE49-F238E27FC236}">
                <a16:creationId xmlns:a16="http://schemas.microsoft.com/office/drawing/2014/main" id="{28BC7D3E-0C08-F7D3-908E-805983050D81}"/>
              </a:ext>
            </a:extLst>
          </p:cNvPr>
          <p:cNvSpPr txBox="1">
            <a:spLocks/>
          </p:cNvSpPr>
          <p:nvPr/>
        </p:nvSpPr>
        <p:spPr>
          <a:xfrm>
            <a:off x="7979166" y="107491"/>
            <a:ext cx="413575" cy="107722"/>
          </a:xfrm>
          <a:prstGeom prst="rect">
            <a:avLst/>
          </a:prstGeom>
          <a:noFill/>
        </p:spPr>
        <p:txBody>
          <a:bodyPr wrap="none" lIns="0" tIns="0" rIns="0" bIns="0">
            <a:spAutoFit/>
          </a:bodyPr>
          <a:lstStyle/>
          <a:p>
            <a:pPr defTabSz="457201"/>
            <a:r>
              <a:rPr lang="en-IN" sz="700" dirty="0">
                <a:solidFill>
                  <a:prstClr val="white">
                    <a:lumMod val="50000"/>
                  </a:prstClr>
                </a:solidFill>
                <a:latin typeface="Aptos" panose="020B0004020202020204" pitchFamily="34" charset="0"/>
              </a:rPr>
              <a:t>AI Strategy</a:t>
            </a:r>
          </a:p>
        </p:txBody>
      </p:sp>
      <p:sp>
        <p:nvSpPr>
          <p:cNvPr id="8" name="TextBox 7">
            <a:hlinkClick r:id="" action="ppaction://noaction"/>
            <a:extLst>
              <a:ext uri="{FF2B5EF4-FFF2-40B4-BE49-F238E27FC236}">
                <a16:creationId xmlns:a16="http://schemas.microsoft.com/office/drawing/2014/main" id="{F02AB063-3947-FAB8-0735-6E10A2DF4672}"/>
              </a:ext>
            </a:extLst>
          </p:cNvPr>
          <p:cNvSpPr txBox="1">
            <a:spLocks/>
          </p:cNvSpPr>
          <p:nvPr/>
        </p:nvSpPr>
        <p:spPr>
          <a:xfrm>
            <a:off x="8519918" y="107491"/>
            <a:ext cx="548227" cy="107722"/>
          </a:xfrm>
          <a:prstGeom prst="rect">
            <a:avLst/>
          </a:prstGeom>
          <a:noFill/>
        </p:spPr>
        <p:txBody>
          <a:bodyPr wrap="none" lIns="0" tIns="0" rIns="0" bIns="0">
            <a:spAutoFit/>
          </a:bodyPr>
          <a:lstStyle/>
          <a:p>
            <a:pPr defTabSz="457201"/>
            <a:r>
              <a:rPr lang="en-IN" sz="700" dirty="0">
                <a:solidFill>
                  <a:prstClr val="white">
                    <a:lumMod val="50000"/>
                  </a:prstClr>
                </a:solidFill>
                <a:latin typeface="Aptos" panose="020B0004020202020204" pitchFamily="34" charset="0"/>
              </a:rPr>
              <a:t>AI Engineering</a:t>
            </a:r>
          </a:p>
        </p:txBody>
      </p:sp>
      <p:sp>
        <p:nvSpPr>
          <p:cNvPr id="9" name="TextBox 8">
            <a:hlinkClick r:id="" action="ppaction://noaction"/>
            <a:extLst>
              <a:ext uri="{FF2B5EF4-FFF2-40B4-BE49-F238E27FC236}">
                <a16:creationId xmlns:a16="http://schemas.microsoft.com/office/drawing/2014/main" id="{FEA32867-8754-B86D-0DBB-A35B31FCEE00}"/>
              </a:ext>
            </a:extLst>
          </p:cNvPr>
          <p:cNvSpPr txBox="1">
            <a:spLocks/>
          </p:cNvSpPr>
          <p:nvPr/>
        </p:nvSpPr>
        <p:spPr>
          <a:xfrm>
            <a:off x="9188910" y="107491"/>
            <a:ext cx="676467" cy="107722"/>
          </a:xfrm>
          <a:prstGeom prst="rect">
            <a:avLst/>
          </a:prstGeom>
          <a:noFill/>
        </p:spPr>
        <p:txBody>
          <a:bodyPr wrap="none" lIns="0" tIns="0" rIns="0" bIns="0">
            <a:spAutoFit/>
          </a:bodyPr>
          <a:lstStyle/>
          <a:p>
            <a:pPr defTabSz="457201"/>
            <a:r>
              <a:rPr lang="en-IN" sz="700" dirty="0">
                <a:solidFill>
                  <a:prstClr val="white">
                    <a:lumMod val="50000"/>
                  </a:prstClr>
                </a:solidFill>
                <a:latin typeface="Aptos" panose="020B0004020202020204" pitchFamily="34" charset="0"/>
              </a:rPr>
              <a:t>AI for Productivity</a:t>
            </a:r>
          </a:p>
        </p:txBody>
      </p:sp>
      <p:sp>
        <p:nvSpPr>
          <p:cNvPr id="12" name="TextBox 11">
            <a:hlinkClick r:id="" action="ppaction://noaction"/>
            <a:extLst>
              <a:ext uri="{FF2B5EF4-FFF2-40B4-BE49-F238E27FC236}">
                <a16:creationId xmlns:a16="http://schemas.microsoft.com/office/drawing/2014/main" id="{AFBC4F15-AD99-E2B2-72AE-C743B4AB97EF}"/>
              </a:ext>
            </a:extLst>
          </p:cNvPr>
          <p:cNvSpPr txBox="1">
            <a:spLocks/>
          </p:cNvSpPr>
          <p:nvPr/>
        </p:nvSpPr>
        <p:spPr>
          <a:xfrm>
            <a:off x="6227606" y="107491"/>
            <a:ext cx="780663" cy="107722"/>
          </a:xfrm>
          <a:prstGeom prst="rect">
            <a:avLst/>
          </a:prstGeom>
          <a:noFill/>
        </p:spPr>
        <p:txBody>
          <a:bodyPr wrap="none" lIns="0" tIns="0" rIns="0" bIns="0">
            <a:spAutoFit/>
          </a:bodyPr>
          <a:lstStyle/>
          <a:p>
            <a:pPr defTabSz="457201"/>
            <a:r>
              <a:rPr lang="en-IN" sz="700" dirty="0">
                <a:solidFill>
                  <a:prstClr val="white">
                    <a:lumMod val="50000"/>
                  </a:prstClr>
                </a:solidFill>
                <a:latin typeface="Aptos" panose="020B0004020202020204" pitchFamily="34" charset="0"/>
              </a:rPr>
              <a:t>Modular Curriculum</a:t>
            </a:r>
          </a:p>
        </p:txBody>
      </p:sp>
      <p:sp>
        <p:nvSpPr>
          <p:cNvPr id="14" name="TextBox 13">
            <a:hlinkClick r:id="" action="ppaction://noaction"/>
            <a:extLst>
              <a:ext uri="{FF2B5EF4-FFF2-40B4-BE49-F238E27FC236}">
                <a16:creationId xmlns:a16="http://schemas.microsoft.com/office/drawing/2014/main" id="{869B1F2A-5324-EE8D-D5D0-19D475BCA4C6}"/>
              </a:ext>
            </a:extLst>
          </p:cNvPr>
          <p:cNvSpPr txBox="1">
            <a:spLocks/>
          </p:cNvSpPr>
          <p:nvPr/>
        </p:nvSpPr>
        <p:spPr>
          <a:xfrm>
            <a:off x="5244424" y="107491"/>
            <a:ext cx="847989" cy="107722"/>
          </a:xfrm>
          <a:prstGeom prst="rect">
            <a:avLst/>
          </a:prstGeom>
          <a:noFill/>
        </p:spPr>
        <p:txBody>
          <a:bodyPr wrap="none" lIns="0" tIns="0" rIns="0" bIns="0">
            <a:spAutoFit/>
          </a:bodyPr>
          <a:lstStyle/>
          <a:p>
            <a:pPr defTabSz="457201"/>
            <a:r>
              <a:rPr lang="en-IN" sz="700" dirty="0">
                <a:solidFill>
                  <a:prstClr val="white">
                    <a:lumMod val="50000"/>
                  </a:prstClr>
                </a:solidFill>
                <a:latin typeface="Aptos" panose="020B0004020202020204" pitchFamily="34" charset="0"/>
              </a:rPr>
              <a:t>Capability Framework</a:t>
            </a:r>
          </a:p>
        </p:txBody>
      </p:sp>
      <p:sp>
        <p:nvSpPr>
          <p:cNvPr id="15" name="TextBox 14">
            <a:hlinkClick r:id="" action="ppaction://noaction"/>
            <a:extLst>
              <a:ext uri="{FF2B5EF4-FFF2-40B4-BE49-F238E27FC236}">
                <a16:creationId xmlns:a16="http://schemas.microsoft.com/office/drawing/2014/main" id="{C4236945-B697-0490-831A-BC3D3138DB02}"/>
              </a:ext>
            </a:extLst>
          </p:cNvPr>
          <p:cNvSpPr txBox="1">
            <a:spLocks/>
          </p:cNvSpPr>
          <p:nvPr/>
        </p:nvSpPr>
        <p:spPr>
          <a:xfrm>
            <a:off x="7124225" y="107491"/>
            <a:ext cx="726161" cy="107722"/>
          </a:xfrm>
          <a:prstGeom prst="rect">
            <a:avLst/>
          </a:prstGeom>
          <a:noFill/>
        </p:spPr>
        <p:txBody>
          <a:bodyPr wrap="none" lIns="0" tIns="0" rIns="0" bIns="0">
            <a:spAutoFit/>
          </a:bodyPr>
          <a:lstStyle/>
          <a:p>
            <a:pPr defTabSz="457201"/>
            <a:r>
              <a:rPr lang="en-IN" sz="700" dirty="0">
                <a:solidFill>
                  <a:prstClr val="white">
                    <a:lumMod val="50000"/>
                  </a:prstClr>
                </a:solidFill>
                <a:latin typeface="Aptos" panose="020B0004020202020204" pitchFamily="34" charset="0"/>
              </a:rPr>
              <a:t>Learning Pathways</a:t>
            </a:r>
          </a:p>
        </p:txBody>
      </p:sp>
      <p:sp>
        <p:nvSpPr>
          <p:cNvPr id="17" name="TextBox 16">
            <a:hlinkClick r:id="" action="ppaction://noaction"/>
            <a:extLst>
              <a:ext uri="{FF2B5EF4-FFF2-40B4-BE49-F238E27FC236}">
                <a16:creationId xmlns:a16="http://schemas.microsoft.com/office/drawing/2014/main" id="{85480622-2F1E-9398-557F-1B1B4D195AE2}"/>
              </a:ext>
            </a:extLst>
          </p:cNvPr>
          <p:cNvSpPr txBox="1">
            <a:spLocks/>
          </p:cNvSpPr>
          <p:nvPr/>
        </p:nvSpPr>
        <p:spPr>
          <a:xfrm>
            <a:off x="10019806" y="107491"/>
            <a:ext cx="602729" cy="107722"/>
          </a:xfrm>
          <a:prstGeom prst="rect">
            <a:avLst/>
          </a:prstGeom>
          <a:noFill/>
        </p:spPr>
        <p:txBody>
          <a:bodyPr wrap="none" lIns="0" tIns="0" rIns="0" bIns="0">
            <a:spAutoFit/>
          </a:bodyPr>
          <a:lstStyle/>
          <a:p>
            <a:pPr defTabSz="457201"/>
            <a:r>
              <a:rPr lang="en-IN" sz="700" dirty="0">
                <a:solidFill>
                  <a:srgbClr val="70AD47"/>
                </a:solidFill>
                <a:latin typeface="Aptos" panose="020B0004020202020204" pitchFamily="34" charset="0"/>
              </a:rPr>
              <a:t>Research Team</a:t>
            </a:r>
          </a:p>
        </p:txBody>
      </p:sp>
    </p:spTree>
    <p:extLst>
      <p:ext uri="{BB962C8B-B14F-4D97-AF65-F5344CB8AC3E}">
        <p14:creationId xmlns:p14="http://schemas.microsoft.com/office/powerpoint/2010/main" val="2252886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224FD-B1F0-243F-22A5-D6005FF21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7D71A2-98C6-B44E-78AC-0B1D05D86D62}"/>
              </a:ext>
            </a:extLst>
          </p:cNvPr>
          <p:cNvSpPr>
            <a:spLocks noGrp="1"/>
          </p:cNvSpPr>
          <p:nvPr>
            <p:ph type="title"/>
          </p:nvPr>
        </p:nvSpPr>
        <p:spPr/>
        <p:txBody>
          <a:bodyPr/>
          <a:lstStyle/>
          <a:p>
            <a:r>
              <a:rPr lang="en-US" sz="2933" b="1" dirty="0">
                <a:solidFill>
                  <a:srgbClr val="4FB97A"/>
                </a:solidFill>
                <a:latin typeface="Aptos" panose="020B0004020202020204" pitchFamily="34" charset="0"/>
                <a:ea typeface="Lato" panose="020F0502020204030203" pitchFamily="34" charset="0"/>
                <a:cs typeface="Lato" panose="020F0502020204030203" pitchFamily="34" charset="0"/>
              </a:rPr>
              <a:t>Some of our AI Capability &amp; Research Experts</a:t>
            </a:r>
          </a:p>
        </p:txBody>
      </p:sp>
      <p:sp>
        <p:nvSpPr>
          <p:cNvPr id="25" name="Rectangle: Rounded Corners 462">
            <a:extLst>
              <a:ext uri="{FF2B5EF4-FFF2-40B4-BE49-F238E27FC236}">
                <a16:creationId xmlns:a16="http://schemas.microsoft.com/office/drawing/2014/main" id="{B121BF1F-438B-BDE7-9C44-34FB076CB30F}"/>
              </a:ext>
            </a:extLst>
          </p:cNvPr>
          <p:cNvSpPr/>
          <p:nvPr/>
        </p:nvSpPr>
        <p:spPr>
          <a:xfrm rot="5400000">
            <a:off x="5193190" y="2939006"/>
            <a:ext cx="4190474" cy="2479114"/>
          </a:xfrm>
          <a:prstGeom prst="roundRect">
            <a:avLst>
              <a:gd name="adj" fmla="val 4867"/>
            </a:avLst>
          </a:prstGeom>
          <a:gradFill flip="none" rotWithShape="1">
            <a:gsLst>
              <a:gs pos="0">
                <a:schemeClr val="bg2">
                  <a:lumMod val="20000"/>
                  <a:lumOff val="80000"/>
                </a:schemeClr>
              </a:gs>
              <a:gs pos="100000">
                <a:schemeClr val="bg1"/>
              </a:gs>
            </a:gsLst>
            <a:lin ang="16200000" scaled="1"/>
            <a:tileRect/>
          </a:gradFill>
          <a:ln w="3175">
            <a:gradFill flip="none" rotWithShape="1">
              <a:gsLst>
                <a:gs pos="15000">
                  <a:srgbClr val="01B9CE">
                    <a:alpha val="43000"/>
                  </a:srgbClr>
                </a:gs>
                <a:gs pos="89000">
                  <a:schemeClr val="accent1"/>
                </a:gs>
              </a:gsLst>
              <a:lin ang="16200000" scaled="1"/>
              <a:tileRect/>
            </a:gradFill>
          </a:ln>
          <a:effectLst>
            <a:outerShdw blurRad="228600" dist="76200" dir="2700000" algn="tl" rotWithShape="0">
              <a:schemeClr val="tx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92">
              <a:lnSpc>
                <a:spcPct val="150000"/>
              </a:lnSpc>
              <a:defRPr/>
            </a:pPr>
            <a:endParaRPr lang="en-IN" sz="1600" dirty="0">
              <a:solidFill>
                <a:srgbClr val="00A2B8"/>
              </a:solidFill>
              <a:latin typeface="Aptos" panose="020B0004020202020204"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B5986AAC-5B5F-3C81-6287-0C4C81C97CD3}"/>
              </a:ext>
            </a:extLst>
          </p:cNvPr>
          <p:cNvSpPr txBox="1"/>
          <p:nvPr/>
        </p:nvSpPr>
        <p:spPr>
          <a:xfrm>
            <a:off x="5977917" y="2554844"/>
            <a:ext cx="2659505" cy="688907"/>
          </a:xfrm>
          <a:prstGeom prst="rect">
            <a:avLst/>
          </a:prstGeom>
          <a:noFill/>
        </p:spPr>
        <p:txBody>
          <a:bodyPr wrap="square">
            <a:spAutoFit/>
          </a:bodyPr>
          <a:lstStyle/>
          <a:p>
            <a:pPr algn="ctr" defTabSz="914492">
              <a:lnSpc>
                <a:spcPct val="150000"/>
              </a:lnSpc>
              <a:defRPr/>
            </a:pPr>
            <a:r>
              <a:rPr lang="en-IN" sz="1500" dirty="0">
                <a:solidFill>
                  <a:srgbClr val="004068"/>
                </a:solidFill>
                <a:latin typeface="Aptos" panose="020B0004020202020204" pitchFamily="34" charset="0"/>
                <a:ea typeface="Lato" panose="020F0502020204030203" pitchFamily="34" charset="0"/>
                <a:cs typeface="Lato" panose="020F0502020204030203" pitchFamily="34" charset="0"/>
              </a:rPr>
              <a:t>Dr. Vinay Chowdary</a:t>
            </a:r>
          </a:p>
          <a:p>
            <a:pPr algn="ctr" defTabSz="914492">
              <a:lnSpc>
                <a:spcPct val="150000"/>
              </a:lnSpc>
              <a:spcAft>
                <a:spcPts val="600"/>
              </a:spcAft>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PhD – UPES, India</a:t>
            </a:r>
          </a:p>
        </p:txBody>
      </p:sp>
      <p:sp>
        <p:nvSpPr>
          <p:cNvPr id="29" name="TextBox 28">
            <a:extLst>
              <a:ext uri="{FF2B5EF4-FFF2-40B4-BE49-F238E27FC236}">
                <a16:creationId xmlns:a16="http://schemas.microsoft.com/office/drawing/2014/main" id="{9F6C3734-C141-E2DE-EE4E-97F1FA54B9F4}"/>
              </a:ext>
            </a:extLst>
          </p:cNvPr>
          <p:cNvSpPr txBox="1"/>
          <p:nvPr/>
        </p:nvSpPr>
        <p:spPr>
          <a:xfrm>
            <a:off x="6030131" y="3711595"/>
            <a:ext cx="2659505" cy="1604542"/>
          </a:xfrm>
          <a:prstGeom prst="rect">
            <a:avLst/>
          </a:prstGeom>
          <a:noFill/>
        </p:spPr>
        <p:txBody>
          <a:bodyPr wrap="square">
            <a:spAutoFit/>
          </a:bodyPr>
          <a:lstStyle/>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15+ years in ML, XAI &amp; NLP</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Specialist in explainable AI &amp; knowledge graphs</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Strong blend of research + production ML systems</a:t>
            </a:r>
          </a:p>
        </p:txBody>
      </p:sp>
      <p:pic>
        <p:nvPicPr>
          <p:cNvPr id="30" name="Picture 29">
            <a:extLst>
              <a:ext uri="{FF2B5EF4-FFF2-40B4-BE49-F238E27FC236}">
                <a16:creationId xmlns:a16="http://schemas.microsoft.com/office/drawing/2014/main" id="{C0BF7A59-1A84-BBAF-516E-19624D365B59}"/>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6825755" y="1355318"/>
            <a:ext cx="1068256" cy="1068256"/>
          </a:xfrm>
          <a:custGeom>
            <a:avLst/>
            <a:gdLst>
              <a:gd name="csX0" fmla="*/ 534128 w 1068256"/>
              <a:gd name="csY0" fmla="*/ 0 h 1068256"/>
              <a:gd name="csX1" fmla="*/ 1068256 w 1068256"/>
              <a:gd name="csY1" fmla="*/ 534128 h 1068256"/>
              <a:gd name="csX2" fmla="*/ 534128 w 1068256"/>
              <a:gd name="csY2" fmla="*/ 1068256 h 1068256"/>
              <a:gd name="csX3" fmla="*/ 0 w 1068256"/>
              <a:gd name="csY3" fmla="*/ 534128 h 1068256"/>
              <a:gd name="csX4" fmla="*/ 534128 w 1068256"/>
              <a:gd name="csY4" fmla="*/ 0 h 1068256"/>
            </a:gdLst>
            <a:ahLst/>
            <a:cxnLst>
              <a:cxn ang="0">
                <a:pos x="csX0" y="csY0"/>
              </a:cxn>
              <a:cxn ang="0">
                <a:pos x="csX1" y="csY1"/>
              </a:cxn>
              <a:cxn ang="0">
                <a:pos x="csX2" y="csY2"/>
              </a:cxn>
              <a:cxn ang="0">
                <a:pos x="csX3" y="csY3"/>
              </a:cxn>
              <a:cxn ang="0">
                <a:pos x="csX4" y="csY4"/>
              </a:cxn>
            </a:cxnLst>
            <a:rect l="l" t="t" r="r" b="b"/>
            <a:pathLst>
              <a:path w="1068256" h="1068256">
                <a:moveTo>
                  <a:pt x="534128" y="0"/>
                </a:moveTo>
                <a:cubicBezTo>
                  <a:pt x="829119" y="0"/>
                  <a:pt x="1068256" y="239137"/>
                  <a:pt x="1068256" y="534128"/>
                </a:cubicBezTo>
                <a:cubicBezTo>
                  <a:pt x="1068256" y="829119"/>
                  <a:pt x="829119" y="1068256"/>
                  <a:pt x="534128" y="1068256"/>
                </a:cubicBezTo>
                <a:cubicBezTo>
                  <a:pt x="239137" y="1068256"/>
                  <a:pt x="0" y="829119"/>
                  <a:pt x="0" y="534128"/>
                </a:cubicBezTo>
                <a:cubicBezTo>
                  <a:pt x="0" y="239137"/>
                  <a:pt x="239137" y="0"/>
                  <a:pt x="534128" y="0"/>
                </a:cubicBezTo>
                <a:close/>
              </a:path>
            </a:pathLst>
          </a:custGeom>
          <a:gradFill>
            <a:gsLst>
              <a:gs pos="16000">
                <a:schemeClr val="accent1"/>
              </a:gs>
              <a:gs pos="100000">
                <a:schemeClr val="bg1"/>
              </a:gs>
            </a:gsLst>
            <a:lin ang="0" scaled="0"/>
          </a:gradFill>
          <a:ln w="50800">
            <a:gradFill>
              <a:gsLst>
                <a:gs pos="17000">
                  <a:schemeClr val="accent1"/>
                </a:gs>
                <a:gs pos="100000">
                  <a:schemeClr val="bg1"/>
                </a:gs>
              </a:gsLst>
              <a:lin ang="5400000" scaled="1"/>
            </a:gradFill>
          </a:ln>
        </p:spPr>
      </p:pic>
      <p:sp>
        <p:nvSpPr>
          <p:cNvPr id="4" name="Rectangle: Rounded Corners 462">
            <a:extLst>
              <a:ext uri="{FF2B5EF4-FFF2-40B4-BE49-F238E27FC236}">
                <a16:creationId xmlns:a16="http://schemas.microsoft.com/office/drawing/2014/main" id="{63BB4E4E-B28D-6640-936B-630B9B2F104D}"/>
              </a:ext>
            </a:extLst>
          </p:cNvPr>
          <p:cNvSpPr/>
          <p:nvPr/>
        </p:nvSpPr>
        <p:spPr>
          <a:xfrm rot="5400000">
            <a:off x="-521923" y="2939006"/>
            <a:ext cx="4190474" cy="2479114"/>
          </a:xfrm>
          <a:prstGeom prst="roundRect">
            <a:avLst>
              <a:gd name="adj" fmla="val 4867"/>
            </a:avLst>
          </a:prstGeom>
          <a:gradFill flip="none" rotWithShape="1">
            <a:gsLst>
              <a:gs pos="0">
                <a:schemeClr val="bg2">
                  <a:lumMod val="20000"/>
                  <a:lumOff val="80000"/>
                </a:schemeClr>
              </a:gs>
              <a:gs pos="100000">
                <a:schemeClr val="bg1"/>
              </a:gs>
            </a:gsLst>
            <a:lin ang="16200000" scaled="1"/>
            <a:tileRect/>
          </a:gradFill>
          <a:ln w="3175">
            <a:gradFill flip="none" rotWithShape="1">
              <a:gsLst>
                <a:gs pos="15000">
                  <a:srgbClr val="01B9CE">
                    <a:alpha val="43000"/>
                  </a:srgbClr>
                </a:gs>
                <a:gs pos="89000">
                  <a:schemeClr val="accent1"/>
                </a:gs>
              </a:gsLst>
              <a:lin ang="16200000" scaled="1"/>
              <a:tileRect/>
            </a:gradFill>
          </a:ln>
          <a:effectLst>
            <a:outerShdw blurRad="228600" dist="76200" dir="2700000" algn="tl" rotWithShape="0">
              <a:schemeClr val="tx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92">
              <a:lnSpc>
                <a:spcPct val="150000"/>
              </a:lnSpc>
              <a:defRPr/>
            </a:pPr>
            <a:endParaRPr lang="en-IN" sz="1600" dirty="0">
              <a:solidFill>
                <a:srgbClr val="00A2B8"/>
              </a:solidFill>
              <a:latin typeface="Aptos" panose="020B0004020202020204"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42D65492-7ED1-12BB-967A-168A35845797}"/>
              </a:ext>
            </a:extLst>
          </p:cNvPr>
          <p:cNvSpPr txBox="1"/>
          <p:nvPr/>
        </p:nvSpPr>
        <p:spPr>
          <a:xfrm>
            <a:off x="262805" y="2554844"/>
            <a:ext cx="2659505" cy="965905"/>
          </a:xfrm>
          <a:prstGeom prst="rect">
            <a:avLst/>
          </a:prstGeom>
          <a:noFill/>
        </p:spPr>
        <p:txBody>
          <a:bodyPr wrap="square">
            <a:spAutoFit/>
          </a:bodyPr>
          <a:lstStyle/>
          <a:p>
            <a:pPr algn="ctr" defTabSz="914492">
              <a:lnSpc>
                <a:spcPct val="150000"/>
              </a:lnSpc>
              <a:defRPr/>
            </a:pPr>
            <a:r>
              <a:rPr lang="en-IN" sz="1500" dirty="0">
                <a:solidFill>
                  <a:srgbClr val="004068"/>
                </a:solidFill>
                <a:latin typeface="Aptos" panose="020B0004020202020204" pitchFamily="34" charset="0"/>
                <a:ea typeface="Lato" panose="020F0502020204030203" pitchFamily="34" charset="0"/>
                <a:cs typeface="Lato" panose="020F0502020204030203" pitchFamily="34" charset="0"/>
              </a:rPr>
              <a:t>Dr. Shonraj Ballea</a:t>
            </a:r>
          </a:p>
          <a:p>
            <a:pPr algn="ctr" defTabSz="914492">
              <a:lnSpc>
                <a:spcPct val="150000"/>
              </a:lnSpc>
              <a:spcAft>
                <a:spcPts val="600"/>
              </a:spcAft>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PhD – Univ. of Melbourne | Post Doc – Univ. of California, Berkeley</a:t>
            </a:r>
          </a:p>
        </p:txBody>
      </p:sp>
      <p:sp>
        <p:nvSpPr>
          <p:cNvPr id="11" name="TextBox 10">
            <a:extLst>
              <a:ext uri="{FF2B5EF4-FFF2-40B4-BE49-F238E27FC236}">
                <a16:creationId xmlns:a16="http://schemas.microsoft.com/office/drawing/2014/main" id="{682EFD71-7F90-1FCC-B368-3F39E397E256}"/>
              </a:ext>
            </a:extLst>
          </p:cNvPr>
          <p:cNvSpPr txBox="1"/>
          <p:nvPr/>
        </p:nvSpPr>
        <p:spPr>
          <a:xfrm>
            <a:off x="262805" y="3611409"/>
            <a:ext cx="2659505" cy="2158540"/>
          </a:xfrm>
          <a:prstGeom prst="rect">
            <a:avLst/>
          </a:prstGeom>
          <a:noFill/>
        </p:spPr>
        <p:txBody>
          <a:bodyPr wrap="square">
            <a:spAutoFit/>
          </a:bodyPr>
          <a:lstStyle/>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AI capability architect &amp; curriculum strategist</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Designs enterprise AI learning frameworks &amp; maturity models</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Focus on structured AI upskilling programs</a:t>
            </a:r>
            <a:b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br>
            <a:endParaRPr lang="en-US" sz="1200" dirty="0">
              <a:solidFill>
                <a:srgbClr val="101820"/>
              </a:solidFill>
              <a:latin typeface="Aptos" panose="020B0004020202020204" pitchFamily="34" charset="0"/>
              <a:ea typeface="Lato" panose="020F0502020204030203" pitchFamily="34" charset="0"/>
              <a:cs typeface="Lato" panose="020F0502020204030203" pitchFamily="34" charset="0"/>
            </a:endParaRPr>
          </a:p>
        </p:txBody>
      </p:sp>
      <p:pic>
        <p:nvPicPr>
          <p:cNvPr id="16" name="Picture 15">
            <a:extLst>
              <a:ext uri="{FF2B5EF4-FFF2-40B4-BE49-F238E27FC236}">
                <a16:creationId xmlns:a16="http://schemas.microsoft.com/office/drawing/2014/main" id="{2891F8A2-A1BF-0347-FEA8-220C0BE00008}"/>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1110643" y="1355318"/>
            <a:ext cx="1068256" cy="1068256"/>
          </a:xfrm>
          <a:custGeom>
            <a:avLst/>
            <a:gdLst>
              <a:gd name="csX0" fmla="*/ 534128 w 1068256"/>
              <a:gd name="csY0" fmla="*/ 0 h 1068256"/>
              <a:gd name="csX1" fmla="*/ 1068256 w 1068256"/>
              <a:gd name="csY1" fmla="*/ 534128 h 1068256"/>
              <a:gd name="csX2" fmla="*/ 534128 w 1068256"/>
              <a:gd name="csY2" fmla="*/ 1068256 h 1068256"/>
              <a:gd name="csX3" fmla="*/ 0 w 1068256"/>
              <a:gd name="csY3" fmla="*/ 534128 h 1068256"/>
              <a:gd name="csX4" fmla="*/ 534128 w 1068256"/>
              <a:gd name="csY4" fmla="*/ 0 h 1068256"/>
            </a:gdLst>
            <a:ahLst/>
            <a:cxnLst>
              <a:cxn ang="0">
                <a:pos x="csX0" y="csY0"/>
              </a:cxn>
              <a:cxn ang="0">
                <a:pos x="csX1" y="csY1"/>
              </a:cxn>
              <a:cxn ang="0">
                <a:pos x="csX2" y="csY2"/>
              </a:cxn>
              <a:cxn ang="0">
                <a:pos x="csX3" y="csY3"/>
              </a:cxn>
              <a:cxn ang="0">
                <a:pos x="csX4" y="csY4"/>
              </a:cxn>
            </a:cxnLst>
            <a:rect l="l" t="t" r="r" b="b"/>
            <a:pathLst>
              <a:path w="1068256" h="1068256">
                <a:moveTo>
                  <a:pt x="534128" y="0"/>
                </a:moveTo>
                <a:cubicBezTo>
                  <a:pt x="829119" y="0"/>
                  <a:pt x="1068256" y="239137"/>
                  <a:pt x="1068256" y="534128"/>
                </a:cubicBezTo>
                <a:cubicBezTo>
                  <a:pt x="1068256" y="829119"/>
                  <a:pt x="829119" y="1068256"/>
                  <a:pt x="534128" y="1068256"/>
                </a:cubicBezTo>
                <a:cubicBezTo>
                  <a:pt x="239137" y="1068256"/>
                  <a:pt x="0" y="829119"/>
                  <a:pt x="0" y="534128"/>
                </a:cubicBezTo>
                <a:cubicBezTo>
                  <a:pt x="0" y="239137"/>
                  <a:pt x="239137" y="0"/>
                  <a:pt x="534128" y="0"/>
                </a:cubicBezTo>
                <a:close/>
              </a:path>
            </a:pathLst>
          </a:custGeom>
          <a:gradFill>
            <a:gsLst>
              <a:gs pos="16000">
                <a:schemeClr val="accent1"/>
              </a:gs>
              <a:gs pos="100000">
                <a:schemeClr val="bg1"/>
              </a:gs>
            </a:gsLst>
            <a:lin ang="0" scaled="0"/>
          </a:gradFill>
          <a:ln w="50800">
            <a:gradFill>
              <a:gsLst>
                <a:gs pos="17000">
                  <a:schemeClr val="accent1"/>
                </a:gs>
                <a:gs pos="100000">
                  <a:schemeClr val="bg1"/>
                </a:gs>
              </a:gsLst>
              <a:lin ang="5400000" scaled="1"/>
            </a:gradFill>
          </a:ln>
        </p:spPr>
      </p:pic>
      <p:sp>
        <p:nvSpPr>
          <p:cNvPr id="19" name="Rectangle: Rounded Corners 462">
            <a:extLst>
              <a:ext uri="{FF2B5EF4-FFF2-40B4-BE49-F238E27FC236}">
                <a16:creationId xmlns:a16="http://schemas.microsoft.com/office/drawing/2014/main" id="{31301DE5-FCB4-6A95-529F-56AD21C9575C}"/>
              </a:ext>
            </a:extLst>
          </p:cNvPr>
          <p:cNvSpPr/>
          <p:nvPr/>
        </p:nvSpPr>
        <p:spPr>
          <a:xfrm rot="5400000">
            <a:off x="2344336" y="2939006"/>
            <a:ext cx="4190474" cy="2479114"/>
          </a:xfrm>
          <a:prstGeom prst="roundRect">
            <a:avLst>
              <a:gd name="adj" fmla="val 4867"/>
            </a:avLst>
          </a:prstGeom>
          <a:gradFill flip="none" rotWithShape="1">
            <a:gsLst>
              <a:gs pos="0">
                <a:schemeClr val="bg2">
                  <a:lumMod val="20000"/>
                  <a:lumOff val="80000"/>
                </a:schemeClr>
              </a:gs>
              <a:gs pos="100000">
                <a:schemeClr val="bg1"/>
              </a:gs>
            </a:gsLst>
            <a:lin ang="16200000" scaled="1"/>
            <a:tileRect/>
          </a:gradFill>
          <a:ln w="3175">
            <a:gradFill flip="none" rotWithShape="1">
              <a:gsLst>
                <a:gs pos="15000">
                  <a:srgbClr val="01B9CE">
                    <a:alpha val="43000"/>
                  </a:srgbClr>
                </a:gs>
                <a:gs pos="89000">
                  <a:schemeClr val="accent1"/>
                </a:gs>
              </a:gsLst>
              <a:lin ang="16200000" scaled="1"/>
              <a:tileRect/>
            </a:gradFill>
          </a:ln>
          <a:effectLst>
            <a:outerShdw blurRad="228600" dist="76200" dir="2700000" algn="tl" rotWithShape="0">
              <a:schemeClr val="tx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defTabSz="914492">
              <a:lnSpc>
                <a:spcPct val="150000"/>
              </a:lnSpc>
              <a:defRPr/>
            </a:pPr>
            <a:endParaRPr lang="en-IN" sz="1600" dirty="0">
              <a:solidFill>
                <a:srgbClr val="00A2B8"/>
              </a:solidFill>
              <a:latin typeface="Aptos" panose="020B0004020202020204" pitchFamily="34" charset="0"/>
              <a:ea typeface="Lato" panose="020F0502020204030203" pitchFamily="34" charset="0"/>
              <a:cs typeface="Lato" panose="020F0502020204030203" pitchFamily="34" charset="0"/>
            </a:endParaRPr>
          </a:p>
        </p:txBody>
      </p:sp>
      <p:sp>
        <p:nvSpPr>
          <p:cNvPr id="20" name="TextBox 19">
            <a:extLst>
              <a:ext uri="{FF2B5EF4-FFF2-40B4-BE49-F238E27FC236}">
                <a16:creationId xmlns:a16="http://schemas.microsoft.com/office/drawing/2014/main" id="{E770A384-7050-9F3D-99E6-E81DA9C81E4B}"/>
              </a:ext>
            </a:extLst>
          </p:cNvPr>
          <p:cNvSpPr txBox="1"/>
          <p:nvPr/>
        </p:nvSpPr>
        <p:spPr>
          <a:xfrm>
            <a:off x="3129064" y="2554844"/>
            <a:ext cx="2659505" cy="688907"/>
          </a:xfrm>
          <a:prstGeom prst="rect">
            <a:avLst/>
          </a:prstGeom>
          <a:noFill/>
        </p:spPr>
        <p:txBody>
          <a:bodyPr wrap="square">
            <a:spAutoFit/>
          </a:bodyPr>
          <a:lstStyle/>
          <a:p>
            <a:pPr algn="ctr" defTabSz="914492">
              <a:lnSpc>
                <a:spcPct val="150000"/>
              </a:lnSpc>
              <a:defRPr/>
            </a:pPr>
            <a:r>
              <a:rPr lang="en-IN" sz="1500" dirty="0">
                <a:solidFill>
                  <a:srgbClr val="004068"/>
                </a:solidFill>
                <a:latin typeface="Aptos" panose="020B0004020202020204" pitchFamily="34" charset="0"/>
                <a:ea typeface="Lato" panose="020F0502020204030203" pitchFamily="34" charset="0"/>
                <a:cs typeface="Lato" panose="020F0502020204030203" pitchFamily="34" charset="0"/>
              </a:rPr>
              <a:t>Dr. Siddhart Srivatsav</a:t>
            </a:r>
          </a:p>
          <a:p>
            <a:pPr algn="ctr" defTabSz="914492">
              <a:lnSpc>
                <a:spcPct val="150000"/>
              </a:lnSpc>
              <a:spcAft>
                <a:spcPts val="600"/>
              </a:spcAft>
              <a:defRPr/>
            </a:pPr>
            <a:r>
              <a:rPr lang="es-ES" sz="1200" dirty="0">
                <a:solidFill>
                  <a:srgbClr val="101820"/>
                </a:solidFill>
                <a:latin typeface="Aptos" panose="020B0004020202020204" pitchFamily="34" charset="0"/>
                <a:ea typeface="Lato" panose="020F0502020204030203" pitchFamily="34" charset="0"/>
                <a:cs typeface="Lato" panose="020F0502020204030203" pitchFamily="34" charset="0"/>
              </a:rPr>
              <a:t>PhD – Univ. of Nevada, Reno, USA</a:t>
            </a:r>
          </a:p>
        </p:txBody>
      </p:sp>
      <p:sp>
        <p:nvSpPr>
          <p:cNvPr id="21" name="TextBox 20">
            <a:extLst>
              <a:ext uri="{FF2B5EF4-FFF2-40B4-BE49-F238E27FC236}">
                <a16:creationId xmlns:a16="http://schemas.microsoft.com/office/drawing/2014/main" id="{CFBA5E79-F1EE-3CCA-6051-9BA2C9383CE5}"/>
              </a:ext>
            </a:extLst>
          </p:cNvPr>
          <p:cNvSpPr txBox="1"/>
          <p:nvPr/>
        </p:nvSpPr>
        <p:spPr>
          <a:xfrm>
            <a:off x="3152155" y="3643317"/>
            <a:ext cx="2659505" cy="1881541"/>
          </a:xfrm>
          <a:prstGeom prst="rect">
            <a:avLst/>
          </a:prstGeom>
          <a:noFill/>
        </p:spPr>
        <p:txBody>
          <a:bodyPr wrap="square">
            <a:spAutoFit/>
          </a:bodyPr>
          <a:lstStyle/>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Deep tech AI advisor &amp; research mentor</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Worked with Microsoft, Samsung, Rakuten</a:t>
            </a:r>
          </a:p>
          <a:p>
            <a:pPr marL="171468" indent="-171468" defTabSz="914492">
              <a:lnSpc>
                <a:spcPct val="150000"/>
              </a:lnSpc>
              <a:spcAft>
                <a:spcPts val="600"/>
              </a:spcAft>
              <a:buFont typeface="Arial" panose="020B0604020202020204" pitchFamily="34" charset="0"/>
              <a:buChar char="•"/>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Expert in translating research to production systems</a:t>
            </a:r>
          </a:p>
        </p:txBody>
      </p:sp>
      <p:pic>
        <p:nvPicPr>
          <p:cNvPr id="22" name="Picture 21">
            <a:extLst>
              <a:ext uri="{FF2B5EF4-FFF2-40B4-BE49-F238E27FC236}">
                <a16:creationId xmlns:a16="http://schemas.microsoft.com/office/drawing/2014/main" id="{8268ED69-3123-6BA9-E6CC-DB152DB281B1}"/>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976902" y="1355318"/>
            <a:ext cx="1068256" cy="1068256"/>
          </a:xfrm>
          <a:custGeom>
            <a:avLst/>
            <a:gdLst>
              <a:gd name="csX0" fmla="*/ 534128 w 1068256"/>
              <a:gd name="csY0" fmla="*/ 0 h 1068256"/>
              <a:gd name="csX1" fmla="*/ 1068256 w 1068256"/>
              <a:gd name="csY1" fmla="*/ 534128 h 1068256"/>
              <a:gd name="csX2" fmla="*/ 534128 w 1068256"/>
              <a:gd name="csY2" fmla="*/ 1068256 h 1068256"/>
              <a:gd name="csX3" fmla="*/ 0 w 1068256"/>
              <a:gd name="csY3" fmla="*/ 534128 h 1068256"/>
              <a:gd name="csX4" fmla="*/ 534128 w 1068256"/>
              <a:gd name="csY4" fmla="*/ 0 h 1068256"/>
            </a:gdLst>
            <a:ahLst/>
            <a:cxnLst>
              <a:cxn ang="0">
                <a:pos x="csX0" y="csY0"/>
              </a:cxn>
              <a:cxn ang="0">
                <a:pos x="csX1" y="csY1"/>
              </a:cxn>
              <a:cxn ang="0">
                <a:pos x="csX2" y="csY2"/>
              </a:cxn>
              <a:cxn ang="0">
                <a:pos x="csX3" y="csY3"/>
              </a:cxn>
              <a:cxn ang="0">
                <a:pos x="csX4" y="csY4"/>
              </a:cxn>
            </a:cxnLst>
            <a:rect l="l" t="t" r="r" b="b"/>
            <a:pathLst>
              <a:path w="1068256" h="1068256">
                <a:moveTo>
                  <a:pt x="534128" y="0"/>
                </a:moveTo>
                <a:cubicBezTo>
                  <a:pt x="829119" y="0"/>
                  <a:pt x="1068256" y="239137"/>
                  <a:pt x="1068256" y="534128"/>
                </a:cubicBezTo>
                <a:cubicBezTo>
                  <a:pt x="1068256" y="829119"/>
                  <a:pt x="829119" y="1068256"/>
                  <a:pt x="534128" y="1068256"/>
                </a:cubicBezTo>
                <a:cubicBezTo>
                  <a:pt x="239137" y="1068256"/>
                  <a:pt x="0" y="829119"/>
                  <a:pt x="0" y="534128"/>
                </a:cubicBezTo>
                <a:cubicBezTo>
                  <a:pt x="0" y="239137"/>
                  <a:pt x="239137" y="0"/>
                  <a:pt x="534128" y="0"/>
                </a:cubicBezTo>
                <a:close/>
              </a:path>
            </a:pathLst>
          </a:custGeom>
          <a:gradFill>
            <a:gsLst>
              <a:gs pos="16000">
                <a:schemeClr val="accent1"/>
              </a:gs>
              <a:gs pos="100000">
                <a:schemeClr val="bg1"/>
              </a:gs>
            </a:gsLst>
            <a:lin ang="0" scaled="0"/>
          </a:gradFill>
          <a:ln w="50800">
            <a:gradFill>
              <a:gsLst>
                <a:gs pos="17000">
                  <a:schemeClr val="accent1"/>
                </a:gs>
                <a:gs pos="100000">
                  <a:schemeClr val="bg1"/>
                </a:gs>
              </a:gsLst>
              <a:lin ang="5400000" scaled="1"/>
            </a:gradFill>
          </a:ln>
        </p:spPr>
      </p:pic>
      <p:pic>
        <p:nvPicPr>
          <p:cNvPr id="6" name="Picture 5" descr="A green hexagon with a white and white clock&#10;&#10;Description automatically generated">
            <a:extLst>
              <a:ext uri="{FF2B5EF4-FFF2-40B4-BE49-F238E27FC236}">
                <a16:creationId xmlns:a16="http://schemas.microsoft.com/office/drawing/2014/main" id="{919BFD74-B0DD-1CCA-F26F-3B041D7CEAC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276796" y="81789"/>
            <a:ext cx="774393" cy="781973"/>
          </a:xfrm>
          <a:prstGeom prst="rect">
            <a:avLst/>
          </a:prstGeom>
        </p:spPr>
      </p:pic>
      <p:sp>
        <p:nvSpPr>
          <p:cNvPr id="8" name="TextBox 7">
            <a:extLst>
              <a:ext uri="{FF2B5EF4-FFF2-40B4-BE49-F238E27FC236}">
                <a16:creationId xmlns:a16="http://schemas.microsoft.com/office/drawing/2014/main" id="{44811730-9F45-6BA0-A004-13D975E25BC6}"/>
              </a:ext>
            </a:extLst>
          </p:cNvPr>
          <p:cNvSpPr txBox="1"/>
          <p:nvPr/>
        </p:nvSpPr>
        <p:spPr>
          <a:xfrm>
            <a:off x="2584827" y="6680201"/>
            <a:ext cx="6096000" cy="215444"/>
          </a:xfrm>
          <a:prstGeom prst="rect">
            <a:avLst/>
          </a:prstGeom>
          <a:noFill/>
        </p:spPr>
        <p:txBody>
          <a:bodyPr wrap="square">
            <a:spAutoFit/>
          </a:bodyPr>
          <a:lstStyle/>
          <a:p>
            <a:pPr algn="ctr" defTabSz="914446">
              <a:defRPr/>
            </a:pPr>
            <a:r>
              <a:rPr lang="en-US" sz="800" b="1" dirty="0">
                <a:solidFill>
                  <a:srgbClr val="0C3A2D"/>
                </a:solidFill>
                <a:latin typeface="Aptos" panose="020B0004020202020204" pitchFamily="34" charset="0"/>
                <a:ea typeface="Lato" panose="020F0502020204030203" pitchFamily="34" charset="0"/>
                <a:cs typeface="Lato" panose="020F0502020204030203" pitchFamily="34" charset="0"/>
              </a:rPr>
              <a:t>© 2026 </a:t>
            </a:r>
            <a:r>
              <a:rPr lang="en-US" sz="800" b="1" dirty="0" err="1">
                <a:solidFill>
                  <a:srgbClr val="0C3A2D"/>
                </a:solidFill>
                <a:latin typeface="Aptos" panose="020B0004020202020204" pitchFamily="34" charset="0"/>
                <a:ea typeface="Lato" panose="020F0502020204030203" pitchFamily="34" charset="0"/>
                <a:cs typeface="Lato" panose="020F0502020204030203" pitchFamily="34" charset="0"/>
              </a:rPr>
              <a:t>InsightVerge</a:t>
            </a:r>
            <a:r>
              <a:rPr lang="en-US" sz="800" b="1" dirty="0">
                <a:solidFill>
                  <a:srgbClr val="0C3A2D"/>
                </a:solidFill>
                <a:latin typeface="Aptos" panose="020B0004020202020204" pitchFamily="34" charset="0"/>
                <a:ea typeface="Lato" panose="020F0502020204030203" pitchFamily="34" charset="0"/>
                <a:cs typeface="Lato" panose="020F0502020204030203" pitchFamily="34" charset="0"/>
              </a:rPr>
              <a:t>. Confidential &amp; Proprietary. </a:t>
            </a:r>
            <a:endParaRPr lang="en-IN" sz="800" b="1" dirty="0">
              <a:solidFill>
                <a:srgbClr val="0C3A2D"/>
              </a:solidFill>
              <a:latin typeface="Aptos" panose="020B0004020202020204" pitchFamily="34" charset="0"/>
            </a:endParaRPr>
          </a:p>
        </p:txBody>
      </p:sp>
      <p:sp>
        <p:nvSpPr>
          <p:cNvPr id="13" name="Rectangle: Rounded Corners 462">
            <a:extLst>
              <a:ext uri="{FF2B5EF4-FFF2-40B4-BE49-F238E27FC236}">
                <a16:creationId xmlns:a16="http://schemas.microsoft.com/office/drawing/2014/main" id="{9A9F6822-7B1D-1B95-E2BC-90F7A6523BFE}"/>
              </a:ext>
            </a:extLst>
          </p:cNvPr>
          <p:cNvSpPr/>
          <p:nvPr/>
        </p:nvSpPr>
        <p:spPr>
          <a:xfrm rot="5400000">
            <a:off x="8100756" y="2930763"/>
            <a:ext cx="4190475" cy="2508669"/>
          </a:xfrm>
          <a:prstGeom prst="roundRect">
            <a:avLst>
              <a:gd name="adj" fmla="val 4867"/>
            </a:avLst>
          </a:prstGeom>
          <a:gradFill flip="none" rotWithShape="1">
            <a:gsLst>
              <a:gs pos="0">
                <a:srgbClr val="C8C9C7">
                  <a:lumMod val="20000"/>
                  <a:lumOff val="80000"/>
                </a:srgbClr>
              </a:gs>
              <a:gs pos="100000">
                <a:srgbClr val="FFFFFF"/>
              </a:gs>
            </a:gsLst>
            <a:lin ang="16200000" scaled="1"/>
            <a:tileRect/>
          </a:gradFill>
          <a:ln w="3175" cap="flat" cmpd="sng" algn="ctr">
            <a:gradFill flip="none" rotWithShape="1">
              <a:gsLst>
                <a:gs pos="15000">
                  <a:srgbClr val="01B9CE">
                    <a:alpha val="43000"/>
                  </a:srgbClr>
                </a:gs>
                <a:gs pos="89000">
                  <a:srgbClr val="004068"/>
                </a:gs>
              </a:gsLst>
              <a:lin ang="16200000" scaled="1"/>
              <a:tileRect/>
            </a:gradFill>
            <a:prstDash val="solid"/>
            <a:miter lim="800000"/>
          </a:ln>
          <a:effectLst>
            <a:outerShdw blurRad="228600" dist="76200" dir="2700000" algn="tl" rotWithShape="0">
              <a:srgbClr val="101820">
                <a:alpha val="20000"/>
              </a:srgbClr>
            </a:outerShdw>
          </a:effectLst>
        </p:spPr>
        <p:txBody>
          <a:bodyPr wrap="square" rtlCol="0" anchor="ctr">
            <a:noAutofit/>
          </a:bodyPr>
          <a:lstStyle/>
          <a:p>
            <a:pPr defTabSz="609660">
              <a:lnSpc>
                <a:spcPct val="150000"/>
              </a:lnSpc>
              <a:defRPr/>
            </a:pPr>
            <a:endParaRPr lang="en-IN" sz="1067" kern="0" dirty="0">
              <a:solidFill>
                <a:srgbClr val="00A2B8"/>
              </a:solidFill>
              <a:latin typeface="Aptos" panose="020B0004020202020204" pitchFamily="34" charset="0"/>
              <a:ea typeface="Lato" panose="020F0502020204030203" pitchFamily="34" charset="0"/>
              <a:cs typeface="Lato" panose="020F0502020204030203" pitchFamily="34" charset="0"/>
            </a:endParaRPr>
          </a:p>
        </p:txBody>
      </p:sp>
      <p:pic>
        <p:nvPicPr>
          <p:cNvPr id="17" name="Picture 16">
            <a:extLst>
              <a:ext uri="{FF2B5EF4-FFF2-40B4-BE49-F238E27FC236}">
                <a16:creationId xmlns:a16="http://schemas.microsoft.com/office/drawing/2014/main" id="{F9007E08-9B4B-2CFC-2152-91A5DD37D5DF}"/>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9610395" y="1355320"/>
            <a:ext cx="1157185" cy="988990"/>
          </a:xfrm>
          <a:custGeom>
            <a:avLst/>
            <a:gdLst>
              <a:gd name="csX0" fmla="*/ 534128 w 1068256"/>
              <a:gd name="csY0" fmla="*/ 0 h 1068256"/>
              <a:gd name="csX1" fmla="*/ 1068256 w 1068256"/>
              <a:gd name="csY1" fmla="*/ 534128 h 1068256"/>
              <a:gd name="csX2" fmla="*/ 534128 w 1068256"/>
              <a:gd name="csY2" fmla="*/ 1068256 h 1068256"/>
              <a:gd name="csX3" fmla="*/ 0 w 1068256"/>
              <a:gd name="csY3" fmla="*/ 534128 h 1068256"/>
              <a:gd name="csX4" fmla="*/ 534128 w 1068256"/>
              <a:gd name="csY4" fmla="*/ 0 h 1068256"/>
            </a:gdLst>
            <a:ahLst/>
            <a:cxnLst>
              <a:cxn ang="0">
                <a:pos x="csX0" y="csY0"/>
              </a:cxn>
              <a:cxn ang="0">
                <a:pos x="csX1" y="csY1"/>
              </a:cxn>
              <a:cxn ang="0">
                <a:pos x="csX2" y="csY2"/>
              </a:cxn>
              <a:cxn ang="0">
                <a:pos x="csX3" y="csY3"/>
              </a:cxn>
              <a:cxn ang="0">
                <a:pos x="csX4" y="csY4"/>
              </a:cxn>
            </a:cxnLst>
            <a:rect l="l" t="t" r="r" b="b"/>
            <a:pathLst>
              <a:path w="1068256" h="1068256">
                <a:moveTo>
                  <a:pt x="534128" y="0"/>
                </a:moveTo>
                <a:cubicBezTo>
                  <a:pt x="829119" y="0"/>
                  <a:pt x="1068256" y="239137"/>
                  <a:pt x="1068256" y="534128"/>
                </a:cubicBezTo>
                <a:cubicBezTo>
                  <a:pt x="1068256" y="829119"/>
                  <a:pt x="829119" y="1068256"/>
                  <a:pt x="534128" y="1068256"/>
                </a:cubicBezTo>
                <a:cubicBezTo>
                  <a:pt x="239137" y="1068256"/>
                  <a:pt x="0" y="829119"/>
                  <a:pt x="0" y="534128"/>
                </a:cubicBezTo>
                <a:cubicBezTo>
                  <a:pt x="0" y="239137"/>
                  <a:pt x="239137" y="0"/>
                  <a:pt x="534128" y="0"/>
                </a:cubicBezTo>
                <a:close/>
              </a:path>
            </a:pathLst>
          </a:custGeom>
          <a:gradFill>
            <a:gsLst>
              <a:gs pos="16000">
                <a:schemeClr val="accent1"/>
              </a:gs>
              <a:gs pos="100000">
                <a:schemeClr val="bg1"/>
              </a:gs>
            </a:gsLst>
            <a:lin ang="0" scaled="0"/>
          </a:gradFill>
          <a:ln w="50800">
            <a:gradFill>
              <a:gsLst>
                <a:gs pos="17000">
                  <a:schemeClr val="accent1"/>
                </a:gs>
                <a:gs pos="100000">
                  <a:schemeClr val="bg1"/>
                </a:gs>
              </a:gsLst>
              <a:lin ang="5400000" scaled="1"/>
            </a:gradFill>
          </a:ln>
        </p:spPr>
      </p:pic>
      <p:sp>
        <p:nvSpPr>
          <p:cNvPr id="18" name="TextBox 17">
            <a:extLst>
              <a:ext uri="{FF2B5EF4-FFF2-40B4-BE49-F238E27FC236}">
                <a16:creationId xmlns:a16="http://schemas.microsoft.com/office/drawing/2014/main" id="{6CE93B1A-936C-D37E-D875-53259337AA8B}"/>
              </a:ext>
            </a:extLst>
          </p:cNvPr>
          <p:cNvSpPr txBox="1"/>
          <p:nvPr/>
        </p:nvSpPr>
        <p:spPr>
          <a:xfrm>
            <a:off x="9062727" y="2504066"/>
            <a:ext cx="2133600" cy="988989"/>
          </a:xfrm>
          <a:prstGeom prst="rect">
            <a:avLst/>
          </a:prstGeom>
          <a:noFill/>
        </p:spPr>
        <p:txBody>
          <a:bodyPr wrap="square">
            <a:spAutoFit/>
          </a:bodyPr>
          <a:lstStyle/>
          <a:p>
            <a:pPr algn="ctr" defTabSz="914446">
              <a:lnSpc>
                <a:spcPct val="150000"/>
              </a:lnSpc>
              <a:defRPr/>
            </a:pPr>
            <a:r>
              <a:rPr lang="en-IN" sz="1600" dirty="0">
                <a:solidFill>
                  <a:srgbClr val="004068"/>
                </a:solidFill>
                <a:latin typeface="Aptos" panose="020B0004020202020204" pitchFamily="34" charset="0"/>
                <a:ea typeface="Lato" panose="020F0502020204030203" pitchFamily="34" charset="0"/>
                <a:cs typeface="Lato" panose="020F0502020204030203" pitchFamily="34" charset="0"/>
              </a:rPr>
              <a:t>Srikanth </a:t>
            </a:r>
            <a:r>
              <a:rPr lang="en-IN" sz="1600" dirty="0" err="1">
                <a:solidFill>
                  <a:srgbClr val="004068"/>
                </a:solidFill>
                <a:latin typeface="Aptos" panose="020B0004020202020204" pitchFamily="34" charset="0"/>
                <a:ea typeface="Lato" panose="020F0502020204030203" pitchFamily="34" charset="0"/>
                <a:cs typeface="Lato" panose="020F0502020204030203" pitchFamily="34" charset="0"/>
              </a:rPr>
              <a:t>Rachkulla</a:t>
            </a:r>
            <a:endParaRPr lang="en-IN" sz="1600" dirty="0">
              <a:solidFill>
                <a:srgbClr val="004068"/>
              </a:solidFill>
              <a:latin typeface="Aptos" panose="020B0004020202020204" pitchFamily="34" charset="0"/>
              <a:ea typeface="Lato" panose="020F0502020204030203" pitchFamily="34" charset="0"/>
              <a:cs typeface="Lato" panose="020F0502020204030203" pitchFamily="34" charset="0"/>
            </a:endParaRPr>
          </a:p>
          <a:p>
            <a:pPr algn="ctr" defTabSz="609660">
              <a:lnSpc>
                <a:spcPct val="150000"/>
              </a:lnSpc>
              <a:spcAft>
                <a:spcPts val="400"/>
              </a:spcAft>
              <a:defRPr/>
            </a:pPr>
            <a:r>
              <a:rPr lang="en-US" sz="1200" dirty="0">
                <a:solidFill>
                  <a:srgbClr val="101820"/>
                </a:solidFill>
                <a:latin typeface="Aptos" panose="020B0004020202020204" pitchFamily="34" charset="0"/>
                <a:ea typeface="Lato" panose="020F0502020204030203" pitchFamily="34" charset="0"/>
                <a:cs typeface="Lato" panose="020F0502020204030203" pitchFamily="34" charset="0"/>
              </a:rPr>
              <a:t>(Doctoral Candidate) – Golden Gate Univ., USA</a:t>
            </a:r>
          </a:p>
        </p:txBody>
      </p:sp>
      <p:sp>
        <p:nvSpPr>
          <p:cNvPr id="27" name="TextBox 26">
            <a:extLst>
              <a:ext uri="{FF2B5EF4-FFF2-40B4-BE49-F238E27FC236}">
                <a16:creationId xmlns:a16="http://schemas.microsoft.com/office/drawing/2014/main" id="{5EBFFDC7-F871-FFDA-BE90-1E92BB0378F1}"/>
              </a:ext>
            </a:extLst>
          </p:cNvPr>
          <p:cNvSpPr txBox="1"/>
          <p:nvPr/>
        </p:nvSpPr>
        <p:spPr>
          <a:xfrm>
            <a:off x="9062727" y="3787211"/>
            <a:ext cx="2286000" cy="2158540"/>
          </a:xfrm>
          <a:prstGeom prst="rect">
            <a:avLst/>
          </a:prstGeom>
          <a:noFill/>
        </p:spPr>
        <p:txBody>
          <a:bodyPr wrap="square">
            <a:spAutoFit/>
          </a:bodyPr>
          <a:lstStyle/>
          <a:p>
            <a:pPr marL="114312" indent="-114312" defTabSz="914446">
              <a:lnSpc>
                <a:spcPct val="150000"/>
              </a:lnSpc>
              <a:spcAft>
                <a:spcPts val="400"/>
              </a:spcAft>
              <a:buFont typeface="Arial" panose="020B0604020202020204" pitchFamily="34" charset="0"/>
              <a:buChar char="•"/>
              <a:defRPr/>
            </a:pPr>
            <a:r>
              <a:rPr lang="en-US" sz="1200" dirty="0">
                <a:solidFill>
                  <a:prstClr val="black"/>
                </a:solidFill>
                <a:latin typeface="Aptos" panose="020B0004020202020204" pitchFamily="34" charset="0"/>
                <a:ea typeface="Lato" panose="020F0502020204030203" pitchFamily="34" charset="0"/>
                <a:cs typeface="Lato" panose="020F0502020204030203" pitchFamily="34" charset="0"/>
              </a:rPr>
              <a:t>17+ years in AI/ML &amp; GenAI delivery</a:t>
            </a:r>
          </a:p>
          <a:p>
            <a:pPr marL="114312" indent="-114312" defTabSz="914446">
              <a:lnSpc>
                <a:spcPct val="150000"/>
              </a:lnSpc>
              <a:spcAft>
                <a:spcPts val="400"/>
              </a:spcAft>
              <a:buFont typeface="Arial" panose="020B0604020202020204" pitchFamily="34" charset="0"/>
              <a:buChar char="•"/>
              <a:defRPr/>
            </a:pPr>
            <a:r>
              <a:rPr lang="en-US" sz="1200" dirty="0">
                <a:solidFill>
                  <a:prstClr val="black"/>
                </a:solidFill>
                <a:latin typeface="Aptos" panose="020B0004020202020204" pitchFamily="34" charset="0"/>
                <a:ea typeface="Lato" panose="020F0502020204030203" pitchFamily="34" charset="0"/>
                <a:cs typeface="Lato" panose="020F0502020204030203" pitchFamily="34" charset="0"/>
              </a:rPr>
              <a:t>Built enterprise-grade AI solutions across industries</a:t>
            </a:r>
          </a:p>
          <a:p>
            <a:pPr marL="114312" indent="-114312" defTabSz="914446">
              <a:lnSpc>
                <a:spcPct val="150000"/>
              </a:lnSpc>
              <a:spcAft>
                <a:spcPts val="400"/>
              </a:spcAft>
              <a:buFont typeface="Arial" panose="020B0604020202020204" pitchFamily="34" charset="0"/>
              <a:buChar char="•"/>
              <a:defRPr/>
            </a:pPr>
            <a:r>
              <a:rPr lang="en-US" sz="1200" dirty="0">
                <a:solidFill>
                  <a:prstClr val="black"/>
                </a:solidFill>
                <a:latin typeface="Aptos" panose="020B0004020202020204" pitchFamily="34" charset="0"/>
                <a:ea typeface="Lato" panose="020F0502020204030203" pitchFamily="34" charset="0"/>
                <a:cs typeface="Lato" panose="020F0502020204030203" pitchFamily="34" charset="0"/>
              </a:rPr>
              <a:t>Expert in LLMs, RAG, predictive modelling</a:t>
            </a:r>
          </a:p>
          <a:p>
            <a:pPr marL="114312" indent="-114312" defTabSz="914446">
              <a:lnSpc>
                <a:spcPct val="150000"/>
              </a:lnSpc>
              <a:spcAft>
                <a:spcPts val="400"/>
              </a:spcAft>
              <a:buFont typeface="Arial" panose="020B0604020202020204" pitchFamily="34" charset="0"/>
              <a:buChar char="•"/>
              <a:defRPr/>
            </a:pPr>
            <a:endParaRPr lang="en-US" sz="1200" dirty="0">
              <a:solidFill>
                <a:prstClr val="black"/>
              </a:solidFill>
              <a:latin typeface="Aptos" panose="020B0004020202020204" pitchFamily="34" charset="0"/>
              <a:ea typeface="Lato" panose="020F0502020204030203" pitchFamily="34" charset="0"/>
              <a:cs typeface="Lato" panose="020F0502020204030203" pitchFamily="34" charset="0"/>
            </a:endParaRPr>
          </a:p>
        </p:txBody>
      </p:sp>
      <p:sp>
        <p:nvSpPr>
          <p:cNvPr id="3" name="TextBox 2">
            <a:hlinkClick r:id="rId7" action="ppaction://hlinksldjump"/>
            <a:extLst>
              <a:ext uri="{FF2B5EF4-FFF2-40B4-BE49-F238E27FC236}">
                <a16:creationId xmlns:a16="http://schemas.microsoft.com/office/drawing/2014/main" id="{F4BFCD58-41CD-1B10-0A47-1FCD65F95D55}"/>
              </a:ext>
            </a:extLst>
          </p:cNvPr>
          <p:cNvSpPr txBox="1">
            <a:spLocks/>
          </p:cNvSpPr>
          <p:nvPr/>
        </p:nvSpPr>
        <p:spPr>
          <a:xfrm>
            <a:off x="7979166" y="107491"/>
            <a:ext cx="413575" cy="107722"/>
          </a:xfrm>
          <a:prstGeom prst="rect">
            <a:avLst/>
          </a:prstGeom>
          <a:noFill/>
        </p:spPr>
        <p:txBody>
          <a:bodyPr wrap="none" lIns="0" tIns="0" rIns="0" bIns="0">
            <a:spAutoFit/>
          </a:bodyPr>
          <a:lstStyle/>
          <a:p>
            <a:pPr defTabSz="457201">
              <a:defRPr/>
            </a:pPr>
            <a:r>
              <a:rPr lang="en-IN" sz="700" dirty="0">
                <a:solidFill>
                  <a:prstClr val="white">
                    <a:lumMod val="50000"/>
                  </a:prstClr>
                </a:solidFill>
                <a:latin typeface="Aptos" panose="020B0004020202020204" pitchFamily="34" charset="0"/>
              </a:rPr>
              <a:t>AI Strategy</a:t>
            </a:r>
          </a:p>
        </p:txBody>
      </p:sp>
      <p:sp>
        <p:nvSpPr>
          <p:cNvPr id="5" name="TextBox 4">
            <a:hlinkClick r:id="" action="ppaction://noaction"/>
            <a:extLst>
              <a:ext uri="{FF2B5EF4-FFF2-40B4-BE49-F238E27FC236}">
                <a16:creationId xmlns:a16="http://schemas.microsoft.com/office/drawing/2014/main" id="{8A80E031-F34B-056D-C37A-6965A63D61A8}"/>
              </a:ext>
            </a:extLst>
          </p:cNvPr>
          <p:cNvSpPr txBox="1">
            <a:spLocks/>
          </p:cNvSpPr>
          <p:nvPr/>
        </p:nvSpPr>
        <p:spPr>
          <a:xfrm>
            <a:off x="8519918" y="107491"/>
            <a:ext cx="548227" cy="107722"/>
          </a:xfrm>
          <a:prstGeom prst="rect">
            <a:avLst/>
          </a:prstGeom>
          <a:noFill/>
        </p:spPr>
        <p:txBody>
          <a:bodyPr wrap="none" lIns="0" tIns="0" rIns="0" bIns="0">
            <a:spAutoFit/>
          </a:bodyPr>
          <a:lstStyle/>
          <a:p>
            <a:pPr defTabSz="457201">
              <a:defRPr/>
            </a:pPr>
            <a:r>
              <a:rPr lang="en-IN" sz="700" dirty="0">
                <a:solidFill>
                  <a:prstClr val="white">
                    <a:lumMod val="50000"/>
                  </a:prstClr>
                </a:solidFill>
                <a:latin typeface="Aptos" panose="020B0004020202020204" pitchFamily="34" charset="0"/>
              </a:rPr>
              <a:t>AI Engineering</a:t>
            </a:r>
          </a:p>
        </p:txBody>
      </p:sp>
      <p:sp>
        <p:nvSpPr>
          <p:cNvPr id="7" name="TextBox 6">
            <a:hlinkClick r:id="" action="ppaction://noaction"/>
            <a:extLst>
              <a:ext uri="{FF2B5EF4-FFF2-40B4-BE49-F238E27FC236}">
                <a16:creationId xmlns:a16="http://schemas.microsoft.com/office/drawing/2014/main" id="{5691D6E3-9736-2D8F-D2AA-039F7B6B91AE}"/>
              </a:ext>
            </a:extLst>
          </p:cNvPr>
          <p:cNvSpPr txBox="1">
            <a:spLocks/>
          </p:cNvSpPr>
          <p:nvPr/>
        </p:nvSpPr>
        <p:spPr>
          <a:xfrm>
            <a:off x="9188910" y="107491"/>
            <a:ext cx="676467" cy="107722"/>
          </a:xfrm>
          <a:prstGeom prst="rect">
            <a:avLst/>
          </a:prstGeom>
          <a:noFill/>
        </p:spPr>
        <p:txBody>
          <a:bodyPr wrap="none" lIns="0" tIns="0" rIns="0" bIns="0">
            <a:spAutoFit/>
          </a:bodyPr>
          <a:lstStyle/>
          <a:p>
            <a:pPr defTabSz="457201">
              <a:defRPr/>
            </a:pPr>
            <a:r>
              <a:rPr lang="en-IN" sz="700" dirty="0">
                <a:solidFill>
                  <a:prstClr val="white">
                    <a:lumMod val="50000"/>
                  </a:prstClr>
                </a:solidFill>
                <a:latin typeface="Aptos" panose="020B0004020202020204" pitchFamily="34" charset="0"/>
              </a:rPr>
              <a:t>AI for Productivity</a:t>
            </a:r>
          </a:p>
        </p:txBody>
      </p:sp>
      <p:sp>
        <p:nvSpPr>
          <p:cNvPr id="9" name="TextBox 8">
            <a:hlinkClick r:id="rId8" action="ppaction://hlinksldjump"/>
            <a:extLst>
              <a:ext uri="{FF2B5EF4-FFF2-40B4-BE49-F238E27FC236}">
                <a16:creationId xmlns:a16="http://schemas.microsoft.com/office/drawing/2014/main" id="{9A440BF9-5AD6-E3FF-50ED-212A2129713D}"/>
              </a:ext>
            </a:extLst>
          </p:cNvPr>
          <p:cNvSpPr txBox="1">
            <a:spLocks/>
          </p:cNvSpPr>
          <p:nvPr/>
        </p:nvSpPr>
        <p:spPr>
          <a:xfrm>
            <a:off x="6227606" y="107491"/>
            <a:ext cx="780663" cy="107722"/>
          </a:xfrm>
          <a:prstGeom prst="rect">
            <a:avLst/>
          </a:prstGeom>
          <a:noFill/>
        </p:spPr>
        <p:txBody>
          <a:bodyPr wrap="none" lIns="0" tIns="0" rIns="0" bIns="0">
            <a:spAutoFit/>
          </a:bodyPr>
          <a:lstStyle/>
          <a:p>
            <a:pPr defTabSz="457201">
              <a:defRPr/>
            </a:pPr>
            <a:r>
              <a:rPr lang="en-IN" sz="700" dirty="0">
                <a:solidFill>
                  <a:prstClr val="white">
                    <a:lumMod val="50000"/>
                  </a:prstClr>
                </a:solidFill>
                <a:latin typeface="Aptos" panose="020B0004020202020204" pitchFamily="34" charset="0"/>
              </a:rPr>
              <a:t>Modular Curriculum</a:t>
            </a:r>
          </a:p>
        </p:txBody>
      </p:sp>
      <p:sp>
        <p:nvSpPr>
          <p:cNvPr id="12" name="TextBox 11">
            <a:hlinkClick r:id="rId9" action="ppaction://hlinksldjump"/>
            <a:extLst>
              <a:ext uri="{FF2B5EF4-FFF2-40B4-BE49-F238E27FC236}">
                <a16:creationId xmlns:a16="http://schemas.microsoft.com/office/drawing/2014/main" id="{875843A3-16CB-8262-66A6-95C522FF9DE5}"/>
              </a:ext>
            </a:extLst>
          </p:cNvPr>
          <p:cNvSpPr txBox="1">
            <a:spLocks/>
          </p:cNvSpPr>
          <p:nvPr/>
        </p:nvSpPr>
        <p:spPr>
          <a:xfrm>
            <a:off x="5244424" y="107491"/>
            <a:ext cx="847989" cy="107722"/>
          </a:xfrm>
          <a:prstGeom prst="rect">
            <a:avLst/>
          </a:prstGeom>
          <a:noFill/>
        </p:spPr>
        <p:txBody>
          <a:bodyPr wrap="none" lIns="0" tIns="0" rIns="0" bIns="0">
            <a:spAutoFit/>
          </a:bodyPr>
          <a:lstStyle/>
          <a:p>
            <a:pPr defTabSz="457201">
              <a:defRPr/>
            </a:pPr>
            <a:r>
              <a:rPr lang="en-IN" sz="700" dirty="0">
                <a:solidFill>
                  <a:prstClr val="white">
                    <a:lumMod val="50000"/>
                  </a:prstClr>
                </a:solidFill>
                <a:latin typeface="Aptos" panose="020B0004020202020204" pitchFamily="34" charset="0"/>
              </a:rPr>
              <a:t>Capability Framework</a:t>
            </a:r>
          </a:p>
        </p:txBody>
      </p:sp>
      <p:sp>
        <p:nvSpPr>
          <p:cNvPr id="14" name="TextBox 13">
            <a:hlinkClick r:id="rId10" action="ppaction://hlinksldjump"/>
            <a:extLst>
              <a:ext uri="{FF2B5EF4-FFF2-40B4-BE49-F238E27FC236}">
                <a16:creationId xmlns:a16="http://schemas.microsoft.com/office/drawing/2014/main" id="{83538D36-C023-BDCB-6D9C-C066C48C47AD}"/>
              </a:ext>
            </a:extLst>
          </p:cNvPr>
          <p:cNvSpPr txBox="1">
            <a:spLocks/>
          </p:cNvSpPr>
          <p:nvPr/>
        </p:nvSpPr>
        <p:spPr>
          <a:xfrm>
            <a:off x="7124225" y="107491"/>
            <a:ext cx="726161" cy="107722"/>
          </a:xfrm>
          <a:prstGeom prst="rect">
            <a:avLst/>
          </a:prstGeom>
          <a:noFill/>
        </p:spPr>
        <p:txBody>
          <a:bodyPr wrap="none" lIns="0" tIns="0" rIns="0" bIns="0">
            <a:spAutoFit/>
          </a:bodyPr>
          <a:lstStyle/>
          <a:p>
            <a:pPr defTabSz="457201">
              <a:defRPr/>
            </a:pPr>
            <a:r>
              <a:rPr lang="en-IN" sz="700" dirty="0">
                <a:solidFill>
                  <a:prstClr val="white">
                    <a:lumMod val="50000"/>
                  </a:prstClr>
                </a:solidFill>
                <a:latin typeface="Aptos" panose="020B0004020202020204" pitchFamily="34" charset="0"/>
              </a:rPr>
              <a:t>Learning Pathways</a:t>
            </a:r>
          </a:p>
        </p:txBody>
      </p:sp>
      <p:sp>
        <p:nvSpPr>
          <p:cNvPr id="15" name="TextBox 14">
            <a:hlinkClick r:id="" action="ppaction://noaction"/>
            <a:extLst>
              <a:ext uri="{FF2B5EF4-FFF2-40B4-BE49-F238E27FC236}">
                <a16:creationId xmlns:a16="http://schemas.microsoft.com/office/drawing/2014/main" id="{51FF65B4-1334-A18A-C1E2-B135FF420676}"/>
              </a:ext>
            </a:extLst>
          </p:cNvPr>
          <p:cNvSpPr txBox="1">
            <a:spLocks/>
          </p:cNvSpPr>
          <p:nvPr/>
        </p:nvSpPr>
        <p:spPr>
          <a:xfrm>
            <a:off x="10019806" y="107491"/>
            <a:ext cx="602729" cy="107722"/>
          </a:xfrm>
          <a:prstGeom prst="rect">
            <a:avLst/>
          </a:prstGeom>
          <a:noFill/>
        </p:spPr>
        <p:txBody>
          <a:bodyPr wrap="none" lIns="0" tIns="0" rIns="0" bIns="0">
            <a:spAutoFit/>
          </a:bodyPr>
          <a:lstStyle/>
          <a:p>
            <a:pPr defTabSz="457201">
              <a:defRPr/>
            </a:pPr>
            <a:r>
              <a:rPr lang="en-IN" sz="700" dirty="0">
                <a:solidFill>
                  <a:srgbClr val="70AD47"/>
                </a:solidFill>
                <a:latin typeface="Aptos" panose="020B0004020202020204" pitchFamily="34" charset="0"/>
              </a:rPr>
              <a:t>Research Team</a:t>
            </a:r>
          </a:p>
        </p:txBody>
      </p:sp>
    </p:spTree>
    <p:extLst>
      <p:ext uri="{BB962C8B-B14F-4D97-AF65-F5344CB8AC3E}">
        <p14:creationId xmlns:p14="http://schemas.microsoft.com/office/powerpoint/2010/main" val="58928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0" cap="none" spc="220" normalizeH="0" baseline="0" noProof="0" dirty="0">
                <a:ln>
                  <a:noFill/>
                </a:ln>
                <a:solidFill>
                  <a:srgbClr val="4FB97A"/>
                </a:solidFill>
                <a:effectLst/>
                <a:uLnTx/>
                <a:uFillTx/>
                <a:latin typeface="Aptos" panose="020B0004020202020204" pitchFamily="34" charset="0"/>
                <a:ea typeface="Calibri" pitchFamily="34" charset="-122"/>
                <a:cs typeface="Calibri" pitchFamily="34" charset="-120"/>
              </a:rPr>
              <a:t>CLIENTELE</a:t>
            </a:r>
            <a:endParaRPr kumimoji="0" lang="en-US" sz="11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3" name="Text 1"/>
          <p:cNvSpPr/>
          <p:nvPr/>
        </p:nvSpPr>
        <p:spPr>
          <a:xfrm>
            <a:off x="548640" y="713232"/>
            <a:ext cx="1109167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Aptos" panose="020B0004020202020204" pitchFamily="34" charset="0"/>
                <a:ea typeface="Cambria" pitchFamily="34" charset="-122"/>
                <a:cs typeface="Cambria" pitchFamily="34" charset="-120"/>
              </a:rPr>
              <a:t>Who we have worked with</a:t>
            </a:r>
            <a:endParaRPr kumimoji="0" lang="en-US" sz="24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 name="Text 2"/>
          <p:cNvSpPr/>
          <p:nvPr/>
        </p:nvSpPr>
        <p:spPr>
          <a:xfrm>
            <a:off x="548640" y="1298448"/>
            <a:ext cx="1060704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A6B64"/>
                </a:solidFill>
                <a:effectLst/>
                <a:uLnTx/>
                <a:uFillTx/>
                <a:latin typeface="Aptos" panose="020B0004020202020204" pitchFamily="34" charset="0"/>
                <a:ea typeface="Calibri" pitchFamily="34" charset="-122"/>
                <a:cs typeface="Calibri" pitchFamily="34" charset="-120"/>
              </a:rPr>
              <a:t>Enterprise AI capability building across technology, consulting, healthcare, manufacturing and retail — and academic program design with leading global institutions.</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5" name="Text 3"/>
          <p:cNvSpPr/>
          <p:nvPr/>
        </p:nvSpPr>
        <p:spPr>
          <a:xfrm>
            <a:off x="548640" y="1737360"/>
            <a:ext cx="45720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60" normalizeH="0" baseline="0" noProof="0" dirty="0">
                <a:ln>
                  <a:noFill/>
                </a:ln>
                <a:solidFill>
                  <a:srgbClr val="1B5C48"/>
                </a:solidFill>
                <a:effectLst/>
                <a:uLnTx/>
                <a:uFillTx/>
                <a:latin typeface="Aptos" panose="020B0004020202020204" pitchFamily="34" charset="0"/>
                <a:ea typeface="Calibri" pitchFamily="34" charset="-122"/>
                <a:cs typeface="Calibri" pitchFamily="34" charset="-120"/>
              </a:rPr>
              <a:t>ENTERPRISE CLIENTS</a:t>
            </a:r>
            <a:endParaRPr kumimoji="0" lang="en-US" sz="10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6" name="Shape 4"/>
          <p:cNvSpPr/>
          <p:nvPr/>
        </p:nvSpPr>
        <p:spPr>
          <a:xfrm>
            <a:off x="548640" y="2048256"/>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7" name="Image 0" descr="assets/cl_microsoft.png"/>
          <p:cNvPicPr>
            <a:picLocks noChangeAspect="1"/>
          </p:cNvPicPr>
          <p:nvPr/>
        </p:nvPicPr>
        <p:blipFill>
          <a:blip r:embed="rId3"/>
          <a:stretch>
            <a:fillRect/>
          </a:stretch>
        </p:blipFill>
        <p:spPr>
          <a:xfrm>
            <a:off x="945490" y="2194560"/>
            <a:ext cx="1307592" cy="438912"/>
          </a:xfrm>
          <a:prstGeom prst="rect">
            <a:avLst/>
          </a:prstGeom>
        </p:spPr>
      </p:pic>
      <p:sp>
        <p:nvSpPr>
          <p:cNvPr id="8" name="Shape 5"/>
          <p:cNvSpPr/>
          <p:nvPr/>
        </p:nvSpPr>
        <p:spPr>
          <a:xfrm>
            <a:off x="2796235" y="2048256"/>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9" name="Image 1" descr="assets/cl_oracle.png"/>
          <p:cNvPicPr>
            <a:picLocks noChangeAspect="1"/>
          </p:cNvPicPr>
          <p:nvPr/>
        </p:nvPicPr>
        <p:blipFill>
          <a:blip r:embed="rId4"/>
          <a:stretch>
            <a:fillRect/>
          </a:stretch>
        </p:blipFill>
        <p:spPr>
          <a:xfrm>
            <a:off x="2997403" y="2265785"/>
            <a:ext cx="1698955" cy="296462"/>
          </a:xfrm>
          <a:prstGeom prst="rect">
            <a:avLst/>
          </a:prstGeom>
        </p:spPr>
      </p:pic>
      <p:sp>
        <p:nvSpPr>
          <p:cNvPr id="10" name="Shape 6"/>
          <p:cNvSpPr/>
          <p:nvPr/>
        </p:nvSpPr>
        <p:spPr>
          <a:xfrm>
            <a:off x="5043830" y="2048256"/>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11" name="Image 2" descr="assets/cl_deloitte.png"/>
          <p:cNvPicPr>
            <a:picLocks noChangeAspect="1"/>
          </p:cNvPicPr>
          <p:nvPr/>
        </p:nvPicPr>
        <p:blipFill>
          <a:blip r:embed="rId5"/>
          <a:stretch>
            <a:fillRect/>
          </a:stretch>
        </p:blipFill>
        <p:spPr>
          <a:xfrm>
            <a:off x="5244998" y="2231114"/>
            <a:ext cx="1698955" cy="365804"/>
          </a:xfrm>
          <a:prstGeom prst="rect">
            <a:avLst/>
          </a:prstGeom>
        </p:spPr>
      </p:pic>
      <p:sp>
        <p:nvSpPr>
          <p:cNvPr id="12" name="Shape 7"/>
          <p:cNvSpPr/>
          <p:nvPr/>
        </p:nvSpPr>
        <p:spPr>
          <a:xfrm>
            <a:off x="7291426" y="2048256"/>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13" name="Image 3" descr="assets/cl_bosch.png"/>
          <p:cNvPicPr>
            <a:picLocks noChangeAspect="1"/>
          </p:cNvPicPr>
          <p:nvPr/>
        </p:nvPicPr>
        <p:blipFill>
          <a:blip r:embed="rId6"/>
          <a:stretch>
            <a:fillRect/>
          </a:stretch>
        </p:blipFill>
        <p:spPr>
          <a:xfrm>
            <a:off x="7558300" y="2194560"/>
            <a:ext cx="1567543" cy="438912"/>
          </a:xfrm>
          <a:prstGeom prst="rect">
            <a:avLst/>
          </a:prstGeom>
        </p:spPr>
      </p:pic>
      <p:sp>
        <p:nvSpPr>
          <p:cNvPr id="14" name="Shape 8"/>
          <p:cNvSpPr/>
          <p:nvPr/>
        </p:nvSpPr>
        <p:spPr>
          <a:xfrm>
            <a:off x="9539021" y="2048256"/>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15" name="Image 4" descr="assets/cl_samsung.png"/>
          <p:cNvPicPr>
            <a:picLocks noChangeAspect="1"/>
          </p:cNvPicPr>
          <p:nvPr/>
        </p:nvPicPr>
        <p:blipFill>
          <a:blip r:embed="rId7"/>
          <a:stretch>
            <a:fillRect/>
          </a:stretch>
        </p:blipFill>
        <p:spPr>
          <a:xfrm>
            <a:off x="9846348" y="2194560"/>
            <a:ext cx="1486637" cy="438912"/>
          </a:xfrm>
          <a:prstGeom prst="rect">
            <a:avLst/>
          </a:prstGeom>
        </p:spPr>
      </p:pic>
      <p:sp>
        <p:nvSpPr>
          <p:cNvPr id="16" name="Shape 9"/>
          <p:cNvSpPr/>
          <p:nvPr/>
        </p:nvSpPr>
        <p:spPr>
          <a:xfrm>
            <a:off x="548640" y="2907792"/>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17" name="Image 5" descr="assets/cl_jnj.png"/>
          <p:cNvPicPr>
            <a:picLocks noChangeAspect="1"/>
          </p:cNvPicPr>
          <p:nvPr/>
        </p:nvPicPr>
        <p:blipFill>
          <a:blip r:embed="rId8"/>
          <a:stretch>
            <a:fillRect/>
          </a:stretch>
        </p:blipFill>
        <p:spPr>
          <a:xfrm>
            <a:off x="749808" y="3085174"/>
            <a:ext cx="1698955" cy="376756"/>
          </a:xfrm>
          <a:prstGeom prst="rect">
            <a:avLst/>
          </a:prstGeom>
        </p:spPr>
      </p:pic>
      <p:sp>
        <p:nvSpPr>
          <p:cNvPr id="18" name="Shape 10"/>
          <p:cNvSpPr/>
          <p:nvPr/>
        </p:nvSpPr>
        <p:spPr>
          <a:xfrm>
            <a:off x="2796235" y="2907792"/>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19" name="Image 6" descr="assets/cl_walmart.png"/>
          <p:cNvPicPr>
            <a:picLocks noChangeAspect="1"/>
          </p:cNvPicPr>
          <p:nvPr/>
        </p:nvPicPr>
        <p:blipFill>
          <a:blip r:embed="rId9"/>
          <a:stretch>
            <a:fillRect/>
          </a:stretch>
        </p:blipFill>
        <p:spPr>
          <a:xfrm>
            <a:off x="3242131" y="2968024"/>
            <a:ext cx="1125899" cy="596674"/>
          </a:xfrm>
          <a:prstGeom prst="rect">
            <a:avLst/>
          </a:prstGeom>
        </p:spPr>
      </p:pic>
      <p:sp>
        <p:nvSpPr>
          <p:cNvPr id="20" name="Shape 11"/>
          <p:cNvSpPr/>
          <p:nvPr/>
        </p:nvSpPr>
        <p:spPr>
          <a:xfrm>
            <a:off x="5043830" y="2907792"/>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21" name="Image 7" descr="assets/cl_salesforce.png"/>
          <p:cNvPicPr>
            <a:picLocks noChangeAspect="1"/>
          </p:cNvPicPr>
          <p:nvPr/>
        </p:nvPicPr>
        <p:blipFill>
          <a:blip r:embed="rId10"/>
          <a:stretch>
            <a:fillRect/>
          </a:stretch>
        </p:blipFill>
        <p:spPr>
          <a:xfrm>
            <a:off x="5599997" y="2980944"/>
            <a:ext cx="870085" cy="616595"/>
          </a:xfrm>
          <a:prstGeom prst="rect">
            <a:avLst/>
          </a:prstGeom>
        </p:spPr>
      </p:pic>
      <p:sp>
        <p:nvSpPr>
          <p:cNvPr id="22" name="Shape 12"/>
          <p:cNvSpPr/>
          <p:nvPr/>
        </p:nvSpPr>
        <p:spPr>
          <a:xfrm>
            <a:off x="7291426" y="2907792"/>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23" name="Image 8" descr="assets/cl_ge.png"/>
          <p:cNvPicPr>
            <a:picLocks noChangeAspect="1"/>
          </p:cNvPicPr>
          <p:nvPr/>
        </p:nvPicPr>
        <p:blipFill>
          <a:blip r:embed="rId11"/>
          <a:stretch>
            <a:fillRect/>
          </a:stretch>
        </p:blipFill>
        <p:spPr>
          <a:xfrm>
            <a:off x="7517128" y="3054096"/>
            <a:ext cx="1649886" cy="438912"/>
          </a:xfrm>
          <a:prstGeom prst="rect">
            <a:avLst/>
          </a:prstGeom>
        </p:spPr>
      </p:pic>
      <p:sp>
        <p:nvSpPr>
          <p:cNvPr id="24" name="Shape 13"/>
          <p:cNvSpPr/>
          <p:nvPr/>
        </p:nvSpPr>
        <p:spPr>
          <a:xfrm>
            <a:off x="9539021" y="2907792"/>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25" name="Image 9" descr="assets/cl_rakuten.png"/>
          <p:cNvPicPr>
            <a:picLocks noChangeAspect="1"/>
          </p:cNvPicPr>
          <p:nvPr/>
        </p:nvPicPr>
        <p:blipFill>
          <a:blip r:embed="rId12"/>
          <a:stretch>
            <a:fillRect/>
          </a:stretch>
        </p:blipFill>
        <p:spPr>
          <a:xfrm>
            <a:off x="9740189" y="3063131"/>
            <a:ext cx="1698955" cy="420842"/>
          </a:xfrm>
          <a:prstGeom prst="rect">
            <a:avLst/>
          </a:prstGeom>
        </p:spPr>
      </p:pic>
      <p:sp>
        <p:nvSpPr>
          <p:cNvPr id="26" name="Shape 14"/>
          <p:cNvSpPr/>
          <p:nvPr/>
        </p:nvSpPr>
        <p:spPr>
          <a:xfrm>
            <a:off x="548640" y="3767328"/>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27" name="Image 10" descr="assets/cl_wipro.png"/>
          <p:cNvPicPr>
            <a:picLocks noChangeAspect="1"/>
          </p:cNvPicPr>
          <p:nvPr/>
        </p:nvPicPr>
        <p:blipFill>
          <a:blip r:embed="rId13"/>
          <a:stretch>
            <a:fillRect/>
          </a:stretch>
        </p:blipFill>
        <p:spPr>
          <a:xfrm>
            <a:off x="830910" y="3749040"/>
            <a:ext cx="1307643" cy="757343"/>
          </a:xfrm>
          <a:prstGeom prst="rect">
            <a:avLst/>
          </a:prstGeom>
        </p:spPr>
      </p:pic>
      <p:sp>
        <p:nvSpPr>
          <p:cNvPr id="28" name="Shape 15"/>
          <p:cNvSpPr/>
          <p:nvPr/>
        </p:nvSpPr>
        <p:spPr>
          <a:xfrm>
            <a:off x="2796235" y="3767328"/>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0" name="Shape 16"/>
          <p:cNvSpPr/>
          <p:nvPr/>
        </p:nvSpPr>
        <p:spPr>
          <a:xfrm>
            <a:off x="5043830" y="3767328"/>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31" name="Image 12" descr="assets/cl_zain.png"/>
          <p:cNvPicPr>
            <a:picLocks noChangeAspect="1"/>
          </p:cNvPicPr>
          <p:nvPr/>
        </p:nvPicPr>
        <p:blipFill>
          <a:blip r:embed="rId14"/>
          <a:stretch>
            <a:fillRect/>
          </a:stretch>
        </p:blipFill>
        <p:spPr>
          <a:xfrm>
            <a:off x="5441251" y="3820852"/>
            <a:ext cx="1149314" cy="646489"/>
          </a:xfrm>
          <a:prstGeom prst="rect">
            <a:avLst/>
          </a:prstGeom>
        </p:spPr>
      </p:pic>
      <p:sp>
        <p:nvSpPr>
          <p:cNvPr id="32" name="Shape 17"/>
          <p:cNvSpPr/>
          <p:nvPr/>
        </p:nvSpPr>
        <p:spPr>
          <a:xfrm>
            <a:off x="7291426" y="3767328"/>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33" name="Image 13" descr="assets/cl_zensar.png"/>
          <p:cNvPicPr>
            <a:picLocks noChangeAspect="1"/>
          </p:cNvPicPr>
          <p:nvPr/>
        </p:nvPicPr>
        <p:blipFill>
          <a:blip r:embed="rId15"/>
          <a:stretch>
            <a:fillRect/>
          </a:stretch>
        </p:blipFill>
        <p:spPr>
          <a:xfrm>
            <a:off x="7842701" y="3706751"/>
            <a:ext cx="992689" cy="805017"/>
          </a:xfrm>
          <a:prstGeom prst="rect">
            <a:avLst/>
          </a:prstGeom>
        </p:spPr>
      </p:pic>
      <p:sp>
        <p:nvSpPr>
          <p:cNvPr id="34" name="Shape 18"/>
          <p:cNvSpPr/>
          <p:nvPr/>
        </p:nvSpPr>
        <p:spPr>
          <a:xfrm>
            <a:off x="9539021" y="3767328"/>
            <a:ext cx="2101291" cy="731520"/>
          </a:xfrm>
          <a:prstGeom prst="roundRect">
            <a:avLst>
              <a:gd name="adj" fmla="val 7500"/>
            </a:avLst>
          </a:prstGeom>
          <a:solidFill>
            <a:srgbClr val="EEF3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35" name="Image 14" descr="assets/cl_zs.png"/>
          <p:cNvPicPr>
            <a:picLocks noChangeAspect="1"/>
          </p:cNvPicPr>
          <p:nvPr/>
        </p:nvPicPr>
        <p:blipFill>
          <a:blip r:embed="rId16"/>
          <a:stretch>
            <a:fillRect/>
          </a:stretch>
        </p:blipFill>
        <p:spPr>
          <a:xfrm>
            <a:off x="10311689" y="3913632"/>
            <a:ext cx="555955" cy="438912"/>
          </a:xfrm>
          <a:prstGeom prst="rect">
            <a:avLst/>
          </a:prstGeom>
        </p:spPr>
      </p:pic>
      <p:sp>
        <p:nvSpPr>
          <p:cNvPr id="36" name="Shape 19"/>
          <p:cNvSpPr/>
          <p:nvPr/>
        </p:nvSpPr>
        <p:spPr>
          <a:xfrm>
            <a:off x="548640" y="4700016"/>
            <a:ext cx="11091672" cy="1371600"/>
          </a:xfrm>
          <a:prstGeom prst="roundRect">
            <a:avLst>
              <a:gd name="adj" fmla="val 5333"/>
            </a:avLst>
          </a:prstGeom>
          <a:solidFill>
            <a:srgbClr val="0C3A2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7" name="Text 20"/>
          <p:cNvSpPr/>
          <p:nvPr/>
        </p:nvSpPr>
        <p:spPr>
          <a:xfrm>
            <a:off x="868680" y="4846320"/>
            <a:ext cx="64008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50" normalizeH="0" baseline="0" noProof="0" dirty="0">
                <a:ln>
                  <a:noFill/>
                </a:ln>
                <a:solidFill>
                  <a:srgbClr val="4FB97A"/>
                </a:solidFill>
                <a:effectLst/>
                <a:uLnTx/>
                <a:uFillTx/>
                <a:latin typeface="Aptos" panose="020B0004020202020204" pitchFamily="34" charset="0"/>
                <a:ea typeface="Calibri" pitchFamily="34" charset="-122"/>
                <a:cs typeface="Calibri" pitchFamily="34" charset="-120"/>
              </a:rPr>
              <a:t>ACADEMIC PARTNERSHIPS &amp; COLLABORATIONS</a:t>
            </a:r>
            <a:endParaRPr kumimoji="0" lang="en-US" sz="10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38" name="Shape 21"/>
          <p:cNvSpPr/>
          <p:nvPr/>
        </p:nvSpPr>
        <p:spPr>
          <a:xfrm>
            <a:off x="905256" y="5193792"/>
            <a:ext cx="1233297" cy="713232"/>
          </a:xfrm>
          <a:prstGeom prst="roundRect">
            <a:avLst>
              <a:gd name="adj" fmla="val 6410"/>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39" name="Image 15" descr="assets/cmu_lti.png"/>
          <p:cNvPicPr>
            <a:picLocks noChangeAspect="1"/>
          </p:cNvPicPr>
          <p:nvPr/>
        </p:nvPicPr>
        <p:blipFill>
          <a:blip r:embed="rId17"/>
          <a:stretch>
            <a:fillRect/>
          </a:stretch>
        </p:blipFill>
        <p:spPr>
          <a:xfrm>
            <a:off x="996696" y="5405323"/>
            <a:ext cx="1050417" cy="290170"/>
          </a:xfrm>
          <a:prstGeom prst="rect">
            <a:avLst/>
          </a:prstGeom>
        </p:spPr>
      </p:pic>
      <p:sp>
        <p:nvSpPr>
          <p:cNvPr id="40" name="Shape 22"/>
          <p:cNvSpPr/>
          <p:nvPr/>
        </p:nvSpPr>
        <p:spPr>
          <a:xfrm>
            <a:off x="2211705" y="5193792"/>
            <a:ext cx="1233297" cy="713232"/>
          </a:xfrm>
          <a:prstGeom prst="roundRect">
            <a:avLst>
              <a:gd name="adj" fmla="val 6410"/>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42" name="Shape 23"/>
          <p:cNvSpPr/>
          <p:nvPr/>
        </p:nvSpPr>
        <p:spPr>
          <a:xfrm>
            <a:off x="3518154" y="5193792"/>
            <a:ext cx="1233297" cy="713232"/>
          </a:xfrm>
          <a:prstGeom prst="roundRect">
            <a:avLst>
              <a:gd name="adj" fmla="val 6410"/>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43" name="Image 17" descr="assets/uni_rennes.png"/>
          <p:cNvPicPr>
            <a:picLocks noChangeAspect="1"/>
          </p:cNvPicPr>
          <p:nvPr/>
        </p:nvPicPr>
        <p:blipFill>
          <a:blip r:embed="rId18"/>
          <a:stretch>
            <a:fillRect/>
          </a:stretch>
        </p:blipFill>
        <p:spPr>
          <a:xfrm>
            <a:off x="3609594" y="5316315"/>
            <a:ext cx="1050417" cy="468186"/>
          </a:xfrm>
          <a:prstGeom prst="rect">
            <a:avLst/>
          </a:prstGeom>
        </p:spPr>
      </p:pic>
      <p:sp>
        <p:nvSpPr>
          <p:cNvPr id="44" name="Shape 24"/>
          <p:cNvSpPr/>
          <p:nvPr/>
        </p:nvSpPr>
        <p:spPr>
          <a:xfrm>
            <a:off x="4824603" y="5193792"/>
            <a:ext cx="1233297" cy="713232"/>
          </a:xfrm>
          <a:prstGeom prst="roundRect">
            <a:avLst>
              <a:gd name="adj" fmla="val 6410"/>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45" name="Image 18" descr="assets/uni_casewestern.png"/>
          <p:cNvPicPr>
            <a:picLocks noChangeAspect="1"/>
          </p:cNvPicPr>
          <p:nvPr/>
        </p:nvPicPr>
        <p:blipFill>
          <a:blip r:embed="rId19"/>
          <a:stretch>
            <a:fillRect/>
          </a:stretch>
        </p:blipFill>
        <p:spPr>
          <a:xfrm>
            <a:off x="5063585" y="5199771"/>
            <a:ext cx="746379" cy="688965"/>
          </a:xfrm>
          <a:prstGeom prst="rect">
            <a:avLst/>
          </a:prstGeom>
        </p:spPr>
      </p:pic>
      <p:sp>
        <p:nvSpPr>
          <p:cNvPr id="46" name="Shape 25"/>
          <p:cNvSpPr/>
          <p:nvPr/>
        </p:nvSpPr>
        <p:spPr>
          <a:xfrm>
            <a:off x="6131052" y="5193792"/>
            <a:ext cx="1233297" cy="713232"/>
          </a:xfrm>
          <a:prstGeom prst="roundRect">
            <a:avLst>
              <a:gd name="adj" fmla="val 6410"/>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47" name="Image 19" descr="assets/uni_carleton.png"/>
          <p:cNvPicPr>
            <a:picLocks noChangeAspect="1"/>
          </p:cNvPicPr>
          <p:nvPr/>
        </p:nvPicPr>
        <p:blipFill>
          <a:blip r:embed="rId20"/>
          <a:stretch>
            <a:fillRect/>
          </a:stretch>
        </p:blipFill>
        <p:spPr>
          <a:xfrm>
            <a:off x="6275261" y="5266944"/>
            <a:ext cx="944880" cy="566928"/>
          </a:xfrm>
          <a:prstGeom prst="rect">
            <a:avLst/>
          </a:prstGeom>
        </p:spPr>
      </p:pic>
      <p:sp>
        <p:nvSpPr>
          <p:cNvPr id="48" name="Shape 26"/>
          <p:cNvSpPr/>
          <p:nvPr/>
        </p:nvSpPr>
        <p:spPr>
          <a:xfrm>
            <a:off x="7437501" y="5193792"/>
            <a:ext cx="1233297" cy="713232"/>
          </a:xfrm>
          <a:prstGeom prst="roundRect">
            <a:avLst>
              <a:gd name="adj" fmla="val 6410"/>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49" name="Image 20" descr="assets/uni_strathclyde.png"/>
          <p:cNvPicPr>
            <a:picLocks noChangeAspect="1"/>
          </p:cNvPicPr>
          <p:nvPr/>
        </p:nvPicPr>
        <p:blipFill>
          <a:blip r:embed="rId21"/>
          <a:stretch>
            <a:fillRect/>
          </a:stretch>
        </p:blipFill>
        <p:spPr>
          <a:xfrm>
            <a:off x="7688009" y="5266944"/>
            <a:ext cx="732282" cy="566928"/>
          </a:xfrm>
          <a:prstGeom prst="rect">
            <a:avLst/>
          </a:prstGeom>
        </p:spPr>
      </p:pic>
      <p:sp>
        <p:nvSpPr>
          <p:cNvPr id="50" name="Shape 27"/>
          <p:cNvSpPr/>
          <p:nvPr/>
        </p:nvSpPr>
        <p:spPr>
          <a:xfrm>
            <a:off x="8743950" y="5193792"/>
            <a:ext cx="1233297" cy="713232"/>
          </a:xfrm>
          <a:prstGeom prst="roundRect">
            <a:avLst>
              <a:gd name="adj" fmla="val 6410"/>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52" name="Shape 28"/>
          <p:cNvSpPr/>
          <p:nvPr/>
        </p:nvSpPr>
        <p:spPr>
          <a:xfrm>
            <a:off x="10050399" y="5193792"/>
            <a:ext cx="1233297" cy="713232"/>
          </a:xfrm>
          <a:prstGeom prst="roundRect">
            <a:avLst>
              <a:gd name="adj" fmla="val 6410"/>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54" name="Text 29"/>
          <p:cNvSpPr/>
          <p:nvPr/>
        </p:nvSpPr>
        <p:spPr>
          <a:xfrm>
            <a:off x="548640" y="638251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5A6B64"/>
                </a:solidFill>
                <a:effectLst/>
                <a:uLnTx/>
                <a:uFillTx/>
                <a:latin typeface="Aptos" panose="020B0004020202020204" pitchFamily="34" charset="0"/>
                <a:ea typeface="Calibri" pitchFamily="34" charset="-122"/>
                <a:cs typeface="Calibri" pitchFamily="34" charset="-120"/>
              </a:rPr>
              <a:t>© 2026 InsightVerge. Confidential &amp; Proprietary.</a:t>
            </a:r>
            <a:endParaRPr kumimoji="0" lang="en-US" sz="85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pic>
        <p:nvPicPr>
          <p:cNvPr id="55" name="Image 23" descr="assets/wordmark_dark.png"/>
          <p:cNvPicPr>
            <a:picLocks noChangeAspect="1"/>
          </p:cNvPicPr>
          <p:nvPr/>
        </p:nvPicPr>
        <p:blipFill>
          <a:blip r:embed="rId22"/>
          <a:stretch>
            <a:fillRect/>
          </a:stretch>
        </p:blipFill>
        <p:spPr>
          <a:xfrm>
            <a:off x="10497312" y="6408875"/>
            <a:ext cx="1143000" cy="185018"/>
          </a:xfrm>
          <a:prstGeom prst="rect">
            <a:avLst/>
          </a:prstGeom>
        </p:spPr>
      </p:pic>
      <p:pic>
        <p:nvPicPr>
          <p:cNvPr id="1026" name="Picture 2" descr="SABIC - Logos">
            <a:extLst>
              <a:ext uri="{FF2B5EF4-FFF2-40B4-BE49-F238E27FC236}">
                <a16:creationId xmlns:a16="http://schemas.microsoft.com/office/drawing/2014/main" id="{2FEA57E6-6073-333B-DA2B-FBD409A7104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291840" y="3821808"/>
            <a:ext cx="1006156" cy="62255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BA &amp; DBA Degree from Golden Gate University">
            <a:extLst>
              <a:ext uri="{FF2B5EF4-FFF2-40B4-BE49-F238E27FC236}">
                <a16:creationId xmlns:a16="http://schemas.microsoft.com/office/drawing/2014/main" id="{DFF692AE-44A6-269C-0BFE-6040FCA91D9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82762" y="5244141"/>
            <a:ext cx="1050417" cy="6445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ownloads - KIIT Deemed to be University">
            <a:extLst>
              <a:ext uri="{FF2B5EF4-FFF2-40B4-BE49-F238E27FC236}">
                <a16:creationId xmlns:a16="http://schemas.microsoft.com/office/drawing/2014/main" id="{9B6F74E3-14C9-C973-9F1E-A5F0649C1E7A}"/>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0303731" y="5282194"/>
            <a:ext cx="726631" cy="55167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SGiTECH (@psgitarofficial) · Coimbatore, Tamil Nadu ...">
            <a:extLst>
              <a:ext uri="{FF2B5EF4-FFF2-40B4-BE49-F238E27FC236}">
                <a16:creationId xmlns:a16="http://schemas.microsoft.com/office/drawing/2014/main" id="{72D8B641-687B-E5B4-2415-2CF9CDA0C48A}"/>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009670" y="5186880"/>
            <a:ext cx="701856" cy="7018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E977B-193B-046B-A1B0-0CA1329D931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6CE8FD3-775E-1B64-20DE-585B0EA4E114}"/>
              </a:ext>
            </a:extLst>
          </p:cNvPr>
          <p:cNvSpPr/>
          <p:nvPr/>
        </p:nvSpPr>
        <p:spPr>
          <a:xfrm>
            <a:off x="0" y="6273800"/>
            <a:ext cx="12192000" cy="5842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defRPr/>
            </a:pPr>
            <a:endParaRPr lang="en-US" dirty="0">
              <a:solidFill>
                <a:prstClr val="white"/>
              </a:solidFill>
              <a:latin typeface="Calibri" panose="020F0502020204030204"/>
            </a:endParaRPr>
          </a:p>
        </p:txBody>
      </p:sp>
      <p:pic>
        <p:nvPicPr>
          <p:cNvPr id="3" name="Picture 2" descr="A green hexagon with a white and white clock&#10;&#10;Description automatically generated">
            <a:extLst>
              <a:ext uri="{FF2B5EF4-FFF2-40B4-BE49-F238E27FC236}">
                <a16:creationId xmlns:a16="http://schemas.microsoft.com/office/drawing/2014/main" id="{90162870-41C3-E814-6174-EF0914E6313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641600" y="2463800"/>
            <a:ext cx="1574800" cy="1590213"/>
          </a:xfrm>
          <a:prstGeom prst="rect">
            <a:avLst/>
          </a:prstGeom>
        </p:spPr>
      </p:pic>
      <p:sp>
        <p:nvSpPr>
          <p:cNvPr id="5" name="TextBox 4">
            <a:extLst>
              <a:ext uri="{FF2B5EF4-FFF2-40B4-BE49-F238E27FC236}">
                <a16:creationId xmlns:a16="http://schemas.microsoft.com/office/drawing/2014/main" id="{49AB4065-C766-4FBF-7398-468AA0A2EB95}"/>
              </a:ext>
            </a:extLst>
          </p:cNvPr>
          <p:cNvSpPr txBox="1"/>
          <p:nvPr/>
        </p:nvSpPr>
        <p:spPr>
          <a:xfrm>
            <a:off x="3048000" y="6512742"/>
            <a:ext cx="6096000" cy="215444"/>
          </a:xfrm>
          <a:prstGeom prst="rect">
            <a:avLst/>
          </a:prstGeom>
          <a:noFill/>
        </p:spPr>
        <p:txBody>
          <a:bodyPr wrap="square">
            <a:spAutoFit/>
          </a:bodyPr>
          <a:lstStyle/>
          <a:p>
            <a:pPr algn="ctr" defTabSz="609630">
              <a:defRPr/>
            </a:pPr>
            <a:r>
              <a:rPr lang="en-US" sz="800" b="1" dirty="0">
                <a:solidFill>
                  <a:prstClr val="white"/>
                </a:solidFill>
                <a:latin typeface="Lato" panose="020F0502020204030203" pitchFamily="34" charset="0"/>
                <a:ea typeface="Lato" panose="020F0502020204030203" pitchFamily="34" charset="0"/>
                <a:cs typeface="Lato" panose="020F0502020204030203" pitchFamily="34" charset="0"/>
              </a:rPr>
              <a:t>© 2026 </a:t>
            </a:r>
            <a:r>
              <a:rPr lang="en-US" sz="800" b="1" dirty="0" err="1">
                <a:solidFill>
                  <a:prstClr val="white"/>
                </a:solidFill>
                <a:latin typeface="Lato" panose="020F0502020204030203" pitchFamily="34" charset="0"/>
                <a:ea typeface="Lato" panose="020F0502020204030203" pitchFamily="34" charset="0"/>
                <a:cs typeface="Lato" panose="020F0502020204030203" pitchFamily="34" charset="0"/>
              </a:rPr>
              <a:t>InsightVerge</a:t>
            </a:r>
            <a:r>
              <a:rPr lang="en-US" sz="800" b="1" dirty="0">
                <a:solidFill>
                  <a:prstClr val="white"/>
                </a:solidFill>
                <a:latin typeface="Lato" panose="020F0502020204030203" pitchFamily="34" charset="0"/>
                <a:ea typeface="Lato" panose="020F0502020204030203" pitchFamily="34" charset="0"/>
                <a:cs typeface="Lato" panose="020F0502020204030203" pitchFamily="34" charset="0"/>
              </a:rPr>
              <a:t>. Confidential &amp; Proprietary. </a:t>
            </a:r>
            <a:endParaRPr lang="en-IN" sz="800" b="1" dirty="0">
              <a:solidFill>
                <a:prstClr val="white"/>
              </a:solidFill>
              <a:latin typeface="Calibri" panose="020F0502020204030204"/>
            </a:endParaRPr>
          </a:p>
        </p:txBody>
      </p:sp>
      <p:sp>
        <p:nvSpPr>
          <p:cNvPr id="8" name="TextBox 7">
            <a:extLst>
              <a:ext uri="{FF2B5EF4-FFF2-40B4-BE49-F238E27FC236}">
                <a16:creationId xmlns:a16="http://schemas.microsoft.com/office/drawing/2014/main" id="{DE95D3E8-25B0-A2BE-45F6-2EAF4B61DCFA}"/>
              </a:ext>
            </a:extLst>
          </p:cNvPr>
          <p:cNvSpPr txBox="1"/>
          <p:nvPr/>
        </p:nvSpPr>
        <p:spPr>
          <a:xfrm>
            <a:off x="4368800" y="2951131"/>
            <a:ext cx="5537200" cy="646331"/>
          </a:xfrm>
          <a:prstGeom prst="rect">
            <a:avLst/>
          </a:prstGeom>
          <a:noFill/>
        </p:spPr>
        <p:txBody>
          <a:bodyPr wrap="square">
            <a:spAutoFit/>
          </a:bodyPr>
          <a:lstStyle/>
          <a:p>
            <a:pPr defTabSz="609630">
              <a:defRPr/>
            </a:pPr>
            <a:r>
              <a:rPr lang="en-IN" sz="3600" b="1" i="1" dirty="0">
                <a:solidFill>
                  <a:prstClr val="white"/>
                </a:solidFill>
                <a:latin typeface="Calibri" panose="020F0502020204030204"/>
              </a:rPr>
              <a:t>From Insight to Impact</a:t>
            </a:r>
            <a:endParaRPr lang="en-AE" sz="3600" b="1" i="1" dirty="0">
              <a:solidFill>
                <a:prstClr val="white"/>
              </a:solidFill>
              <a:latin typeface="Calibri" panose="020F0502020204030204"/>
            </a:endParaRPr>
          </a:p>
        </p:txBody>
      </p:sp>
      <p:pic>
        <p:nvPicPr>
          <p:cNvPr id="11" name="Picture 10">
            <a:extLst>
              <a:ext uri="{FF2B5EF4-FFF2-40B4-BE49-F238E27FC236}">
                <a16:creationId xmlns:a16="http://schemas.microsoft.com/office/drawing/2014/main" id="{CAD8C46D-3CFF-400D-BCE8-C057390721A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29293" y="6479308"/>
            <a:ext cx="1075333" cy="173185"/>
          </a:xfrm>
          <a:prstGeom prst="rect">
            <a:avLst/>
          </a:prstGeom>
        </p:spPr>
      </p:pic>
    </p:spTree>
    <p:extLst>
      <p:ext uri="{BB962C8B-B14F-4D97-AF65-F5344CB8AC3E}">
        <p14:creationId xmlns:p14="http://schemas.microsoft.com/office/powerpoint/2010/main" val="3821124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420" y="274320"/>
            <a:ext cx="8961120" cy="383540"/>
          </a:xfrm>
          <a:prstGeom prst="rect">
            <a:avLst/>
          </a:prstGeom>
          <a:noFill/>
          <a:ln>
            <a:noFill/>
          </a:ln>
        </p:spPr>
        <p:txBody>
          <a:bodyPr wrap="square" lIns="0" tIns="0" rIns="0" bIns="0" rtlCol="0" anchor="ctr"/>
          <a:lstStyle/>
          <a:p>
            <a:pPr marL="0" algn="l">
              <a:lnSpc>
                <a:spcPct val="120000"/>
              </a:lnSpc>
            </a:pPr>
            <a:r>
              <a:rPr lang="en-US" sz="2400" b="1" noProof="1">
                <a:solidFill>
                  <a:srgbClr val="0E4D3A"/>
                </a:solidFill>
                <a:latin typeface="Aptos Display"/>
                <a:ea typeface="Aptos Display"/>
              </a:rPr>
              <a:t>Tier 3: Operating Model &amp; Governance</a:t>
            </a:r>
            <a:endParaRPr lang="en-US" sz="2400" noProof="1"/>
          </a:p>
        </p:txBody>
      </p:sp>
      <p:sp>
        <p:nvSpPr>
          <p:cNvPr id="3" name="Text 1"/>
          <p:cNvSpPr txBox="1"/>
          <p:nvPr/>
        </p:nvSpPr>
        <p:spPr>
          <a:xfrm>
            <a:off x="566420" y="694690"/>
            <a:ext cx="7863840" cy="246380"/>
          </a:xfrm>
          <a:prstGeom prst="rect">
            <a:avLst/>
          </a:prstGeom>
          <a:noFill/>
          <a:ln>
            <a:noFill/>
          </a:ln>
        </p:spPr>
        <p:txBody>
          <a:bodyPr wrap="square" lIns="0" tIns="0" rIns="0" bIns="0" rtlCol="0" anchor="ctr"/>
          <a:lstStyle/>
          <a:p>
            <a:pPr marL="0" algn="l">
              <a:lnSpc>
                <a:spcPct val="120000"/>
              </a:lnSpc>
            </a:pPr>
            <a:r>
              <a:rPr lang="en-US" sz="900" noProof="1">
                <a:solidFill>
                  <a:srgbClr val="5B6770"/>
                </a:solidFill>
                <a:latin typeface="MiSans"/>
                <a:ea typeface="MiSans"/>
              </a:rPr>
              <a:t>3 days | PMs, delivery leads, managers, governance leads</a:t>
            </a:r>
            <a:endParaRPr lang="en-US" sz="900" noProof="1"/>
          </a:p>
        </p:txBody>
      </p:sp>
      <p:pic>
        <p:nvPicPr>
          <p:cNvPr id="4" name="Image 0"/>
          <p:cNvPicPr/>
          <p:nvPr/>
        </p:nvPicPr>
        <p:blipFill>
          <a:blip r:embed="rId3"/>
          <a:stretch>
            <a:fillRect/>
          </a:stretch>
        </p:blipFill>
        <p:spPr>
          <a:xfrm>
            <a:off x="9966960" y="228600"/>
            <a:ext cx="1572260" cy="411480"/>
          </a:xfrm>
          <a:prstGeom prst="rect">
            <a:avLst/>
          </a:prstGeom>
          <a:ln>
            <a:noFill/>
          </a:ln>
        </p:spPr>
      </p:pic>
      <p:cxnSp>
        <p:nvCxnSpPr>
          <p:cNvPr id="5" name="Shape 2"/>
          <p:cNvCxnSpPr/>
          <p:nvPr/>
        </p:nvCxnSpPr>
        <p:spPr>
          <a:xfrm>
            <a:off x="566420" y="932180"/>
            <a:ext cx="11064240" cy="0"/>
          </a:xfrm>
          <a:prstGeom prst="straightConnector1">
            <a:avLst/>
          </a:prstGeom>
          <a:ln w="8890">
            <a:solidFill>
              <a:srgbClr val="C7DDD1"/>
            </a:solidFill>
          </a:ln>
        </p:spPr>
      </p:cxnSp>
      <p:sp>
        <p:nvSpPr>
          <p:cNvPr id="6" name="Text 3"/>
          <p:cNvSpPr txBox="1"/>
          <p:nvPr/>
        </p:nvSpPr>
        <p:spPr>
          <a:xfrm>
            <a:off x="685800" y="1150000"/>
            <a:ext cx="4572000" cy="209550"/>
          </a:xfrm>
          <a:prstGeom prst="rect">
            <a:avLst/>
          </a:prstGeom>
          <a:noFill/>
          <a:ln>
            <a:noFill/>
          </a:ln>
        </p:spPr>
        <p:txBody>
          <a:bodyPr wrap="square" lIns="0" tIns="0" rIns="0" bIns="0" rtlCol="0" anchor="ctr"/>
          <a:lstStyle/>
          <a:p>
            <a:pPr marL="0" algn="l">
              <a:lnSpc>
                <a:spcPct val="120000"/>
              </a:lnSpc>
            </a:pPr>
            <a:r>
              <a:rPr lang="en-US" sz="1200" b="1" noProof="1">
                <a:solidFill>
                  <a:srgbClr val="33C27A"/>
                </a:solidFill>
                <a:latin typeface="Aptos"/>
                <a:ea typeface="Aptos"/>
              </a:rPr>
              <a:t>OBJECTIVE</a:t>
            </a:r>
            <a:endParaRPr lang="en-US" sz="1200" noProof="1"/>
          </a:p>
        </p:txBody>
      </p:sp>
      <p:sp>
        <p:nvSpPr>
          <p:cNvPr id="7" name="Text 4"/>
          <p:cNvSpPr txBox="1"/>
          <p:nvPr/>
        </p:nvSpPr>
        <p:spPr>
          <a:xfrm>
            <a:off x="685800" y="1370000"/>
            <a:ext cx="10378440" cy="700000"/>
          </a:xfrm>
          <a:prstGeom prst="rect">
            <a:avLst/>
          </a:prstGeom>
          <a:noFill/>
          <a:ln>
            <a:noFill/>
          </a:ln>
        </p:spPr>
        <p:txBody>
          <a:bodyPr wrap="square" lIns="0" tIns="0" rIns="0" bIns="0" rtlCol="0" anchor="t"/>
          <a:lstStyle/>
          <a:p>
            <a:pPr marL="0" algn="l">
              <a:lnSpc>
                <a:spcPct val="125000"/>
              </a:lnSpc>
            </a:pPr>
            <a:r>
              <a:rPr lang="en-US" sz="1400" noProof="1">
                <a:solidFill>
                  <a:srgbClr val="15221E"/>
                </a:solidFill>
                <a:latin typeface="Aptos"/>
                <a:ea typeface="Aptos"/>
              </a:rPr>
              <a:t>Address the organizational question: how AI compresses old roles, creates new ones, and changes what a "project line" means. Traditional roles are not disappearing — they are being redefined.</a:t>
            </a:r>
            <a:endParaRPr lang="en-US" sz="1400" noProof="1"/>
          </a:p>
        </p:txBody>
      </p:sp>
      <p:sp>
        <p:nvSpPr>
          <p:cNvPr id="8" name="Text 5"/>
          <p:cNvSpPr txBox="1"/>
          <p:nvPr/>
        </p:nvSpPr>
        <p:spPr>
          <a:xfrm>
            <a:off x="685800" y="2200000"/>
            <a:ext cx="6000000" cy="209550"/>
          </a:xfrm>
          <a:prstGeom prst="rect">
            <a:avLst/>
          </a:prstGeom>
          <a:noFill/>
          <a:ln>
            <a:noFill/>
          </a:ln>
        </p:spPr>
        <p:txBody>
          <a:bodyPr wrap="square" lIns="0" tIns="0" rIns="0" bIns="0" rtlCol="0" anchor="ctr"/>
          <a:lstStyle/>
          <a:p>
            <a:pPr marL="0" algn="l">
              <a:lnSpc>
                <a:spcPct val="120000"/>
              </a:lnSpc>
            </a:pPr>
            <a:r>
              <a:rPr lang="en-US" sz="1200" b="1" noProof="1">
                <a:solidFill>
                  <a:srgbClr val="33C27A"/>
                </a:solidFill>
                <a:latin typeface="Aptos"/>
                <a:ea typeface="Aptos"/>
              </a:rPr>
              <a:t>WHY THIS NEEDS ITS OWN TIER</a:t>
            </a:r>
            <a:endParaRPr lang="en-US" sz="1200" noProof="1"/>
          </a:p>
        </p:txBody>
      </p:sp>
      <p:sp>
        <p:nvSpPr>
          <p:cNvPr id="9" name="Text 6"/>
          <p:cNvSpPr txBox="1"/>
          <p:nvPr/>
        </p:nvSpPr>
        <p:spPr>
          <a:xfrm>
            <a:off x="685800" y="2410000"/>
            <a:ext cx="10378440" cy="640000"/>
          </a:xfrm>
          <a:prstGeom prst="rect">
            <a:avLst/>
          </a:prstGeom>
          <a:noFill/>
          <a:ln>
            <a:noFill/>
          </a:ln>
        </p:spPr>
        <p:txBody>
          <a:bodyPr wrap="square" lIns="0" tIns="0" rIns="0" bIns="0" rtlCol="0" anchor="t"/>
          <a:lstStyle/>
          <a:p>
            <a:pPr marL="0" algn="l">
              <a:lnSpc>
                <a:spcPct val="125000"/>
              </a:lnSpc>
            </a:pPr>
            <a:r>
              <a:rPr lang="en-US" sz="1400" noProof="1">
                <a:solidFill>
                  <a:srgbClr val="15221E"/>
                </a:solidFill>
                <a:latin typeface="Aptos"/>
                <a:ea typeface="Aptos"/>
              </a:rPr>
              <a:t>This is operating-model work, not tool scaling. Bundling it with power users building no-code agents is a category error — this program governs how the entire AI capability runs.</a:t>
            </a:r>
            <a:endParaRPr lang="en-US" sz="1400" noProof="1"/>
          </a:p>
        </p:txBody>
      </p:sp>
      <p:sp>
        <p:nvSpPr>
          <p:cNvPr id="10" name="Text 7"/>
          <p:cNvSpPr txBox="1"/>
          <p:nvPr/>
        </p:nvSpPr>
        <p:spPr>
          <a:xfrm>
            <a:off x="685800" y="3230000"/>
            <a:ext cx="4572000" cy="209550"/>
          </a:xfrm>
          <a:prstGeom prst="rect">
            <a:avLst/>
          </a:prstGeom>
          <a:noFill/>
          <a:ln>
            <a:noFill/>
          </a:ln>
        </p:spPr>
        <p:txBody>
          <a:bodyPr wrap="square" lIns="0" tIns="0" rIns="0" bIns="0" rtlCol="0" anchor="ctr"/>
          <a:lstStyle/>
          <a:p>
            <a:pPr marL="0" algn="l">
              <a:lnSpc>
                <a:spcPct val="120000"/>
              </a:lnSpc>
            </a:pPr>
            <a:r>
              <a:rPr lang="en-US" sz="1200" b="1" noProof="1">
                <a:solidFill>
                  <a:srgbClr val="33C27A"/>
                </a:solidFill>
                <a:latin typeface="Aptos"/>
                <a:ea typeface="Aptos"/>
              </a:rPr>
              <a:t>WHAT IT COVERS</a:t>
            </a:r>
            <a:endParaRPr lang="en-US" sz="1200" noProof="1"/>
          </a:p>
        </p:txBody>
      </p:sp>
      <p:sp>
        <p:nvSpPr>
          <p:cNvPr id="11" name="Text 8"/>
          <p:cNvSpPr txBox="1"/>
          <p:nvPr/>
        </p:nvSpPr>
        <p:spPr>
          <a:xfrm>
            <a:off x="685800" y="3450000"/>
            <a:ext cx="10313670" cy="2100000"/>
          </a:xfrm>
          <a:prstGeom prst="rect">
            <a:avLst/>
          </a:prstGeom>
          <a:noFill/>
          <a:ln>
            <a:noFill/>
          </a:ln>
        </p:spPr>
        <p:txBody>
          <a:bodyPr wrap="square" lIns="0" tIns="0" rIns="0" bIns="0" rtlCol="0" anchor="t"/>
          <a:lstStyle/>
          <a:p>
            <a:pPr marL="285750" indent="-285750" algn="l">
              <a:lnSpc>
                <a:spcPct val="130000"/>
              </a:lnSpc>
              <a:buFont typeface="Arial" panose="020B0604020202020204" pitchFamily="34" charset="0"/>
              <a:buChar char="•"/>
            </a:pPr>
            <a:r>
              <a:rPr lang="en-US" sz="1400" noProof="1">
                <a:solidFill>
                  <a:srgbClr val="15221E"/>
                </a:solidFill>
                <a:latin typeface="Aptos"/>
                <a:ea typeface="Aptos"/>
              </a:rPr>
              <a:t>How AI redefines existing roles versus creating new ones</a:t>
            </a:r>
            <a:endParaRPr lang="en-US" sz="1400" noProof="1"/>
          </a:p>
          <a:p>
            <a:pPr marL="285750" indent="-285750" algn="l">
              <a:lnSpc>
                <a:spcPct val="130000"/>
              </a:lnSpc>
              <a:buFont typeface="Arial" panose="020B0604020202020204" pitchFamily="34" charset="0"/>
              <a:buChar char="•"/>
            </a:pPr>
            <a:r>
              <a:rPr lang="en-US" sz="1400" noProof="1">
                <a:solidFill>
                  <a:srgbClr val="15221E"/>
                </a:solidFill>
                <a:latin typeface="Aptos"/>
                <a:ea typeface="Aptos"/>
              </a:rPr>
              <a:t>New hierarchy and reporting lines in an AI-augmented organization</a:t>
            </a:r>
            <a:endParaRPr lang="en-US" sz="1400" noProof="1"/>
          </a:p>
          <a:p>
            <a:pPr marL="285750" indent="-285750" algn="l">
              <a:lnSpc>
                <a:spcPct val="130000"/>
              </a:lnSpc>
              <a:buFont typeface="Arial" panose="020B0604020202020204" pitchFamily="34" charset="0"/>
              <a:buChar char="•"/>
            </a:pPr>
            <a:r>
              <a:rPr lang="en-US" sz="1400" noProof="1">
                <a:solidFill>
                  <a:srgbClr val="15221E"/>
                </a:solidFill>
                <a:latin typeface="Aptos"/>
                <a:ea typeface="Aptos"/>
              </a:rPr>
              <a:t>Project management for AI — why standard PMP doesn't work, what replaces it</a:t>
            </a:r>
            <a:endParaRPr lang="en-US" sz="1400" noProof="1"/>
          </a:p>
          <a:p>
            <a:pPr marL="285750" indent="-285750" algn="l">
              <a:lnSpc>
                <a:spcPct val="130000"/>
              </a:lnSpc>
              <a:buFont typeface="Arial" panose="020B0604020202020204" pitchFamily="34" charset="0"/>
              <a:buChar char="•"/>
            </a:pPr>
            <a:r>
              <a:rPr lang="en-US" sz="1400" noProof="1">
                <a:solidFill>
                  <a:srgbClr val="15221E"/>
                </a:solidFill>
                <a:latin typeface="Aptos"/>
                <a:ea typeface="Aptos"/>
              </a:rPr>
              <a:t>Governance: who owns what, quality gates, when AI needs human review</a:t>
            </a:r>
            <a:endParaRPr lang="en-US" sz="1400" noProof="1"/>
          </a:p>
          <a:p>
            <a:pPr marL="285750" indent="-285750" algn="l">
              <a:lnSpc>
                <a:spcPct val="130000"/>
              </a:lnSpc>
              <a:buFont typeface="Arial" panose="020B0604020202020204" pitchFamily="34" charset="0"/>
              <a:buChar char="•"/>
            </a:pPr>
            <a:r>
              <a:rPr lang="en-US" sz="1400" noProof="1">
                <a:solidFill>
                  <a:srgbClr val="15221E"/>
                </a:solidFill>
                <a:latin typeface="Aptos"/>
                <a:ea typeface="Aptos"/>
              </a:rPr>
              <a:t>Building a governed delivery model that lets AI projects survive past pilot</a:t>
            </a:r>
            <a:endParaRPr lang="en-US" sz="1400" noProof="1"/>
          </a:p>
        </p:txBody>
      </p:sp>
      <p:sp>
        <p:nvSpPr>
          <p:cNvPr id="15" name="Text 12"/>
          <p:cNvSpPr txBox="1"/>
          <p:nvPr/>
        </p:nvSpPr>
        <p:spPr>
          <a:xfrm>
            <a:off x="11201400" y="6510020"/>
            <a:ext cx="411480" cy="146050"/>
          </a:xfrm>
          <a:prstGeom prst="rect">
            <a:avLst/>
          </a:prstGeom>
          <a:noFill/>
          <a:ln>
            <a:noFill/>
          </a:ln>
        </p:spPr>
        <p:txBody>
          <a:bodyPr wrap="square" lIns="0" tIns="0" rIns="0" bIns="0" rtlCol="0" anchor="ctr"/>
          <a:lstStyle/>
          <a:p>
            <a:pPr marL="0" algn="r">
              <a:lnSpc>
                <a:spcPct val="120000"/>
              </a:lnSpc>
            </a:pPr>
            <a:r>
              <a:rPr lang="en-US" sz="800" noProof="1">
                <a:solidFill>
                  <a:srgbClr val="8A9A92"/>
                </a:solidFill>
                <a:latin typeface="MiSans"/>
                <a:ea typeface="MiSans"/>
              </a:rPr>
              <a:t>07</a:t>
            </a:r>
            <a:endParaRPr lang="en-US" sz="800" noProof="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420" y="274320"/>
            <a:ext cx="8961120" cy="383540"/>
          </a:xfrm>
          <a:prstGeom prst="rect">
            <a:avLst/>
          </a:prstGeom>
          <a:noFill/>
          <a:ln>
            <a:noFill/>
          </a:ln>
        </p:spPr>
        <p:txBody>
          <a:bodyPr wrap="square" lIns="0" tIns="0" rIns="0" bIns="0" rtlCol="0" anchor="ctr"/>
          <a:lstStyle/>
          <a:p>
            <a:pPr marL="0" algn="l">
              <a:lnSpc>
                <a:spcPct val="120000"/>
              </a:lnSpc>
            </a:pPr>
            <a:r>
              <a:rPr lang="en-US" sz="2400" b="1" noProof="1">
                <a:solidFill>
                  <a:srgbClr val="0E4D3A"/>
                </a:solidFill>
                <a:latin typeface="Aptos Display"/>
                <a:ea typeface="Aptos Display"/>
              </a:rPr>
              <a:t>The GCC Capability Pulse</a:t>
            </a:r>
            <a:endParaRPr lang="en-US" sz="2400" noProof="1"/>
          </a:p>
        </p:txBody>
      </p:sp>
      <p:sp>
        <p:nvSpPr>
          <p:cNvPr id="3" name="Text 1"/>
          <p:cNvSpPr txBox="1"/>
          <p:nvPr/>
        </p:nvSpPr>
        <p:spPr>
          <a:xfrm>
            <a:off x="566420" y="694690"/>
            <a:ext cx="7863840" cy="246380"/>
          </a:xfrm>
          <a:prstGeom prst="rect">
            <a:avLst/>
          </a:prstGeom>
          <a:noFill/>
          <a:ln>
            <a:noFill/>
          </a:ln>
        </p:spPr>
        <p:txBody>
          <a:bodyPr wrap="square" lIns="0" tIns="0" rIns="0" bIns="0" rtlCol="0" anchor="ctr"/>
          <a:lstStyle/>
          <a:p>
            <a:pPr marL="0" algn="l">
              <a:lnSpc>
                <a:spcPct val="120000"/>
              </a:lnSpc>
            </a:pPr>
            <a:r>
              <a:rPr lang="en-US" sz="900" noProof="1">
                <a:solidFill>
                  <a:srgbClr val="5B6770"/>
                </a:solidFill>
                <a:latin typeface="MiSans"/>
                <a:ea typeface="MiSans"/>
              </a:rPr>
              <a:t>A companion diagnostic that anchors the entire partnership</a:t>
            </a:r>
            <a:endParaRPr lang="en-US" sz="900" noProof="1"/>
          </a:p>
        </p:txBody>
      </p:sp>
      <p:pic>
        <p:nvPicPr>
          <p:cNvPr id="4" name="Image 0"/>
          <p:cNvPicPr/>
          <p:nvPr/>
        </p:nvPicPr>
        <p:blipFill>
          <a:blip r:embed="rId3"/>
          <a:stretch>
            <a:fillRect/>
          </a:stretch>
        </p:blipFill>
        <p:spPr>
          <a:xfrm>
            <a:off x="9966960" y="228600"/>
            <a:ext cx="1572260" cy="411480"/>
          </a:xfrm>
          <a:prstGeom prst="rect">
            <a:avLst/>
          </a:prstGeom>
          <a:ln>
            <a:noFill/>
          </a:ln>
        </p:spPr>
      </p:pic>
      <p:cxnSp>
        <p:nvCxnSpPr>
          <p:cNvPr id="5" name="Shape 2"/>
          <p:cNvCxnSpPr/>
          <p:nvPr/>
        </p:nvCxnSpPr>
        <p:spPr>
          <a:xfrm>
            <a:off x="566420" y="932180"/>
            <a:ext cx="11064240" cy="0"/>
          </a:xfrm>
          <a:prstGeom prst="straightConnector1">
            <a:avLst/>
          </a:prstGeom>
          <a:ln w="8890">
            <a:solidFill>
              <a:srgbClr val="C7DDD1"/>
            </a:solidFill>
          </a:ln>
        </p:spPr>
      </p:cxnSp>
      <!-- Left column: Free Tier -->
      <p:sp>
        <p:nvSpPr>
          <p:cNvPr id="6" name="L Header"/>
          <p:cNvSpPr txBox="1"/>
          <p:nvPr/>
        </p:nvSpPr>
        <p:spPr>
          <a:xfrm>
            <a:off x="685800" y="1200000"/>
            <a:ext cx="5000000" cy="400000"/>
          </a:xfrm>
          <a:prstGeom prst="rect">
            <a:avLst/>
          </a:prstGeom>
          <a:noFill/>
          <a:ln>
            <a:noFill/>
          </a:ln>
        </p:spPr>
        <p:txBody>
          <a:bodyPr wrap="square" lIns="0" tIns="0" rIns="0" bIns="0" rtlCol="0" anchor="ctr"/>
          <a:lstStyle/>
          <a:p>
            <a:pPr marL="0" algn="l">
              <a:lnSpc>
                <a:spcPct val="120000"/>
              </a:lnSpc>
            </a:pPr>
            <a:r>
              <a:rPr lang="en-US" sz="2000" b="1" noProof="1">
                <a:solidFill>
                  <a:srgbClr val="0E4D3A"/>
                </a:solidFill>
                <a:latin typeface="Aptos"/>
                <a:ea typeface="Aptos"/>
              </a:rPr>
              <a:t>Free Tier</a:t>
            </a:r>
            <a:endParaRPr lang="en-US" sz="2000" noProof="1"/>
          </a:p>
        </p:txBody>
      </p:sp>
      <p:sp>
        <p:nvSpPr>
          <p:cNvPr id="7" name="L Bullets"/>
          <p:cNvSpPr txBox="1"/>
          <p:nvPr/>
        </p:nvSpPr>
        <p:spPr>
          <a:xfrm>
            <a:off x="685800" y="1720000"/>
            <a:ext cx="5000000" cy="2200000"/>
          </a:xfrm>
          <a:prstGeom prst="rect">
            <a:avLst/>
          </a:prstGeom>
          <a:noFill/>
          <a:ln>
            <a:noFill/>
          </a:ln>
        </p:spPr>
        <p:txBody>
          <a:bodyPr wrap="square" lIns="0" tIns="0" rIns="0" bIns="0" rtlCol="0" anchor="t"/>
          <a:lstStyle/>
          <a:p>
            <a:pPr marL="285750" indent="-285750" algn="l">
              <a:lnSpc>
                <a:spcPct val="135000"/>
              </a:lnSpc>
              <a:buFont typeface="Arial" panose="020B0604020202020204" pitchFamily="34" charset="0"/>
              <a:buChar char="•"/>
            </a:pPr>
            <a:r>
              <a:rPr lang="en-US" sz="1600" noProof="1">
                <a:solidFill>
                  <a:srgbClr val="15221E"/>
                </a:solidFill>
                <a:latin typeface="Aptos"/>
                <a:ea typeface="Aptos"/>
              </a:rPr>
              <a:t>A lightweight online pulse — 20-30 questions</a:t>
            </a:r>
            <a:endParaRPr lang="en-US" sz="1600" noProof="1"/>
          </a:p>
          <a:p>
            <a:pPr marL="285750" indent="-285750" algn="l">
              <a:lnSpc>
                <a:spcPct val="135000"/>
              </a:lnSpc>
              <a:buFont typeface="Arial" panose="020B0604020202020204" pitchFamily="34" charset="0"/>
              <a:buChar char="•"/>
            </a:pPr>
            <a:r>
              <a:rPr lang="en-US" sz="1600" noProof="1">
                <a:solidFill>
                  <a:srgbClr val="15221E"/>
                </a:solidFill>
                <a:latin typeface="Aptos"/>
                <a:ea typeface="Aptos"/>
              </a:rPr>
              <a:t>Produces a tower-level maturity heatmap and a recommended tier entry point</a:t>
            </a:r>
            <a:endParaRPr lang="en-US" sz="1600" noProof="1"/>
          </a:p>
          <a:p>
            <a:pPr marL="285750" indent="-285750" algn="l">
              <a:lnSpc>
                <a:spcPct val="135000"/>
              </a:lnSpc>
              <a:buFont typeface="Arial" panose="020B0604020202020204" pitchFamily="34" charset="0"/>
              <a:buChar char="•"/>
            </a:pPr>
            <a:r>
              <a:rPr lang="en-US" sz="1600" b="1" noProof="1">
                <a:solidFill>
                  <a:srgbClr val="33C27A"/>
                </a:solidFill>
                <a:latin typeface="Aptos"/>
                <a:ea typeface="Aptos"/>
              </a:rPr>
              <a:t>Pure lead generation</a:t>
            </a:r>
            <a:endParaRPr lang="en-US" sz="1600" noProof="1"/>
          </a:p>
        </p:txBody>
      </p:sp>
      <!-- Right column: Paid Tier -->
      <p:sp>
        <p:nvSpPr>
          <p:cNvPr id="8" name="R Header"/>
          <p:cNvSpPr txBox="1"/>
          <p:nvPr/>
        </p:nvSpPr>
        <p:spPr>
          <a:xfrm>
            <a:off x="6145800" y="1200000"/>
            <a:ext cx="5000000" cy="400000"/>
          </a:xfrm>
          <a:prstGeom prst="rect">
            <a:avLst/>
          </a:prstGeom>
          <a:noFill/>
          <a:ln>
            <a:noFill/>
          </a:ln>
        </p:spPr>
        <p:txBody>
          <a:bodyPr wrap="square" lIns="0" tIns="0" rIns="0" bIns="0" rtlCol="0" anchor="ctr"/>
          <a:lstStyle/>
          <a:p>
            <a:pPr marL="0" algn="l">
              <a:lnSpc>
                <a:spcPct val="120000"/>
              </a:lnSpc>
            </a:pPr>
            <a:r>
              <a:rPr lang="en-US" sz="2000" b="1" noProof="1">
                <a:solidFill>
                  <a:srgbClr val="0E4D3A"/>
                </a:solidFill>
                <a:latin typeface="Aptos"/>
                <a:ea typeface="Aptos"/>
              </a:rPr>
              <a:t>Paid Tier</a:t>
            </a:r>
            <a:endParaRPr lang="en-US" sz="2000" noProof="1"/>
          </a:p>
        </p:txBody>
      </p:sp>
      <p:sp>
        <p:nvSpPr>
          <p:cNvPr id="9" name="R Bullets"/>
          <p:cNvSpPr txBox="1"/>
          <p:nvPr/>
        </p:nvSpPr>
        <p:spPr>
          <a:xfrm>
            <a:off x="6145800" y="1720000"/>
            <a:ext cx="5000000" cy="2200000"/>
          </a:xfrm>
          <a:prstGeom prst="rect">
            <a:avLst/>
          </a:prstGeom>
          <a:noFill/>
          <a:ln>
            <a:noFill/>
          </a:ln>
        </p:spPr>
        <p:txBody>
          <a:bodyPr wrap="square" lIns="0" tIns="0" rIns="0" bIns="0" rtlCol="0" anchor="t"/>
          <a:lstStyle/>
          <a:p>
            <a:pPr marL="285750" indent="-285750" algn="l">
              <a:lnSpc>
                <a:spcPct val="135000"/>
              </a:lnSpc>
              <a:buFont typeface="Arial" panose="020B0604020202020204" pitchFamily="34" charset="0"/>
              <a:buChar char="•"/>
            </a:pPr>
            <a:r>
              <a:rPr lang="en-US" sz="1600" noProof="1">
                <a:solidFill>
                  <a:srgbClr val="15221E"/>
                </a:solidFill>
                <a:latin typeface="Aptos"/>
                <a:ea typeface="Aptos"/>
              </a:rPr>
              <a:t>A facilitated 1-2 day diagnostic</a:t>
            </a:r>
            <a:endParaRPr lang="en-US" sz="1600" noProof="1"/>
          </a:p>
          <a:p>
            <a:pPr marL="285750" indent="-285750" algn="l">
              <a:lnSpc>
                <a:spcPct val="135000"/>
              </a:lnSpc>
              <a:buFont typeface="Arial" panose="020B0604020202020204" pitchFamily="34" charset="0"/>
              <a:buChar char="•"/>
            </a:pPr>
            <a:r>
              <a:rPr lang="en-US" sz="1600" noProof="1">
                <a:solidFill>
                  <a:srgbClr val="15221E"/>
                </a:solidFill>
                <a:latin typeface="Aptos"/>
                <a:ea typeface="Aptos"/>
              </a:rPr>
              <a:t>Stakeholder interviews, artifact review, and a written operating-model roadmap</a:t>
            </a:r>
            <a:endParaRPr lang="en-US" sz="1600" noProof="1"/>
          </a:p>
          <a:p>
            <a:pPr marL="285750" indent="-285750" algn="l">
              <a:lnSpc>
                <a:spcPct val="135000"/>
              </a:lnSpc>
              <a:buFont typeface="Arial" panose="020B0604020202020204" pitchFamily="34" charset="0"/>
              <a:buChar char="•"/>
            </a:pPr>
            <a:r>
              <a:rPr lang="en-US" sz="1600" b="1" noProof="1">
                <a:solidFill>
                  <a:srgbClr val="33C27A"/>
                </a:solidFill>
                <a:latin typeface="Aptos"/>
                <a:ea typeface="Aptos"/>
              </a:rPr>
              <a:t>A proper consulting deliverable</a:t>
            </a:r>
            <a:endParaRPr lang="en-US" sz="1600" noProof="1"/>
          </a:p>
        </p:txBody>
      </p:sp>
      <p:sp>
        <p:nvSpPr>
          <p:cNvPr id="10" name="Why This Works"/>
          <p:cNvSpPr txBox="1"/>
          <p:nvPr/>
        </p:nvSpPr>
        <p:spPr>
          <a:xfrm>
            <a:off x="685800" y="4100000"/>
            <a:ext cx="10460140" cy="620000"/>
          </a:xfrm>
          <a:prstGeom prst="rect">
            <a:avLst/>
          </a:prstGeom>
          <a:noFill/>
          <a:ln>
            <a:noFill/>
          </a:ln>
        </p:spPr>
        <p:txBody>
          <a:bodyPr wrap="square" lIns="0" tIns="0" rIns="0" bIns="0" rtlCol="0" anchor="t"/>
          <a:lstStyle/>
          <a:p>
            <a:pPr marL="0" algn="l">
              <a:lnSpc>
                <a:spcPct val="125000"/>
              </a:lnSpc>
            </a:pPr>
            <a:r>
              <a:rPr lang="en-US" sz="1500" b="1" noProof="1">
                <a:solidFill>
                  <a:srgbClr val="0E4D3A"/>
                </a:solidFill>
                <a:latin typeface="Aptos"/>
                <a:ea typeface="Aptos"/>
              </a:rPr>
              <a:t>Why this works: </a:t>
            </a:r>
            <a:r>
              <a:rPr lang="en-US" sz="1500" noProof="1">
                <a:solidFill>
                  <a:srgbClr val="15221E"/>
                </a:solidFill>
                <a:latin typeface="Aptos"/>
                <a:ea typeface="Aptos"/>
              </a:rPr>
              <a:t>51% of GCCs are at early maturity and don't fully know where they stand; 94% have strategy and think they know what to do. The Pulse surfaces the gap between intent and capability.</a:t>
            </a:r>
            <a:endParaRPr lang="en-US" sz="1500" noProof="1"/>
          </a:p>
        </p:txBody>
      </p:sp>
      <p:sp>
        <p:nvSpPr>
          <p:cNvPr id="11" name="Tier5 Card"/>
          <p:cNvSpPr/>
          <p:nvPr/>
        </p:nvSpPr>
        <p:spPr>
          <a:xfrm>
            <a:off x="685800" y="4950000"/>
            <a:ext cx="10460140" cy="1000000"/>
          </a:xfrm>
          <a:prstGeom prst="rect">
            <a:avLst/>
          </a:prstGeom>
          <a:solidFill>
            <a:srgbClr val="DDF2E8"/>
          </a:solidFill>
          <a:ln>
            <a:noFill/>
          </a:ln>
        </p:spPr>
        <p:txBody>
          <a:bodyPr wrap="square" lIns="182880" tIns="91440" rIns="182880" bIns="91440" rtlCol="0" anchor="ctr"/>
          <a:lstStyle/>
          <a:p>
            <a:pPr marL="0" algn="l">
              <a:lnSpc>
                <a:spcPct val="125000"/>
              </a:lnSpc>
            </a:pPr>
            <a:r>
              <a:rPr lang="en-US" sz="1500" b="1" noProof="1">
                <a:solidFill>
                  <a:srgbClr val="0E4D3A"/>
                </a:solidFill>
                <a:latin typeface="Aptos"/>
                <a:ea typeface="Aptos"/>
              </a:rPr>
              <a:t>Tier 5 — Continuous Partnership: </a:t>
            </a:r>
            <a:r>
              <a:rPr lang="en-US" sz="1500" noProof="1">
                <a:solidFill>
                  <a:srgbClr val="15221E"/>
                </a:solidFill>
                <a:latin typeface="Aptos"/>
                <a:ea typeface="Aptos"/>
              </a:rPr>
              <a:t>annual refresh cohorts, train-the-trainer certification and new-tool updates keep capability current as the technology evolves, with Pulse re-assessments to track maturity progression.</a:t>
            </a:r>
            <a:endParaRPr lang="en-US" sz="1500" noProof="1"/>
          </a:p>
        </p:txBody>
      </p:sp>
      <p:sp>
        <p:nvSpPr>
          <p:cNvPr id="12" name="Text 22"/>
          <p:cNvSpPr txBox="1"/>
          <p:nvPr/>
        </p:nvSpPr>
        <p:spPr>
          <a:xfrm>
            <a:off x="11201400" y="6510020"/>
            <a:ext cx="411480" cy="146050"/>
          </a:xfrm>
          <a:prstGeom prst="rect">
            <a:avLst/>
          </a:prstGeom>
          <a:noFill/>
          <a:ln>
            <a:noFill/>
          </a:ln>
        </p:spPr>
        <p:txBody>
          <a:bodyPr wrap="square" lIns="0" tIns="0" rIns="0" bIns="0" rtlCol="0" anchor="ctr"/>
          <a:lstStyle/>
          <a:p>
            <a:pPr marL="0" algn="r">
              <a:lnSpc>
                <a:spcPct val="120000"/>
              </a:lnSpc>
            </a:pPr>
            <a:r>
              <a:rPr lang="en-US" sz="800" noProof="1">
                <a:solidFill>
                  <a:srgbClr val="8A9A92"/>
                </a:solidFill>
                <a:latin typeface="MiSans"/>
                <a:ea typeface="MiSans"/>
              </a:rPr>
              <a:t>09</a:t>
            </a:r>
            <a:endParaRPr lang="en-US" sz="8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1910</Words>
  <Application>Microsoft Office PowerPoint</Application>
  <PresentationFormat>Widescreen</PresentationFormat>
  <Paragraphs>303</Paragraphs>
  <Slides>15</Slides>
  <Notes>12</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15</vt:i4>
      </vt:variant>
    </vt:vector>
  </HeadingPairs>
  <TitlesOfParts>
    <vt:vector size="29" baseType="lpstr">
      <vt:lpstr>Lato</vt:lpstr>
      <vt:lpstr>Arial</vt:lpstr>
      <vt:lpstr>Syne</vt:lpstr>
      <vt:lpstr>Aptos Display</vt:lpstr>
      <vt:lpstr>DM Sans</vt:lpstr>
      <vt:lpstr>MiSans</vt:lpstr>
      <vt:lpstr>Calibri</vt:lpstr>
      <vt:lpstr>Aptos</vt:lpstr>
      <vt:lpstr>Barlow</vt:lpstr>
      <vt:lpstr>PPTD</vt:lpstr>
      <vt:lpstr>Office Theme</vt:lpstr>
      <vt:lpstr>5_Office Theme</vt:lpstr>
      <vt:lpstr>1_Office Theme</vt:lpstr>
      <vt:lpstr>6_Office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of our AI Research Leadership</vt:lpstr>
      <vt:lpstr>Some of our AI Capability &amp; Research Experts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GCC AI Capability Partnership</dc:title>
  <cp:lastModifiedBy>InsightVerge</cp:lastModifiedBy>
  <cp:revision>23</cp:revision>
  <dcterms:modified xsi:type="dcterms:W3CDTF">2026-08-25T05:59:58Z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
  </property>
</Properties>
</file>