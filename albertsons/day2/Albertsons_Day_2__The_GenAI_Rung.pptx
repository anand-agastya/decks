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147479256" r:id="rId5"/>
    <p:sldId id="2147479260" r:id="rId6"/>
    <p:sldId id="2147479143" r:id="rId7"/>
    <p:sldId id="2147479257" r:id="rId8"/>
    <p:sldId id="2147469783" r:id="rId9"/>
    <p:sldId id="2147479163" r:id="rId10"/>
    <p:sldId id="2147479258" r:id="rId11"/>
    <p:sldId id="2147479259" r:id="rId12"/>
    <p:sldId id="2147479261" r:id="rId13"/>
    <p:sldId id="2147479277" r:id="rId14"/>
    <p:sldId id="270" r:id="rId15"/>
    <p:sldId id="2147479262" r:id="rId16"/>
    <p:sldId id="2147479263" r:id="rId17"/>
    <p:sldId id="2147479264" r:id="rId18"/>
    <p:sldId id="2147479265" r:id="rId19"/>
    <p:sldId id="2147479266" r:id="rId20"/>
    <p:sldId id="2147479268" r:id="rId21"/>
    <p:sldId id="278" r:id="rId22"/>
    <p:sldId id="2147479269" r:id="rId23"/>
    <p:sldId id="2147479270" r:id="rId24"/>
    <p:sldId id="2147479271" r:id="rId25"/>
    <p:sldId id="2147479272" r:id="rId26"/>
    <p:sldId id="2147479273" r:id="rId27"/>
    <p:sldId id="2147479274" r:id="rId28"/>
    <p:sldId id="2147479255" r:id="rId29"/>
    <p:sldId id="214747927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F9017-0549-4340-BB0B-B974A4952FF5}" v="6" dt="2026-09-08T01:34:26.799"/>
    <p1510:client id="{DFE9B9CA-9A36-4698-931A-84322007E936}" v="15" dt="2026-09-07T17:03:16.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6/11/relationships/changesInfo" Target="changesInfos/changesInfo1.xml"/><Relationship Id="rId3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han Jayaraman" userId="ad023700-3bd3-4326-8bd0-9b8b8316c802" providerId="ADAL" clId="{883574D2-A9E2-4EFE-B483-187DC1339090}"/>
    <pc:docChg chg="custSel addSld delSld modSld sldOrd">
      <pc:chgData name="Anandhan Jayaraman" userId="ad023700-3bd3-4326-8bd0-9b8b8316c802" providerId="ADAL" clId="{883574D2-A9E2-4EFE-B483-187DC1339090}" dt="2026-09-08T07:07:59.203" v="537" actId="478"/>
      <pc:docMkLst>
        <pc:docMk/>
      </pc:docMkLst>
      <pc:sldChg chg="del">
        <pc:chgData name="Anandhan Jayaraman" userId="ad023700-3bd3-4326-8bd0-9b8b8316c802" providerId="ADAL" clId="{883574D2-A9E2-4EFE-B483-187DC1339090}" dt="2026-09-08T02:13:10.705" v="442"/>
        <pc:sldMkLst>
          <pc:docMk/>
          <pc:sldMk cId="0" sldId="259"/>
        </pc:sldMkLst>
      </pc:sldChg>
      <pc:sldChg chg="del">
        <pc:chgData name="Anandhan Jayaraman" userId="ad023700-3bd3-4326-8bd0-9b8b8316c802" providerId="ADAL" clId="{883574D2-A9E2-4EFE-B483-187DC1339090}" dt="2026-09-08T02:13:13.983" v="449"/>
        <pc:sldMkLst>
          <pc:docMk/>
          <pc:sldMk cId="0" sldId="262"/>
        </pc:sldMkLst>
      </pc:sldChg>
      <pc:sldChg chg="del">
        <pc:chgData name="Anandhan Jayaraman" userId="ad023700-3bd3-4326-8bd0-9b8b8316c802" providerId="ADAL" clId="{883574D2-A9E2-4EFE-B483-187DC1339090}" dt="2026-09-08T06:34:32.623" v="519"/>
        <pc:sldMkLst>
          <pc:docMk/>
          <pc:sldMk cId="0" sldId="266"/>
        </pc:sldMkLst>
      </pc:sldChg>
      <pc:sldChg chg="del">
        <pc:chgData name="Anandhan Jayaraman" userId="ad023700-3bd3-4326-8bd0-9b8b8316c802" providerId="ADAL" clId="{883574D2-A9E2-4EFE-B483-187DC1339090}" dt="2026-09-08T06:34:32.654" v="520"/>
        <pc:sldMkLst>
          <pc:docMk/>
          <pc:sldMk cId="0" sldId="267"/>
        </pc:sldMkLst>
      </pc:sldChg>
      <pc:sldChg chg="del">
        <pc:chgData name="Anandhan Jayaraman" userId="ad023700-3bd3-4326-8bd0-9b8b8316c802" providerId="ADAL" clId="{883574D2-A9E2-4EFE-B483-187DC1339090}" dt="2026-09-08T06:34:32.662" v="521"/>
        <pc:sldMkLst>
          <pc:docMk/>
          <pc:sldMk cId="0" sldId="268"/>
        </pc:sldMkLst>
      </pc:sldChg>
      <pc:sldChg chg="del">
        <pc:chgData name="Anandhan Jayaraman" userId="ad023700-3bd3-4326-8bd0-9b8b8316c802" providerId="ADAL" clId="{883574D2-A9E2-4EFE-B483-187DC1339090}" dt="2026-09-08T06:34:32.670" v="522"/>
        <pc:sldMkLst>
          <pc:docMk/>
          <pc:sldMk cId="0" sldId="269"/>
        </pc:sldMkLst>
      </pc:sldChg>
      <pc:sldChg chg="delSp modSp mod">
        <pc:chgData name="Anandhan Jayaraman" userId="ad023700-3bd3-4326-8bd0-9b8b8316c802" providerId="ADAL" clId="{883574D2-A9E2-4EFE-B483-187DC1339090}" dt="2026-09-08T05:23:16.055" v="516" actId="1038"/>
        <pc:sldMkLst>
          <pc:docMk/>
          <pc:sldMk cId="0" sldId="270"/>
        </pc:sldMkLst>
        <pc:spChg chg="mod">
          <ac:chgData name="Anandhan Jayaraman" userId="ad023700-3bd3-4326-8bd0-9b8b8316c802" providerId="ADAL" clId="{883574D2-A9E2-4EFE-B483-187DC1339090}" dt="2026-09-08T01:28:35.869" v="276" actId="20577"/>
          <ac:spMkLst>
            <pc:docMk/>
            <pc:sldMk cId="0" sldId="270"/>
            <ac:spMk id="12" creationId="{00000000-0000-0000-0000-000000000000}"/>
          </ac:spMkLst>
        </pc:spChg>
        <pc:spChg chg="del">
          <ac:chgData name="Anandhan Jayaraman" userId="ad023700-3bd3-4326-8bd0-9b8b8316c802" providerId="ADAL" clId="{883574D2-A9E2-4EFE-B483-187DC1339090}" dt="2026-09-08T01:28:42.455" v="277" actId="478"/>
          <ac:spMkLst>
            <pc:docMk/>
            <pc:sldMk cId="0" sldId="270"/>
            <ac:spMk id="13" creationId="{00000000-0000-0000-0000-000000000000}"/>
          </ac:spMkLst>
        </pc:spChg>
        <pc:spChg chg="del">
          <ac:chgData name="Anandhan Jayaraman" userId="ad023700-3bd3-4326-8bd0-9b8b8316c802" providerId="ADAL" clId="{883574D2-A9E2-4EFE-B483-187DC1339090}" dt="2026-09-08T01:28:42.455" v="277" actId="478"/>
          <ac:spMkLst>
            <pc:docMk/>
            <pc:sldMk cId="0" sldId="270"/>
            <ac:spMk id="28" creationId="{AD54B453-8036-2BBA-0F13-504F2FA8FD73}"/>
          </ac:spMkLst>
        </pc:spChg>
        <pc:spChg chg="del">
          <ac:chgData name="Anandhan Jayaraman" userId="ad023700-3bd3-4326-8bd0-9b8b8316c802" providerId="ADAL" clId="{883574D2-A9E2-4EFE-B483-187DC1339090}" dt="2026-09-08T01:28:42.455" v="277" actId="478"/>
          <ac:spMkLst>
            <pc:docMk/>
            <pc:sldMk cId="0" sldId="270"/>
            <ac:spMk id="29" creationId="{0FCCD7C3-E8F3-60F0-9126-3EF76965A900}"/>
          </ac:spMkLst>
        </pc:spChg>
        <pc:spChg chg="del">
          <ac:chgData name="Anandhan Jayaraman" userId="ad023700-3bd3-4326-8bd0-9b8b8316c802" providerId="ADAL" clId="{883574D2-A9E2-4EFE-B483-187DC1339090}" dt="2026-09-08T01:28:42.455" v="277" actId="478"/>
          <ac:spMkLst>
            <pc:docMk/>
            <pc:sldMk cId="0" sldId="270"/>
            <ac:spMk id="31" creationId="{E8018D8E-3500-5BDA-1F27-34678E7CDD3A}"/>
          </ac:spMkLst>
        </pc:spChg>
        <pc:spChg chg="del">
          <ac:chgData name="Anandhan Jayaraman" userId="ad023700-3bd3-4326-8bd0-9b8b8316c802" providerId="ADAL" clId="{883574D2-A9E2-4EFE-B483-187DC1339090}" dt="2026-09-08T01:28:42.455" v="277" actId="478"/>
          <ac:spMkLst>
            <pc:docMk/>
            <pc:sldMk cId="0" sldId="270"/>
            <ac:spMk id="32" creationId="{67C398C1-6057-F1C2-4410-7CC2AE008C0D}"/>
          </ac:spMkLst>
        </pc:spChg>
        <pc:spChg chg="del">
          <ac:chgData name="Anandhan Jayaraman" userId="ad023700-3bd3-4326-8bd0-9b8b8316c802" providerId="ADAL" clId="{883574D2-A9E2-4EFE-B483-187DC1339090}" dt="2026-09-08T01:28:42.455" v="277" actId="478"/>
          <ac:spMkLst>
            <pc:docMk/>
            <pc:sldMk cId="0" sldId="270"/>
            <ac:spMk id="34" creationId="{AC8F103D-9DF9-7CD0-C6BD-980700A644C5}"/>
          </ac:spMkLst>
        </pc:spChg>
        <pc:spChg chg="del">
          <ac:chgData name="Anandhan Jayaraman" userId="ad023700-3bd3-4326-8bd0-9b8b8316c802" providerId="ADAL" clId="{883574D2-A9E2-4EFE-B483-187DC1339090}" dt="2026-09-08T01:28:42.455" v="277" actId="478"/>
          <ac:spMkLst>
            <pc:docMk/>
            <pc:sldMk cId="0" sldId="270"/>
            <ac:spMk id="35" creationId="{8B699C20-C75D-1B9C-1479-C339528B31F0}"/>
          </ac:spMkLst>
        </pc:spChg>
        <pc:spChg chg="del">
          <ac:chgData name="Anandhan Jayaraman" userId="ad023700-3bd3-4326-8bd0-9b8b8316c802" providerId="ADAL" clId="{883574D2-A9E2-4EFE-B483-187DC1339090}" dt="2026-09-08T01:28:42.455" v="277" actId="478"/>
          <ac:spMkLst>
            <pc:docMk/>
            <pc:sldMk cId="0" sldId="270"/>
            <ac:spMk id="37" creationId="{D72965EA-C9C4-F2A2-95A0-39E9011E2C90}"/>
          </ac:spMkLst>
        </pc:spChg>
        <pc:spChg chg="del">
          <ac:chgData name="Anandhan Jayaraman" userId="ad023700-3bd3-4326-8bd0-9b8b8316c802" providerId="ADAL" clId="{883574D2-A9E2-4EFE-B483-187DC1339090}" dt="2026-09-08T01:28:42.455" v="277" actId="478"/>
          <ac:spMkLst>
            <pc:docMk/>
            <pc:sldMk cId="0" sldId="270"/>
            <ac:spMk id="40" creationId="{88705C7E-60BC-A1D5-56D9-53EA3BB8343A}"/>
          </ac:spMkLst>
        </pc:spChg>
        <pc:spChg chg="del">
          <ac:chgData name="Anandhan Jayaraman" userId="ad023700-3bd3-4326-8bd0-9b8b8316c802" providerId="ADAL" clId="{883574D2-A9E2-4EFE-B483-187DC1339090}" dt="2026-09-08T01:28:42.455" v="277" actId="478"/>
          <ac:spMkLst>
            <pc:docMk/>
            <pc:sldMk cId="0" sldId="270"/>
            <ac:spMk id="41" creationId="{EE4BC5E8-3CB9-1CE8-B5EE-F7EF78C463D4}"/>
          </ac:spMkLst>
        </pc:spChg>
        <pc:spChg chg="del">
          <ac:chgData name="Anandhan Jayaraman" userId="ad023700-3bd3-4326-8bd0-9b8b8316c802" providerId="ADAL" clId="{883574D2-A9E2-4EFE-B483-187DC1339090}" dt="2026-09-08T01:28:55.192" v="280" actId="478"/>
          <ac:spMkLst>
            <pc:docMk/>
            <pc:sldMk cId="0" sldId="270"/>
            <ac:spMk id="51" creationId="{00000000-0000-0000-0000-000000000000}"/>
          </ac:spMkLst>
        </pc:spChg>
        <pc:picChg chg="mod">
          <ac:chgData name="Anandhan Jayaraman" userId="ad023700-3bd3-4326-8bd0-9b8b8316c802" providerId="ADAL" clId="{883574D2-A9E2-4EFE-B483-187DC1339090}" dt="2026-09-08T05:23:16.055" v="516" actId="1038"/>
          <ac:picMkLst>
            <pc:docMk/>
            <pc:sldMk cId="0" sldId="270"/>
            <ac:picMk id="50" creationId="{00000000-0000-0000-0000-000000000000}"/>
          </ac:picMkLst>
        </pc:picChg>
      </pc:sldChg>
      <pc:sldChg chg="del">
        <pc:chgData name="Anandhan Jayaraman" userId="ad023700-3bd3-4326-8bd0-9b8b8316c802" providerId="ADAL" clId="{883574D2-A9E2-4EFE-B483-187DC1339090}" dt="2026-09-08T02:15:20.371" v="478"/>
        <pc:sldMkLst>
          <pc:docMk/>
          <pc:sldMk cId="0" sldId="276"/>
        </pc:sldMkLst>
      </pc:sldChg>
      <pc:sldChg chg="del">
        <pc:chgData name="Anandhan Jayaraman" userId="ad023700-3bd3-4326-8bd0-9b8b8316c802" providerId="ADAL" clId="{883574D2-A9E2-4EFE-B483-187DC1339090}" dt="2026-09-08T07:07:34.699" v="535" actId="47"/>
        <pc:sldMkLst>
          <pc:docMk/>
          <pc:sldMk cId="0" sldId="277"/>
        </pc:sldMkLst>
      </pc:sldChg>
      <pc:sldChg chg="del">
        <pc:chgData name="Anandhan Jayaraman" userId="ad023700-3bd3-4326-8bd0-9b8b8316c802" providerId="ADAL" clId="{883574D2-A9E2-4EFE-B483-187DC1339090}" dt="2026-09-08T01:44:58.471" v="316"/>
        <pc:sldMkLst>
          <pc:docMk/>
          <pc:sldMk cId="0" sldId="287"/>
        </pc:sldMkLst>
      </pc:sldChg>
      <pc:sldChg chg="del">
        <pc:chgData name="Anandhan Jayaraman" userId="ad023700-3bd3-4326-8bd0-9b8b8316c802" providerId="ADAL" clId="{883574D2-A9E2-4EFE-B483-187DC1339090}" dt="2026-09-08T07:04:17.995" v="534" actId="47"/>
        <pc:sldMkLst>
          <pc:docMk/>
          <pc:sldMk cId="0" sldId="288"/>
        </pc:sldMkLst>
      </pc:sldChg>
      <pc:sldChg chg="del">
        <pc:chgData name="Anandhan Jayaraman" userId="ad023700-3bd3-4326-8bd0-9b8b8316c802" providerId="ADAL" clId="{883574D2-A9E2-4EFE-B483-187DC1339090}" dt="2026-09-07T16:49:42.253" v="9" actId="2696"/>
        <pc:sldMkLst>
          <pc:docMk/>
          <pc:sldMk cId="0" sldId="292"/>
        </pc:sldMkLst>
      </pc:sldChg>
      <pc:sldChg chg="add del setBg">
        <pc:chgData name="Anandhan Jayaraman" userId="ad023700-3bd3-4326-8bd0-9b8b8316c802" providerId="ADAL" clId="{883574D2-A9E2-4EFE-B483-187DC1339090}" dt="2026-09-07T16:49:50.041" v="11"/>
        <pc:sldMkLst>
          <pc:docMk/>
          <pc:sldMk cId="2318986333" sldId="292"/>
        </pc:sldMkLst>
      </pc:sldChg>
      <pc:sldChg chg="addSp delSp modSp add del mod">
        <pc:chgData name="Anandhan Jayaraman" userId="ad023700-3bd3-4326-8bd0-9b8b8316c802" providerId="ADAL" clId="{883574D2-A9E2-4EFE-B483-187DC1339090}" dt="2026-09-08T02:13:46.336" v="464"/>
        <pc:sldMkLst>
          <pc:docMk/>
          <pc:sldMk cId="2754831889" sldId="292"/>
        </pc:sldMkLst>
        <pc:spChg chg="mod">
          <ac:chgData name="Anandhan Jayaraman" userId="ad023700-3bd3-4326-8bd0-9b8b8316c802" providerId="ADAL" clId="{883574D2-A9E2-4EFE-B483-187DC1339090}" dt="2026-09-07T16:51:45.123" v="106" actId="1076"/>
          <ac:spMkLst>
            <pc:docMk/>
            <pc:sldMk cId="2754831889" sldId="292"/>
            <ac:spMk id="3" creationId="{A2786FD4-5AB0-C8A4-62F7-A37DDFEE16EA}"/>
          </ac:spMkLst>
        </pc:spChg>
        <pc:spChg chg="del">
          <ac:chgData name="Anandhan Jayaraman" userId="ad023700-3bd3-4326-8bd0-9b8b8316c802" providerId="ADAL" clId="{883574D2-A9E2-4EFE-B483-187DC1339090}" dt="2026-09-07T16:50:09.099" v="13" actId="478"/>
          <ac:spMkLst>
            <pc:docMk/>
            <pc:sldMk cId="2754831889" sldId="292"/>
            <ac:spMk id="4" creationId="{58530949-82E8-5FF7-2C5E-46DDF3ACB53C}"/>
          </ac:spMkLst>
        </pc:spChg>
        <pc:spChg chg="del">
          <ac:chgData name="Anandhan Jayaraman" userId="ad023700-3bd3-4326-8bd0-9b8b8316c802" providerId="ADAL" clId="{883574D2-A9E2-4EFE-B483-187DC1339090}" dt="2026-09-07T16:50:15.895" v="14" actId="478"/>
          <ac:spMkLst>
            <pc:docMk/>
            <pc:sldMk cId="2754831889" sldId="292"/>
            <ac:spMk id="5" creationId="{2B415B65-08C2-E544-583E-EF2D54C3177B}"/>
          </ac:spMkLst>
        </pc:spChg>
        <pc:spChg chg="del">
          <ac:chgData name="Anandhan Jayaraman" userId="ad023700-3bd3-4326-8bd0-9b8b8316c802" providerId="ADAL" clId="{883574D2-A9E2-4EFE-B483-187DC1339090}" dt="2026-09-07T16:50:18.355" v="15" actId="478"/>
          <ac:spMkLst>
            <pc:docMk/>
            <pc:sldMk cId="2754831889" sldId="292"/>
            <ac:spMk id="6" creationId="{0EEEC8BD-9C57-9711-926C-FC8137257EAB}"/>
          </ac:spMkLst>
        </pc:spChg>
        <pc:spChg chg="del">
          <ac:chgData name="Anandhan Jayaraman" userId="ad023700-3bd3-4326-8bd0-9b8b8316c802" providerId="ADAL" clId="{883574D2-A9E2-4EFE-B483-187DC1339090}" dt="2026-09-07T16:50:21.213" v="16" actId="478"/>
          <ac:spMkLst>
            <pc:docMk/>
            <pc:sldMk cId="2754831889" sldId="292"/>
            <ac:spMk id="7" creationId="{D7086555-7833-AE65-4436-F337802DEB2D}"/>
          </ac:spMkLst>
        </pc:spChg>
        <pc:spChg chg="mod">
          <ac:chgData name="Anandhan Jayaraman" userId="ad023700-3bd3-4326-8bd0-9b8b8316c802" providerId="ADAL" clId="{883574D2-A9E2-4EFE-B483-187DC1339090}" dt="2026-09-07T16:51:31.794" v="103" actId="1036"/>
          <ac:spMkLst>
            <pc:docMk/>
            <pc:sldMk cId="2754831889" sldId="292"/>
            <ac:spMk id="8" creationId="{948CC3AB-6763-1D01-8A7B-2AE0B5733745}"/>
          </ac:spMkLst>
        </pc:spChg>
        <pc:spChg chg="mod">
          <ac:chgData name="Anandhan Jayaraman" userId="ad023700-3bd3-4326-8bd0-9b8b8316c802" providerId="ADAL" clId="{883574D2-A9E2-4EFE-B483-187DC1339090}" dt="2026-09-07T16:51:24.085" v="69" actId="1035"/>
          <ac:spMkLst>
            <pc:docMk/>
            <pc:sldMk cId="2754831889" sldId="292"/>
            <ac:spMk id="9" creationId="{DF875662-A036-B3E2-B576-C34C5114ADB5}"/>
          </ac:spMkLst>
        </pc:spChg>
        <pc:spChg chg="mod">
          <ac:chgData name="Anandhan Jayaraman" userId="ad023700-3bd3-4326-8bd0-9b8b8316c802" providerId="ADAL" clId="{883574D2-A9E2-4EFE-B483-187DC1339090}" dt="2026-09-07T16:51:21.076" v="50" actId="1036"/>
          <ac:spMkLst>
            <pc:docMk/>
            <pc:sldMk cId="2754831889" sldId="292"/>
            <ac:spMk id="10" creationId="{B57D6E2E-AE98-F229-4A67-6423B187C020}"/>
          </ac:spMkLst>
        </pc:spChg>
        <pc:spChg chg="add del mod">
          <ac:chgData name="Anandhan Jayaraman" userId="ad023700-3bd3-4326-8bd0-9b8b8316c802" providerId="ADAL" clId="{883574D2-A9E2-4EFE-B483-187DC1339090}" dt="2026-09-07T16:50:34.423" v="20"/>
          <ac:spMkLst>
            <pc:docMk/>
            <pc:sldMk cId="2754831889" sldId="292"/>
            <ac:spMk id="12" creationId="{75B119D4-51FD-2037-EAB4-338B8AD622CC}"/>
          </ac:spMkLst>
        </pc:spChg>
        <pc:picChg chg="add mod">
          <ac:chgData name="Anandhan Jayaraman" userId="ad023700-3bd3-4326-8bd0-9b8b8316c802" providerId="ADAL" clId="{883574D2-A9E2-4EFE-B483-187DC1339090}" dt="2026-09-07T16:51:50.727" v="107" actId="14100"/>
          <ac:picMkLst>
            <pc:docMk/>
            <pc:sldMk cId="2754831889" sldId="292"/>
            <ac:picMk id="11" creationId="{4D0121B6-DBB2-2AF0-24F7-A7C9CA7C1CAE}"/>
          </ac:picMkLst>
        </pc:picChg>
      </pc:sldChg>
      <pc:sldChg chg="add">
        <pc:chgData name="Anandhan Jayaraman" userId="ad023700-3bd3-4326-8bd0-9b8b8316c802" providerId="ADAL" clId="{883574D2-A9E2-4EFE-B483-187DC1339090}" dt="2026-09-07T17:00:18.963" v="111"/>
        <pc:sldMkLst>
          <pc:docMk/>
          <pc:sldMk cId="1635967594" sldId="317"/>
        </pc:sldMkLst>
      </pc:sldChg>
      <pc:sldChg chg="modSp add mod">
        <pc:chgData name="Anandhan Jayaraman" userId="ad023700-3bd3-4326-8bd0-9b8b8316c802" providerId="ADAL" clId="{883574D2-A9E2-4EFE-B483-187DC1339090}" dt="2026-09-07T16:36:26.296" v="1" actId="27636"/>
        <pc:sldMkLst>
          <pc:docMk/>
          <pc:sldMk cId="1698097987" sldId="815"/>
        </pc:sldMkLst>
        <pc:spChg chg="mod">
          <ac:chgData name="Anandhan Jayaraman" userId="ad023700-3bd3-4326-8bd0-9b8b8316c802" providerId="ADAL" clId="{883574D2-A9E2-4EFE-B483-187DC1339090}" dt="2026-09-07T16:36:26.296" v="1" actId="27636"/>
          <ac:spMkLst>
            <pc:docMk/>
            <pc:sldMk cId="1698097987" sldId="815"/>
            <ac:spMk id="4" creationId="{7D7D5D73-0382-4F8D-B597-67AC93370691}"/>
          </ac:spMkLst>
        </pc:spChg>
      </pc:sldChg>
      <pc:sldChg chg="add">
        <pc:chgData name="Anandhan Jayaraman" userId="ad023700-3bd3-4326-8bd0-9b8b8316c802" providerId="ADAL" clId="{883574D2-A9E2-4EFE-B483-187DC1339090}" dt="2026-09-07T16:36:26.167" v="0"/>
        <pc:sldMkLst>
          <pc:docMk/>
          <pc:sldMk cId="1407398794" sldId="2971"/>
        </pc:sldMkLst>
      </pc:sldChg>
      <pc:sldChg chg="add">
        <pc:chgData name="Anandhan Jayaraman" userId="ad023700-3bd3-4326-8bd0-9b8b8316c802" providerId="ADAL" clId="{883574D2-A9E2-4EFE-B483-187DC1339090}" dt="2026-09-07T16:45:47.249" v="5"/>
        <pc:sldMkLst>
          <pc:docMk/>
          <pc:sldMk cId="1816708596" sldId="2992"/>
        </pc:sldMkLst>
      </pc:sldChg>
      <pc:sldChg chg="add del">
        <pc:chgData name="Anandhan Jayaraman" userId="ad023700-3bd3-4326-8bd0-9b8b8316c802" providerId="ADAL" clId="{883574D2-A9E2-4EFE-B483-187DC1339090}" dt="2026-09-07T16:51:58.339" v="108" actId="47"/>
        <pc:sldMkLst>
          <pc:docMk/>
          <pc:sldMk cId="9081231" sldId="4414"/>
        </pc:sldMkLst>
      </pc:sldChg>
      <pc:sldChg chg="add">
        <pc:chgData name="Anandhan Jayaraman" userId="ad023700-3bd3-4326-8bd0-9b8b8316c802" providerId="ADAL" clId="{883574D2-A9E2-4EFE-B483-187DC1339090}" dt="2026-09-07T16:36:26.167" v="0"/>
        <pc:sldMkLst>
          <pc:docMk/>
          <pc:sldMk cId="3336116413" sldId="2147469777"/>
        </pc:sldMkLst>
      </pc:sldChg>
      <pc:sldChg chg="add">
        <pc:chgData name="Anandhan Jayaraman" userId="ad023700-3bd3-4326-8bd0-9b8b8316c802" providerId="ADAL" clId="{883574D2-A9E2-4EFE-B483-187DC1339090}" dt="2026-09-07T16:36:26.167" v="0"/>
        <pc:sldMkLst>
          <pc:docMk/>
          <pc:sldMk cId="2210439667" sldId="2147469778"/>
        </pc:sldMkLst>
      </pc:sldChg>
      <pc:sldChg chg="modSp add mod">
        <pc:chgData name="Anandhan Jayaraman" userId="ad023700-3bd3-4326-8bd0-9b8b8316c802" providerId="ADAL" clId="{883574D2-A9E2-4EFE-B483-187DC1339090}" dt="2026-09-08T01:07:26.935" v="266" actId="1076"/>
        <pc:sldMkLst>
          <pc:docMk/>
          <pc:sldMk cId="1131682690" sldId="2147469783"/>
        </pc:sldMkLst>
        <pc:picChg chg="mod">
          <ac:chgData name="Anandhan Jayaraman" userId="ad023700-3bd3-4326-8bd0-9b8b8316c802" providerId="ADAL" clId="{883574D2-A9E2-4EFE-B483-187DC1339090}" dt="2026-09-08T01:07:26.935" v="266" actId="1076"/>
          <ac:picMkLst>
            <pc:docMk/>
            <pc:sldMk cId="1131682690" sldId="2147469783"/>
            <ac:picMk id="7" creationId="{23D50A41-4190-87BC-B397-F1F57462E115}"/>
          </ac:picMkLst>
        </pc:picChg>
      </pc:sldChg>
      <pc:sldChg chg="add">
        <pc:chgData name="Anandhan Jayaraman" userId="ad023700-3bd3-4326-8bd0-9b8b8316c802" providerId="ADAL" clId="{883574D2-A9E2-4EFE-B483-187DC1339090}" dt="2026-09-07T16:36:26.167" v="0"/>
        <pc:sldMkLst>
          <pc:docMk/>
          <pc:sldMk cId="0" sldId="2147469997"/>
        </pc:sldMkLst>
      </pc:sldChg>
      <pc:sldChg chg="modSp add mod">
        <pc:chgData name="Anandhan Jayaraman" userId="ad023700-3bd3-4326-8bd0-9b8b8316c802" providerId="ADAL" clId="{883574D2-A9E2-4EFE-B483-187DC1339090}" dt="2026-09-07T16:59:26.233" v="110" actId="27636"/>
        <pc:sldMkLst>
          <pc:docMk/>
          <pc:sldMk cId="3899558517" sldId="2147470004"/>
        </pc:sldMkLst>
        <pc:spChg chg="mod">
          <ac:chgData name="Anandhan Jayaraman" userId="ad023700-3bd3-4326-8bd0-9b8b8316c802" providerId="ADAL" clId="{883574D2-A9E2-4EFE-B483-187DC1339090}" dt="2026-09-07T16:59:26.233" v="110" actId="27636"/>
          <ac:spMkLst>
            <pc:docMk/>
            <pc:sldMk cId="3899558517" sldId="2147470004"/>
            <ac:spMk id="3" creationId="{E5451D18-47D7-5C14-34D2-D52FBEF39A0A}"/>
          </ac:spMkLst>
        </pc:spChg>
      </pc:sldChg>
      <pc:sldChg chg="add">
        <pc:chgData name="Anandhan Jayaraman" userId="ad023700-3bd3-4326-8bd0-9b8b8316c802" providerId="ADAL" clId="{883574D2-A9E2-4EFE-B483-187DC1339090}" dt="2026-09-07T17:00:37.390" v="114"/>
        <pc:sldMkLst>
          <pc:docMk/>
          <pc:sldMk cId="3261758601" sldId="2147470021"/>
        </pc:sldMkLst>
      </pc:sldChg>
      <pc:sldChg chg="add del">
        <pc:chgData name="Anandhan Jayaraman" userId="ad023700-3bd3-4326-8bd0-9b8b8316c802" providerId="ADAL" clId="{883574D2-A9E2-4EFE-B483-187DC1339090}" dt="2026-09-08T02:15:34.766" v="480"/>
        <pc:sldMkLst>
          <pc:docMk/>
          <pc:sldMk cId="1657563622" sldId="2147470022"/>
        </pc:sldMkLst>
      </pc:sldChg>
      <pc:sldChg chg="add">
        <pc:chgData name="Anandhan Jayaraman" userId="ad023700-3bd3-4326-8bd0-9b8b8316c802" providerId="ADAL" clId="{883574D2-A9E2-4EFE-B483-187DC1339090}" dt="2026-09-07T17:01:59.096" v="116"/>
        <pc:sldMkLst>
          <pc:docMk/>
          <pc:sldMk cId="2406034172" sldId="2147470028"/>
        </pc:sldMkLst>
      </pc:sldChg>
      <pc:sldChg chg="add">
        <pc:chgData name="Anandhan Jayaraman" userId="ad023700-3bd3-4326-8bd0-9b8b8316c802" providerId="ADAL" clId="{883574D2-A9E2-4EFE-B483-187DC1339090}" dt="2026-09-07T17:01:59.096" v="116"/>
        <pc:sldMkLst>
          <pc:docMk/>
          <pc:sldMk cId="2110737678" sldId="2147470029"/>
        </pc:sldMkLst>
      </pc:sldChg>
      <pc:sldChg chg="add">
        <pc:chgData name="Anandhan Jayaraman" userId="ad023700-3bd3-4326-8bd0-9b8b8316c802" providerId="ADAL" clId="{883574D2-A9E2-4EFE-B483-187DC1339090}" dt="2026-09-07T17:02:51.755" v="117"/>
        <pc:sldMkLst>
          <pc:docMk/>
          <pc:sldMk cId="3457242257" sldId="2147470030"/>
        </pc:sldMkLst>
      </pc:sldChg>
      <pc:sldChg chg="add">
        <pc:chgData name="Anandhan Jayaraman" userId="ad023700-3bd3-4326-8bd0-9b8b8316c802" providerId="ADAL" clId="{883574D2-A9E2-4EFE-B483-187DC1339090}" dt="2026-09-07T17:00:37.390" v="114"/>
        <pc:sldMkLst>
          <pc:docMk/>
          <pc:sldMk cId="2600488952" sldId="2147470037"/>
        </pc:sldMkLst>
      </pc:sldChg>
      <pc:sldChg chg="add">
        <pc:chgData name="Anandhan Jayaraman" userId="ad023700-3bd3-4326-8bd0-9b8b8316c802" providerId="ADAL" clId="{883574D2-A9E2-4EFE-B483-187DC1339090}" dt="2026-09-07T17:01:04.209" v="115"/>
        <pc:sldMkLst>
          <pc:docMk/>
          <pc:sldMk cId="0" sldId="2147470043"/>
        </pc:sldMkLst>
      </pc:sldChg>
      <pc:sldChg chg="add">
        <pc:chgData name="Anandhan Jayaraman" userId="ad023700-3bd3-4326-8bd0-9b8b8316c802" providerId="ADAL" clId="{883574D2-A9E2-4EFE-B483-187DC1339090}" dt="2026-09-07T17:01:59.096" v="116"/>
        <pc:sldMkLst>
          <pc:docMk/>
          <pc:sldMk cId="2735441507" sldId="2147470045"/>
        </pc:sldMkLst>
      </pc:sldChg>
      <pc:sldChg chg="modSp add del mod">
        <pc:chgData name="Anandhan Jayaraman" userId="ad023700-3bd3-4326-8bd0-9b8b8316c802" providerId="ADAL" clId="{883574D2-A9E2-4EFE-B483-187DC1339090}" dt="2026-09-08T01:44:35.415" v="313"/>
        <pc:sldMkLst>
          <pc:docMk/>
          <pc:sldMk cId="1046944695" sldId="2147470048"/>
        </pc:sldMkLst>
        <pc:graphicFrameChg chg="modGraphic">
          <ac:chgData name="Anandhan Jayaraman" userId="ad023700-3bd3-4326-8bd0-9b8b8316c802" providerId="ADAL" clId="{883574D2-A9E2-4EFE-B483-187DC1339090}" dt="2026-09-07T17:03:21.673" v="131" actId="20577"/>
          <ac:graphicFrameMkLst>
            <pc:docMk/>
            <pc:sldMk cId="1046944695" sldId="2147470048"/>
            <ac:graphicFrameMk id="6" creationId="{E514A6E7-CD5C-6904-5AAB-66B8F18E37D9}"/>
          </ac:graphicFrameMkLst>
        </pc:graphicFrameChg>
      </pc:sldChg>
      <pc:sldChg chg="add">
        <pc:chgData name="Anandhan Jayaraman" userId="ad023700-3bd3-4326-8bd0-9b8b8316c802" providerId="ADAL" clId="{883574D2-A9E2-4EFE-B483-187DC1339090}" dt="2026-09-07T16:36:26.167" v="0"/>
        <pc:sldMkLst>
          <pc:docMk/>
          <pc:sldMk cId="2677985191" sldId="2147479143"/>
        </pc:sldMkLst>
      </pc:sldChg>
      <pc:sldChg chg="modSp add mod">
        <pc:chgData name="Anandhan Jayaraman" userId="ad023700-3bd3-4326-8bd0-9b8b8316c802" providerId="ADAL" clId="{883574D2-A9E2-4EFE-B483-187DC1339090}" dt="2026-09-08T01:07:56.573" v="273" actId="403"/>
        <pc:sldMkLst>
          <pc:docMk/>
          <pc:sldMk cId="2016821838" sldId="2147479163"/>
        </pc:sldMkLst>
        <pc:spChg chg="mod">
          <ac:chgData name="Anandhan Jayaraman" userId="ad023700-3bd3-4326-8bd0-9b8b8316c802" providerId="ADAL" clId="{883574D2-A9E2-4EFE-B483-187DC1339090}" dt="2026-09-08T01:07:56.573" v="273" actId="403"/>
          <ac:spMkLst>
            <pc:docMk/>
            <pc:sldMk cId="2016821838" sldId="2147479163"/>
            <ac:spMk id="3" creationId="{B3A70EDC-AF5E-6122-C8BB-10985A691EFB}"/>
          </ac:spMkLst>
        </pc:spChg>
        <pc:spChg chg="mod">
          <ac:chgData name="Anandhan Jayaraman" userId="ad023700-3bd3-4326-8bd0-9b8b8316c802" providerId="ADAL" clId="{883574D2-A9E2-4EFE-B483-187DC1339090}" dt="2026-09-08T01:07:49.018" v="272" actId="403"/>
          <ac:spMkLst>
            <pc:docMk/>
            <pc:sldMk cId="2016821838" sldId="2147479163"/>
            <ac:spMk id="5" creationId="{00000000-0000-0000-0000-000000000000}"/>
          </ac:spMkLst>
        </pc:spChg>
      </pc:sldChg>
      <pc:sldChg chg="new del">
        <pc:chgData name="Anandhan Jayaraman" userId="ad023700-3bd3-4326-8bd0-9b8b8316c802" providerId="ADAL" clId="{883574D2-A9E2-4EFE-B483-187DC1339090}" dt="2026-09-07T16:36:38.695" v="4" actId="47"/>
        <pc:sldMkLst>
          <pc:docMk/>
          <pc:sldMk cId="215886135" sldId="2147479164"/>
        </pc:sldMkLst>
      </pc:sldChg>
      <pc:sldChg chg="modSp add del mod">
        <pc:chgData name="Anandhan Jayaraman" userId="ad023700-3bd3-4326-8bd0-9b8b8316c802" providerId="ADAL" clId="{883574D2-A9E2-4EFE-B483-187DC1339090}" dt="2026-09-08T02:13:15.511" v="452"/>
        <pc:sldMkLst>
          <pc:docMk/>
          <pc:sldMk cId="3469642819" sldId="2147479167"/>
        </pc:sldMkLst>
        <pc:spChg chg="mod">
          <ac:chgData name="Anandhan Jayaraman" userId="ad023700-3bd3-4326-8bd0-9b8b8316c802" providerId="ADAL" clId="{883574D2-A9E2-4EFE-B483-187DC1339090}" dt="2026-09-07T16:46:38.289" v="7" actId="27636"/>
          <ac:spMkLst>
            <pc:docMk/>
            <pc:sldMk cId="3469642819" sldId="2147479167"/>
            <ac:spMk id="2" creationId="{C276745A-ABE8-0487-4A19-6869B7A96C08}"/>
          </ac:spMkLst>
        </pc:spChg>
      </pc:sldChg>
      <pc:sldChg chg="add">
        <pc:chgData name="Anandhan Jayaraman" userId="ad023700-3bd3-4326-8bd0-9b8b8316c802" providerId="ADAL" clId="{883574D2-A9E2-4EFE-B483-187DC1339090}" dt="2026-09-07T16:59:26.120" v="109"/>
        <pc:sldMkLst>
          <pc:docMk/>
          <pc:sldMk cId="1684547755" sldId="2147479172"/>
        </pc:sldMkLst>
      </pc:sldChg>
      <pc:sldChg chg="modSp add mod">
        <pc:chgData name="Anandhan Jayaraman" userId="ad023700-3bd3-4326-8bd0-9b8b8316c802" providerId="ADAL" clId="{883574D2-A9E2-4EFE-B483-187DC1339090}" dt="2026-09-07T17:00:19.082" v="113" actId="27636"/>
        <pc:sldMkLst>
          <pc:docMk/>
          <pc:sldMk cId="280544440" sldId="2147479229"/>
        </pc:sldMkLst>
        <pc:spChg chg="mod">
          <ac:chgData name="Anandhan Jayaraman" userId="ad023700-3bd3-4326-8bd0-9b8b8316c802" providerId="ADAL" clId="{883574D2-A9E2-4EFE-B483-187DC1339090}" dt="2026-09-07T17:00:19.082" v="113" actId="27636"/>
          <ac:spMkLst>
            <pc:docMk/>
            <pc:sldMk cId="280544440" sldId="2147479229"/>
            <ac:spMk id="2" creationId="{3EE1BFF1-1F4E-5551-0C16-E705C143A2D4}"/>
          </ac:spMkLst>
        </pc:spChg>
        <pc:spChg chg="mod">
          <ac:chgData name="Anandhan Jayaraman" userId="ad023700-3bd3-4326-8bd0-9b8b8316c802" providerId="ADAL" clId="{883574D2-A9E2-4EFE-B483-187DC1339090}" dt="2026-09-07T17:00:19.080" v="112" actId="27636"/>
          <ac:spMkLst>
            <pc:docMk/>
            <pc:sldMk cId="280544440" sldId="2147479229"/>
            <ac:spMk id="3" creationId="{2F97D448-1CAC-73AC-AF2C-0BE9F566BBB9}"/>
          </ac:spMkLst>
        </pc:spChg>
      </pc:sldChg>
      <pc:sldChg chg="add">
        <pc:chgData name="Anandhan Jayaraman" userId="ad023700-3bd3-4326-8bd0-9b8b8316c802" providerId="ADAL" clId="{883574D2-A9E2-4EFE-B483-187DC1339090}" dt="2026-09-07T17:01:04.209" v="115"/>
        <pc:sldMkLst>
          <pc:docMk/>
          <pc:sldMk cId="0" sldId="2147479230"/>
        </pc:sldMkLst>
      </pc:sldChg>
      <pc:sldChg chg="add">
        <pc:chgData name="Anandhan Jayaraman" userId="ad023700-3bd3-4326-8bd0-9b8b8316c802" providerId="ADAL" clId="{883574D2-A9E2-4EFE-B483-187DC1339090}" dt="2026-09-07T17:01:04.209" v="115"/>
        <pc:sldMkLst>
          <pc:docMk/>
          <pc:sldMk cId="0" sldId="2147479231"/>
        </pc:sldMkLst>
      </pc:sldChg>
      <pc:sldChg chg="add">
        <pc:chgData name="Anandhan Jayaraman" userId="ad023700-3bd3-4326-8bd0-9b8b8316c802" providerId="ADAL" clId="{883574D2-A9E2-4EFE-B483-187DC1339090}" dt="2026-09-07T17:01:04.209" v="115"/>
        <pc:sldMkLst>
          <pc:docMk/>
          <pc:sldMk cId="0" sldId="2147479232"/>
        </pc:sldMkLst>
      </pc:sldChg>
      <pc:sldChg chg="addSp modSp del modAnim">
        <pc:chgData name="Anandhan Jayaraman" userId="ad023700-3bd3-4326-8bd0-9b8b8316c802" providerId="ADAL" clId="{883574D2-A9E2-4EFE-B483-187DC1339090}" dt="2026-09-08T02:13:32.369" v="456"/>
        <pc:sldMkLst>
          <pc:docMk/>
          <pc:sldMk cId="0" sldId="2147479233"/>
        </pc:sldMkLst>
        <pc:spChg chg="mod">
          <ac:chgData name="Anandhan Jayaraman" userId="ad023700-3bd3-4326-8bd0-9b8b8316c802" providerId="ADAL" clId="{883574D2-A9E2-4EFE-B483-187DC1339090}" dt="2026-09-08T00:59:39.100" v="132" actId="164"/>
          <ac:spMkLst>
            <pc:docMk/>
            <pc:sldMk cId="0" sldId="2147479233"/>
            <ac:spMk id="5" creationId="{00000000-0000-0000-0000-000000000000}"/>
          </ac:spMkLst>
        </pc:spChg>
        <pc:spChg chg="mod">
          <ac:chgData name="Anandhan Jayaraman" userId="ad023700-3bd3-4326-8bd0-9b8b8316c802" providerId="ADAL" clId="{883574D2-A9E2-4EFE-B483-187DC1339090}" dt="2026-09-08T00:59:39.100" v="132" actId="164"/>
          <ac:spMkLst>
            <pc:docMk/>
            <pc:sldMk cId="0" sldId="2147479233"/>
            <ac:spMk id="6" creationId="{00000000-0000-0000-0000-000000000000}"/>
          </ac:spMkLst>
        </pc:spChg>
        <pc:spChg chg="mod">
          <ac:chgData name="Anandhan Jayaraman" userId="ad023700-3bd3-4326-8bd0-9b8b8316c802" providerId="ADAL" clId="{883574D2-A9E2-4EFE-B483-187DC1339090}" dt="2026-09-08T00:59:39.100" v="132" actId="164"/>
          <ac:spMkLst>
            <pc:docMk/>
            <pc:sldMk cId="0" sldId="2147479233"/>
            <ac:spMk id="7" creationId="{00000000-0000-0000-0000-000000000000}"/>
          </ac:spMkLst>
        </pc:spChg>
        <pc:grpChg chg="add mod">
          <ac:chgData name="Anandhan Jayaraman" userId="ad023700-3bd3-4326-8bd0-9b8b8316c802" providerId="ADAL" clId="{883574D2-A9E2-4EFE-B483-187DC1339090}" dt="2026-09-08T00:59:39.100" v="132" actId="164"/>
          <ac:grpSpMkLst>
            <pc:docMk/>
            <pc:sldMk cId="0" sldId="2147479233"/>
            <ac:grpSpMk id="13" creationId="{EFC62FAA-C247-224C-5D66-112AB4B85089}"/>
          </ac:grpSpMkLst>
        </pc:grpChg>
      </pc:sldChg>
      <pc:sldChg chg="delSp modSp del mod">
        <pc:chgData name="Anandhan Jayaraman" userId="ad023700-3bd3-4326-8bd0-9b8b8316c802" providerId="ADAL" clId="{883574D2-A9E2-4EFE-B483-187DC1339090}" dt="2026-09-08T01:05:46.562" v="209"/>
        <pc:sldMkLst>
          <pc:docMk/>
          <pc:sldMk cId="0" sldId="2147479234"/>
        </pc:sldMkLst>
        <pc:spChg chg="mod">
          <ac:chgData name="Anandhan Jayaraman" userId="ad023700-3bd3-4326-8bd0-9b8b8316c802" providerId="ADAL" clId="{883574D2-A9E2-4EFE-B483-187DC1339090}" dt="2026-09-08T01:05:37.829" v="207"/>
          <ac:spMkLst>
            <pc:docMk/>
            <pc:sldMk cId="0" sldId="2147479234"/>
            <ac:spMk id="6" creationId="{00000000-0000-0000-0000-000000000000}"/>
          </ac:spMkLst>
        </pc:spChg>
        <pc:spChg chg="del">
          <ac:chgData name="Anandhan Jayaraman" userId="ad023700-3bd3-4326-8bd0-9b8b8316c802" providerId="ADAL" clId="{883574D2-A9E2-4EFE-B483-187DC1339090}" dt="2026-09-08T01:03:14.312" v="137" actId="478"/>
          <ac:spMkLst>
            <pc:docMk/>
            <pc:sldMk cId="0" sldId="2147479234"/>
            <ac:spMk id="8" creationId="{00000000-0000-0000-0000-000000000000}"/>
          </ac:spMkLst>
        </pc:spChg>
        <pc:graphicFrameChg chg="mod modGraphic">
          <ac:chgData name="Anandhan Jayaraman" userId="ad023700-3bd3-4326-8bd0-9b8b8316c802" providerId="ADAL" clId="{883574D2-A9E2-4EFE-B483-187DC1339090}" dt="2026-09-08T01:05:32.492" v="204"/>
          <ac:graphicFrameMkLst>
            <pc:docMk/>
            <pc:sldMk cId="0" sldId="2147479234"/>
            <ac:graphicFrameMk id="5" creationId="{00000000-0000-0000-0000-000000000000}"/>
          </ac:graphicFrameMkLst>
        </pc:graphicFrameChg>
        <pc:picChg chg="del">
          <ac:chgData name="Anandhan Jayaraman" userId="ad023700-3bd3-4326-8bd0-9b8b8316c802" providerId="ADAL" clId="{883574D2-A9E2-4EFE-B483-187DC1339090}" dt="2026-09-08T01:03:14.312" v="137" actId="478"/>
          <ac:picMkLst>
            <pc:docMk/>
            <pc:sldMk cId="0" sldId="2147479234"/>
            <ac:picMk id="7" creationId="{00000000-0000-0000-0000-000000000000}"/>
          </ac:picMkLst>
        </pc:picChg>
      </pc:sldChg>
      <pc:sldChg chg="del">
        <pc:chgData name="Anandhan Jayaraman" userId="ad023700-3bd3-4326-8bd0-9b8b8316c802" providerId="ADAL" clId="{883574D2-A9E2-4EFE-B483-187DC1339090}" dt="2026-09-08T02:14:02.222" v="466"/>
        <pc:sldMkLst>
          <pc:docMk/>
          <pc:sldMk cId="0" sldId="2147479235"/>
        </pc:sldMkLst>
      </pc:sldChg>
      <pc:sldChg chg="del">
        <pc:chgData name="Anandhan Jayaraman" userId="ad023700-3bd3-4326-8bd0-9b8b8316c802" providerId="ADAL" clId="{883574D2-A9E2-4EFE-B483-187DC1339090}" dt="2026-09-08T02:14:13.529" v="468"/>
        <pc:sldMkLst>
          <pc:docMk/>
          <pc:sldMk cId="0" sldId="2147479236"/>
        </pc:sldMkLst>
      </pc:sldChg>
      <pc:sldChg chg="del">
        <pc:chgData name="Anandhan Jayaraman" userId="ad023700-3bd3-4326-8bd0-9b8b8316c802" providerId="ADAL" clId="{883574D2-A9E2-4EFE-B483-187DC1339090}" dt="2026-09-08T02:14:25.531" v="470"/>
        <pc:sldMkLst>
          <pc:docMk/>
          <pc:sldMk cId="0" sldId="2147479237"/>
        </pc:sldMkLst>
      </pc:sldChg>
      <pc:sldChg chg="del">
        <pc:chgData name="Anandhan Jayaraman" userId="ad023700-3bd3-4326-8bd0-9b8b8316c802" providerId="ADAL" clId="{883574D2-A9E2-4EFE-B483-187DC1339090}" dt="2026-09-08T02:14:38.387" v="472"/>
        <pc:sldMkLst>
          <pc:docMk/>
          <pc:sldMk cId="0" sldId="2147479238"/>
        </pc:sldMkLst>
      </pc:sldChg>
      <pc:sldChg chg="del">
        <pc:chgData name="Anandhan Jayaraman" userId="ad023700-3bd3-4326-8bd0-9b8b8316c802" providerId="ADAL" clId="{883574D2-A9E2-4EFE-B483-187DC1339090}" dt="2026-09-08T02:14:52.203" v="474"/>
        <pc:sldMkLst>
          <pc:docMk/>
          <pc:sldMk cId="0" sldId="2147479239"/>
        </pc:sldMkLst>
      </pc:sldChg>
      <pc:sldChg chg="del">
        <pc:chgData name="Anandhan Jayaraman" userId="ad023700-3bd3-4326-8bd0-9b8b8316c802" providerId="ADAL" clId="{883574D2-A9E2-4EFE-B483-187DC1339090}" dt="2026-09-08T02:16:37.799" v="482"/>
        <pc:sldMkLst>
          <pc:docMk/>
          <pc:sldMk cId="0" sldId="2147479240"/>
        </pc:sldMkLst>
      </pc:sldChg>
      <pc:sldChg chg="del">
        <pc:chgData name="Anandhan Jayaraman" userId="ad023700-3bd3-4326-8bd0-9b8b8316c802" providerId="ADAL" clId="{883574D2-A9E2-4EFE-B483-187DC1339090}" dt="2026-09-08T02:16:47.317" v="484"/>
        <pc:sldMkLst>
          <pc:docMk/>
          <pc:sldMk cId="0" sldId="2147479241"/>
        </pc:sldMkLst>
      </pc:sldChg>
      <pc:sldChg chg="del">
        <pc:chgData name="Anandhan Jayaraman" userId="ad023700-3bd3-4326-8bd0-9b8b8316c802" providerId="ADAL" clId="{883574D2-A9E2-4EFE-B483-187DC1339090}" dt="2026-09-08T02:16:50.164" v="486"/>
        <pc:sldMkLst>
          <pc:docMk/>
          <pc:sldMk cId="0" sldId="2147479242"/>
        </pc:sldMkLst>
      </pc:sldChg>
      <pc:sldChg chg="del">
        <pc:chgData name="Anandhan Jayaraman" userId="ad023700-3bd3-4326-8bd0-9b8b8316c802" providerId="ADAL" clId="{883574D2-A9E2-4EFE-B483-187DC1339090}" dt="2026-09-08T02:17:10.447" v="490"/>
        <pc:sldMkLst>
          <pc:docMk/>
          <pc:sldMk cId="0" sldId="2147479243"/>
        </pc:sldMkLst>
      </pc:sldChg>
      <pc:sldChg chg="del">
        <pc:chgData name="Anandhan Jayaraman" userId="ad023700-3bd3-4326-8bd0-9b8b8316c802" providerId="ADAL" clId="{883574D2-A9E2-4EFE-B483-187DC1339090}" dt="2026-09-08T02:15:13.876" v="476"/>
        <pc:sldMkLst>
          <pc:docMk/>
          <pc:sldMk cId="0" sldId="2147479244"/>
        </pc:sldMkLst>
      </pc:sldChg>
      <pc:sldChg chg="del">
        <pc:chgData name="Anandhan Jayaraman" userId="ad023700-3bd3-4326-8bd0-9b8b8316c802" providerId="ADAL" clId="{883574D2-A9E2-4EFE-B483-187DC1339090}" dt="2026-09-08T01:44:31.074" v="306"/>
        <pc:sldMkLst>
          <pc:docMk/>
          <pc:sldMk cId="0" sldId="2147479245"/>
        </pc:sldMkLst>
      </pc:sldChg>
      <pc:sldChg chg="del">
        <pc:chgData name="Anandhan Jayaraman" userId="ad023700-3bd3-4326-8bd0-9b8b8316c802" providerId="ADAL" clId="{883574D2-A9E2-4EFE-B483-187DC1339090}" dt="2026-09-08T01:44:35.431" v="314"/>
        <pc:sldMkLst>
          <pc:docMk/>
          <pc:sldMk cId="0" sldId="2147479246"/>
        </pc:sldMkLst>
      </pc:sldChg>
      <pc:sldChg chg="delSp modSp add del mod">
        <pc:chgData name="Anandhan Jayaraman" userId="ad023700-3bd3-4326-8bd0-9b8b8316c802" providerId="ADAL" clId="{883574D2-A9E2-4EFE-B483-187DC1339090}" dt="2026-09-08T02:13:11.837" v="445"/>
        <pc:sldMkLst>
          <pc:docMk/>
          <pc:sldMk cId="4240388311" sldId="2147479247"/>
        </pc:sldMkLst>
        <pc:spChg chg="del">
          <ac:chgData name="Anandhan Jayaraman" userId="ad023700-3bd3-4326-8bd0-9b8b8316c802" providerId="ADAL" clId="{883574D2-A9E2-4EFE-B483-187DC1339090}" dt="2026-09-08T01:07:11.673" v="264" actId="478"/>
          <ac:spMkLst>
            <pc:docMk/>
            <pc:sldMk cId="4240388311" sldId="2147479247"/>
            <ac:spMk id="4" creationId="{00000000-0000-0000-0000-000000000000}"/>
          </ac:spMkLst>
        </pc:spChg>
        <pc:spChg chg="del mod">
          <ac:chgData name="Anandhan Jayaraman" userId="ad023700-3bd3-4326-8bd0-9b8b8316c802" providerId="ADAL" clId="{883574D2-A9E2-4EFE-B483-187DC1339090}" dt="2026-09-08T01:06:59.887" v="263" actId="478"/>
          <ac:spMkLst>
            <pc:docMk/>
            <pc:sldMk cId="4240388311" sldId="2147479247"/>
            <ac:spMk id="6" creationId="{00000000-0000-0000-0000-000000000000}"/>
          </ac:spMkLst>
        </pc:spChg>
        <pc:graphicFrameChg chg="modGraphic">
          <ac:chgData name="Anandhan Jayaraman" userId="ad023700-3bd3-4326-8bd0-9b8b8316c802" providerId="ADAL" clId="{883574D2-A9E2-4EFE-B483-187DC1339090}" dt="2026-09-08T01:06:39.157" v="262"/>
          <ac:graphicFrameMkLst>
            <pc:docMk/>
            <pc:sldMk cId="4240388311" sldId="2147479247"/>
            <ac:graphicFrameMk id="5" creationId="{00000000-0000-0000-0000-000000000000}"/>
          </ac:graphicFrameMkLst>
        </pc:graphicFrameChg>
      </pc:sldChg>
      <pc:sldChg chg="delSp modSp add del mod ord">
        <pc:chgData name="Anandhan Jayaraman" userId="ad023700-3bd3-4326-8bd0-9b8b8316c802" providerId="ADAL" clId="{883574D2-A9E2-4EFE-B483-187DC1339090}" dt="2026-09-08T01:43:47.780" v="300"/>
        <pc:sldMkLst>
          <pc:docMk/>
          <pc:sldMk cId="1522017944" sldId="2147479248"/>
        </pc:sldMkLst>
        <pc:spChg chg="mod">
          <ac:chgData name="Anandhan Jayaraman" userId="ad023700-3bd3-4326-8bd0-9b8b8316c802" providerId="ADAL" clId="{883574D2-A9E2-4EFE-B483-187DC1339090}" dt="2026-09-08T01:43:29.529" v="288"/>
          <ac:spMkLst>
            <pc:docMk/>
            <pc:sldMk cId="1522017944" sldId="2147479248"/>
            <ac:spMk id="5" creationId="{00000000-0000-0000-0000-000000000000}"/>
          </ac:spMkLst>
        </pc:spChg>
        <pc:spChg chg="mod">
          <ac:chgData name="Anandhan Jayaraman" userId="ad023700-3bd3-4326-8bd0-9b8b8316c802" providerId="ADAL" clId="{883574D2-A9E2-4EFE-B483-187DC1339090}" dt="2026-09-08T01:43:29.531" v="291"/>
          <ac:spMkLst>
            <pc:docMk/>
            <pc:sldMk cId="1522017944" sldId="2147479248"/>
            <ac:spMk id="6" creationId="{00000000-0000-0000-0000-000000000000}"/>
          </ac:spMkLst>
        </pc:spChg>
        <pc:spChg chg="mod">
          <ac:chgData name="Anandhan Jayaraman" userId="ad023700-3bd3-4326-8bd0-9b8b8316c802" providerId="ADAL" clId="{883574D2-A9E2-4EFE-B483-187DC1339090}" dt="2026-09-08T01:43:29.533" v="295"/>
          <ac:spMkLst>
            <pc:docMk/>
            <pc:sldMk cId="1522017944" sldId="2147479248"/>
            <ac:spMk id="7" creationId="{00000000-0000-0000-0000-000000000000}"/>
          </ac:spMkLst>
        </pc:spChg>
        <pc:spChg chg="del">
          <ac:chgData name="Anandhan Jayaraman" userId="ad023700-3bd3-4326-8bd0-9b8b8316c802" providerId="ADAL" clId="{883574D2-A9E2-4EFE-B483-187DC1339090}" dt="2026-09-08T01:43:29.533" v="296"/>
          <ac:spMkLst>
            <pc:docMk/>
            <pc:sldMk cId="1522017944" sldId="2147479248"/>
            <ac:spMk id="8" creationId="{00000000-0000-0000-0000-000000000000}"/>
          </ac:spMkLst>
        </pc:spChg>
        <pc:spChg chg="del">
          <ac:chgData name="Anandhan Jayaraman" userId="ad023700-3bd3-4326-8bd0-9b8b8316c802" providerId="ADAL" clId="{883574D2-A9E2-4EFE-B483-187DC1339090}" dt="2026-09-08T01:43:29.533" v="297"/>
          <ac:spMkLst>
            <pc:docMk/>
            <pc:sldMk cId="1522017944" sldId="2147479248"/>
            <ac:spMk id="9" creationId="{00000000-0000-0000-0000-000000000000}"/>
          </ac:spMkLst>
        </pc:spChg>
        <pc:spChg chg="del">
          <ac:chgData name="Anandhan Jayaraman" userId="ad023700-3bd3-4326-8bd0-9b8b8316c802" providerId="ADAL" clId="{883574D2-A9E2-4EFE-B483-187DC1339090}" dt="2026-09-08T01:43:29.533" v="298"/>
          <ac:spMkLst>
            <pc:docMk/>
            <pc:sldMk cId="1522017944" sldId="2147479248"/>
            <ac:spMk id="10" creationId="{00000000-0000-0000-0000-000000000000}"/>
          </ac:spMkLst>
        </pc:spChg>
      </pc:sldChg>
      <pc:sldChg chg="modSp add del mod">
        <pc:chgData name="Anandhan Jayaraman" userId="ad023700-3bd3-4326-8bd0-9b8b8316c802" providerId="ADAL" clId="{883574D2-A9E2-4EFE-B483-187DC1339090}" dt="2026-09-08T01:46:04.014" v="322"/>
        <pc:sldMkLst>
          <pc:docMk/>
          <pc:sldMk cId="1159974465" sldId="2147479249"/>
        </pc:sldMkLst>
        <pc:spChg chg="mod">
          <ac:chgData name="Anandhan Jayaraman" userId="ad023700-3bd3-4326-8bd0-9b8b8316c802" providerId="ADAL" clId="{883574D2-A9E2-4EFE-B483-187DC1339090}" dt="2026-09-08T01:45:50.715" v="319"/>
          <ac:spMkLst>
            <pc:docMk/>
            <pc:sldMk cId="1159974465" sldId="2147479249"/>
            <ac:spMk id="5" creationId="{00000000-0000-0000-0000-000000000000}"/>
          </ac:spMkLst>
        </pc:spChg>
        <pc:spChg chg="mod">
          <ac:chgData name="Anandhan Jayaraman" userId="ad023700-3bd3-4326-8bd0-9b8b8316c802" providerId="ADAL" clId="{883574D2-A9E2-4EFE-B483-187DC1339090}" dt="2026-09-08T01:43:48.677" v="302"/>
          <ac:spMkLst>
            <pc:docMk/>
            <pc:sldMk cId="1159974465" sldId="2147479249"/>
            <ac:spMk id="6" creationId="{00000000-0000-0000-0000-000000000000}"/>
          </ac:spMkLst>
        </pc:spChg>
        <pc:spChg chg="mod">
          <ac:chgData name="Anandhan Jayaraman" userId="ad023700-3bd3-4326-8bd0-9b8b8316c802" providerId="ADAL" clId="{883574D2-A9E2-4EFE-B483-187DC1339090}" dt="2026-09-08T01:43:48.682" v="304"/>
          <ac:spMkLst>
            <pc:docMk/>
            <pc:sldMk cId="1159974465" sldId="2147479249"/>
            <ac:spMk id="7" creationId="{00000000-0000-0000-0000-000000000000}"/>
          </ac:spMkLst>
        </pc:spChg>
        <pc:spChg chg="mod">
          <ac:chgData name="Anandhan Jayaraman" userId="ad023700-3bd3-4326-8bd0-9b8b8316c802" providerId="ADAL" clId="{883574D2-A9E2-4EFE-B483-187DC1339090}" dt="2026-09-08T01:45:50.715" v="320"/>
          <ac:spMkLst>
            <pc:docMk/>
            <pc:sldMk cId="1159974465" sldId="2147479249"/>
            <ac:spMk id="11" creationId="{00000000-0000-0000-0000-000000000000}"/>
          </ac:spMkLst>
        </pc:spChg>
      </pc:sldChg>
      <pc:sldChg chg="delSp modSp add del mod">
        <pc:chgData name="Anandhan Jayaraman" userId="ad023700-3bd3-4326-8bd0-9b8b8316c802" providerId="ADAL" clId="{883574D2-A9E2-4EFE-B483-187DC1339090}" dt="2026-09-08T02:11:44.137" v="435"/>
        <pc:sldMkLst>
          <pc:docMk/>
          <pc:sldMk cId="4216764796" sldId="2147479250"/>
        </pc:sldMkLst>
        <pc:spChg chg="del">
          <ac:chgData name="Anandhan Jayaraman" userId="ad023700-3bd3-4326-8bd0-9b8b8316c802" providerId="ADAL" clId="{883574D2-A9E2-4EFE-B483-187DC1339090}" dt="2026-09-08T02:11:22.755" v="420"/>
          <ac:spMkLst>
            <pc:docMk/>
            <pc:sldMk cId="4216764796" sldId="2147479250"/>
            <ac:spMk id="5" creationId="{00000000-0000-0000-0000-000000000000}"/>
          </ac:spMkLst>
        </pc:spChg>
        <pc:spChg chg="del mod">
          <ac:chgData name="Anandhan Jayaraman" userId="ad023700-3bd3-4326-8bd0-9b8b8316c802" providerId="ADAL" clId="{883574D2-A9E2-4EFE-B483-187DC1339090}" dt="2026-09-08T02:11:22.755" v="421"/>
          <ac:spMkLst>
            <pc:docMk/>
            <pc:sldMk cId="4216764796" sldId="2147479250"/>
            <ac:spMk id="6" creationId="{00000000-0000-0000-0000-000000000000}"/>
          </ac:spMkLst>
        </pc:spChg>
        <pc:spChg chg="del">
          <ac:chgData name="Anandhan Jayaraman" userId="ad023700-3bd3-4326-8bd0-9b8b8316c802" providerId="ADAL" clId="{883574D2-A9E2-4EFE-B483-187DC1339090}" dt="2026-09-08T02:11:22.755" v="422"/>
          <ac:spMkLst>
            <pc:docMk/>
            <pc:sldMk cId="4216764796" sldId="2147479250"/>
            <ac:spMk id="7" creationId="{00000000-0000-0000-0000-000000000000}"/>
          </ac:spMkLst>
        </pc:spChg>
        <pc:spChg chg="mod">
          <ac:chgData name="Anandhan Jayaraman" userId="ad023700-3bd3-4326-8bd0-9b8b8316c802" providerId="ADAL" clId="{883574D2-A9E2-4EFE-B483-187DC1339090}" dt="2026-09-08T02:11:22.761" v="426"/>
          <ac:spMkLst>
            <pc:docMk/>
            <pc:sldMk cId="4216764796" sldId="2147479250"/>
            <ac:spMk id="8" creationId="{00000000-0000-0000-0000-000000000000}"/>
          </ac:spMkLst>
        </pc:spChg>
        <pc:spChg chg="mod">
          <ac:chgData name="Anandhan Jayaraman" userId="ad023700-3bd3-4326-8bd0-9b8b8316c802" providerId="ADAL" clId="{883574D2-A9E2-4EFE-B483-187DC1339090}" dt="2026-09-08T02:11:22.761" v="429"/>
          <ac:spMkLst>
            <pc:docMk/>
            <pc:sldMk cId="4216764796" sldId="2147479250"/>
            <ac:spMk id="9" creationId="{00000000-0000-0000-0000-000000000000}"/>
          </ac:spMkLst>
        </pc:spChg>
        <pc:spChg chg="mod">
          <ac:chgData name="Anandhan Jayaraman" userId="ad023700-3bd3-4326-8bd0-9b8b8316c802" providerId="ADAL" clId="{883574D2-A9E2-4EFE-B483-187DC1339090}" dt="2026-09-08T02:11:22.763" v="433"/>
          <ac:spMkLst>
            <pc:docMk/>
            <pc:sldMk cId="4216764796" sldId="2147479250"/>
            <ac:spMk id="10" creationId="{00000000-0000-0000-0000-000000000000}"/>
          </ac:spMkLst>
        </pc:spChg>
      </pc:sldChg>
      <pc:sldChg chg="addSp modSp add del mod">
        <pc:chgData name="Anandhan Jayaraman" userId="ad023700-3bd3-4326-8bd0-9b8b8316c802" providerId="ADAL" clId="{883574D2-A9E2-4EFE-B483-187DC1339090}" dt="2026-09-08T01:52:27.478" v="347"/>
        <pc:sldMkLst>
          <pc:docMk/>
          <pc:sldMk cId="3013017582" sldId="2147479251"/>
        </pc:sldMkLst>
        <pc:spChg chg="add mod">
          <ac:chgData name="Anandhan Jayaraman" userId="ad023700-3bd3-4326-8bd0-9b8b8316c802" providerId="ADAL" clId="{883574D2-A9E2-4EFE-B483-187DC1339090}" dt="2026-09-08T01:52:03.141" v="339"/>
          <ac:spMkLst>
            <pc:docMk/>
            <pc:sldMk cId="3013017582" sldId="2147479251"/>
            <ac:spMk id="6" creationId="{3F9AF48A-CFD1-42FF-BB28-F13737BD0858}"/>
          </ac:spMkLst>
        </pc:spChg>
        <pc:spChg chg="add mod">
          <ac:chgData name="Anandhan Jayaraman" userId="ad023700-3bd3-4326-8bd0-9b8b8316c802" providerId="ADAL" clId="{883574D2-A9E2-4EFE-B483-187DC1339090}" dt="2026-09-08T01:52:03.153" v="341"/>
          <ac:spMkLst>
            <pc:docMk/>
            <pc:sldMk cId="3013017582" sldId="2147479251"/>
            <ac:spMk id="7" creationId="{E0291503-7C3F-46D8-8071-E924677894BE}"/>
          </ac:spMkLst>
        </pc:spChg>
        <pc:spChg chg="add mod">
          <ac:chgData name="Anandhan Jayaraman" userId="ad023700-3bd3-4326-8bd0-9b8b8316c802" providerId="ADAL" clId="{883574D2-A9E2-4EFE-B483-187DC1339090}" dt="2026-09-08T01:52:03.156" v="343"/>
          <ac:spMkLst>
            <pc:docMk/>
            <pc:sldMk cId="3013017582" sldId="2147479251"/>
            <ac:spMk id="8" creationId="{2930FBC2-BB4E-43DA-8B59-54C6ECCCC9A6}"/>
          </ac:spMkLst>
        </pc:spChg>
        <pc:spChg chg="add mod">
          <ac:chgData name="Anandhan Jayaraman" userId="ad023700-3bd3-4326-8bd0-9b8b8316c802" providerId="ADAL" clId="{883574D2-A9E2-4EFE-B483-187DC1339090}" dt="2026-09-08T01:52:03.161" v="345"/>
          <ac:spMkLst>
            <pc:docMk/>
            <pc:sldMk cId="3013017582" sldId="2147479251"/>
            <ac:spMk id="9" creationId="{ED71CBA7-D9A4-4612-B660-F49E3AEAF371}"/>
          </ac:spMkLst>
        </pc:spChg>
        <pc:spChg chg="mod">
          <ac:chgData name="Anandhan Jayaraman" userId="ad023700-3bd3-4326-8bd0-9b8b8316c802" providerId="ADAL" clId="{883574D2-A9E2-4EFE-B483-187DC1339090}" dt="2026-09-08T01:52:03.064" v="327"/>
          <ac:spMkLst>
            <pc:docMk/>
            <pc:sldMk cId="3013017582" sldId="2147479251"/>
            <ac:spMk id="11" creationId="{00000000-0000-0000-0000-000000000000}"/>
          </ac:spMkLst>
        </pc:spChg>
        <pc:spChg chg="mod">
          <ac:chgData name="Anandhan Jayaraman" userId="ad023700-3bd3-4326-8bd0-9b8b8316c802" providerId="ADAL" clId="{883574D2-A9E2-4EFE-B483-187DC1339090}" dt="2026-09-08T01:52:03.064" v="329"/>
          <ac:spMkLst>
            <pc:docMk/>
            <pc:sldMk cId="3013017582" sldId="2147479251"/>
            <ac:spMk id="12" creationId="{00000000-0000-0000-0000-000000000000}"/>
          </ac:spMkLst>
        </pc:spChg>
        <pc:spChg chg="mod">
          <ac:chgData name="Anandhan Jayaraman" userId="ad023700-3bd3-4326-8bd0-9b8b8316c802" providerId="ADAL" clId="{883574D2-A9E2-4EFE-B483-187DC1339090}" dt="2026-09-08T01:52:03.064" v="331"/>
          <ac:spMkLst>
            <pc:docMk/>
            <pc:sldMk cId="3013017582" sldId="2147479251"/>
            <ac:spMk id="13" creationId="{00000000-0000-0000-0000-000000000000}"/>
          </ac:spMkLst>
        </pc:spChg>
        <pc:spChg chg="mod">
          <ac:chgData name="Anandhan Jayaraman" userId="ad023700-3bd3-4326-8bd0-9b8b8316c802" providerId="ADAL" clId="{883574D2-A9E2-4EFE-B483-187DC1339090}" dt="2026-09-08T01:52:03.064" v="333"/>
          <ac:spMkLst>
            <pc:docMk/>
            <pc:sldMk cId="3013017582" sldId="2147479251"/>
            <ac:spMk id="14" creationId="{00000000-0000-0000-0000-000000000000}"/>
          </ac:spMkLst>
        </pc:spChg>
        <pc:spChg chg="mod">
          <ac:chgData name="Anandhan Jayaraman" userId="ad023700-3bd3-4326-8bd0-9b8b8316c802" providerId="ADAL" clId="{883574D2-A9E2-4EFE-B483-187DC1339090}" dt="2026-09-08T01:52:03.064" v="335"/>
          <ac:spMkLst>
            <pc:docMk/>
            <pc:sldMk cId="3013017582" sldId="2147479251"/>
            <ac:spMk id="15" creationId="{00000000-0000-0000-0000-000000000000}"/>
          </ac:spMkLst>
        </pc:spChg>
        <pc:spChg chg="mod">
          <ac:chgData name="Anandhan Jayaraman" userId="ad023700-3bd3-4326-8bd0-9b8b8316c802" providerId="ADAL" clId="{883574D2-A9E2-4EFE-B483-187DC1339090}" dt="2026-09-08T01:52:03.064" v="337"/>
          <ac:spMkLst>
            <pc:docMk/>
            <pc:sldMk cId="3013017582" sldId="2147479251"/>
            <ac:spMk id="16" creationId="{00000000-0000-0000-0000-000000000000}"/>
          </ac:spMkLst>
        </pc:spChg>
      </pc:sldChg>
      <pc:sldChg chg="modSp add del mod">
        <pc:chgData name="Anandhan Jayaraman" userId="ad023700-3bd3-4326-8bd0-9b8b8316c802" providerId="ADAL" clId="{883574D2-A9E2-4EFE-B483-187DC1339090}" dt="2026-09-08T02:17:06.381" v="488"/>
        <pc:sldMkLst>
          <pc:docMk/>
          <pc:sldMk cId="3189101878" sldId="2147479252"/>
        </pc:sldMkLst>
        <pc:spChg chg="mod">
          <ac:chgData name="Anandhan Jayaraman" userId="ad023700-3bd3-4326-8bd0-9b8b8316c802" providerId="ADAL" clId="{883574D2-A9E2-4EFE-B483-187DC1339090}" dt="2026-09-08T01:46:04.163" v="324"/>
          <ac:spMkLst>
            <pc:docMk/>
            <pc:sldMk cId="3189101878" sldId="2147479252"/>
            <ac:spMk id="7" creationId="{00000000-0000-0000-0000-000000000000}"/>
          </ac:spMkLst>
        </pc:spChg>
        <pc:spChg chg="mod">
          <ac:chgData name="Anandhan Jayaraman" userId="ad023700-3bd3-4326-8bd0-9b8b8316c802" providerId="ADAL" clId="{883574D2-A9E2-4EFE-B483-187DC1339090}" dt="2026-09-08T01:48:37.809" v="325" actId="1076"/>
          <ac:spMkLst>
            <pc:docMk/>
            <pc:sldMk cId="3189101878" sldId="2147479252"/>
            <ac:spMk id="11" creationId="{00000000-0000-0000-0000-000000000000}"/>
          </ac:spMkLst>
        </pc:spChg>
      </pc:sldChg>
      <pc:sldChg chg="modSp add del mod">
        <pc:chgData name="Anandhan Jayaraman" userId="ad023700-3bd3-4326-8bd0-9b8b8316c802" providerId="ADAL" clId="{883574D2-A9E2-4EFE-B483-187DC1339090}" dt="2026-09-08T01:54:25.942" v="419"/>
        <pc:sldMkLst>
          <pc:docMk/>
          <pc:sldMk cId="283154511" sldId="2147479253"/>
        </pc:sldMkLst>
        <pc:spChg chg="mod">
          <ac:chgData name="Anandhan Jayaraman" userId="ad023700-3bd3-4326-8bd0-9b8b8316c802" providerId="ADAL" clId="{883574D2-A9E2-4EFE-B483-187DC1339090}" dt="2026-09-08T01:53:49.359" v="413"/>
          <ac:spMkLst>
            <pc:docMk/>
            <pc:sldMk cId="283154511" sldId="2147479253"/>
            <ac:spMk id="6" creationId="{3F9AF48A-CFD1-42FF-BB28-F13737BD0858}"/>
          </ac:spMkLst>
        </pc:spChg>
        <pc:spChg chg="mod">
          <ac:chgData name="Anandhan Jayaraman" userId="ad023700-3bd3-4326-8bd0-9b8b8316c802" providerId="ADAL" clId="{883574D2-A9E2-4EFE-B483-187DC1339090}" dt="2026-09-08T01:52:52.882" v="393"/>
          <ac:spMkLst>
            <pc:docMk/>
            <pc:sldMk cId="283154511" sldId="2147479253"/>
            <ac:spMk id="7" creationId="{E0291503-7C3F-46D8-8071-E924677894BE}"/>
          </ac:spMkLst>
        </pc:spChg>
        <pc:spChg chg="mod">
          <ac:chgData name="Anandhan Jayaraman" userId="ad023700-3bd3-4326-8bd0-9b8b8316c802" providerId="ADAL" clId="{883574D2-A9E2-4EFE-B483-187DC1339090}" dt="2026-09-08T01:53:49.359" v="417"/>
          <ac:spMkLst>
            <pc:docMk/>
            <pc:sldMk cId="283154511" sldId="2147479253"/>
            <ac:spMk id="8" creationId="{2930FBC2-BB4E-43DA-8B59-54C6ECCCC9A6}"/>
          </ac:spMkLst>
        </pc:spChg>
        <pc:spChg chg="mod">
          <ac:chgData name="Anandhan Jayaraman" userId="ad023700-3bd3-4326-8bd0-9b8b8316c802" providerId="ADAL" clId="{883574D2-A9E2-4EFE-B483-187DC1339090}" dt="2026-09-08T01:52:52.887" v="397"/>
          <ac:spMkLst>
            <pc:docMk/>
            <pc:sldMk cId="283154511" sldId="2147479253"/>
            <ac:spMk id="9" creationId="{ED71CBA7-D9A4-4612-B660-F49E3AEAF371}"/>
          </ac:spMkLst>
        </pc:spChg>
        <pc:spChg chg="mod">
          <ac:chgData name="Anandhan Jayaraman" userId="ad023700-3bd3-4326-8bd0-9b8b8316c802" providerId="ADAL" clId="{883574D2-A9E2-4EFE-B483-187DC1339090}" dt="2026-09-08T01:53:49.359" v="401"/>
          <ac:spMkLst>
            <pc:docMk/>
            <pc:sldMk cId="283154511" sldId="2147479253"/>
            <ac:spMk id="11" creationId="{00000000-0000-0000-0000-000000000000}"/>
          </ac:spMkLst>
        </pc:spChg>
        <pc:spChg chg="mod">
          <ac:chgData name="Anandhan Jayaraman" userId="ad023700-3bd3-4326-8bd0-9b8b8316c802" providerId="ADAL" clId="{883574D2-A9E2-4EFE-B483-187DC1339090}" dt="2026-09-08T01:52:52.875" v="381"/>
          <ac:spMkLst>
            <pc:docMk/>
            <pc:sldMk cId="283154511" sldId="2147479253"/>
            <ac:spMk id="12" creationId="{00000000-0000-0000-0000-000000000000}"/>
          </ac:spMkLst>
        </pc:spChg>
        <pc:spChg chg="mod">
          <ac:chgData name="Anandhan Jayaraman" userId="ad023700-3bd3-4326-8bd0-9b8b8316c802" providerId="ADAL" clId="{883574D2-A9E2-4EFE-B483-187DC1339090}" dt="2026-09-08T01:53:49.359" v="405"/>
          <ac:spMkLst>
            <pc:docMk/>
            <pc:sldMk cId="283154511" sldId="2147479253"/>
            <ac:spMk id="13" creationId="{00000000-0000-0000-0000-000000000000}"/>
          </ac:spMkLst>
        </pc:spChg>
        <pc:spChg chg="mod">
          <ac:chgData name="Anandhan Jayaraman" userId="ad023700-3bd3-4326-8bd0-9b8b8316c802" providerId="ADAL" clId="{883574D2-A9E2-4EFE-B483-187DC1339090}" dt="2026-09-08T01:52:52.878" v="385"/>
          <ac:spMkLst>
            <pc:docMk/>
            <pc:sldMk cId="283154511" sldId="2147479253"/>
            <ac:spMk id="14" creationId="{00000000-0000-0000-0000-000000000000}"/>
          </ac:spMkLst>
        </pc:spChg>
        <pc:spChg chg="mod">
          <ac:chgData name="Anandhan Jayaraman" userId="ad023700-3bd3-4326-8bd0-9b8b8316c802" providerId="ADAL" clId="{883574D2-A9E2-4EFE-B483-187DC1339090}" dt="2026-09-08T01:53:49.359" v="409"/>
          <ac:spMkLst>
            <pc:docMk/>
            <pc:sldMk cId="283154511" sldId="2147479253"/>
            <ac:spMk id="15" creationId="{00000000-0000-0000-0000-000000000000}"/>
          </ac:spMkLst>
        </pc:spChg>
        <pc:spChg chg="mod">
          <ac:chgData name="Anandhan Jayaraman" userId="ad023700-3bd3-4326-8bd0-9b8b8316c802" providerId="ADAL" clId="{883574D2-A9E2-4EFE-B483-187DC1339090}" dt="2026-09-08T01:52:52.882" v="389"/>
          <ac:spMkLst>
            <pc:docMk/>
            <pc:sldMk cId="283154511" sldId="2147479253"/>
            <ac:spMk id="16" creationId="{00000000-0000-0000-0000-000000000000}"/>
          </ac:spMkLst>
        </pc:spChg>
      </pc:sldChg>
      <pc:sldChg chg="add del">
        <pc:chgData name="Anandhan Jayaraman" userId="ad023700-3bd3-4326-8bd0-9b8b8316c802" providerId="ADAL" clId="{883574D2-A9E2-4EFE-B483-187DC1339090}" dt="2026-09-08T02:17:28.629" v="492"/>
        <pc:sldMkLst>
          <pc:docMk/>
          <pc:sldMk cId="4044347589" sldId="2147479254"/>
        </pc:sldMkLst>
      </pc:sldChg>
      <pc:sldChg chg="modSp add mod">
        <pc:chgData name="Anandhan Jayaraman" userId="ad023700-3bd3-4326-8bd0-9b8b8316c802" providerId="ADAL" clId="{883574D2-A9E2-4EFE-B483-187DC1339090}" dt="2026-09-08T02:12:03.238" v="440"/>
        <pc:sldMkLst>
          <pc:docMk/>
          <pc:sldMk cId="2091541969" sldId="2147479255"/>
        </pc:sldMkLst>
        <pc:spChg chg="mod">
          <ac:chgData name="Anandhan Jayaraman" userId="ad023700-3bd3-4326-8bd0-9b8b8316c802" providerId="ADAL" clId="{883574D2-A9E2-4EFE-B483-187DC1339090}" dt="2026-09-08T02:11:57.404" v="439"/>
          <ac:spMkLst>
            <pc:docMk/>
            <pc:sldMk cId="2091541969" sldId="2147479255"/>
            <ac:spMk id="8" creationId="{00000000-0000-0000-0000-000000000000}"/>
          </ac:spMkLst>
        </pc:spChg>
        <pc:spChg chg="mod">
          <ac:chgData name="Anandhan Jayaraman" userId="ad023700-3bd3-4326-8bd0-9b8b8316c802" providerId="ADAL" clId="{883574D2-A9E2-4EFE-B483-187DC1339090}" dt="2026-09-08T02:11:44.176" v="436"/>
          <ac:spMkLst>
            <pc:docMk/>
            <pc:sldMk cId="2091541969" sldId="2147479255"/>
            <ac:spMk id="9" creationId="{00000000-0000-0000-0000-000000000000}"/>
          </ac:spMkLst>
        </pc:spChg>
        <pc:spChg chg="mod">
          <ac:chgData name="Anandhan Jayaraman" userId="ad023700-3bd3-4326-8bd0-9b8b8316c802" providerId="ADAL" clId="{883574D2-A9E2-4EFE-B483-187DC1339090}" dt="2026-09-08T02:11:44.176" v="438"/>
          <ac:spMkLst>
            <pc:docMk/>
            <pc:sldMk cId="2091541969" sldId="2147479255"/>
            <ac:spMk id="10" creationId="{00000000-0000-0000-0000-000000000000}"/>
          </ac:spMkLst>
        </pc:spChg>
        <pc:spChg chg="mod">
          <ac:chgData name="Anandhan Jayaraman" userId="ad023700-3bd3-4326-8bd0-9b8b8316c802" providerId="ADAL" clId="{883574D2-A9E2-4EFE-B483-187DC1339090}" dt="2026-09-08T02:12:03.238" v="440"/>
          <ac:spMkLst>
            <pc:docMk/>
            <pc:sldMk cId="2091541969" sldId="2147479255"/>
            <ac:spMk id="11" creationId="{00000000-0000-0000-0000-000000000000}"/>
          </ac:spMkLst>
        </pc:spChg>
      </pc:sldChg>
      <pc:sldChg chg="modSp add mod">
        <pc:chgData name="Anandhan Jayaraman" userId="ad023700-3bd3-4326-8bd0-9b8b8316c802" providerId="ADAL" clId="{883574D2-A9E2-4EFE-B483-187DC1339090}" dt="2026-09-08T02:13:10.721" v="443"/>
        <pc:sldMkLst>
          <pc:docMk/>
          <pc:sldMk cId="1156607936" sldId="2147479256"/>
        </pc:sldMkLst>
        <pc:spChg chg="mod">
          <ac:chgData name="Anandhan Jayaraman" userId="ad023700-3bd3-4326-8bd0-9b8b8316c802" providerId="ADAL" clId="{883574D2-A9E2-4EFE-B483-187DC1339090}" dt="2026-09-08T02:13:10.721" v="443"/>
          <ac:spMkLst>
            <pc:docMk/>
            <pc:sldMk cId="1156607936" sldId="2147479256"/>
            <ac:spMk id="19" creationId="{60071651-64FE-AAA2-2E73-A8F920BA23B9}"/>
          </ac:spMkLst>
        </pc:spChg>
      </pc:sldChg>
      <pc:sldChg chg="modSp add mod">
        <pc:chgData name="Anandhan Jayaraman" userId="ad023700-3bd3-4326-8bd0-9b8b8316c802" providerId="ADAL" clId="{883574D2-A9E2-4EFE-B483-187DC1339090}" dt="2026-09-08T02:13:11.855" v="447"/>
        <pc:sldMkLst>
          <pc:docMk/>
          <pc:sldMk cId="2928211065" sldId="2147479257"/>
        </pc:sldMkLst>
        <pc:spChg chg="mod">
          <ac:chgData name="Anandhan Jayaraman" userId="ad023700-3bd3-4326-8bd0-9b8b8316c802" providerId="ADAL" clId="{883574D2-A9E2-4EFE-B483-187DC1339090}" dt="2026-09-08T02:13:11.855" v="447"/>
          <ac:spMkLst>
            <pc:docMk/>
            <pc:sldMk cId="2928211065" sldId="2147479257"/>
            <ac:spMk id="9" creationId="{00000000-0000-0000-0000-000000000000}"/>
          </ac:spMkLst>
        </pc:spChg>
      </pc:sldChg>
      <pc:sldChg chg="modSp add mod">
        <pc:chgData name="Anandhan Jayaraman" userId="ad023700-3bd3-4326-8bd0-9b8b8316c802" providerId="ADAL" clId="{883574D2-A9E2-4EFE-B483-187DC1339090}" dt="2026-09-08T02:13:14.004" v="450"/>
        <pc:sldMkLst>
          <pc:docMk/>
          <pc:sldMk cId="1087455845" sldId="2147479258"/>
        </pc:sldMkLst>
        <pc:spChg chg="mod">
          <ac:chgData name="Anandhan Jayaraman" userId="ad023700-3bd3-4326-8bd0-9b8b8316c802" providerId="ADAL" clId="{883574D2-A9E2-4EFE-B483-187DC1339090}" dt="2026-09-08T02:13:14.004" v="450"/>
          <ac:spMkLst>
            <pc:docMk/>
            <pc:sldMk cId="1087455845" sldId="2147479258"/>
            <ac:spMk id="18" creationId="{C65ABDE5-963A-EB12-4D22-0DE14EF5CB41}"/>
          </ac:spMkLst>
        </pc:spChg>
      </pc:sldChg>
      <pc:sldChg chg="modSp add mod">
        <pc:chgData name="Anandhan Jayaraman" userId="ad023700-3bd3-4326-8bd0-9b8b8316c802" providerId="ADAL" clId="{883574D2-A9E2-4EFE-B483-187DC1339090}" dt="2026-09-08T02:13:15.534" v="454"/>
        <pc:sldMkLst>
          <pc:docMk/>
          <pc:sldMk cId="1173755978" sldId="2147479259"/>
        </pc:sldMkLst>
        <pc:spChg chg="mod">
          <ac:chgData name="Anandhan Jayaraman" userId="ad023700-3bd3-4326-8bd0-9b8b8316c802" providerId="ADAL" clId="{883574D2-A9E2-4EFE-B483-187DC1339090}" dt="2026-09-08T02:13:15.534" v="454"/>
          <ac:spMkLst>
            <pc:docMk/>
            <pc:sldMk cId="1173755978" sldId="2147479259"/>
            <ac:spMk id="10" creationId="{00000000-0000-0000-0000-000000000000}"/>
          </ac:spMkLst>
        </pc:spChg>
      </pc:sldChg>
      <pc:sldChg chg="modSp add mod">
        <pc:chgData name="Anandhan Jayaraman" userId="ad023700-3bd3-4326-8bd0-9b8b8316c802" providerId="ADAL" clId="{883574D2-A9E2-4EFE-B483-187DC1339090}" dt="2026-09-08T02:13:32.387" v="462"/>
        <pc:sldMkLst>
          <pc:docMk/>
          <pc:sldMk cId="2041680056" sldId="2147479260"/>
        </pc:sldMkLst>
        <pc:spChg chg="mod">
          <ac:chgData name="Anandhan Jayaraman" userId="ad023700-3bd3-4326-8bd0-9b8b8316c802" providerId="ADAL" clId="{883574D2-A9E2-4EFE-B483-187DC1339090}" dt="2026-09-08T02:13:32.387" v="458"/>
          <ac:spMkLst>
            <pc:docMk/>
            <pc:sldMk cId="2041680056" sldId="2147479260"/>
            <ac:spMk id="7" creationId="{00000000-0000-0000-0000-000000000000}"/>
          </ac:spMkLst>
        </pc:spChg>
        <pc:spChg chg="mod">
          <ac:chgData name="Anandhan Jayaraman" userId="ad023700-3bd3-4326-8bd0-9b8b8316c802" providerId="ADAL" clId="{883574D2-A9E2-4EFE-B483-187DC1339090}" dt="2026-09-08T02:13:32.387" v="460"/>
          <ac:spMkLst>
            <pc:docMk/>
            <pc:sldMk cId="2041680056" sldId="2147479260"/>
            <ac:spMk id="10" creationId="{00000000-0000-0000-0000-000000000000}"/>
          </ac:spMkLst>
        </pc:spChg>
        <pc:spChg chg="mod">
          <ac:chgData name="Anandhan Jayaraman" userId="ad023700-3bd3-4326-8bd0-9b8b8316c802" providerId="ADAL" clId="{883574D2-A9E2-4EFE-B483-187DC1339090}" dt="2026-09-08T02:13:32.387" v="462"/>
          <ac:spMkLst>
            <pc:docMk/>
            <pc:sldMk cId="2041680056" sldId="2147479260"/>
            <ac:spMk id="11" creationId="{00000000-0000-0000-0000-000000000000}"/>
          </ac:spMkLst>
        </pc:spChg>
      </pc:sldChg>
      <pc:sldChg chg="add">
        <pc:chgData name="Anandhan Jayaraman" userId="ad023700-3bd3-4326-8bd0-9b8b8316c802" providerId="ADAL" clId="{883574D2-A9E2-4EFE-B483-187DC1339090}" dt="2026-09-08T02:13:46.329" v="463"/>
        <pc:sldMkLst>
          <pc:docMk/>
          <pc:sldMk cId="273515532" sldId="2147479261"/>
        </pc:sldMkLst>
      </pc:sldChg>
      <pc:sldChg chg="add">
        <pc:chgData name="Anandhan Jayaraman" userId="ad023700-3bd3-4326-8bd0-9b8b8316c802" providerId="ADAL" clId="{883574D2-A9E2-4EFE-B483-187DC1339090}" dt="2026-09-08T02:14:02.215" v="465"/>
        <pc:sldMkLst>
          <pc:docMk/>
          <pc:sldMk cId="112161663" sldId="2147479262"/>
        </pc:sldMkLst>
      </pc:sldChg>
      <pc:sldChg chg="add">
        <pc:chgData name="Anandhan Jayaraman" userId="ad023700-3bd3-4326-8bd0-9b8b8316c802" providerId="ADAL" clId="{883574D2-A9E2-4EFE-B483-187DC1339090}" dt="2026-09-08T02:14:13.522" v="467"/>
        <pc:sldMkLst>
          <pc:docMk/>
          <pc:sldMk cId="3636603826" sldId="2147479263"/>
        </pc:sldMkLst>
      </pc:sldChg>
      <pc:sldChg chg="add">
        <pc:chgData name="Anandhan Jayaraman" userId="ad023700-3bd3-4326-8bd0-9b8b8316c802" providerId="ADAL" clId="{883574D2-A9E2-4EFE-B483-187DC1339090}" dt="2026-09-08T02:14:25.524" v="469"/>
        <pc:sldMkLst>
          <pc:docMk/>
          <pc:sldMk cId="3183047250" sldId="2147479264"/>
        </pc:sldMkLst>
      </pc:sldChg>
      <pc:sldChg chg="add">
        <pc:chgData name="Anandhan Jayaraman" userId="ad023700-3bd3-4326-8bd0-9b8b8316c802" providerId="ADAL" clId="{883574D2-A9E2-4EFE-B483-187DC1339090}" dt="2026-09-08T02:14:38.381" v="471"/>
        <pc:sldMkLst>
          <pc:docMk/>
          <pc:sldMk cId="861259971" sldId="2147479265"/>
        </pc:sldMkLst>
      </pc:sldChg>
      <pc:sldChg chg="add">
        <pc:chgData name="Anandhan Jayaraman" userId="ad023700-3bd3-4326-8bd0-9b8b8316c802" providerId="ADAL" clId="{883574D2-A9E2-4EFE-B483-187DC1339090}" dt="2026-09-08T02:14:52.196" v="473"/>
        <pc:sldMkLst>
          <pc:docMk/>
          <pc:sldMk cId="2680109736" sldId="2147479266"/>
        </pc:sldMkLst>
      </pc:sldChg>
      <pc:sldChg chg="add del">
        <pc:chgData name="Anandhan Jayaraman" userId="ad023700-3bd3-4326-8bd0-9b8b8316c802" providerId="ADAL" clId="{883574D2-A9E2-4EFE-B483-187DC1339090}" dt="2026-09-08T07:07:38.034" v="536" actId="47"/>
        <pc:sldMkLst>
          <pc:docMk/>
          <pc:sldMk cId="564166656" sldId="2147479267"/>
        </pc:sldMkLst>
      </pc:sldChg>
      <pc:sldChg chg="add">
        <pc:chgData name="Anandhan Jayaraman" userId="ad023700-3bd3-4326-8bd0-9b8b8316c802" providerId="ADAL" clId="{883574D2-A9E2-4EFE-B483-187DC1339090}" dt="2026-09-08T02:15:20.364" v="477"/>
        <pc:sldMkLst>
          <pc:docMk/>
          <pc:sldMk cId="2316171452" sldId="2147479268"/>
        </pc:sldMkLst>
      </pc:sldChg>
      <pc:sldChg chg="add">
        <pc:chgData name="Anandhan Jayaraman" userId="ad023700-3bd3-4326-8bd0-9b8b8316c802" providerId="ADAL" clId="{883574D2-A9E2-4EFE-B483-187DC1339090}" dt="2026-09-08T02:15:34.757" v="479"/>
        <pc:sldMkLst>
          <pc:docMk/>
          <pc:sldMk cId="3394256579" sldId="2147479269"/>
        </pc:sldMkLst>
      </pc:sldChg>
      <pc:sldChg chg="add">
        <pc:chgData name="Anandhan Jayaraman" userId="ad023700-3bd3-4326-8bd0-9b8b8316c802" providerId="ADAL" clId="{883574D2-A9E2-4EFE-B483-187DC1339090}" dt="2026-09-08T02:16:37.789" v="481"/>
        <pc:sldMkLst>
          <pc:docMk/>
          <pc:sldMk cId="8357359" sldId="2147479270"/>
        </pc:sldMkLst>
      </pc:sldChg>
      <pc:sldChg chg="add">
        <pc:chgData name="Anandhan Jayaraman" userId="ad023700-3bd3-4326-8bd0-9b8b8316c802" providerId="ADAL" clId="{883574D2-A9E2-4EFE-B483-187DC1339090}" dt="2026-09-08T02:16:47.314" v="483"/>
        <pc:sldMkLst>
          <pc:docMk/>
          <pc:sldMk cId="399351208" sldId="2147479271"/>
        </pc:sldMkLst>
      </pc:sldChg>
      <pc:sldChg chg="add">
        <pc:chgData name="Anandhan Jayaraman" userId="ad023700-3bd3-4326-8bd0-9b8b8316c802" providerId="ADAL" clId="{883574D2-A9E2-4EFE-B483-187DC1339090}" dt="2026-09-08T02:16:50.164" v="485"/>
        <pc:sldMkLst>
          <pc:docMk/>
          <pc:sldMk cId="554808142" sldId="2147479272"/>
        </pc:sldMkLst>
      </pc:sldChg>
      <pc:sldChg chg="add">
        <pc:chgData name="Anandhan Jayaraman" userId="ad023700-3bd3-4326-8bd0-9b8b8316c802" providerId="ADAL" clId="{883574D2-A9E2-4EFE-B483-187DC1339090}" dt="2026-09-08T02:17:06.381" v="487"/>
        <pc:sldMkLst>
          <pc:docMk/>
          <pc:sldMk cId="3421517886" sldId="2147479273"/>
        </pc:sldMkLst>
      </pc:sldChg>
      <pc:sldChg chg="add">
        <pc:chgData name="Anandhan Jayaraman" userId="ad023700-3bd3-4326-8bd0-9b8b8316c802" providerId="ADAL" clId="{883574D2-A9E2-4EFE-B483-187DC1339090}" dt="2026-09-08T02:17:10.444" v="489"/>
        <pc:sldMkLst>
          <pc:docMk/>
          <pc:sldMk cId="1770236073" sldId="2147479274"/>
        </pc:sldMkLst>
      </pc:sldChg>
      <pc:sldChg chg="delSp add mod">
        <pc:chgData name="Anandhan Jayaraman" userId="ad023700-3bd3-4326-8bd0-9b8b8316c802" providerId="ADAL" clId="{883574D2-A9E2-4EFE-B483-187DC1339090}" dt="2026-09-08T07:07:59.203" v="537" actId="478"/>
        <pc:sldMkLst>
          <pc:docMk/>
          <pc:sldMk cId="3900658904" sldId="2147479275"/>
        </pc:sldMkLst>
        <pc:spChg chg="del">
          <ac:chgData name="Anandhan Jayaraman" userId="ad023700-3bd3-4326-8bd0-9b8b8316c802" providerId="ADAL" clId="{883574D2-A9E2-4EFE-B483-187DC1339090}" dt="2026-09-08T07:07:59.203" v="537" actId="478"/>
          <ac:spMkLst>
            <pc:docMk/>
            <pc:sldMk cId="3900658904" sldId="2147479275"/>
            <ac:spMk id="3" creationId="{00000000-0000-0000-0000-000000000000}"/>
          </ac:spMkLst>
        </pc:spChg>
      </pc:sldChg>
      <pc:sldChg chg="add del ord">
        <pc:chgData name="Anandhan Jayaraman" userId="ad023700-3bd3-4326-8bd0-9b8b8316c802" providerId="ADAL" clId="{883574D2-A9E2-4EFE-B483-187DC1339090}" dt="2026-09-08T06:34:52.650" v="524"/>
        <pc:sldMkLst>
          <pc:docMk/>
          <pc:sldMk cId="1309362461" sldId="2147479276"/>
        </pc:sldMkLst>
      </pc:sldChg>
      <pc:sldChg chg="modSp add mod">
        <pc:chgData name="Anandhan Jayaraman" userId="ad023700-3bd3-4326-8bd0-9b8b8316c802" providerId="ADAL" clId="{883574D2-A9E2-4EFE-B483-187DC1339090}" dt="2026-09-08T06:35:08.061" v="533"/>
        <pc:sldMkLst>
          <pc:docMk/>
          <pc:sldMk cId="1272209982" sldId="2147479277"/>
        </pc:sldMkLst>
        <pc:spChg chg="mod">
          <ac:chgData name="Anandhan Jayaraman" userId="ad023700-3bd3-4326-8bd0-9b8b8316c802" providerId="ADAL" clId="{883574D2-A9E2-4EFE-B483-187DC1339090}" dt="2026-09-08T06:35:08.058" v="531"/>
          <ac:spMkLst>
            <pc:docMk/>
            <pc:sldMk cId="1272209982" sldId="2147479277"/>
            <ac:spMk id="5" creationId="{00000000-0000-0000-0000-000000000000}"/>
          </ac:spMkLst>
        </pc:spChg>
        <pc:spChg chg="mod">
          <ac:chgData name="Anandhan Jayaraman" userId="ad023700-3bd3-4326-8bd0-9b8b8316c802" providerId="ADAL" clId="{883574D2-A9E2-4EFE-B483-187DC1339090}" dt="2026-09-08T06:34:52.694" v="525"/>
          <ac:spMkLst>
            <pc:docMk/>
            <pc:sldMk cId="1272209982" sldId="2147479277"/>
            <ac:spMk id="6" creationId="{00000000-0000-0000-0000-000000000000}"/>
          </ac:spMkLst>
        </pc:spChg>
        <pc:spChg chg="mod">
          <ac:chgData name="Anandhan Jayaraman" userId="ad023700-3bd3-4326-8bd0-9b8b8316c802" providerId="ADAL" clId="{883574D2-A9E2-4EFE-B483-187DC1339090}" dt="2026-09-08T06:34:52.696" v="527"/>
          <ac:spMkLst>
            <pc:docMk/>
            <pc:sldMk cId="1272209982" sldId="2147479277"/>
            <ac:spMk id="7" creationId="{00000000-0000-0000-0000-000000000000}"/>
          </ac:spMkLst>
        </pc:spChg>
        <pc:spChg chg="mod">
          <ac:chgData name="Anandhan Jayaraman" userId="ad023700-3bd3-4326-8bd0-9b8b8316c802" providerId="ADAL" clId="{883574D2-A9E2-4EFE-B483-187DC1339090}" dt="2026-09-08T06:35:08.061" v="532"/>
          <ac:spMkLst>
            <pc:docMk/>
            <pc:sldMk cId="1272209982" sldId="2147479277"/>
            <ac:spMk id="8" creationId="{00000000-0000-0000-0000-000000000000}"/>
          </ac:spMkLst>
        </pc:spChg>
        <pc:spChg chg="mod">
          <ac:chgData name="Anandhan Jayaraman" userId="ad023700-3bd3-4326-8bd0-9b8b8316c802" providerId="ADAL" clId="{883574D2-A9E2-4EFE-B483-187DC1339090}" dt="2026-09-08T06:34:52.696" v="528"/>
          <ac:spMkLst>
            <pc:docMk/>
            <pc:sldMk cId="1272209982" sldId="2147479277"/>
            <ac:spMk id="9" creationId="{00000000-0000-0000-0000-000000000000}"/>
          </ac:spMkLst>
        </pc:spChg>
        <pc:spChg chg="mod">
          <ac:chgData name="Anandhan Jayaraman" userId="ad023700-3bd3-4326-8bd0-9b8b8316c802" providerId="ADAL" clId="{883574D2-A9E2-4EFE-B483-187DC1339090}" dt="2026-09-08T06:34:52.696" v="530"/>
          <ac:spMkLst>
            <pc:docMk/>
            <pc:sldMk cId="1272209982" sldId="2147479277"/>
            <ac:spMk id="10" creationId="{00000000-0000-0000-0000-000000000000}"/>
          </ac:spMkLst>
        </pc:spChg>
        <pc:spChg chg="mod">
          <ac:chgData name="Anandhan Jayaraman" userId="ad023700-3bd3-4326-8bd0-9b8b8316c802" providerId="ADAL" clId="{883574D2-A9E2-4EFE-B483-187DC1339090}" dt="2026-09-08T06:35:08.061" v="533"/>
          <ac:spMkLst>
            <pc:docMk/>
            <pc:sldMk cId="1272209982" sldId="2147479277"/>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75608C-5B4B-4A14-832F-2CAAE932E696}"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C136F-48DF-4049-884F-4192DE4A5481}" type="slidenum">
              <a:rPr lang="en-IN" smtClean="0"/>
              <a:t>‹#›</a:t>
            </a:fld>
            <a:endParaRPr lang="en-IN"/>
          </a:p>
        </p:txBody>
      </p:sp>
    </p:spTree>
    <p:extLst>
      <p:ext uri="{BB962C8B-B14F-4D97-AF65-F5344CB8AC3E}">
        <p14:creationId xmlns:p14="http://schemas.microsoft.com/office/powerpoint/2010/main" val="2930292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Two beats on one slide — the naive baseline (word list + root-form reduction), then let the room feel it fail on three pairs: exceeded, killed, cheap. Don't rush the right-hand card; the failure is the hook for everything that follows.</a:t>
            </a:r>
          </a:p>
          <a:p>
            <a:endParaRPr/>
          </a:p>
          <a:p>
            <a:r>
              <a:t>NARRATION: The oldest trick in NLP: build a reference list of positive and negative words, reduce each word to its root so 'devastated,' 'devastating,' and 'devastation' collapse into one entry, and count. Cheap, explainable, works for a narrow domain. Except: 'the cost exceeded the budget' is bad news, 'the product exceeded my expectations' is great news — same verb. 'The virus killed thousands' is a tragedy; 'the comedian killed it' is high praise. 'His services were cheap' could be a compliment; 'the build quality is cheap' is not. A word list cannot represent this. We need a representation where meaning depends on more than the word itself — on where it sits, what surrounds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'unhappiness' -&gt; ['un', '##happiness'] is the one example to slow down on -- it's the clearest illustration of why subword tokenization exists (handles rare/unknown words without an infinite vocabulary). Land the cost line hard; it recurs all day.</a:t>
            </a:r>
          </a:p>
          <a:p>
            <a:endParaRPr/>
          </a:p>
          <a:p>
            <a:r>
              <a:t>NARRATION: Words have too many variants to build rules for each one, so the first real step is to break words into tokens -- pieces small enough that a fixed, manageable vocabulary can cover almost anything. Subword tokenization is the dominant scheme: BERT and GPT both use it, both handle a word they've never seen by breaking it into pieces they have seen. 'Unhappiness' becomes 'un' plus 'happiness' as a continuation piece. And here is the architectural consequence that follows you for the rest of the day: every context window, every API bill, every rate limit is denominated in tokens, not words.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The left table is hand-picked (we chose 4 dimensions); the right image is learned (Word2Vec found hundreds of dimensions on its own, just from context). That contrast is the whole point of this slide. Land the Day-1 Product2Vec callback in the footer -- it's the most important bridge line in this segment.</a:t>
            </a:r>
          </a:p>
          <a:p>
            <a:endParaRPr/>
          </a:p>
          <a:p>
            <a:r>
              <a:t>NARRATION: Suppose we score every word on a few dimensions by hand: noun or verb, positive or negative, future tense, gendered association. Now 'blue,' 'pink,' and 'cried' are each a row of numbers. That's the idea behind embeddings — but we picked these dimensions ourselves. Word2Vec does the same thing without the hand-picking: it looks at millions of sentences and learns a vector for every word, purely from which words tend to appear near which other words. Words used in similar contexts end up with similar vectors — that's why, in this plot, related words cluster together. And this geometry should feel familiar: on Day 1, Product2Vec placed basket items that customers buy together near each other in exactly this kind of space. Same mechanism, different input.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This diagram is the whole mechanism end to end -- tokenize, vectorize, run through the model, decode. Everything else today is zooming into one box in this picture.</a:t>
            </a:r>
          </a:p>
          <a:p>
            <a:endParaRPr/>
          </a:p>
          <a:p>
            <a:r>
              <a:t>NARRATION: Put the whole pipeline together and here's what an LLM actually does: your text is tokenized, the tokens are turned into vectors, the model processes those vectors and predicts the single most likely next token, and that token is decoded back into text. Then the loop repeats, one token at a time, until the model decides to stop. Everything we cover for the rest of this segment is a closer look at one box in this picture.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'Cell phone... prison cell... cell mates... cell DNA' — four senses of 'cell' in one sentence, one fixed Word2Vec vector for all four. This is the exact motivation for attention on the next slide -- don't let it pass as a throwaway joke.</a:t>
            </a:r>
          </a:p>
          <a:p>
            <a:endParaRPr/>
          </a:p>
          <a:p>
            <a:r>
              <a:t>NARRATION: Word2Vec was a real breakthrough -- it converted words into rich numerical vectors. But it has one hard limitation: each word gets exactly one vector, fixed, no matter the context. 'I took my cell phone into the prison cell to meet the cell mates and collect their cell DNA' -- four completely different senses of 'cell' in one sentence, and Word2Vec would represent all four identically. We need a mechanism that lets a word's representation shift based on what's actually around it. That mechanism is attention.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NOTES: Six panels, pretraining through RLHF. The subtitle carries the one-line definition of a Transformer (a stack of attention blocks) so the term isn't used undefined -- pause on it for a beat before moving into the pipeline. Emphasize the split: pretraining teaches language and world knowledge from raw text (next-token prediction, no labels); SFT and RLHF teach BEHAVIOR -- how to follow instructions, how to be safe and helpful. That distinction resolves a lot of 'why did it say that' questions later.</a:t>
            </a:r>
          </a:p>
          <a:p>
            <a:endParaRPr/>
          </a:p>
          <a:p>
            <a:r>
              <a:t>NARRATION: A Transformer, in one line, is many copies of the attention mechanism we just walked through, stacked layer on layer, each layer refining the representation a little further. Train that stack at scale on huge amounts of raw text, and here's the path from there to ChatGPT. Pretraining on huge amounts of raw text teaches the model language and a great deal of world knowledge, purely by predicting the next token, over and over, with no human labels. That alone gives you a model that completes text -- not one that follows instructions or stays on topic. Supervised fine-tuning and reinforcement learning from human feedback are what teach behavior: how to follow an instruction, how to refuse unsafe requests, how to be a helpful assistant rather than a text-completion engine. Same base model, two very different jobs.</a:t>
            </a:r>
          </a:p>
        </p:txBody>
      </p:sp>
      <p:sp>
        <p:nvSpPr>
          <p:cNvPr id="4" name="Slide Number Placeholder 3"/>
          <p:cNvSpPr>
            <a:spLocks noGrp="1"/>
          </p:cNvSpPr>
          <p:nvPr>
            <p:ph type="sldNum" sz="quarter" idx="5"/>
          </p:nvPr>
        </p:nvSpPr>
        <p:spPr/>
        <p:txBody>
          <a:bodyPr/>
          <a:lstStyle/>
          <a:p>
            <a:fld id="{C411814F-98E4-4559-B17F-F724D1F120C3}" type="slidenum">
              <a:rPr lang="en-IN" smtClean="0"/>
              <a:pPr/>
              <a:t>11</a:t>
            </a:fld>
            <a:endParaRPr lang="en-IN"/>
          </a:p>
        </p:txBody>
      </p:sp>
    </p:spTree>
    <p:extLst>
      <p:ext uri="{BB962C8B-B14F-4D97-AF65-F5344CB8AC3E}">
        <p14:creationId xmlns:p14="http://schemas.microsoft.com/office/powerpoint/2010/main" val="1053898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0CB79-0628-98A7-019F-8DBCEE86A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CE609-8F98-9260-8A21-3D681EC8C21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B638AD-B770-F06D-46A2-260F2B08774B}"/>
              </a:ext>
            </a:extLst>
          </p:cNvPr>
          <p:cNvSpPr>
            <a:spLocks noGrp="1"/>
          </p:cNvSpPr>
          <p:nvPr>
            <p:ph type="body" sz="quarter" idx="3"/>
          </p:nvPr>
        </p:nvSpPr>
        <p:spPr/>
        <p:txBody>
          <a:bodyPr/>
          <a:lstStyle/>
          <a:p>
            <a:r>
              <a:t>PRESENTER NOTES: The segment's landing slide — let the image do the work, as Day 1's Ferrari and AI-Crush images did. Deliver the three ‘never’ rules slowly; they are the theoretical justification for everything in segments 3 and 4: structured outputs (free text cannot cross a boundary), grounding (there is no truth inside), human gates (politeness is not correctness). Rhetorical question to the room: ‘What does the creature do when the smiley face doesn't know?’ — it confidently completes. That is hallucination, and it is structural.</a:t>
            </a:r>
          </a:p>
          <a:p>
            <a:endParaRPr/>
          </a:p>
          <a:p>
            <a:r>
              <a:t>NARRATION: I want to leave the mechanics with a picture the ML community drew of itself, because it makes a serious point. The base model — the thing that actually holds all the capability — is this vast, alien pattern-matcher that learned the statistical shape of the internet. It is not trying to be helpful. It is not trying to be truthful. It is completing text. Supervised fine-tuning and RLHF are a comparatively thin layer on top that shapes the mouth into something that behaves politely and follows instructions. The smiley face is real — the politeness is genuine engineering. But it is a layer, not the creature. So three operating rules fall out of this picture, and they justify everything else today. Never treat it as a database — it has no lookup, only completion, so it will fabricate a plausible policy clause with total confidence. Never treat it as a calculator — arithmetic is a behavior it imitates, not a mechanism it owns. Never treat it as a policy engine — the rules it states are patterns of policy language it has seen, not rules that are enforced anywhere. The polite interface is a veneer over a probabilistic completion engine. That single sentence is why we need structured outputs, why we need grounding, and why we need a human gate at the moment of commitment. Mechanics done. Now let's put this thing to work.</a:t>
            </a:r>
          </a:p>
        </p:txBody>
      </p:sp>
      <p:sp>
        <p:nvSpPr>
          <p:cNvPr id="4" name="Slide Number Placeholder 3">
            <a:extLst>
              <a:ext uri="{FF2B5EF4-FFF2-40B4-BE49-F238E27FC236}">
                <a16:creationId xmlns:a16="http://schemas.microsoft.com/office/drawing/2014/main" id="{949B1593-16F6-97BE-41FB-0C6B476DBAC1}"/>
              </a:ext>
            </a:extLst>
          </p:cNvPr>
          <p:cNvSpPr>
            <a:spLocks noGrp="1"/>
          </p:cNvSpPr>
          <p:nvPr>
            <p:ph type="sldNum" sz="quarter" idx="5"/>
          </p:nvPr>
        </p:nvSpPr>
        <p:spPr/>
      </p:sp>
    </p:spTree>
    <p:extLst>
      <p:ext uri="{BB962C8B-B14F-4D97-AF65-F5344CB8AC3E}">
        <p14:creationId xmlns:p14="http://schemas.microsoft.com/office/powerpoint/2010/main" val="64725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Two gaps, not one -- frozen training cutoff and zero exposure to private data. This is the direct consequence of the Shoggoth picture on the last slide (no lookup, only completion) and it's the sole bridge into RAG in this version of the deck; don't rush past it into the RAG diagram on the next slide.</a:t>
            </a:r>
          </a:p>
          <a:p>
            <a:endParaRPr/>
          </a:p>
          <a:p>
            <a:r>
              <a:t>NARRATION: A language model doesn't know two things. It's frozen in time: its training data has a cutoff date, so ask about a policy that changed last month, a product that launched last week, or this quarter's numbers, and there is nothing there. It will still answer -- it just makes something up that sounds right. And it has never seen your data: your contracts, your inventory, your internal policies, your customer history were never in its training data, no public model has trained on them. It knows language and reasoning well. It does not know your business at all. Retrieval is how you close both gaps -- hand the model current, company-specific facts, at the moment it answers. That's everything from here 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This is the basic mechanic of how RAG is actually built -- keep it separate from the production/security material on the next slide. The escalation ladder (fixed-size to semantic) is the one thing worth them remembering.</a:t>
            </a:r>
          </a:p>
          <a:p>
            <a:endParaRPr/>
          </a:p>
          <a:p>
            <a:r>
              <a:t>NARRATION: Before anything can be retrieved, a document has to be cut into pieces, and that decision quietly controls everything downstream. Chunks too large drag in irrelevant context and slow retrieval down; chunks too small and meaning leaks out across the cut. Three hundred to five hundred tokens, never split mid-sentence, is where most teams land. The technique itself climbs a ladder: fixed-size cuts are cheapest and crudest; sliding-window and recursive splitting respect document structure; semantic and structure-aware chunking, at the top, cut where the meaning itself changes. Get chunking wrong and no amount of clever retrieval downstream can fix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This is the production/security escalation of the basic chunking mechanic on the previous slide -- same index, but now at a scale and a permission model where naive filtering actively breaks the search engine.</a:t>
            </a:r>
          </a:p>
          <a:p>
            <a:endParaRPr/>
          </a:p>
          <a:p>
            <a:r>
              <a:t>NARRATION: Once that index has real documents behind real access controls, a new problem shows up. Filtering isn't about relevance, it's a security boundary: tenant, document type, date, permission. Filter by metadata first and ten million chunks becomes eighty thousand before a single similarity score gets computed. Do it naively, after the vector search instead of before, and you can actually break the search index's own navigability — pruning HNSW's graph after the fact can strand the search in a disconnected pocket and miss matches that were sitting right there. Production vector databases build filtering into the graph traversal itself for exactly this reason.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Two ideas, one slide. Top: three retrieval modes and their failure profile (memorize the hybrid+rerank line — that's the production default for a reason). Bottom: groundedness isn't a model property, it's a pipeline property — cite, verify, and know when to stop.</a:t>
            </a:r>
          </a:p>
          <a:p>
            <a:endParaRPr/>
          </a:p>
          <a:p>
            <a:r>
              <a:t>NARRATION: Keyword search is exact but blind to synonyms. Vector search understands meaning but is blind to exact tokens — a misread SKU becomes a confidently wrong answer. Production systems fuse both signals and rerank before the context window — recall against latency against token spend. And retrieval quality alone doesn't make an answer trustworthy: groundedness lives in the workflow. Every claim needs a citation back to its source chunk. Every claim gets verified against retrieved evidence before release. And when the evidence is insufficient or conflicting, the system has to know how to stop and escalate rather than guess. Knowing when not to answer is the most valuable feature you can build.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Pure measurement slide. The point isn't the tool name, it's the shift from a one-time vibe check to a continuous regression test — and the honest caveat that an LLM judge is a useful proxy, not ground truth.</a:t>
            </a:r>
          </a:p>
          <a:p>
            <a:endParaRPr/>
          </a:p>
          <a:p>
            <a:r>
              <a:t>NARRATION: Citations and an exit criterion tell you the workflow is disciplined. They don't tell you whether the pipeline is actually retrieving the right things week over week. That's what RAGAS is for: an open-source framework that scores your pipeline automatically, comparing the answer against both the question and the retrieved context, using semantic similarity models rather than exact matching. Four metrics: faithfulness, context precision, context recall, relevance — plugged into LangChain or LlamaIndex so it runs continuously instead of once. And a fair caveat: you're using an LLM to judge an LLM, and that judge agrees with a human grader about as often as two humans agree with each other. Good enough to catch regressions, not a replacement for periodically reading the actual outputs.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This is operations, not measurement -- the two things that go wrong once RAG is live regardless of how well it scored in testing. Pairs naturally with RAGAS on the previous slide: measurement tells you something's wrong, this slide is two of the most common reasons why.</a:t>
            </a:r>
          </a:p>
          <a:p>
            <a:endParaRPr/>
          </a:p>
          <a:p>
            <a:r>
              <a:t>NARRATION: Two things go wrong once RAG is actually live. It goes stale — HR updates a policy Monday, the bot is still quoting the old one Tuesday, because nothing told the index anything changed. Fix: upsert by parent document ID so updates replace old chunks instead of piling up next to them, and weight retrieval by recency. And it gets expensive — thirty to forty percent of enterprise queries repeat, the same handful of questions from different people, and every one of them is hitting the full retrieval and generation pipeline. Semantic caching recognizes a previously-answered question and serves it back near-instantly and near-free. Neither of these shows up in a single accuracy score — they only show up when you're watching the system over time, which is exactly why the continuous measurement on the last slide matters.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This table is the decision the rest of Move 3 unpacks one row at a time. Anchor the room here before going deep on fine-tuning mechanics -- most enterprise asks resolve in column 1 or 2, not column 3.</a:t>
            </a:r>
          </a:p>
          <a:p>
            <a:endParaRPr/>
          </a:p>
          <a:p>
            <a:r>
              <a:t>NARRATION: Three options, one decision. Prompting: near-zero effort, no data, no storage, but it can't add facts the model wasn't trained on and it's easy to hallucinate past. RAG: needs a vector store and a retrieval step, but it pulls real, current documents and is strongly grounded. Fine-tuning: needs labeled examples and real compute, but it's the only lever that changes the model's actual behavior rather than what it's shown at inference time. Escalate only when the rung below fails -- every step to the right adds cost, complexity, and governance surface.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The heuristic in three lines (start with prompting; RAG for knowledge; fine-tune for behavior), paired with the simplest possible picture of the mechanics. The one number worth landing: a few thousand examples, not millions -- pretraining already did the expensive part.</a:t>
            </a:r>
          </a:p>
          <a:p>
            <a:endParaRPr/>
          </a:p>
          <a:p>
            <a:r>
              <a:t>NARRATION: Prompting gives you surface-level control that disappears the moment the prompt changes. Fine-tuning embeds knowledge or style directly into the weights -- permanent, but expensive to change your mind about. So: start with prompting; reach for RAG if the model needs external knowledge; reach for fine-tuning only when the model itself needs to behave differently. Mechanically, the loop is simple -- take a pre-trained LLM, show it task-specific examples, and nudge the weights toward producing that response. Because pretraining already taught it language and reasoning, fine-tuning only needs to redirect it. A few thousand examples, typically. Not millions.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(kept from source): A 7B model at 32-bit is ~28GB just to load; training needs optimizer states, gradients, and activations on top, so 80-120GB in practice -- a single A100 (80GB) isn't enough on its own. A 70B model needs 600+GB. PEFT's four advantages all trace back to freezing the base model.</a:t>
            </a:r>
          </a:p>
          <a:p>
            <a:endParaRPr/>
          </a:p>
          <a:p>
            <a:r>
              <a:t>NARRATION: Full fine-tuning means updating every parameter, and the memory bill is brutal -- a 7B model needs 80 to 120GB of GPU memory to fine-tune fully, a 70B model needs 600-plus GB, spread across multiple high-end GPUs, and that's one fine-tuned copy for one task. PEFT answers this directly: freeze the entire pre-trained model, train a small set of new parameters alongside it. Most of the network never sees a gradient, so memory drops sharply; because the original weights are untouched, you're far less exposed to catastrophic forgetting; and storage, compute, and budget all fall with it -- which is exactly what the next slide puts numbers 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(kept from source): full fine-tuning: every task gets its own complete model, not a diff. 14GB base x 4 tasks = 56GB before versioning. PEFT: a full fine-tuned LLaMA-7B copy is ~14GB/task, a LoRA adapter for the same model is 10-50MB -- three orders of magnitude smaller.</a:t>
            </a:r>
          </a:p>
          <a:p>
            <a:endParaRPr/>
          </a:p>
          <a:p>
            <a:r>
              <a:t>NARRATION: With standard fine-tuning, every task you support needs its own complete copy of the model -- four tasks on a 14GB base is 56GB stored, before you even think about versioning or rollback. PEFT looks completely different: one shared base model, and a tiny adapter per task, 10 to 50 megabytes instead of 14 gigabytes. Ten task variants: 140GB versus under half a gigabyte. The base model becomes shared infrastructure; adapters become small, independently versioned, instantly rollback-able artifacts on top of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Two closing beats. Left: the one real build-vs-buy case, and the two readings to give it (moat is data, not parameters; this is not a template for most of us). Right: the acid test recap, landed on your own category-manager example one last time.</a:t>
            </a:r>
          </a:p>
          <a:p>
            <a:endParaRPr/>
          </a:p>
          <a:p>
            <a:r>
              <a:t>NARRATION: Thomson Reuters is the one case worth taking seriously on 'should we build our own model.' Reported cost: about $40 million over two years, with a final training run of roughly $450,000, starting from an open-source base and fine-tuning on their own proprietary Westlaw, Practical Law, and Reuters content. Read this as: the base model is a commodity, the proprietary data is the moat -- their model beats frontier models on their own content because of the corpus, not the parameter count. Don't read this as a template: $40 million is two years of salaries and R&amp;D for a $60 billion firm whose product IS the corpus; for almost everyone else it's a non-starter. Which brings us back to the boundary you actually have to defend: does the correct answer change when the documents change? That's RAG. Is the correct answer the same, just said differently? That's fine-tuning. Our category manager's policy validation question is squarely, unambiguously RAG.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Motivation, then math, on one slide. The headline number: 7B parameters at FP32 is ~28GB; INT4 brings that to ~3.5-4GB. That's the whole pitch for quantization in one sentence.</a:t>
            </a:r>
          </a:p>
          <a:p>
            <a:endParaRPr/>
          </a:p>
          <a:p>
            <a:r>
              <a:t>NARRATION: Most LLMs carry billions of parameters, which makes them slow and memory-hungry at inference -- expensive in the cloud, often a hard blocker on the edge. The fix isn't training a smaller model from scratch; it's compressing the one you have. Quantization stores each number in 8-bit or 4-bit format instead of 32-bit floating point: a 7B-parameter model at FP32 needs about 28GB, the same model in INT4 needs roughly 3.5 to 4GB -- a seven-fold reduction, for a small and usually acceptable accuracy hit. This is what makes running a serious model on a laptop possible at all.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This is the hard test that closes the fine-tuning thread -- three justified conditions, three common rationalizations to reject. The steering-committee line is the one sentence worth the room writing down; land it slowly, then close on the category-manager question one last time.</a:t>
            </a:r>
          </a:p>
          <a:p>
            <a:endParaRPr/>
          </a:p>
          <a:p>
            <a:r>
              <a:t>NARRATION: Fine-tuning is justified when three things are all true: the target behavior is stable and well-defined, the volume is high enough that per-call costs actually dominate, and prompting and RAG have genuinely been tried and documented as insufficient. It's rejected when the real need is actually fresh or changing facts -- that's what RAG solves -- when the "target behavior" is itself a moving target, or when fine-tuning just sounds more serious than prompt engineering. The line for the steering committee: we fine-tune when a stable behavior, at volume, survives documentation of what prompting and RAG already achieved. Everything else rents. Which brings us back to the boundary you actually have to defend: does the correct answer change when the documents change? That's RAG. Is the correct answer the same, just said differently? That's fine-tuning. Our category manager's policy validation question is squarely, unambiguously RAG.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29"/>
        <p:cNvGrpSpPr/>
        <p:nvPr/>
      </p:nvGrpSpPr>
      <p:grpSpPr>
        <a:xfrm>
          <a:off x="0" y="0"/>
          <a:ext cx="0" cy="0"/>
          <a:chOff x="0" y="0"/>
          <a:chExt cx="0" cy="0"/>
        </a:xfrm>
      </p:grpSpPr>
      <p:sp>
        <p:nvSpPr>
          <p:cNvPr id="31" name="Google Shape;31;g31c8c04955c_0_19"/>
          <p:cNvSpPr txBox="1">
            <a:spLocks noGrp="1"/>
          </p:cNvSpPr>
          <p:nvPr>
            <p:ph type="body" idx="1"/>
          </p:nvPr>
        </p:nvSpPr>
        <p:spPr>
          <a:xfrm>
            <a:off x="173181" y="933392"/>
            <a:ext cx="11858105" cy="5417532"/>
          </a:xfrm>
          <a:prstGeom prst="rect">
            <a:avLst/>
          </a:prstGeom>
          <a:noFill/>
          <a:ln>
            <a:noFill/>
          </a:ln>
        </p:spPr>
        <p:txBody>
          <a:bodyPr spcFirstLastPara="1" wrap="square" lIns="91425" tIns="45700" rIns="91425" bIns="45700" anchor="t" anchorCtr="0">
            <a:normAutofit/>
          </a:bodyPr>
          <a:lstStyle>
            <a:lvl1pPr marL="457200" marR="0" lvl="0" indent="-342900" algn="l">
              <a:lnSpc>
                <a:spcPct val="90000"/>
              </a:lnSpc>
              <a:spcBef>
                <a:spcPts val="1000"/>
              </a:spcBef>
              <a:spcAft>
                <a:spcPts val="0"/>
              </a:spcAft>
              <a:buClr>
                <a:schemeClr val="dk1"/>
              </a:buClr>
              <a:buSzPts val="1800"/>
              <a:buFont typeface="Arial"/>
              <a:buChar char="•"/>
              <a:defRPr sz="28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L="914400" marR="0" lvl="1"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dirty="0"/>
          </a:p>
        </p:txBody>
      </p:sp>
      <p:sp>
        <p:nvSpPr>
          <p:cNvPr id="4" name="Title 3">
            <a:extLst>
              <a:ext uri="{FF2B5EF4-FFF2-40B4-BE49-F238E27FC236}">
                <a16:creationId xmlns:a16="http://schemas.microsoft.com/office/drawing/2014/main" id="{8D6BEEAA-DDB9-5AD8-756A-49F53D3E1412}"/>
              </a:ext>
            </a:extLst>
          </p:cNvPr>
          <p:cNvSpPr>
            <a:spLocks noGrp="1"/>
          </p:cNvSpPr>
          <p:nvPr>
            <p:ph type="title"/>
          </p:nvPr>
        </p:nvSpPr>
        <p:spPr>
          <a:xfrm>
            <a:off x="0" y="15990"/>
            <a:ext cx="10515600" cy="737697"/>
          </a:xfrm>
          <a:prstGeom prst="rect">
            <a:avLst/>
          </a:prstGeom>
        </p:spPr>
        <p:txBody>
          <a:bodyPr anchor="ctr"/>
          <a:lstStyle>
            <a:lvl1pPr>
              <a:defRPr sz="3200">
                <a:latin typeface="Georgia" panose="02040502050405020303" pitchFamily="18" charset="0"/>
              </a:defRPr>
            </a:lvl1pPr>
          </a:lstStyle>
          <a:p>
            <a:r>
              <a:rPr lang="en-US"/>
              <a:t>Click to edit Master title style</a:t>
            </a:r>
            <a:endParaRPr lang="en-IN"/>
          </a:p>
        </p:txBody>
      </p:sp>
    </p:spTree>
    <p:extLst>
      <p:ext uri="{BB962C8B-B14F-4D97-AF65-F5344CB8AC3E}">
        <p14:creationId xmlns:p14="http://schemas.microsoft.com/office/powerpoint/2010/main" val="26022596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2.jpg"/><Relationship Id="rId4" Type="http://schemas.openxmlformats.org/officeDocument/2006/relationships/image" Target="../media/image4.png"/><Relationship Id="rId5"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5B"/>
        </a:solidFill>
        <a:effectLst/>
      </p:bgPr>
    </p:bg>
    <p:spTree>
      <p:nvGrpSpPr>
        <p:cNvPr id="1" name=""/>
        <p:cNvGrpSpPr/>
        <p:nvPr/>
      </p:nvGrpSpPr>
      <p:grpSpPr>
        <a:xfrm>
          <a:off x="0" y="0"/>
          <a:ext cx="0" cy="0"/>
          <a:chOff x="0" y="0"/>
          <a:chExt cx="0" cy="0"/>
        </a:xfrm>
      </p:grpSpPr>
      <p:sp>
        <p:nvSpPr>
          <p:cNvPr id="2" name="TextBox 1"/>
          <p:cNvSpPr txBox="1"/>
          <p:nvPr/>
        </p:nvSpPr>
        <p:spPr>
          <a:xfrm>
            <a:off x="762000" y="1638780"/>
            <a:ext cx="10668000" cy="238125"/>
          </a:xfrm>
          <a:prstGeom prst="rect">
            <a:avLst/>
          </a:prstGeom>
          <a:noFill/>
        </p:spPr>
        <p:txBody>
          <a:bodyPr wrap="square" lIns="0" tIns="0" rIns="0" bIns="0" anchor="t">
            <a:spAutoFit/>
          </a:bodyPr>
          <a:lstStyle/>
          <a:p>
            <a:pPr algn="l"/>
            <a:r>
              <a:rPr sz="1200" b="0" i="0" u="none" dirty="0">
                <a:solidFill>
                  <a:srgbClr val="00A3E0"/>
                </a:solidFill>
                <a:latin typeface="Poppins SemiBold"/>
              </a:rPr>
              <a:t>ENTERPRISE AI ARCHITECTURE INTENSIVE • ALBERTSONS</a:t>
            </a:r>
          </a:p>
        </p:txBody>
      </p:sp>
      <p:sp>
        <p:nvSpPr>
          <p:cNvPr id="3" name="TextBox 2"/>
          <p:cNvSpPr txBox="1"/>
          <p:nvPr/>
        </p:nvSpPr>
        <p:spPr>
          <a:xfrm>
            <a:off x="762000" y="2029305"/>
            <a:ext cx="11201400" cy="1051321"/>
          </a:xfrm>
          <a:prstGeom prst="rect">
            <a:avLst/>
          </a:prstGeom>
          <a:noFill/>
        </p:spPr>
        <p:txBody>
          <a:bodyPr wrap="square" lIns="0" tIns="0" rIns="0" bIns="0" anchor="t">
            <a:spAutoFit/>
          </a:bodyPr>
          <a:lstStyle/>
          <a:p>
            <a:pPr algn="l">
              <a:lnSpc>
                <a:spcPts val="4140"/>
              </a:lnSpc>
            </a:pPr>
            <a:r>
              <a:rPr sz="3450" b="0" i="0" u="none" dirty="0">
                <a:solidFill>
                  <a:srgbClr val="FFFFFF"/>
                </a:solidFill>
                <a:latin typeface="Poppins SemiBold"/>
              </a:rPr>
              <a:t>Day 2</a:t>
            </a:r>
            <a:r>
              <a:rPr lang="en-IN" sz="3450" dirty="0">
                <a:solidFill>
                  <a:srgbClr val="FFFFFF"/>
                </a:solidFill>
                <a:latin typeface="Poppins SemiBold"/>
              </a:rPr>
              <a:t>-</a:t>
            </a:r>
            <a:r>
              <a:rPr sz="3450" b="0" i="0" u="none" dirty="0">
                <a:solidFill>
                  <a:srgbClr val="FFFFFF"/>
                </a:solidFill>
                <a:latin typeface="Poppins SemiBold"/>
              </a:rPr>
              <a:t> The </a:t>
            </a:r>
            <a:r>
              <a:rPr sz="3450" b="0" i="0" u="none" dirty="0" err="1">
                <a:solidFill>
                  <a:srgbClr val="FFFFFF"/>
                </a:solidFill>
                <a:latin typeface="Poppins SemiBold"/>
              </a:rPr>
              <a:t>GenAI</a:t>
            </a:r>
            <a:r>
              <a:rPr sz="3450" b="0" i="0" u="none" dirty="0">
                <a:solidFill>
                  <a:srgbClr val="FFFFFF"/>
                </a:solidFill>
                <a:latin typeface="Poppins SemiBold"/>
              </a:rPr>
              <a:t> Rung,</a:t>
            </a:r>
            <a:r>
              <a:rPr dirty="0"/>
              <a:t>
</a:t>
            </a:r>
            <a:r>
              <a:rPr sz="3450" b="0" i="0" u="none" dirty="0">
                <a:solidFill>
                  <a:srgbClr val="FFFFFF"/>
                </a:solidFill>
                <a:latin typeface="Poppins SemiBold"/>
              </a:rPr>
              <a:t>Taken Deliberately</a:t>
            </a:r>
          </a:p>
        </p:txBody>
      </p:sp>
      <p:sp>
        <p:nvSpPr>
          <p:cNvPr id="4" name="TextBox 3"/>
          <p:cNvSpPr txBox="1"/>
          <p:nvPr/>
        </p:nvSpPr>
        <p:spPr>
          <a:xfrm>
            <a:off x="762000" y="3488716"/>
            <a:ext cx="9601200" cy="248542"/>
          </a:xfrm>
          <a:prstGeom prst="rect">
            <a:avLst/>
          </a:prstGeom>
          <a:noFill/>
        </p:spPr>
        <p:txBody>
          <a:bodyPr wrap="square" lIns="0" tIns="0" rIns="0" bIns="0" anchor="t">
            <a:spAutoFit/>
          </a:bodyPr>
          <a:lstStyle/>
          <a:p>
            <a:pPr algn="l">
              <a:lnSpc>
                <a:spcPts val="1957"/>
              </a:lnSpc>
            </a:pPr>
            <a:r>
              <a:rPr sz="1350" b="0" i="1" u="none" dirty="0">
                <a:solidFill>
                  <a:srgbClr val="00A3E0"/>
                </a:solidFill>
                <a:latin typeface="Nunito Sans"/>
              </a:rPr>
              <a:t> LLM mechanics, grounding, and model right-sizing</a:t>
            </a:r>
            <a:r>
              <a:rPr lang="en-IN" sz="1350" b="0" i="1" u="none" dirty="0">
                <a:solidFill>
                  <a:srgbClr val="00A3E0"/>
                </a:solidFill>
                <a:latin typeface="Nunito Sans"/>
              </a:rPr>
              <a:t>;</a:t>
            </a:r>
            <a:r>
              <a:rPr sz="1350" b="0" i="1" u="none" dirty="0">
                <a:solidFill>
                  <a:srgbClr val="00A3E0"/>
                </a:solidFill>
                <a:latin typeface="Nunito Sans"/>
              </a:rPr>
              <a:t> how the language rung of the ladder actually works. </a:t>
            </a:r>
          </a:p>
        </p:txBody>
      </p:sp>
      <p:sp>
        <p:nvSpPr>
          <p:cNvPr id="6" name="TextBox 5"/>
          <p:cNvSpPr txBox="1"/>
          <p:nvPr/>
        </p:nvSpPr>
        <p:spPr>
          <a:xfrm>
            <a:off x="762000" y="4277859"/>
            <a:ext cx="10668000" cy="285750"/>
          </a:xfrm>
          <a:prstGeom prst="rect">
            <a:avLst/>
          </a:prstGeom>
          <a:noFill/>
        </p:spPr>
        <p:txBody>
          <a:bodyPr wrap="square" lIns="0" tIns="0" rIns="0" bIns="0" anchor="t">
            <a:spAutoFit/>
          </a:bodyPr>
          <a:lstStyle/>
          <a:p>
            <a:pPr algn="l"/>
            <a:r>
              <a:rPr sz="1500" b="0" i="0" u="none" dirty="0">
                <a:solidFill>
                  <a:srgbClr val="FFFFFF"/>
                </a:solidFill>
                <a:latin typeface="Poppins SemiBold"/>
              </a:rPr>
              <a:t>Dr. Anand Jayaraman</a:t>
            </a:r>
          </a:p>
        </p:txBody>
      </p:sp>
      <p:sp>
        <p:nvSpPr>
          <p:cNvPr id="7" name="TextBox 6"/>
          <p:cNvSpPr txBox="1"/>
          <p:nvPr/>
        </p:nvSpPr>
        <p:spPr>
          <a:xfrm>
            <a:off x="762000" y="4611619"/>
            <a:ext cx="10668000" cy="190500"/>
          </a:xfrm>
          <a:prstGeom prst="rect">
            <a:avLst/>
          </a:prstGeom>
          <a:noFill/>
        </p:spPr>
        <p:txBody>
          <a:bodyPr wrap="square" lIns="0" tIns="0" rIns="0" bIns="0" anchor="t">
            <a:spAutoFit/>
          </a:bodyPr>
          <a:lstStyle/>
          <a:p>
            <a:pPr algn="l"/>
            <a:r>
              <a:rPr sz="1125" b="0" i="0" u="none">
                <a:solidFill>
                  <a:srgbClr val="CBD5E1"/>
                </a:solidFill>
                <a:latin typeface="Nunito Sans"/>
              </a:rPr>
              <a:t>Chief AI Officer, InsightVerge</a:t>
            </a:r>
          </a:p>
        </p:txBody>
      </p:sp>
      <p:sp>
        <p:nvSpPr>
          <p:cNvPr id="8" name="TextBox 7">
            <a:extLst>
              <a:ext uri="{FF2B5EF4-FFF2-40B4-BE49-F238E27FC236}">
                <a16:creationId xmlns:a16="http://schemas.microsoft.com/office/drawing/2014/main" id="{D712817E-6185-4C51-5626-B3F694AE34E9}"/>
              </a:ext>
            </a:extLst>
          </p:cNvPr>
          <p:cNvSpPr txBox="1"/>
          <p:nvPr/>
        </p:nvSpPr>
        <p:spPr>
          <a:xfrm>
            <a:off x="762000" y="5505190"/>
            <a:ext cx="8244000" cy="169277"/>
          </a:xfrm>
          <a:prstGeom prst="rect">
            <a:avLst/>
          </a:prstGeom>
          <a:noFill/>
        </p:spPr>
        <p:txBody>
          <a:bodyPr wrap="square" lIns="0" tIns="0" rIns="0" bIns="0" anchor="t">
            <a:spAutoFit/>
          </a:bodyPr>
          <a:lstStyle/>
          <a:p>
            <a:pPr algn="l"/>
            <a:r>
              <a:rPr sz="1100" b="0" i="0" dirty="0">
                <a:solidFill>
                  <a:srgbClr val="9AA39D"/>
                </a:solidFill>
                <a:latin typeface="PT Sans"/>
              </a:rPr>
              <a:t>3.5-Day Enterprise AI Architecture Intensive  |  </a:t>
            </a:r>
            <a:r>
              <a:rPr sz="1100" b="0" i="0" dirty="0" err="1">
                <a:solidFill>
                  <a:srgbClr val="9AA39D"/>
                </a:solidFill>
                <a:latin typeface="PT Sans"/>
              </a:rPr>
              <a:t>InsightVerge</a:t>
            </a:r>
            <a:r>
              <a:rPr sz="1100" b="0" i="0" dirty="0">
                <a:solidFill>
                  <a:srgbClr val="9AA39D"/>
                </a:solidFill>
                <a:latin typeface="PT Sans"/>
              </a:rPr>
              <a:t>  |  Day 2 Lecture  |  Confidential</a:t>
            </a:r>
          </a:p>
        </p:txBody>
      </p:sp>
      <p:pic>
        <p:nvPicPr>
          <p:cNvPr id="9" name="Image 1" descr="assets/logo_hex.png">
            <a:extLst>
              <a:ext uri="{FF2B5EF4-FFF2-40B4-BE49-F238E27FC236}">
                <a16:creationId xmlns:a16="http://schemas.microsoft.com/office/drawing/2014/main" id="{3B227AE8-9C03-7FC4-663A-B32EE3CA860D}"/>
              </a:ext>
            </a:extLst>
          </p:cNvPr>
          <p:cNvPicPr>
            <a:picLocks noChangeAspect="1"/>
          </p:cNvPicPr>
          <p:nvPr/>
        </p:nvPicPr>
        <p:blipFill>
          <a:blip r:embed="rId2"/>
          <a:stretch>
            <a:fillRect/>
          </a:stretch>
        </p:blipFill>
        <p:spPr>
          <a:xfrm>
            <a:off x="736676" y="502920"/>
            <a:ext cx="749808" cy="818388"/>
          </a:xfrm>
          <a:prstGeom prst="rect">
            <a:avLst/>
          </a:prstGeom>
        </p:spPr>
      </p:pic>
      <p:pic>
        <p:nvPicPr>
          <p:cNvPr id="10" name="Image 2" descr="assets/wordmark.png">
            <a:extLst>
              <a:ext uri="{FF2B5EF4-FFF2-40B4-BE49-F238E27FC236}">
                <a16:creationId xmlns:a16="http://schemas.microsoft.com/office/drawing/2014/main" id="{534D6006-9C10-3944-69A8-D1EE01B3223F}"/>
              </a:ext>
            </a:extLst>
          </p:cNvPr>
          <p:cNvPicPr>
            <a:picLocks noChangeAspect="1"/>
          </p:cNvPicPr>
          <p:nvPr/>
        </p:nvPicPr>
        <p:blipFill>
          <a:blip r:embed="rId3"/>
          <a:stretch>
            <a:fillRect/>
          </a:stretch>
        </p:blipFill>
        <p:spPr>
          <a:xfrm>
            <a:off x="1651076" y="658368"/>
            <a:ext cx="3291840" cy="530352"/>
          </a:xfrm>
          <a:prstGeom prst="rect">
            <a:avLst/>
          </a:prstGeom>
        </p:spPr>
      </p:pic>
      <p:pic>
        <p:nvPicPr>
          <p:cNvPr id="11" name="Picture 10" descr="layout0_pic4.png">
            <a:extLst>
              <a:ext uri="{FF2B5EF4-FFF2-40B4-BE49-F238E27FC236}">
                <a16:creationId xmlns:a16="http://schemas.microsoft.com/office/drawing/2014/main" id="{9E694AA8-E499-D33E-A615-6ED749A78B65}"/>
              </a:ext>
            </a:extLst>
          </p:cNvPr>
          <p:cNvPicPr>
            <a:picLocks noChangeAspect="1"/>
          </p:cNvPicPr>
          <p:nvPr/>
        </p:nvPicPr>
        <p:blipFill>
          <a:blip r:embed="rId4"/>
          <a:stretch>
            <a:fillRect/>
          </a:stretch>
        </p:blipFill>
        <p:spPr>
          <a:xfrm>
            <a:off x="9860280" y="625951"/>
            <a:ext cx="1874519" cy="4284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6496050"/>
            <a:ext cx="12192000" cy="361950"/>
          </a:xfrm>
          <a:prstGeom prst="rect">
            <a:avLst/>
          </a:prstGeom>
        </p:spPr>
      </p:pic>
      <p:sp>
        <p:nvSpPr>
          <p:cNvPr id="3" name="TextBox 2"/>
          <p:cNvSpPr txBox="1"/>
          <p:nvPr/>
        </p:nvSpPr>
        <p:spPr>
          <a:xfrm>
            <a:off x="609600" y="438150"/>
            <a:ext cx="10972800" cy="184666"/>
          </a:xfrm>
          <a:prstGeom prst="rect">
            <a:avLst/>
          </a:prstGeom>
          <a:noFill/>
        </p:spPr>
        <p:txBody>
          <a:bodyPr wrap="square" lIns="0" tIns="0" rIns="0" bIns="0" anchor="t">
            <a:spAutoFit/>
          </a:bodyPr>
          <a:lstStyle/>
          <a:p>
            <a:pPr algn="l"/>
            <a:r>
              <a:rPr sz="1200" b="0" i="0" u="none" dirty="0">
                <a:solidFill>
                  <a:srgbClr val="00A3E0"/>
                </a:solidFill>
                <a:latin typeface="Poppins SemiBold"/>
              </a:rPr>
              <a:t>TODAY'S ROADMAP</a:t>
            </a:r>
          </a:p>
        </p:txBody>
      </p:sp>
      <p:sp>
        <p:nvSpPr>
          <p:cNvPr id="4" name="TextBox 3"/>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dirty="0">
                <a:solidFill>
                  <a:srgbClr val="004C97"/>
                </a:solidFill>
                <a:latin typeface="Poppins SemiBold"/>
              </a:rPr>
              <a:t>Three Moves, One Deliberate Climb</a:t>
            </a:r>
          </a:p>
        </p:txBody>
      </p:sp>
      <p:sp>
        <p:nvSpPr>
          <p:cNvPr id="5" name="TextBox 4"/>
          <p:cNvSpPr txBox="1"/>
          <p:nvPr/>
        </p:nvSpPr>
        <p:spPr>
          <a:xfrm>
            <a:off x="609600" y="1300162"/>
            <a:ext cx="10972800" cy="227855"/>
          </a:xfrm>
          <a:prstGeom prst="rect">
            <a:avLst/>
          </a:prstGeom>
          <a:noFill/>
        </p:spPr>
        <p:txBody>
          <a:bodyPr wrap="square" lIns="0" tIns="0" rIns="0" bIns="0" anchor="t">
            <a:spAutoFit/>
          </a:bodyPr>
          <a:lstStyle/>
          <a:p>
            <a:pPr algn="l">
              <a:lnSpc>
                <a:spcPts val="1794"/>
              </a:lnSpc>
            </a:pPr>
            <a:r>
              <a:rPr sz="1237" b="0" i="0" u="none">
                <a:latin typeface="Nunito Sans"/>
              </a:rPr>
              <a:t>One thread runs through all three: every capability claim is also a cost, latency, and governance claim.</a:t>
            </a:r>
          </a:p>
        </p:txBody>
      </p:sp>
      <p:sp>
        <p:nvSpPr>
          <p:cNvPr id="8" name="TextBox 7"/>
          <p:cNvSpPr txBox="1"/>
          <p:nvPr/>
        </p:nvSpPr>
        <p:spPr>
          <a:xfrm>
            <a:off x="659478" y="1978640"/>
            <a:ext cx="3479750" cy="333375"/>
          </a:xfrm>
          <a:prstGeom prst="rect">
            <a:avLst/>
          </a:prstGeom>
          <a:noFill/>
        </p:spPr>
        <p:txBody>
          <a:bodyPr wrap="square" lIns="0" tIns="0" rIns="0" bIns="0" anchor="t">
            <a:spAutoFit/>
          </a:bodyPr>
          <a:lstStyle/>
          <a:p>
            <a:pPr algn="l"/>
            <a:r>
              <a:rPr sz="1800" b="1" i="0" u="none" dirty="0">
                <a:solidFill>
                  <a:srgbClr val="004C97"/>
                </a:solidFill>
                <a:latin typeface="Poppins"/>
              </a:rPr>
              <a:t>1</a:t>
            </a:r>
          </a:p>
        </p:txBody>
      </p:sp>
      <p:sp>
        <p:nvSpPr>
          <p:cNvPr id="9" name="TextBox 8"/>
          <p:cNvSpPr txBox="1"/>
          <p:nvPr/>
        </p:nvSpPr>
        <p:spPr>
          <a:xfrm>
            <a:off x="659478" y="2426315"/>
            <a:ext cx="3479750" cy="222795"/>
          </a:xfrm>
          <a:prstGeom prst="rect">
            <a:avLst/>
          </a:prstGeom>
          <a:noFill/>
        </p:spPr>
        <p:txBody>
          <a:bodyPr wrap="square" lIns="0" tIns="0" rIns="0" bIns="0" anchor="t">
            <a:spAutoFit/>
          </a:bodyPr>
          <a:lstStyle/>
          <a:p>
            <a:pPr algn="l">
              <a:lnSpc>
                <a:spcPts val="1754"/>
              </a:lnSpc>
            </a:pPr>
            <a:r>
              <a:rPr sz="1350" b="0" i="0" u="none">
                <a:solidFill>
                  <a:srgbClr val="004C97"/>
                </a:solidFill>
                <a:latin typeface="Poppins SemiBold"/>
              </a:rPr>
              <a:t>What an LLM Actually Is</a:t>
            </a:r>
          </a:p>
        </p:txBody>
      </p:sp>
      <p:sp>
        <p:nvSpPr>
          <p:cNvPr id="10" name="TextBox 9"/>
          <p:cNvSpPr txBox="1"/>
          <p:nvPr/>
        </p:nvSpPr>
        <p:spPr>
          <a:xfrm>
            <a:off x="659478" y="2744361"/>
            <a:ext cx="3479750" cy="414337"/>
          </a:xfrm>
          <a:prstGeom prst="rect">
            <a:avLst/>
          </a:prstGeom>
          <a:noFill/>
        </p:spPr>
        <p:txBody>
          <a:bodyPr wrap="square" lIns="0" tIns="0" rIns="0" bIns="0" anchor="t">
            <a:spAutoFit/>
          </a:bodyPr>
          <a:lstStyle/>
          <a:p>
            <a:pPr algn="l">
              <a:lnSpc>
                <a:spcPts val="1631"/>
              </a:lnSpc>
            </a:pPr>
            <a:r>
              <a:rPr sz="1125" b="0" i="0" u="none" dirty="0">
                <a:latin typeface="Nunito Sans"/>
              </a:rPr>
              <a:t>Tokens, attention, the training pipeline</a:t>
            </a:r>
            <a:r>
              <a:rPr lang="en-IN" sz="1125" b="0" i="0" u="none" dirty="0">
                <a:latin typeface="Nunito Sans"/>
              </a:rPr>
              <a:t>;</a:t>
            </a:r>
            <a:r>
              <a:rPr sz="1125" b="0" i="0" u="none" dirty="0">
                <a:latin typeface="Nunito Sans"/>
              </a:rPr>
              <a:t> mechanism, not math, each with its architectural consequence.</a:t>
            </a:r>
          </a:p>
        </p:txBody>
      </p:sp>
      <p:sp>
        <p:nvSpPr>
          <p:cNvPr id="11" name="TextBox 10"/>
          <p:cNvSpPr txBox="1"/>
          <p:nvPr/>
        </p:nvSpPr>
        <p:spPr>
          <a:xfrm>
            <a:off x="659478" y="3665012"/>
            <a:ext cx="3205940" cy="382797"/>
          </a:xfrm>
          <a:prstGeom prst="rect">
            <a:avLst/>
          </a:prstGeom>
          <a:noFill/>
        </p:spPr>
        <p:txBody>
          <a:bodyPr wrap="square" lIns="0" tIns="0" rIns="0" bIns="0" anchor="t">
            <a:spAutoFit/>
          </a:bodyPr>
          <a:lstStyle/>
          <a:p>
            <a:pPr algn="l">
              <a:lnSpc>
                <a:spcPts val="1470"/>
              </a:lnSpc>
            </a:pPr>
            <a:r>
              <a:rPr sz="1200" b="0" i="0" u="none" dirty="0">
                <a:solidFill>
                  <a:srgbClr val="00A3E0"/>
                </a:solidFill>
                <a:latin typeface="Nunito Sans SemiBold"/>
              </a:rPr>
              <a:t>Why every downstream design rule today falls out of this.</a:t>
            </a:r>
          </a:p>
        </p:txBody>
      </p:sp>
      <p:sp>
        <p:nvSpPr>
          <p:cNvPr id="12" name="TextBox 11"/>
          <p:cNvSpPr txBox="1"/>
          <p:nvPr/>
        </p:nvSpPr>
        <p:spPr>
          <a:xfrm>
            <a:off x="4356050" y="1978640"/>
            <a:ext cx="3479750" cy="333375"/>
          </a:xfrm>
          <a:prstGeom prst="rect">
            <a:avLst/>
          </a:prstGeom>
          <a:noFill/>
        </p:spPr>
        <p:txBody>
          <a:bodyPr wrap="square" lIns="0" tIns="0" rIns="0" bIns="0" anchor="t">
            <a:spAutoFit/>
          </a:bodyPr>
          <a:lstStyle/>
          <a:p>
            <a:pPr algn="l"/>
            <a:r>
              <a:rPr sz="1800" b="1" i="0" u="none">
                <a:solidFill>
                  <a:srgbClr val="004C97"/>
                </a:solidFill>
                <a:latin typeface="Poppins"/>
              </a:rPr>
              <a:t>2</a:t>
            </a:r>
          </a:p>
        </p:txBody>
      </p:sp>
      <p:sp>
        <p:nvSpPr>
          <p:cNvPr id="13" name="TextBox 12"/>
          <p:cNvSpPr txBox="1"/>
          <p:nvPr/>
        </p:nvSpPr>
        <p:spPr>
          <a:xfrm>
            <a:off x="4356050" y="2426315"/>
            <a:ext cx="3479750" cy="222795"/>
          </a:xfrm>
          <a:prstGeom prst="rect">
            <a:avLst/>
          </a:prstGeom>
          <a:noFill/>
        </p:spPr>
        <p:txBody>
          <a:bodyPr wrap="square" lIns="0" tIns="0" rIns="0" bIns="0" anchor="t">
            <a:spAutoFit/>
          </a:bodyPr>
          <a:lstStyle/>
          <a:p>
            <a:pPr algn="l">
              <a:lnSpc>
                <a:spcPts val="1754"/>
              </a:lnSpc>
            </a:pPr>
            <a:r>
              <a:rPr sz="1350" b="0" i="0" u="none">
                <a:solidFill>
                  <a:srgbClr val="004C97"/>
                </a:solidFill>
                <a:latin typeface="Poppins SemiBold"/>
              </a:rPr>
              <a:t>Grounding It in the Enterprise</a:t>
            </a:r>
          </a:p>
        </p:txBody>
      </p:sp>
      <p:sp>
        <p:nvSpPr>
          <p:cNvPr id="14" name="TextBox 13"/>
          <p:cNvSpPr txBox="1"/>
          <p:nvPr/>
        </p:nvSpPr>
        <p:spPr>
          <a:xfrm>
            <a:off x="4356050" y="2744361"/>
            <a:ext cx="3479750" cy="414337"/>
          </a:xfrm>
          <a:prstGeom prst="rect">
            <a:avLst/>
          </a:prstGeom>
          <a:noFill/>
        </p:spPr>
        <p:txBody>
          <a:bodyPr wrap="square" lIns="0" tIns="0" rIns="0" bIns="0" anchor="t">
            <a:spAutoFit/>
          </a:bodyPr>
          <a:lstStyle/>
          <a:p>
            <a:pPr algn="l">
              <a:lnSpc>
                <a:spcPts val="1631"/>
              </a:lnSpc>
            </a:pPr>
            <a:r>
              <a:rPr sz="1125" b="0" i="0" u="none">
                <a:latin typeface="Nunito Sans"/>
              </a:rPr>
              <a:t>Structured outputs as the airlock; RAG as the knowledge mechanism; evaluation as the discipline.</a:t>
            </a:r>
          </a:p>
        </p:txBody>
      </p:sp>
      <p:sp>
        <p:nvSpPr>
          <p:cNvPr id="15" name="TextBox 14"/>
          <p:cNvSpPr txBox="1"/>
          <p:nvPr/>
        </p:nvSpPr>
        <p:spPr>
          <a:xfrm>
            <a:off x="4356050" y="3690491"/>
            <a:ext cx="3479750" cy="190437"/>
          </a:xfrm>
          <a:prstGeom prst="rect">
            <a:avLst/>
          </a:prstGeom>
          <a:noFill/>
        </p:spPr>
        <p:txBody>
          <a:bodyPr wrap="square" lIns="0" tIns="0" rIns="0" bIns="0" anchor="t">
            <a:spAutoFit/>
          </a:bodyPr>
          <a:lstStyle/>
          <a:p>
            <a:pPr algn="l">
              <a:lnSpc>
                <a:spcPts val="1470"/>
              </a:lnSpc>
            </a:pPr>
            <a:r>
              <a:rPr sz="1200" b="0" i="0" u="none">
                <a:solidFill>
                  <a:srgbClr val="00A3E0"/>
                </a:solidFill>
                <a:latin typeface="Nunito Sans SemiBold"/>
              </a:rPr>
              <a:t>The theory your afternoon lab executes.</a:t>
            </a:r>
          </a:p>
        </p:txBody>
      </p:sp>
      <p:sp>
        <p:nvSpPr>
          <p:cNvPr id="16" name="TextBox 15"/>
          <p:cNvSpPr txBox="1"/>
          <p:nvPr/>
        </p:nvSpPr>
        <p:spPr>
          <a:xfrm>
            <a:off x="8102500" y="1978640"/>
            <a:ext cx="3479899" cy="333375"/>
          </a:xfrm>
          <a:prstGeom prst="rect">
            <a:avLst/>
          </a:prstGeom>
          <a:noFill/>
        </p:spPr>
        <p:txBody>
          <a:bodyPr wrap="square" lIns="0" tIns="0" rIns="0" bIns="0" anchor="t">
            <a:spAutoFit/>
          </a:bodyPr>
          <a:lstStyle/>
          <a:p>
            <a:pPr algn="l"/>
            <a:r>
              <a:rPr sz="1800" b="1" i="0" u="none">
                <a:solidFill>
                  <a:srgbClr val="004C97"/>
                </a:solidFill>
                <a:latin typeface="Poppins"/>
              </a:rPr>
              <a:t>3</a:t>
            </a:r>
          </a:p>
        </p:txBody>
      </p:sp>
      <p:sp>
        <p:nvSpPr>
          <p:cNvPr id="17" name="TextBox 16"/>
          <p:cNvSpPr txBox="1"/>
          <p:nvPr/>
        </p:nvSpPr>
        <p:spPr>
          <a:xfrm>
            <a:off x="8102500" y="2426315"/>
            <a:ext cx="3479899" cy="222795"/>
          </a:xfrm>
          <a:prstGeom prst="rect">
            <a:avLst/>
          </a:prstGeom>
          <a:noFill/>
        </p:spPr>
        <p:txBody>
          <a:bodyPr wrap="square" lIns="0" tIns="0" rIns="0" bIns="0" anchor="t">
            <a:spAutoFit/>
          </a:bodyPr>
          <a:lstStyle/>
          <a:p>
            <a:pPr algn="l">
              <a:lnSpc>
                <a:spcPts val="1754"/>
              </a:lnSpc>
            </a:pPr>
            <a:r>
              <a:rPr sz="1350" b="0" i="0" u="none">
                <a:solidFill>
                  <a:srgbClr val="004C97"/>
                </a:solidFill>
                <a:latin typeface="Poppins SemiBold"/>
              </a:rPr>
              <a:t>Right-Sizing It</a:t>
            </a:r>
          </a:p>
        </p:txBody>
      </p:sp>
      <p:sp>
        <p:nvSpPr>
          <p:cNvPr id="18" name="TextBox 17"/>
          <p:cNvSpPr txBox="1"/>
          <p:nvPr/>
        </p:nvSpPr>
        <p:spPr>
          <a:xfrm>
            <a:off x="8102500" y="2744361"/>
            <a:ext cx="3479899" cy="414337"/>
          </a:xfrm>
          <a:prstGeom prst="rect">
            <a:avLst/>
          </a:prstGeom>
          <a:noFill/>
        </p:spPr>
        <p:txBody>
          <a:bodyPr wrap="square" lIns="0" tIns="0" rIns="0" bIns="0" anchor="t">
            <a:spAutoFit/>
          </a:bodyPr>
          <a:lstStyle/>
          <a:p>
            <a:pPr algn="l">
              <a:lnSpc>
                <a:spcPts val="1631"/>
              </a:lnSpc>
            </a:pPr>
            <a:r>
              <a:rPr sz="1125" b="0" i="0" u="none">
                <a:latin typeface="Nunito Sans"/>
              </a:rPr>
              <a:t>Scaling laws to Chinchilla, SLM vs frontier, the decision ladder, the fine-tune-vs-RAG boundary.</a:t>
            </a:r>
          </a:p>
        </p:txBody>
      </p:sp>
      <p:sp>
        <p:nvSpPr>
          <p:cNvPr id="19" name="TextBox 18"/>
          <p:cNvSpPr txBox="1"/>
          <p:nvPr/>
        </p:nvSpPr>
        <p:spPr>
          <a:xfrm>
            <a:off x="8102501" y="3693135"/>
            <a:ext cx="3479899" cy="190437"/>
          </a:xfrm>
          <a:prstGeom prst="rect">
            <a:avLst/>
          </a:prstGeom>
          <a:noFill/>
        </p:spPr>
        <p:txBody>
          <a:bodyPr wrap="square" lIns="0" tIns="0" rIns="0" bIns="0" anchor="t">
            <a:spAutoFit/>
          </a:bodyPr>
          <a:lstStyle/>
          <a:p>
            <a:pPr algn="l">
              <a:lnSpc>
                <a:spcPts val="1470"/>
              </a:lnSpc>
            </a:pPr>
            <a:r>
              <a:rPr sz="1200" b="0" i="0" u="none" dirty="0">
                <a:solidFill>
                  <a:srgbClr val="00A3E0"/>
                </a:solidFill>
                <a:latin typeface="Nunito Sans SemiBold"/>
              </a:rPr>
              <a:t>The architect's cost discipline.</a:t>
            </a:r>
          </a:p>
        </p:txBody>
      </p:sp>
      <p:sp>
        <p:nvSpPr>
          <p:cNvPr id="21" name="Rounded Rectangle 8">
            <a:extLst>
              <a:ext uri="{FF2B5EF4-FFF2-40B4-BE49-F238E27FC236}">
                <a16:creationId xmlns:a16="http://schemas.microsoft.com/office/drawing/2014/main" id="{BE652E87-9AE2-D662-4123-81DE5C8DD6E7}"/>
              </a:ext>
            </a:extLst>
          </p:cNvPr>
          <p:cNvSpPr/>
          <p:nvPr/>
        </p:nvSpPr>
        <p:spPr>
          <a:xfrm>
            <a:off x="568035" y="1851490"/>
            <a:ext cx="3479750" cy="2694496"/>
          </a:xfrm>
          <a:prstGeom prst="roundRect">
            <a:avLst>
              <a:gd name="adj" fmla="val 5000"/>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8">
            <a:extLst>
              <a:ext uri="{FF2B5EF4-FFF2-40B4-BE49-F238E27FC236}">
                <a16:creationId xmlns:a16="http://schemas.microsoft.com/office/drawing/2014/main" id="{1DD2F0D7-E728-1BD2-2DF4-FCD65C40E91B}"/>
              </a:ext>
            </a:extLst>
          </p:cNvPr>
          <p:cNvSpPr/>
          <p:nvPr/>
        </p:nvSpPr>
        <p:spPr>
          <a:xfrm>
            <a:off x="4173683" y="1851294"/>
            <a:ext cx="3479750" cy="2694496"/>
          </a:xfrm>
          <a:prstGeom prst="roundRect">
            <a:avLst>
              <a:gd name="adj" fmla="val 5000"/>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8">
            <a:extLst>
              <a:ext uri="{FF2B5EF4-FFF2-40B4-BE49-F238E27FC236}">
                <a16:creationId xmlns:a16="http://schemas.microsoft.com/office/drawing/2014/main" id="{E8BFD4E5-8EBA-2DAC-27DC-1E8454B012A0}"/>
              </a:ext>
            </a:extLst>
          </p:cNvPr>
          <p:cNvSpPr/>
          <p:nvPr/>
        </p:nvSpPr>
        <p:spPr>
          <a:xfrm>
            <a:off x="7835800" y="1851490"/>
            <a:ext cx="3479750" cy="2694496"/>
          </a:xfrm>
          <a:prstGeom prst="roundRect">
            <a:avLst>
              <a:gd name="adj" fmla="val 5000"/>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6734B372-7981-319D-A64E-A19C6084EA96}"/>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a:solidFill>
                  <a:srgbClr val="FFFFFF"/>
                </a:solidFill>
                <a:latin typeface="Poppins SemiBold"/>
              </a:rPr>
              <a:t>Insight</a:t>
            </a:r>
            <a:r>
              <a:rPr sz="1125" b="0" i="0" u="none">
                <a:solidFill>
                  <a:srgbClr val="10B981"/>
                </a:solidFill>
                <a:latin typeface="Poppins SemiBold"/>
              </a:rPr>
              <a:t>Verge</a:t>
            </a:r>
          </a:p>
        </p:txBody>
      </p:sp>
      <p:pic>
        <p:nvPicPr>
          <p:cNvPr id="25" name="Picture 24" descr="layout12_pic1.png">
            <a:extLst>
              <a:ext uri="{FF2B5EF4-FFF2-40B4-BE49-F238E27FC236}">
                <a16:creationId xmlns:a16="http://schemas.microsoft.com/office/drawing/2014/main" id="{349DE114-F837-E8E6-CF9C-89495F8915F9}"/>
              </a:ext>
            </a:extLst>
          </p:cNvPr>
          <p:cNvPicPr>
            <a:picLocks noChangeAspect="1"/>
          </p:cNvPicPr>
          <p:nvPr/>
        </p:nvPicPr>
        <p:blipFill>
          <a:blip r:embed="rId3"/>
          <a:stretch>
            <a:fillRect/>
          </a:stretch>
        </p:blipFill>
        <p:spPr>
          <a:xfrm>
            <a:off x="10564368" y="164592"/>
            <a:ext cx="1261872" cy="2843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6496050"/>
            <a:ext cx="12192000" cy="361950"/>
          </a:xfrm>
          <a:prstGeom prst="rect">
            <a:avLst/>
          </a:prstGeom>
        </p:spPr>
      </p:pic>
      <p:sp>
        <p:nvSpPr>
          <p:cNvPr id="3" name="TextBox 2"/>
          <p:cNvSpPr txBox="1"/>
          <p:nvPr/>
        </p:nvSpPr>
        <p:spPr>
          <a:xfrm>
            <a:off x="609600" y="438150"/>
            <a:ext cx="10972800" cy="184666"/>
          </a:xfrm>
          <a:prstGeom prst="rect">
            <a:avLst/>
          </a:prstGeom>
          <a:noFill/>
        </p:spPr>
        <p:txBody>
          <a:bodyPr wrap="square" lIns="0" tIns="0" rIns="0" bIns="0" anchor="t">
            <a:spAutoFit/>
          </a:bodyPr>
          <a:lstStyle/>
          <a:p>
            <a:pPr algn="l"/>
            <a:r>
              <a:rPr sz="1200" b="0" i="0" u="none" dirty="0">
                <a:solidFill>
                  <a:srgbClr val="00A3E0"/>
                </a:solidFill>
                <a:latin typeface="Poppins SemiBold"/>
              </a:rPr>
              <a:t>THE QUESTION THAT CHANGES THE DAY</a:t>
            </a:r>
          </a:p>
        </p:txBody>
      </p:sp>
      <p:sp>
        <p:nvSpPr>
          <p:cNvPr id="4" name="TextBox 3"/>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a:solidFill>
                  <a:srgbClr val="004C97"/>
                </a:solidFill>
                <a:latin typeface="Poppins SemiBold"/>
              </a:rPr>
              <a:t>“Can I Run the Same Promotion Next Month?”</a:t>
            </a:r>
          </a:p>
        </p:txBody>
      </p:sp>
      <p:sp>
        <p:nvSpPr>
          <p:cNvPr id="5" name="TextBox 4"/>
          <p:cNvSpPr txBox="1"/>
          <p:nvPr/>
        </p:nvSpPr>
        <p:spPr>
          <a:xfrm>
            <a:off x="609600" y="1300162"/>
            <a:ext cx="10972800" cy="227855"/>
          </a:xfrm>
          <a:prstGeom prst="rect">
            <a:avLst/>
          </a:prstGeom>
          <a:noFill/>
        </p:spPr>
        <p:txBody>
          <a:bodyPr wrap="square" lIns="0" tIns="0" rIns="0" bIns="0" anchor="t">
            <a:spAutoFit/>
          </a:bodyPr>
          <a:lstStyle/>
          <a:p>
            <a:pPr algn="l">
              <a:lnSpc>
                <a:spcPts val="1794"/>
              </a:lnSpc>
            </a:pPr>
            <a:r>
              <a:rPr sz="1400" b="0" i="0" u="none">
                <a:latin typeface="Nunito Sans"/>
              </a:rPr>
              <a:t>None of yesterday's tools can read the question, let alone answer it.</a:t>
            </a:r>
          </a:p>
        </p:txBody>
      </p:sp>
      <p:sp>
        <p:nvSpPr>
          <p:cNvPr id="6" name="TextBox 5"/>
          <p:cNvSpPr txBox="1"/>
          <p:nvPr/>
        </p:nvSpPr>
        <p:spPr>
          <a:xfrm>
            <a:off x="609600" y="1737568"/>
            <a:ext cx="10972800" cy="942566"/>
          </a:xfrm>
          <a:prstGeom prst="rect">
            <a:avLst/>
          </a:prstGeom>
          <a:noFill/>
        </p:spPr>
        <p:txBody>
          <a:bodyPr wrap="square" lIns="0" tIns="0" rIns="0" bIns="0" anchor="t">
            <a:spAutoFit/>
          </a:bodyPr>
          <a:lstStyle/>
          <a:p>
            <a:pPr algn="l">
              <a:lnSpc>
                <a:spcPct val="150000"/>
              </a:lnSpc>
            </a:pPr>
            <a:r>
              <a:rPr sz="1400" b="0" i="0" u="none" dirty="0">
                <a:latin typeface="Nunito Sans"/>
              </a:rPr>
              <a:t>Yesterday's tools solved the numbers: the exception was detected (analytics), demand was forecast (ML), scenarios were compared (simulation). Then the category manager asks: “Can I run the same promotion next month under the new vendor funding policy and the loyalty program terms?”</a:t>
            </a:r>
          </a:p>
        </p:txBody>
      </p:sp>
      <p:sp>
        <p:nvSpPr>
          <p:cNvPr id="12" name="TextBox 11"/>
          <p:cNvSpPr txBox="1"/>
          <p:nvPr/>
        </p:nvSpPr>
        <p:spPr>
          <a:xfrm>
            <a:off x="725980" y="3537892"/>
            <a:ext cx="3479750" cy="257175"/>
          </a:xfrm>
          <a:prstGeom prst="rect">
            <a:avLst/>
          </a:prstGeom>
          <a:noFill/>
        </p:spPr>
        <p:txBody>
          <a:bodyPr wrap="square" lIns="0" tIns="0" rIns="0" bIns="0" anchor="t">
            <a:spAutoFit/>
          </a:bodyPr>
          <a:lstStyle/>
          <a:p>
            <a:pPr algn="l"/>
            <a:r>
              <a:rPr sz="1350" b="0" i="0" u="none" dirty="0">
                <a:solidFill>
                  <a:srgbClr val="004C97"/>
                </a:solidFill>
                <a:latin typeface="Poppins SemiBold"/>
              </a:rPr>
              <a:t>Unstructured</a:t>
            </a:r>
          </a:p>
        </p:txBody>
      </p:sp>
      <p:sp>
        <p:nvSpPr>
          <p:cNvPr id="13" name="TextBox 12"/>
          <p:cNvSpPr txBox="1"/>
          <p:nvPr/>
        </p:nvSpPr>
        <p:spPr>
          <a:xfrm>
            <a:off x="725980" y="3871267"/>
            <a:ext cx="3479750" cy="197170"/>
          </a:xfrm>
          <a:prstGeom prst="rect">
            <a:avLst/>
          </a:prstGeom>
          <a:noFill/>
        </p:spPr>
        <p:txBody>
          <a:bodyPr wrap="square" lIns="0" tIns="0" rIns="0" bIns="0" anchor="t">
            <a:spAutoFit/>
          </a:bodyPr>
          <a:lstStyle/>
          <a:p>
            <a:pPr algn="l">
              <a:lnSpc>
                <a:spcPts val="1631"/>
              </a:lnSpc>
            </a:pPr>
            <a:r>
              <a:rPr sz="1125" b="0" i="0" u="none">
                <a:latin typeface="Nunito Sans"/>
              </a:rPr>
              <a:t>The policy is prose, not a feature table.</a:t>
            </a:r>
          </a:p>
        </p:txBody>
      </p:sp>
      <p:sp>
        <p:nvSpPr>
          <p:cNvPr id="14" name="TextBox 13"/>
          <p:cNvSpPr txBox="1"/>
          <p:nvPr/>
        </p:nvSpPr>
        <p:spPr>
          <a:xfrm>
            <a:off x="4114440" y="3537892"/>
            <a:ext cx="3479750" cy="257175"/>
          </a:xfrm>
          <a:prstGeom prst="rect">
            <a:avLst/>
          </a:prstGeom>
          <a:noFill/>
        </p:spPr>
        <p:txBody>
          <a:bodyPr wrap="square" lIns="0" tIns="0" rIns="0" bIns="0" anchor="t">
            <a:spAutoFit/>
          </a:bodyPr>
          <a:lstStyle/>
          <a:p>
            <a:pPr algn="l"/>
            <a:r>
              <a:rPr sz="1350" b="0" i="0" u="none" dirty="0">
                <a:solidFill>
                  <a:srgbClr val="00A3E0"/>
                </a:solidFill>
                <a:latin typeface="Poppins SemiBold"/>
              </a:rPr>
              <a:t>Private and current</a:t>
            </a:r>
          </a:p>
        </p:txBody>
      </p:sp>
      <p:sp>
        <p:nvSpPr>
          <p:cNvPr id="15" name="TextBox 14"/>
          <p:cNvSpPr txBox="1"/>
          <p:nvPr/>
        </p:nvSpPr>
        <p:spPr>
          <a:xfrm>
            <a:off x="4114440" y="3871267"/>
            <a:ext cx="3479750" cy="197170"/>
          </a:xfrm>
          <a:prstGeom prst="rect">
            <a:avLst/>
          </a:prstGeom>
          <a:noFill/>
        </p:spPr>
        <p:txBody>
          <a:bodyPr wrap="square" lIns="0" tIns="0" rIns="0" bIns="0" anchor="t">
            <a:spAutoFit/>
          </a:bodyPr>
          <a:lstStyle/>
          <a:p>
            <a:pPr algn="l">
              <a:lnSpc>
                <a:spcPts val="1631"/>
              </a:lnSpc>
            </a:pPr>
            <a:r>
              <a:rPr sz="1125" b="0" i="0" u="none">
                <a:latin typeface="Nunito Sans"/>
              </a:rPr>
              <a:t>Last week's policy revision, not the internet.</a:t>
            </a:r>
          </a:p>
        </p:txBody>
      </p:sp>
      <p:sp>
        <p:nvSpPr>
          <p:cNvPr id="16" name="TextBox 15"/>
          <p:cNvSpPr txBox="1"/>
          <p:nvPr/>
        </p:nvSpPr>
        <p:spPr>
          <a:xfrm>
            <a:off x="8102501" y="3510496"/>
            <a:ext cx="3479899" cy="257175"/>
          </a:xfrm>
          <a:prstGeom prst="rect">
            <a:avLst/>
          </a:prstGeom>
          <a:noFill/>
        </p:spPr>
        <p:txBody>
          <a:bodyPr wrap="square" lIns="0" tIns="0" rIns="0" bIns="0" anchor="t">
            <a:spAutoFit/>
          </a:bodyPr>
          <a:lstStyle/>
          <a:p>
            <a:pPr algn="l"/>
            <a:r>
              <a:rPr sz="1350" b="0" i="0" u="none" dirty="0">
                <a:solidFill>
                  <a:srgbClr val="004C97"/>
                </a:solidFill>
                <a:latin typeface="Poppins SemiBold"/>
              </a:rPr>
              <a:t>Auditable</a:t>
            </a:r>
          </a:p>
        </p:txBody>
      </p:sp>
      <p:sp>
        <p:nvSpPr>
          <p:cNvPr id="17" name="TextBox 16"/>
          <p:cNvSpPr txBox="1"/>
          <p:nvPr/>
        </p:nvSpPr>
        <p:spPr>
          <a:xfrm>
            <a:off x="8102502" y="3843871"/>
            <a:ext cx="2837048" cy="414337"/>
          </a:xfrm>
          <a:prstGeom prst="rect">
            <a:avLst/>
          </a:prstGeom>
          <a:noFill/>
        </p:spPr>
        <p:txBody>
          <a:bodyPr wrap="square" lIns="0" tIns="0" rIns="0" bIns="0" anchor="t">
            <a:spAutoFit/>
          </a:bodyPr>
          <a:lstStyle/>
          <a:p>
            <a:pPr algn="l">
              <a:lnSpc>
                <a:spcPts val="1631"/>
              </a:lnSpc>
            </a:pPr>
            <a:r>
              <a:rPr sz="1125" b="0" i="0" u="none" dirty="0">
                <a:latin typeface="Nunito Sans"/>
              </a:rPr>
              <a:t>The answer must cite a paragraph an auditor can check.</a:t>
            </a:r>
          </a:p>
        </p:txBody>
      </p:sp>
      <p:sp>
        <p:nvSpPr>
          <p:cNvPr id="19" name="Rounded Rectangle 9">
            <a:extLst>
              <a:ext uri="{FF2B5EF4-FFF2-40B4-BE49-F238E27FC236}">
                <a16:creationId xmlns:a16="http://schemas.microsoft.com/office/drawing/2014/main" id="{792A4C20-0C33-7255-A0A2-E9AE334AAAA3}"/>
              </a:ext>
            </a:extLst>
          </p:cNvPr>
          <p:cNvSpPr/>
          <p:nvPr/>
        </p:nvSpPr>
        <p:spPr>
          <a:xfrm>
            <a:off x="609600" y="2963236"/>
            <a:ext cx="2688000" cy="1900000"/>
          </a:xfrm>
          <a:prstGeom prst="roundRect">
            <a:avLst>
              <a:gd name="adj" fmla="val 4500"/>
            </a:avLst>
          </a:prstGeom>
          <a:no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9">
            <a:extLst>
              <a:ext uri="{FF2B5EF4-FFF2-40B4-BE49-F238E27FC236}">
                <a16:creationId xmlns:a16="http://schemas.microsoft.com/office/drawing/2014/main" id="{D22B4F8C-BB1E-B87F-D59F-2E03D32CF8CE}"/>
              </a:ext>
            </a:extLst>
          </p:cNvPr>
          <p:cNvSpPr/>
          <p:nvPr/>
        </p:nvSpPr>
        <p:spPr>
          <a:xfrm>
            <a:off x="7877695" y="2963236"/>
            <a:ext cx="3061856" cy="1900000"/>
          </a:xfrm>
          <a:prstGeom prst="roundRect">
            <a:avLst>
              <a:gd name="adj" fmla="val 4500"/>
            </a:avLst>
          </a:prstGeom>
          <a:no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9">
            <a:extLst>
              <a:ext uri="{FF2B5EF4-FFF2-40B4-BE49-F238E27FC236}">
                <a16:creationId xmlns:a16="http://schemas.microsoft.com/office/drawing/2014/main" id="{94DCC0D1-2339-4A19-C8AA-1BBA64889F7F}"/>
              </a:ext>
            </a:extLst>
          </p:cNvPr>
          <p:cNvSpPr/>
          <p:nvPr/>
        </p:nvSpPr>
        <p:spPr>
          <a:xfrm>
            <a:off x="3983250" y="2963236"/>
            <a:ext cx="2966190" cy="1900000"/>
          </a:xfrm>
          <a:prstGeom prst="roundRect">
            <a:avLst>
              <a:gd name="adj" fmla="val 4500"/>
            </a:avLst>
          </a:prstGeom>
          <a:no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702476B8-CA11-07E2-7437-735DE8FBCC6E}"/>
              </a:ext>
            </a:extLst>
          </p:cNvPr>
          <p:cNvSpPr txBox="1"/>
          <p:nvPr/>
        </p:nvSpPr>
        <p:spPr>
          <a:xfrm>
            <a:off x="609600" y="5387838"/>
            <a:ext cx="8244000" cy="178319"/>
          </a:xfrm>
          <a:prstGeom prst="rect">
            <a:avLst/>
          </a:prstGeom>
          <a:noFill/>
        </p:spPr>
        <p:txBody>
          <a:bodyPr wrap="square" lIns="0" tIns="0" rIns="0" bIns="0" anchor="t">
            <a:spAutoFit/>
          </a:bodyPr>
          <a:lstStyle/>
          <a:p>
            <a:pPr algn="l">
              <a:lnSpc>
                <a:spcPct val="112000"/>
              </a:lnSpc>
            </a:pPr>
            <a:r>
              <a:rPr sz="1100" b="0" i="1" dirty="0">
                <a:solidFill>
                  <a:srgbClr val="3B3D3E"/>
                </a:solidFill>
                <a:latin typeface="PT Sans"/>
              </a:rPr>
              <a:t>None of yesterday's tools can read the question, let alone answer it.</a:t>
            </a:r>
          </a:p>
        </p:txBody>
      </p:sp>
      <p:sp>
        <p:nvSpPr>
          <p:cNvPr id="23" name="TextBox 22">
            <a:extLst>
              <a:ext uri="{FF2B5EF4-FFF2-40B4-BE49-F238E27FC236}">
                <a16:creationId xmlns:a16="http://schemas.microsoft.com/office/drawing/2014/main" id="{96E74F7F-A4C8-E4C3-E6CA-FA27B0C59DE8}"/>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dirty="0" err="1">
                <a:solidFill>
                  <a:srgbClr val="FFFFFF"/>
                </a:solidFill>
                <a:latin typeface="Poppins SemiBold"/>
              </a:rPr>
              <a:t>Insight</a:t>
            </a:r>
            <a:r>
              <a:rPr sz="1125" b="0" i="0" u="none" dirty="0" err="1">
                <a:solidFill>
                  <a:srgbClr val="10B981"/>
                </a:solidFill>
                <a:latin typeface="Poppins SemiBold"/>
              </a:rPr>
              <a:t>Verge</a:t>
            </a:r>
            <a:endParaRPr sz="1125" b="0" i="0" u="none" dirty="0">
              <a:solidFill>
                <a:srgbClr val="10B981"/>
              </a:solidFill>
              <a:latin typeface="Poppins SemiBold"/>
            </a:endParaRPr>
          </a:p>
        </p:txBody>
      </p:sp>
      <p:pic>
        <p:nvPicPr>
          <p:cNvPr id="24" name="Picture 23" descr="layout12_pic1.png">
            <a:extLst>
              <a:ext uri="{FF2B5EF4-FFF2-40B4-BE49-F238E27FC236}">
                <a16:creationId xmlns:a16="http://schemas.microsoft.com/office/drawing/2014/main" id="{42E42991-8CC1-69B3-86D7-8B272A5B3818}"/>
              </a:ext>
            </a:extLst>
          </p:cNvPr>
          <p:cNvPicPr>
            <a:picLocks noChangeAspect="1"/>
          </p:cNvPicPr>
          <p:nvPr/>
        </p:nvPicPr>
        <p:blipFill>
          <a:blip r:embed="rId3"/>
          <a:stretch>
            <a:fillRect/>
          </a:stretch>
        </p:blipFill>
        <p:spPr>
          <a:xfrm>
            <a:off x="10564368" y="164592"/>
            <a:ext cx="1261872" cy="2843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6496050"/>
            <a:ext cx="12192000" cy="361950"/>
          </a:xfrm>
          <a:prstGeom prst="rect">
            <a:avLst/>
          </a:prstGeom>
        </p:spPr>
      </p:pic>
      <p:sp>
        <p:nvSpPr>
          <p:cNvPr id="3" name="TextBox 2"/>
          <p:cNvSpPr txBox="1"/>
          <p:nvPr/>
        </p:nvSpPr>
        <p:spPr>
          <a:xfrm>
            <a:off x="609600" y="438150"/>
            <a:ext cx="10972800" cy="184666"/>
          </a:xfrm>
          <a:prstGeom prst="rect">
            <a:avLst/>
          </a:prstGeom>
          <a:noFill/>
        </p:spPr>
        <p:txBody>
          <a:bodyPr wrap="square" lIns="0" tIns="0" rIns="0" bIns="0" anchor="t">
            <a:spAutoFit/>
          </a:bodyPr>
          <a:lstStyle/>
          <a:p>
            <a:pPr algn="l"/>
            <a:r>
              <a:rPr sz="1200" b="0" i="0" u="none" dirty="0">
                <a:solidFill>
                  <a:srgbClr val="00A3E0"/>
                </a:solidFill>
                <a:latin typeface="Poppins SemiBold"/>
              </a:rPr>
              <a:t>TRIAGE CHECKPOINT #2</a:t>
            </a:r>
          </a:p>
        </p:txBody>
      </p:sp>
      <p:sp>
        <p:nvSpPr>
          <p:cNvPr id="4" name="TextBox 3"/>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dirty="0">
                <a:solidFill>
                  <a:srgbClr val="004C97"/>
                </a:solidFill>
                <a:latin typeface="Poppins SemiBold"/>
              </a:rPr>
              <a:t>Is </a:t>
            </a:r>
            <a:r>
              <a:rPr sz="2250" b="0" i="0" u="none" dirty="0" err="1">
                <a:solidFill>
                  <a:srgbClr val="004C97"/>
                </a:solidFill>
                <a:latin typeface="Poppins SemiBold"/>
              </a:rPr>
              <a:t>GenAI</a:t>
            </a:r>
            <a:r>
              <a:rPr sz="2250" b="0" i="0" u="none" dirty="0">
                <a:solidFill>
                  <a:srgbClr val="004C97"/>
                </a:solidFill>
                <a:latin typeface="Poppins SemiBold"/>
              </a:rPr>
              <a:t> the Right Tool and Which </a:t>
            </a:r>
            <a:r>
              <a:rPr sz="2250" b="0" i="0" u="none" dirty="0" err="1">
                <a:solidFill>
                  <a:srgbClr val="004C97"/>
                </a:solidFill>
                <a:latin typeface="Poppins SemiBold"/>
              </a:rPr>
              <a:t>GenAI</a:t>
            </a:r>
            <a:r>
              <a:rPr sz="2250" b="0" i="0" u="none" dirty="0">
                <a:solidFill>
                  <a:srgbClr val="004C97"/>
                </a:solidFill>
                <a:latin typeface="Poppins SemiBold"/>
              </a:rPr>
              <a:t>?</a:t>
            </a:r>
          </a:p>
        </p:txBody>
      </p:sp>
      <p:sp>
        <p:nvSpPr>
          <p:cNvPr id="11" name="TextBox 10"/>
          <p:cNvSpPr txBox="1"/>
          <p:nvPr/>
        </p:nvSpPr>
        <p:spPr>
          <a:xfrm>
            <a:off x="609600" y="2020201"/>
            <a:ext cx="5257800" cy="292644"/>
          </a:xfrm>
          <a:prstGeom prst="rect">
            <a:avLst/>
          </a:prstGeom>
          <a:noFill/>
        </p:spPr>
        <p:txBody>
          <a:bodyPr wrap="square" lIns="0" tIns="0" rIns="0" bIns="0" anchor="t">
            <a:spAutoFit/>
          </a:bodyPr>
          <a:lstStyle/>
          <a:p>
            <a:pPr algn="l">
              <a:lnSpc>
                <a:spcPct val="150000"/>
              </a:lnSpc>
            </a:pPr>
            <a:r>
              <a:rPr sz="1400" b="1" i="0" u="none" dirty="0">
                <a:solidFill>
                  <a:srgbClr val="00A3E0"/>
                </a:solidFill>
                <a:latin typeface="Poppins"/>
              </a:rPr>
              <a:t>THE CHECKPOINT</a:t>
            </a:r>
          </a:p>
        </p:txBody>
      </p:sp>
      <p:sp>
        <p:nvSpPr>
          <p:cNvPr id="12" name="TextBox 11"/>
          <p:cNvSpPr txBox="1"/>
          <p:nvPr/>
        </p:nvSpPr>
        <p:spPr>
          <a:xfrm>
            <a:off x="609600" y="2427005"/>
            <a:ext cx="5257800" cy="807913"/>
          </a:xfrm>
          <a:prstGeom prst="rect">
            <a:avLst/>
          </a:prstGeom>
          <a:noFill/>
        </p:spPr>
        <p:txBody>
          <a:bodyPr wrap="square" lIns="0" tIns="0" rIns="0" bIns="0" anchor="t">
            <a:spAutoFit/>
          </a:bodyPr>
          <a:lstStyle/>
          <a:p>
            <a:pPr algn="l">
              <a:lnSpc>
                <a:spcPct val="150000"/>
              </a:lnSpc>
            </a:pPr>
            <a:r>
              <a:rPr sz="1200" b="0" i="0" u="none" dirty="0">
                <a:latin typeface="Nunito Sans"/>
              </a:rPr>
              <a:t>Rules miss the nuance of prose. Classical ML can't read the policy at all. But notice: the demand number the answer leans on still comes from yesterday's ML service.</a:t>
            </a:r>
          </a:p>
        </p:txBody>
      </p:sp>
      <p:sp>
        <p:nvSpPr>
          <p:cNvPr id="13" name="TextBox 12"/>
          <p:cNvSpPr txBox="1"/>
          <p:nvPr/>
        </p:nvSpPr>
        <p:spPr>
          <a:xfrm>
            <a:off x="609600" y="3371928"/>
            <a:ext cx="5257800" cy="527837"/>
          </a:xfrm>
          <a:prstGeom prst="rect">
            <a:avLst/>
          </a:prstGeom>
          <a:noFill/>
        </p:spPr>
        <p:txBody>
          <a:bodyPr wrap="square" lIns="0" tIns="0" rIns="0" bIns="0" anchor="t">
            <a:spAutoFit/>
          </a:bodyPr>
          <a:lstStyle/>
          <a:p>
            <a:pPr algn="l">
              <a:lnSpc>
                <a:spcPct val="150000"/>
              </a:lnSpc>
            </a:pPr>
            <a:r>
              <a:rPr sz="1200" dirty="0">
                <a:latin typeface="Nunito Sans"/>
              </a:rPr>
              <a:t>Verdict: hybrid. The LLM structures, interprets, and cites. The forecast stays a forecast.</a:t>
            </a:r>
          </a:p>
        </p:txBody>
      </p:sp>
      <p:sp>
        <p:nvSpPr>
          <p:cNvPr id="14" name="TextBox 13"/>
          <p:cNvSpPr txBox="1"/>
          <p:nvPr/>
        </p:nvSpPr>
        <p:spPr>
          <a:xfrm>
            <a:off x="6324600" y="2053450"/>
            <a:ext cx="5257800" cy="292644"/>
          </a:xfrm>
          <a:prstGeom prst="rect">
            <a:avLst/>
          </a:prstGeom>
          <a:noFill/>
        </p:spPr>
        <p:txBody>
          <a:bodyPr wrap="square" lIns="0" tIns="0" rIns="0" bIns="0" anchor="t">
            <a:spAutoFit/>
          </a:bodyPr>
          <a:lstStyle/>
          <a:p>
            <a:pPr algn="l">
              <a:lnSpc>
                <a:spcPct val="150000"/>
              </a:lnSpc>
            </a:pPr>
            <a:r>
              <a:rPr sz="1400" b="1" i="0" u="none" dirty="0">
                <a:solidFill>
                  <a:srgbClr val="00A3E0"/>
                </a:solidFill>
                <a:latin typeface="Poppins"/>
              </a:rPr>
              <a:t>AND THE DISCIPLINE</a:t>
            </a:r>
          </a:p>
        </p:txBody>
      </p:sp>
      <p:sp>
        <p:nvSpPr>
          <p:cNvPr id="15" name="TextBox 14"/>
          <p:cNvSpPr txBox="1"/>
          <p:nvPr/>
        </p:nvSpPr>
        <p:spPr>
          <a:xfrm>
            <a:off x="6496050" y="2555504"/>
            <a:ext cx="5086350" cy="942566"/>
          </a:xfrm>
          <a:prstGeom prst="rect">
            <a:avLst/>
          </a:prstGeom>
          <a:noFill/>
        </p:spPr>
        <p:txBody>
          <a:bodyPr wrap="square" lIns="0" tIns="0" rIns="0" bIns="0" anchor="t">
            <a:spAutoFit/>
          </a:bodyPr>
          <a:lstStyle/>
          <a:p>
            <a:pPr algn="l">
              <a:lnSpc>
                <a:spcPct val="150000"/>
              </a:lnSpc>
            </a:pPr>
            <a:r>
              <a:rPr sz="1400" b="0" i="1" u="none">
                <a:solidFill>
                  <a:srgbClr val="004C97"/>
                </a:solidFill>
                <a:latin typeface="Nunito Sans"/>
              </a:rPr>
              <a:t> “You're not going to generate this kind of spend unless you're going to promise to profoundly change the world. So is it hype? Of course.” </a:t>
            </a:r>
          </a:p>
        </p:txBody>
      </p:sp>
      <p:sp>
        <p:nvSpPr>
          <p:cNvPr id="16" name="Rectangle 15"/>
          <p:cNvSpPr/>
          <p:nvPr/>
        </p:nvSpPr>
        <p:spPr>
          <a:xfrm>
            <a:off x="6324600" y="2555504"/>
            <a:ext cx="28575" cy="441721"/>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p>
        </p:txBody>
      </p:sp>
      <p:sp>
        <p:nvSpPr>
          <p:cNvPr id="17" name="TextBox 16"/>
          <p:cNvSpPr txBox="1"/>
          <p:nvPr/>
        </p:nvSpPr>
        <p:spPr>
          <a:xfrm>
            <a:off x="6324600" y="3615140"/>
            <a:ext cx="5257800" cy="232756"/>
          </a:xfrm>
          <a:prstGeom prst="rect">
            <a:avLst/>
          </a:prstGeom>
          <a:noFill/>
        </p:spPr>
        <p:txBody>
          <a:bodyPr wrap="square" lIns="0" tIns="0" rIns="0" bIns="0" anchor="t">
            <a:spAutoFit/>
          </a:bodyPr>
          <a:lstStyle/>
          <a:p>
            <a:pPr algn="l">
              <a:lnSpc>
                <a:spcPct val="150000"/>
              </a:lnSpc>
            </a:pPr>
            <a:r>
              <a:rPr lang="en-IN" sz="1100" b="0" i="1" u="none" dirty="0">
                <a:latin typeface="Nunito Sans"/>
              </a:rPr>
              <a:t>- </a:t>
            </a:r>
            <a:r>
              <a:rPr sz="1100" b="0" i="1" u="none" dirty="0">
                <a:latin typeface="Nunito Sans"/>
              </a:rPr>
              <a:t>Ken Griffin, Citadel, on $500B+ of US data center spend. </a:t>
            </a:r>
          </a:p>
        </p:txBody>
      </p:sp>
      <p:sp>
        <p:nvSpPr>
          <p:cNvPr id="19" name="TextBox 18">
            <a:extLst>
              <a:ext uri="{FF2B5EF4-FFF2-40B4-BE49-F238E27FC236}">
                <a16:creationId xmlns:a16="http://schemas.microsoft.com/office/drawing/2014/main" id="{60071651-64FE-AAA2-2E73-A8F920BA23B9}"/>
              </a:ext>
            </a:extLst>
          </p:cNvPr>
          <p:cNvSpPr txBox="1"/>
          <p:nvPr/>
        </p:nvSpPr>
        <p:spPr>
          <a:xfrm>
            <a:off x="609600" y="4563459"/>
            <a:ext cx="11322900" cy="194540"/>
          </a:xfrm>
          <a:prstGeom prst="rect">
            <a:avLst/>
          </a:prstGeom>
          <a:noFill/>
        </p:spPr>
        <p:txBody>
          <a:bodyPr wrap="square" lIns="0" tIns="0" rIns="0" bIns="0" anchor="t">
            <a:spAutoFit/>
          </a:bodyPr>
          <a:lstStyle/>
          <a:p>
            <a:pPr algn="l">
              <a:lnSpc>
                <a:spcPct val="112000"/>
              </a:lnSpc>
            </a:pPr>
            <a:r>
              <a:rPr sz="1200" b="0" i="1" dirty="0">
                <a:solidFill>
                  <a:srgbClr val="3B3D3E"/>
                </a:solidFill>
                <a:latin typeface="PT Sans"/>
              </a:rPr>
              <a:t>Today's question is no longer ‘AI or not.’ It is: which model, which knowledge mechanism, which deployment envelope, and why not the cheaper rung?</a:t>
            </a:r>
          </a:p>
        </p:txBody>
      </p:sp>
      <p:sp>
        <p:nvSpPr>
          <p:cNvPr id="20" name="Rounded Rectangle 8">
            <a:extLst>
              <a:ext uri="{FF2B5EF4-FFF2-40B4-BE49-F238E27FC236}">
                <a16:creationId xmlns:a16="http://schemas.microsoft.com/office/drawing/2014/main" id="{825312AA-6855-D6EC-0AB3-811F49B40AE1}"/>
              </a:ext>
            </a:extLst>
          </p:cNvPr>
          <p:cNvSpPr/>
          <p:nvPr/>
        </p:nvSpPr>
        <p:spPr>
          <a:xfrm>
            <a:off x="450000" y="1868886"/>
            <a:ext cx="5543476" cy="2380000"/>
          </a:xfrm>
          <a:prstGeom prst="roundRect">
            <a:avLst>
              <a:gd name="adj" fmla="val 4500"/>
            </a:avLst>
          </a:prstGeom>
          <a:no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8">
            <a:extLst>
              <a:ext uri="{FF2B5EF4-FFF2-40B4-BE49-F238E27FC236}">
                <a16:creationId xmlns:a16="http://schemas.microsoft.com/office/drawing/2014/main" id="{81D2C20F-7B43-3770-D0A8-D872DA1E0FED}"/>
              </a:ext>
            </a:extLst>
          </p:cNvPr>
          <p:cNvSpPr/>
          <p:nvPr/>
        </p:nvSpPr>
        <p:spPr>
          <a:xfrm>
            <a:off x="6263354" y="1879966"/>
            <a:ext cx="5543476" cy="2380000"/>
          </a:xfrm>
          <a:prstGeom prst="roundRect">
            <a:avLst>
              <a:gd name="adj" fmla="val 4500"/>
            </a:avLst>
          </a:prstGeom>
          <a:no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layout12_pic1.png">
            <a:extLst>
              <a:ext uri="{FF2B5EF4-FFF2-40B4-BE49-F238E27FC236}">
                <a16:creationId xmlns:a16="http://schemas.microsoft.com/office/drawing/2014/main" id="{0B7EBFBD-7F15-3CB5-2E97-B665B0896966}"/>
              </a:ext>
            </a:extLst>
          </p:cNvPr>
          <p:cNvPicPr>
            <a:picLocks noChangeAspect="1"/>
          </p:cNvPicPr>
          <p:nvPr/>
        </p:nvPicPr>
        <p:blipFill>
          <a:blip r:embed="rId3"/>
          <a:stretch>
            <a:fillRect/>
          </a:stretch>
        </p:blipFill>
        <p:spPr>
          <a:xfrm>
            <a:off x="10564368" y="164592"/>
            <a:ext cx="1261872" cy="284366"/>
          </a:xfrm>
          <a:prstGeom prst="rect">
            <a:avLst/>
          </a:prstGeom>
        </p:spPr>
      </p:pic>
      <p:sp>
        <p:nvSpPr>
          <p:cNvPr id="23" name="TextBox 22">
            <a:extLst>
              <a:ext uri="{FF2B5EF4-FFF2-40B4-BE49-F238E27FC236}">
                <a16:creationId xmlns:a16="http://schemas.microsoft.com/office/drawing/2014/main" id="{FDD3C725-97E1-919D-46B0-FAC701B2D1A9}"/>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dirty="0" err="1">
                <a:solidFill>
                  <a:srgbClr val="FFFFFF"/>
                </a:solidFill>
                <a:latin typeface="Poppins SemiBold"/>
              </a:rPr>
              <a:t>Insight</a:t>
            </a:r>
            <a:r>
              <a:rPr sz="1125" b="0" i="0" u="none" dirty="0" err="1">
                <a:solidFill>
                  <a:srgbClr val="10B981"/>
                </a:solidFill>
                <a:latin typeface="Poppins SemiBold"/>
              </a:rPr>
              <a:t>Verge</a:t>
            </a:r>
            <a:endParaRPr sz="1125" b="0" i="0" u="none" dirty="0">
              <a:solidFill>
                <a:srgbClr val="10B981"/>
              </a:solidFill>
              <a:latin typeface="Poppins SemiBold"/>
            </a:endParaRPr>
          </a:p>
        </p:txBody>
      </p:sp>
    </p:spTree>
    <p:extLst>
      <p:ext uri="{BB962C8B-B14F-4D97-AF65-F5344CB8AC3E}">
        <p14:creationId xmlns:p14="http://schemas.microsoft.com/office/powerpoint/2010/main" val="1156607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SEGMENT 1 • WHAT AN LLM ACTUALLY IS</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How Do We Understand Language?</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dirty="0">
                <a:solidFill>
                  <a:srgbClr val="334155"/>
                </a:solidFill>
                <a:latin typeface="Nunito Sans"/>
              </a:rPr>
              <a:t>The naive approach works, until language stops holding still.</a:t>
            </a:r>
          </a:p>
        </p:txBody>
      </p:sp>
      <p:grpSp>
        <p:nvGrpSpPr>
          <p:cNvPr id="13" name="Group 12">
            <a:extLst>
              <a:ext uri="{FF2B5EF4-FFF2-40B4-BE49-F238E27FC236}">
                <a16:creationId xmlns:a16="http://schemas.microsoft.com/office/drawing/2014/main" id="{EFC62FAA-C247-224C-5D66-112AB4B85089}"/>
              </a:ext>
            </a:extLst>
          </p:cNvPr>
          <p:cNvGrpSpPr/>
          <p:nvPr/>
        </p:nvGrpSpPr>
        <p:grpSpPr>
          <a:xfrm>
            <a:off x="609600" y="1750000"/>
            <a:ext cx="5150000" cy="3550000"/>
            <a:chOff x="609600" y="1750000"/>
            <a:chExt cx="5150000" cy="3550000"/>
          </a:xfrm>
        </p:grpSpPr>
        <p:sp>
          <p:nvSpPr>
            <p:cNvPr id="5" name="Rounded Rectangle 4"/>
            <p:cNvSpPr/>
            <p:nvPr/>
          </p:nvSpPr>
          <p:spPr>
            <a:xfrm>
              <a:off x="609600" y="1750000"/>
              <a:ext cx="5150000" cy="35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4950000" cy="220000"/>
            </a:xfrm>
            <a:prstGeom prst="rect">
              <a:avLst/>
            </a:prstGeom>
            <a:noFill/>
          </p:spPr>
          <p:txBody>
            <a:bodyPr wrap="square" lIns="0" tIns="0" rIns="0" bIns="0">
              <a:spAutoFit/>
            </a:bodyPr>
            <a:lstStyle/>
            <a:p>
              <a:pPr algn="l"/>
              <a:r>
                <a:rPr sz="1350" b="0" i="0">
                  <a:solidFill>
                    <a:srgbClr val="004C97"/>
                  </a:solidFill>
                  <a:latin typeface="Poppins SemiBold"/>
                </a:rPr>
                <a:t>THE NAIVE APPROACH</a:t>
              </a:r>
            </a:p>
          </p:txBody>
        </p:sp>
        <p:sp>
          <p:nvSpPr>
            <p:cNvPr id="7" name="TextBox 6"/>
            <p:cNvSpPr txBox="1"/>
            <p:nvPr/>
          </p:nvSpPr>
          <p:spPr>
            <a:xfrm>
              <a:off x="709600" y="2323333"/>
              <a:ext cx="4950000" cy="1154162"/>
            </a:xfrm>
            <a:prstGeom prst="rect">
              <a:avLst/>
            </a:prstGeom>
            <a:noFill/>
          </p:spPr>
          <p:txBody>
            <a:bodyPr wrap="square" lIns="0" tIns="0" rIns="0" bIns="0">
              <a:spAutoFit/>
            </a:bodyPr>
            <a:lstStyle/>
            <a:p>
              <a:pPr>
                <a:spcAft>
                  <a:spcPts val="600"/>
                </a:spcAft>
              </a:pPr>
              <a:r>
                <a:rPr sz="1300" b="0" i="0">
                  <a:solidFill>
                    <a:srgbClr val="3B3D3E"/>
                  </a:solidFill>
                  <a:latin typeface="PT Sans"/>
                </a:rPr>
                <a:t>• Build a reference list of positive/negative words: “excellent” = +ve, “devastated” = –ve.</a:t>
              </a:r>
            </a:p>
            <a:p>
              <a:pPr>
                <a:spcAft>
                  <a:spcPts val="600"/>
                </a:spcAft>
              </a:pPr>
              <a:r>
                <a:rPr sz="1300" b="0" i="0">
                  <a:solidFill>
                    <a:srgbClr val="3B3D3E"/>
                  </a:solidFill>
                  <a:latin typeface="PT Sans"/>
                </a:rPr>
                <a:t>• Reduce each word to its root form: devastated, devastating, and devastation collapse into one entry.</a:t>
              </a:r>
            </a:p>
            <a:p>
              <a:pPr>
                <a:spcAft>
                  <a:spcPts val="600"/>
                </a:spcAft>
              </a:pPr>
              <a:r>
                <a:rPr sz="1300" b="0" i="0">
                  <a:solidFill>
                    <a:srgbClr val="3B3D3E"/>
                  </a:solidFill>
                  <a:latin typeface="PT Sans"/>
                </a:rPr>
                <a:t>• Cheap, explainable, and workable for a narrow domain.</a:t>
              </a:r>
            </a:p>
          </p:txBody>
        </p:sp>
      </p:grpSp>
      <p:sp>
        <p:nvSpPr>
          <p:cNvPr id="8" name="Rounded Rectangle 7"/>
          <p:cNvSpPr/>
          <p:nvPr/>
        </p:nvSpPr>
        <p:spPr>
          <a:xfrm>
            <a:off x="6079600" y="1750000"/>
            <a:ext cx="5502800" cy="35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9600" y="1850000"/>
            <a:ext cx="5302800" cy="220000"/>
          </a:xfrm>
          <a:prstGeom prst="rect">
            <a:avLst/>
          </a:prstGeom>
          <a:noFill/>
        </p:spPr>
        <p:txBody>
          <a:bodyPr wrap="square" lIns="0" tIns="0" rIns="0" bIns="0">
            <a:spAutoFit/>
          </a:bodyPr>
          <a:lstStyle/>
          <a:p>
            <a:pPr algn="l"/>
            <a:r>
              <a:rPr sz="1350" b="0" i="0" dirty="0">
                <a:solidFill>
                  <a:srgbClr val="004C97"/>
                </a:solidFill>
                <a:latin typeface="Poppins SemiBold"/>
              </a:rPr>
              <a:t>WHY IT BREAKS</a:t>
            </a:r>
          </a:p>
        </p:txBody>
      </p:sp>
      <p:sp>
        <p:nvSpPr>
          <p:cNvPr id="10" name="TextBox 9"/>
          <p:cNvSpPr txBox="1"/>
          <p:nvPr/>
        </p:nvSpPr>
        <p:spPr>
          <a:xfrm>
            <a:off x="6179600" y="2323333"/>
            <a:ext cx="5302800" cy="1354217"/>
          </a:xfrm>
          <a:prstGeom prst="rect">
            <a:avLst/>
          </a:prstGeom>
          <a:noFill/>
        </p:spPr>
        <p:txBody>
          <a:bodyPr wrap="square" lIns="0" tIns="0" rIns="0" bIns="0">
            <a:spAutoFit/>
          </a:bodyPr>
          <a:lstStyle/>
          <a:p>
            <a:pPr>
              <a:spcAft>
                <a:spcPts val="600"/>
              </a:spcAft>
            </a:pPr>
            <a:r>
              <a:rPr sz="1300" b="0" i="0" dirty="0">
                <a:solidFill>
                  <a:srgbClr val="3B3D3E"/>
                </a:solidFill>
                <a:latin typeface="PT Sans"/>
              </a:rPr>
              <a:t>• “The cost exceeded the budget” (bad) vs. “exceeded my expectations” (good). Same verb.</a:t>
            </a:r>
          </a:p>
          <a:p>
            <a:pPr>
              <a:spcAft>
                <a:spcPts val="600"/>
              </a:spcAft>
            </a:pPr>
            <a:r>
              <a:rPr sz="1300" b="0" i="0" dirty="0">
                <a:solidFill>
                  <a:srgbClr val="3B3D3E"/>
                </a:solidFill>
                <a:latin typeface="PT Sans"/>
              </a:rPr>
              <a:t>• “The virus killed thousands” (tragedy) vs. “the comedian killed it” (high praise).</a:t>
            </a:r>
          </a:p>
          <a:p>
            <a:pPr>
              <a:spcAft>
                <a:spcPts val="600"/>
              </a:spcAft>
            </a:pPr>
            <a:r>
              <a:rPr sz="1300" b="0" i="0" dirty="0">
                <a:solidFill>
                  <a:srgbClr val="3B3D3E"/>
                </a:solidFill>
                <a:latin typeface="PT Sans"/>
              </a:rPr>
              <a:t>• “His services were cheap” (maybe a compliment) vs. “the build quality is cheap” (not).</a:t>
            </a:r>
          </a:p>
        </p:txBody>
      </p:sp>
      <p:sp>
        <p:nvSpPr>
          <p:cNvPr id="11" name="TextBox 10"/>
          <p:cNvSpPr txBox="1"/>
          <p:nvPr/>
        </p:nvSpPr>
        <p:spPr>
          <a:xfrm>
            <a:off x="609600" y="5550000"/>
            <a:ext cx="10972800" cy="192360"/>
          </a:xfrm>
          <a:prstGeom prst="rect">
            <a:avLst/>
          </a:prstGeom>
          <a:noFill/>
        </p:spPr>
        <p:txBody>
          <a:bodyPr wrap="square" lIns="0" tIns="0" rIns="0" bIns="0">
            <a:spAutoFit/>
          </a:bodyPr>
          <a:lstStyle/>
          <a:p>
            <a:pPr algn="l"/>
            <a:r>
              <a:rPr sz="1250" b="0" i="1">
                <a:solidFill>
                  <a:srgbClr val="3B3D3E"/>
                </a:solidFill>
                <a:latin typeface="PT Sans"/>
              </a:rPr>
              <a:t>A word list has no way to represent this. We need a representation where meaning depends on context: tokens and vectors, next.</a:t>
            </a:r>
          </a:p>
        </p:txBody>
      </p:sp>
      <p:pic>
        <p:nvPicPr>
          <p:cNvPr id="12" name="Picture 11" descr="image.png"/>
          <p:cNvPicPr>
            <a:picLocks noChangeAspect="1"/>
          </p:cNvPicPr>
          <p:nvPr/>
        </p:nvPicPr>
        <p:blipFill>
          <a:blip r:embed="rId3"/>
          <a:stretch>
            <a:fillRect/>
          </a:stretch>
        </p:blipFill>
        <p:spPr>
          <a:xfrm>
            <a:off x="0" y="6496050"/>
            <a:ext cx="12192000" cy="361950"/>
          </a:xfrm>
          <a:prstGeom prst="rect">
            <a:avLst/>
          </a:prstGeom>
        </p:spPr>
      </p:pic>
      <p:pic>
        <p:nvPicPr>
          <p:cNvPr id="14" name="Picture 13" descr="image.png"/>
          <p:cNvPicPr>
            <a:picLocks noChangeAspect="1"/>
          </p:cNvPicPr>
          <p:nvPr/>
        </p:nvPicPr>
        <p:blipFill>
          <a:blip r:embed="rId4"/>
          <a:stretch>
            <a:fillRect/>
          </a:stretch>
        </p:blipFill>
        <p:spPr>
          <a:xfrm>
            <a:off x="10564368" y="164592"/>
            <a:ext cx="1261872" cy="284366"/>
          </a:xfrm>
          <a:prstGeom prst="rect">
            <a:avLst/>
          </a:prstGeom>
        </p:spPr>
      </p:pic>
      <p:sp>
        <p:nvSpPr>
          <p:cNvPr id="15" name="TextBox 14"/>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2041680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36144B-880F-56CA-2944-6358EAB341B1}"/>
              </a:ext>
            </a:extLst>
          </p:cNvPr>
          <p:cNvSpPr>
            <a:spLocks noGrp="1"/>
          </p:cNvSpPr>
          <p:nvPr>
            <p:ph type="body" idx="1"/>
          </p:nvPr>
        </p:nvSpPr>
        <p:spPr/>
        <p:txBody>
          <a:bodyPr/>
          <a:lstStyle/>
          <a:p>
            <a:pPr marL="285750" lvl="0" indent="-285750">
              <a:lnSpc>
                <a:spcPct val="100000"/>
              </a:lnSpc>
              <a:buFont typeface="Arial" panose="020B0604020202020204" pitchFamily="34" charset="0"/>
              <a:buChar char="•"/>
              <a:defRPr/>
            </a:pPr>
            <a:r>
              <a:rPr lang="en-US" sz="1350" kern="1200" dirty="0">
                <a:solidFill>
                  <a:srgbClr val="1E293B"/>
                </a:solidFill>
                <a:latin typeface="Nunito Sans"/>
              </a:rPr>
              <a:t>Since the number of variants of a word can be varied, we first break up words into tokens.</a:t>
            </a:r>
          </a:p>
          <a:p>
            <a:pPr marL="285750" lvl="0" indent="-285750">
              <a:lnSpc>
                <a:spcPct val="100000"/>
              </a:lnSpc>
              <a:buFont typeface="Arial" panose="020B0604020202020204" pitchFamily="34" charset="0"/>
              <a:buChar char="•"/>
              <a:defRPr/>
            </a:pPr>
            <a:endParaRPr lang="en-US" sz="1800" dirty="0"/>
          </a:p>
          <a:p>
            <a:pPr marL="285750" lvl="0" indent="-285750">
              <a:lnSpc>
                <a:spcPct val="100000"/>
              </a:lnSpc>
              <a:buFont typeface="Arial" panose="020B0604020202020204" pitchFamily="34" charset="0"/>
              <a:buChar char="•"/>
              <a:defRPr/>
            </a:pPr>
            <a:r>
              <a:rPr lang="en-US" sz="1350" kern="1200" dirty="0">
                <a:solidFill>
                  <a:srgbClr val="1E293B"/>
                </a:solidFill>
                <a:latin typeface="Nunito Sans"/>
              </a:rPr>
              <a:t>This helps us keep the size of the vocabulary for which rules needs to be built to </a:t>
            </a:r>
            <a:r>
              <a:rPr lang="en-US" sz="1350" kern="1200">
                <a:solidFill>
                  <a:srgbClr val="1E293B"/>
                </a:solidFill>
                <a:latin typeface="Nunito Sans"/>
              </a:rPr>
              <a:t>be small.</a:t>
            </a:r>
            <a:endParaRPr lang="en-US" sz="1800" kern="1200" dirty="0">
              <a:solidFill>
                <a:schemeClr val="tx1"/>
              </a:solidFill>
            </a:endParaRPr>
          </a:p>
          <a:p>
            <a:pPr marL="285750" lvl="0" indent="-285750">
              <a:lnSpc>
                <a:spcPct val="100000"/>
              </a:lnSpc>
              <a:buFont typeface="Arial" panose="020B0604020202020204" pitchFamily="34" charset="0"/>
              <a:buChar char="•"/>
              <a:defRPr/>
            </a:pPr>
            <a:endParaRPr lang="en-US" sz="1800" b="1" dirty="0"/>
          </a:p>
          <a:p>
            <a:pPr marL="285750" lvl="0" indent="-285750">
              <a:lnSpc>
                <a:spcPct val="100000"/>
              </a:lnSpc>
              <a:buFont typeface="Arial" panose="020B0604020202020204" pitchFamily="34" charset="0"/>
              <a:buChar char="•"/>
              <a:defRPr/>
            </a:pPr>
            <a:r>
              <a:rPr lang="en-US" sz="1350" b="1" kern="1200" dirty="0" err="1">
                <a:solidFill>
                  <a:srgbClr val="004C97"/>
                </a:solidFill>
                <a:latin typeface="Nunito Sans SemiBold"/>
              </a:rPr>
              <a:t>Subword</a:t>
            </a:r>
            <a:r>
              <a:rPr lang="en-US" sz="1350" b="1" kern="1200" dirty="0">
                <a:solidFill>
                  <a:srgbClr val="004C97"/>
                </a:solidFill>
                <a:latin typeface="Nunito Sans SemiBold"/>
              </a:rPr>
              <a:t> Tokenization</a:t>
            </a:r>
          </a:p>
          <a:p>
            <a:pPr marL="971550" lvl="1" indent="-285750">
              <a:lnSpc>
                <a:spcPct val="100000"/>
              </a:lnSpc>
              <a:defRPr/>
            </a:pPr>
            <a:r>
              <a:rPr lang="en-US" sz="1350" kern="1200" dirty="0">
                <a:solidFill>
                  <a:srgbClr val="1E293B"/>
                </a:solidFill>
                <a:latin typeface="Nunito Sans" panose="02000000000000000000" pitchFamily="2" charset="0"/>
                <a:ea typeface="Roboto" panose="02000000000000000000" pitchFamily="2" charset="0"/>
                <a:cs typeface="Roboto" panose="02000000000000000000" pitchFamily="2" charset="0"/>
              </a:rPr>
              <a:t>Breaks words into smaller, meaningful parts</a:t>
            </a:r>
          </a:p>
          <a:p>
            <a:pPr marL="971550" lvl="1" indent="-285750">
              <a:lnSpc>
                <a:spcPct val="100000"/>
              </a:lnSpc>
              <a:defRPr/>
            </a:pPr>
            <a:r>
              <a:rPr lang="en-US" sz="1350" kern="1200" dirty="0">
                <a:solidFill>
                  <a:srgbClr val="1E293B"/>
                </a:solidFill>
                <a:latin typeface="Nunito Sans" panose="02000000000000000000" pitchFamily="2" charset="0"/>
                <a:ea typeface="Roboto" panose="02000000000000000000" pitchFamily="2" charset="0"/>
                <a:cs typeface="Roboto" panose="02000000000000000000" pitchFamily="2" charset="0"/>
              </a:rPr>
              <a:t>Handles unknown or rare words effectively</a:t>
            </a:r>
          </a:p>
          <a:p>
            <a:pPr marL="971550" lvl="1" indent="-285750">
              <a:lnSpc>
                <a:spcPct val="100000"/>
              </a:lnSpc>
              <a:defRPr/>
            </a:pPr>
            <a:r>
              <a:rPr lang="en-US" sz="1350" kern="1200" dirty="0">
                <a:solidFill>
                  <a:srgbClr val="1E293B"/>
                </a:solidFill>
                <a:latin typeface="Nunito Sans" panose="02000000000000000000" pitchFamily="2" charset="0"/>
                <a:ea typeface="Roboto" panose="02000000000000000000" pitchFamily="2" charset="0"/>
                <a:cs typeface="Roboto" panose="02000000000000000000" pitchFamily="2" charset="0"/>
              </a:rPr>
              <a:t>Used in models like BERT, GPT</a:t>
            </a:r>
          </a:p>
          <a:p>
            <a:pPr marL="971550" lvl="1" indent="-285750">
              <a:lnSpc>
                <a:spcPct val="100000"/>
              </a:lnSpc>
              <a:defRPr/>
            </a:pPr>
            <a:r>
              <a:rPr lang="en-US" sz="1350" kern="1200" dirty="0">
                <a:solidFill>
                  <a:srgbClr val="1E293B"/>
                </a:solidFill>
                <a:latin typeface="Nunito Sans" panose="02000000000000000000" pitchFamily="2" charset="0"/>
                <a:ea typeface="Roboto" panose="02000000000000000000" pitchFamily="2" charset="0"/>
                <a:cs typeface="Roboto" panose="02000000000000000000" pitchFamily="2" charset="0"/>
              </a:rPr>
              <a:t>Example: "unhappiness" → ["un", "##happiness"]</a:t>
            </a:r>
          </a:p>
          <a:p>
            <a:endParaRPr lang="en-IN" dirty="0"/>
          </a:p>
        </p:txBody>
      </p:sp>
      <p:sp>
        <p:nvSpPr>
          <p:cNvPr id="4" name="TextBox 3"/>
          <p:cNvSpPr txBox="1"/>
          <p:nvPr/>
        </p:nvSpPr>
        <p:spPr>
          <a:xfrm>
            <a:off x="609600" y="438150"/>
            <a:ext cx="10972800" cy="184666"/>
          </a:xfrm>
          <a:prstGeom prst="rect">
            <a:avLst/>
          </a:prstGeom>
          <a:noFill/>
        </p:spPr>
        <p:txBody>
          <a:bodyPr wrap="square" lIns="0" tIns="0" rIns="0" bIns="0">
            <a:spAutoFit/>
          </a:bodyPr>
          <a:lstStyle/>
          <a:p>
            <a:pPr algn="l"/>
            <a:r>
              <a:rPr sz="1350" b="0" i="0">
                <a:solidFill>
                  <a:srgbClr val="00A3E0"/>
                </a:solidFill>
                <a:latin typeface="Nunito Sans"/>
              </a:rPr>
              <a:t>MECHANICS • TOKENIZATION</a:t>
            </a:r>
          </a:p>
        </p:txBody>
      </p:sp>
      <p:sp>
        <p:nvSpPr>
          <p:cNvPr id="5" name="TextBox 4"/>
          <p:cNvSpPr txBox="1"/>
          <p:nvPr/>
        </p:nvSpPr>
        <p:spPr>
          <a:xfrm>
            <a:off x="609600" y="714375"/>
            <a:ext cx="11521440" cy="404406"/>
          </a:xfrm>
          <a:prstGeom prst="rect">
            <a:avLst/>
          </a:prstGeom>
          <a:noFill/>
        </p:spPr>
        <p:txBody>
          <a:bodyPr wrap="square" lIns="0" tIns="0" rIns="0" bIns="0">
            <a:spAutoFit/>
          </a:bodyPr>
          <a:lstStyle/>
          <a:p>
            <a:pPr algn="l"/>
            <a:r>
              <a:rPr sz="1350" b="0" i="0">
                <a:solidFill>
                  <a:srgbClr val="004C97"/>
                </a:solidFill>
                <a:latin typeface="Nunito Sans"/>
              </a:rPr>
              <a:t>Tokenization</a:t>
            </a:r>
          </a:p>
        </p:txBody>
      </p:sp>
      <p:sp>
        <p:nvSpPr>
          <p:cNvPr id="6" name="TextBox 5"/>
          <p:cNvSpPr txBox="1"/>
          <p:nvPr/>
        </p:nvSpPr>
        <p:spPr>
          <a:xfrm>
            <a:off x="609600" y="6220000"/>
            <a:ext cx="10972800" cy="250000"/>
          </a:xfrm>
          <a:prstGeom prst="rect">
            <a:avLst/>
          </a:prstGeom>
          <a:noFill/>
        </p:spPr>
        <p:txBody>
          <a:bodyPr wrap="square" lIns="0" tIns="0" rIns="0" bIns="0">
            <a:spAutoFit/>
          </a:bodyPr>
          <a:lstStyle/>
          <a:p>
            <a:pPr algn="l"/>
            <a:r>
              <a:rPr sz="1250" b="0" i="1">
                <a:solidFill>
                  <a:srgbClr val="3B3D3E"/>
                </a:solidFill>
                <a:latin typeface="PT Sans"/>
              </a:rPr>
              <a:t>A token budget is a cost budget: context windows, API bills, and rate limits are all denominated in tokens, not words.</a:t>
            </a:r>
          </a:p>
        </p:txBody>
      </p:sp>
      <p:pic>
        <p:nvPicPr>
          <p:cNvPr id="7" name="Picture 6" descr="image.png"/>
          <p:cNvPicPr>
            <a:picLocks noChangeAspect="1"/>
          </p:cNvPicPr>
          <p:nvPr/>
        </p:nvPicPr>
        <p:blipFill>
          <a:blip r:embed="rId3"/>
          <a:stretch>
            <a:fillRect/>
          </a:stretch>
        </p:blipFill>
        <p:spPr>
          <a:xfrm>
            <a:off x="0" y="6496050"/>
            <a:ext cx="12192000" cy="361950"/>
          </a:xfrm>
          <a:prstGeom prst="rect">
            <a:avLst/>
          </a:prstGeom>
        </p:spPr>
      </p:pic>
      <p:pic>
        <p:nvPicPr>
          <p:cNvPr id="9" name="Picture 8" descr="image.png"/>
          <p:cNvPicPr>
            <a:picLocks noChangeAspect="1"/>
          </p:cNvPicPr>
          <p:nvPr/>
        </p:nvPicPr>
        <p:blipFill>
          <a:blip r:embed="rId4"/>
          <a:stretch>
            <a:fillRect/>
          </a:stretch>
        </p:blipFill>
        <p:spPr>
          <a:xfrm>
            <a:off x="10564368" y="164592"/>
            <a:ext cx="1261872" cy="284366"/>
          </a:xfrm>
          <a:prstGeom prst="rect">
            <a:avLst/>
          </a:prstGeom>
        </p:spPr>
      </p:pic>
      <p:sp>
        <p:nvSpPr>
          <p:cNvPr id="10" name="TextBox 9"/>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2677985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MECHANICS • WORD2VEC</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Numbers for Words: From Hand-Picked to Learned</a:t>
            </a:r>
          </a:p>
        </p:txBody>
      </p:sp>
      <p:graphicFrame>
        <p:nvGraphicFramePr>
          <p:cNvPr id="5" name="Table 4"/>
          <p:cNvGraphicFramePr>
            <a:graphicFrameLocks noGrp="1"/>
          </p:cNvGraphicFramePr>
          <p:nvPr/>
        </p:nvGraphicFramePr>
        <p:xfrm>
          <a:off x="1651000" y="1968500"/>
          <a:ext cx="8890000" cy="27305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15875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635000">
                <a:tc>
                  <a:txBody>
                    <a:bodyPr/>
                    <a:lstStyle/>
                    <a:p>
                      <a:pPr algn="l"/>
                      <a:endParaRPr sz="1800"/>
                    </a:p>
                  </a:txBody>
                  <a:tcPr anchor="ctr">
                    <a:solidFill>
                      <a:srgbClr val="004C97"/>
                    </a:solidFill>
                  </a:tcPr>
                </a:tc>
                <a:tc>
                  <a:txBody>
                    <a:bodyPr/>
                    <a:lstStyle/>
                    <a:p>
                      <a:pPr algn="ctr"/>
                      <a:r>
                        <a:rPr sz="1800" b="0">
                          <a:solidFill>
                            <a:srgbClr val="FFFFFF"/>
                          </a:solidFill>
                          <a:latin typeface="Poppins SemiBold"/>
                        </a:rPr>
                        <a:t>Noun/Adj/Verb</a:t>
                      </a:r>
                    </a:p>
                  </a:txBody>
                  <a:tcPr anchor="ctr">
                    <a:solidFill>
                      <a:srgbClr val="004C97"/>
                    </a:solidFill>
                  </a:tcPr>
                </a:tc>
                <a:tc>
                  <a:txBody>
                    <a:bodyPr/>
                    <a:lstStyle/>
                    <a:p>
                      <a:pPr algn="ctr"/>
                      <a:r>
                        <a:rPr sz="1800" b="0">
                          <a:solidFill>
                            <a:srgbClr val="FFFFFF"/>
                          </a:solidFill>
                          <a:latin typeface="Poppins SemiBold"/>
                        </a:rPr>
                        <a:t>Sentiment?</a:t>
                      </a:r>
                    </a:p>
                  </a:txBody>
                  <a:tcPr anchor="ctr">
                    <a:solidFill>
                      <a:srgbClr val="004C97"/>
                    </a:solidFill>
                  </a:tcPr>
                </a:tc>
                <a:tc>
                  <a:txBody>
                    <a:bodyPr/>
                    <a:lstStyle/>
                    <a:p>
                      <a:pPr algn="ctr"/>
                      <a:r>
                        <a:rPr sz="1800" b="0">
                          <a:solidFill>
                            <a:srgbClr val="FFFFFF"/>
                          </a:solidFill>
                          <a:latin typeface="Poppins SemiBold"/>
                        </a:rPr>
                        <a:t>Future?</a:t>
                      </a:r>
                    </a:p>
                  </a:txBody>
                  <a:tcPr anchor="ctr">
                    <a:solidFill>
                      <a:srgbClr val="004C97"/>
                    </a:solidFill>
                  </a:tcPr>
                </a:tc>
                <a:tc>
                  <a:txBody>
                    <a:bodyPr/>
                    <a:lstStyle/>
                    <a:p>
                      <a:pPr algn="ctr"/>
                      <a:r>
                        <a:rPr sz="1800" b="0">
                          <a:solidFill>
                            <a:srgbClr val="FFFFFF"/>
                          </a:solidFill>
                          <a:latin typeface="Poppins SemiBold"/>
                        </a:rPr>
                        <a:t>Male?</a:t>
                      </a:r>
                    </a:p>
                  </a:txBody>
                  <a:tcPr anchor="ctr">
                    <a:solidFill>
                      <a:srgbClr val="004C97"/>
                    </a:solidFill>
                  </a:tcPr>
                </a:tc>
                <a:extLst>
                  <a:ext uri="{0D108BD9-81ED-4DB2-BD59-A6C34878D82A}">
                    <a16:rowId xmlns:a16="http://schemas.microsoft.com/office/drawing/2014/main" val="10000"/>
                  </a:ext>
                </a:extLst>
              </a:tr>
              <a:tr h="698500">
                <a:tc>
                  <a:txBody>
                    <a:bodyPr/>
                    <a:lstStyle/>
                    <a:p>
                      <a:r>
                        <a:rPr sz="1800">
                          <a:solidFill>
                            <a:srgbClr val="3B3D3E"/>
                          </a:solidFill>
                          <a:latin typeface="PT Sans"/>
                        </a:rPr>
                        <a:t>Blue</a:t>
                      </a:r>
                    </a:p>
                  </a:txBody>
                  <a:tcPr anchor="ctr">
                    <a:solidFill>
                      <a:srgbClr val="FFFFFF"/>
                    </a:solidFill>
                  </a:tcPr>
                </a:tc>
                <a:tc>
                  <a:txBody>
                    <a:bodyPr/>
                    <a:lstStyle/>
                    <a:p>
                      <a:pPr algn="r"/>
                      <a:r>
                        <a:rPr sz="1800">
                          <a:solidFill>
                            <a:srgbClr val="3B3D3E"/>
                          </a:solidFill>
                          <a:latin typeface="PT Sans"/>
                        </a:rPr>
                        <a:t>2</a:t>
                      </a:r>
                    </a:p>
                  </a:txBody>
                  <a:tcPr anchor="ctr">
                    <a:solidFill>
                      <a:srgbClr val="FFFFFF"/>
                    </a:solidFill>
                  </a:tcPr>
                </a:tc>
                <a:tc>
                  <a:txBody>
                    <a:bodyPr/>
                    <a:lstStyle/>
                    <a:p>
                      <a:pPr algn="r"/>
                      <a:r>
                        <a:rPr sz="1800">
                          <a:solidFill>
                            <a:srgbClr val="3B3D3E"/>
                          </a:solidFill>
                          <a:latin typeface="PT Sans"/>
                        </a:rPr>
                        <a:t>-0.5</a:t>
                      </a:r>
                    </a:p>
                  </a:txBody>
                  <a:tcPr anchor="ctr">
                    <a:solidFill>
                      <a:srgbClr val="FFFFFF"/>
                    </a:solidFill>
                  </a:tcPr>
                </a:tc>
                <a:tc>
                  <a:txBody>
                    <a:bodyPr/>
                    <a:lstStyle/>
                    <a:p>
                      <a:pPr algn="r"/>
                      <a:r>
                        <a:rPr sz="1800">
                          <a:solidFill>
                            <a:srgbClr val="3B3D3E"/>
                          </a:solidFill>
                          <a:latin typeface="PT Sans"/>
                        </a:rPr>
                        <a:t>0</a:t>
                      </a:r>
                    </a:p>
                  </a:txBody>
                  <a:tcPr anchor="ctr">
                    <a:solidFill>
                      <a:srgbClr val="FFFFFF"/>
                    </a:solidFill>
                  </a:tcPr>
                </a:tc>
                <a:tc>
                  <a:txBody>
                    <a:bodyPr/>
                    <a:lstStyle/>
                    <a:p>
                      <a:pPr algn="r"/>
                      <a:r>
                        <a:rPr sz="1800">
                          <a:solidFill>
                            <a:srgbClr val="3B3D3E"/>
                          </a:solidFill>
                          <a:latin typeface="PT Sans"/>
                        </a:rPr>
                        <a:t>0.8</a:t>
                      </a:r>
                    </a:p>
                  </a:txBody>
                  <a:tcPr anchor="ctr">
                    <a:solidFill>
                      <a:srgbClr val="FFFFFF"/>
                    </a:solidFill>
                  </a:tcPr>
                </a:tc>
                <a:extLst>
                  <a:ext uri="{0D108BD9-81ED-4DB2-BD59-A6C34878D82A}">
                    <a16:rowId xmlns:a16="http://schemas.microsoft.com/office/drawing/2014/main" val="10001"/>
                  </a:ext>
                </a:extLst>
              </a:tr>
              <a:tr h="698500">
                <a:tc>
                  <a:txBody>
                    <a:bodyPr/>
                    <a:lstStyle/>
                    <a:p>
                      <a:r>
                        <a:rPr sz="1800">
                          <a:solidFill>
                            <a:srgbClr val="3B3D3E"/>
                          </a:solidFill>
                          <a:latin typeface="PT Sans"/>
                        </a:rPr>
                        <a:t>Pink</a:t>
                      </a:r>
                    </a:p>
                  </a:txBody>
                  <a:tcPr anchor="ctr">
                    <a:solidFill>
                      <a:srgbClr val="FFFFFF"/>
                    </a:solidFill>
                  </a:tcPr>
                </a:tc>
                <a:tc>
                  <a:txBody>
                    <a:bodyPr/>
                    <a:lstStyle/>
                    <a:p>
                      <a:pPr algn="r"/>
                      <a:r>
                        <a:rPr sz="1800">
                          <a:solidFill>
                            <a:srgbClr val="3B3D3E"/>
                          </a:solidFill>
                          <a:latin typeface="PT Sans"/>
                        </a:rPr>
                        <a:t>2</a:t>
                      </a:r>
                    </a:p>
                  </a:txBody>
                  <a:tcPr anchor="ctr">
                    <a:solidFill>
                      <a:srgbClr val="FFFFFF"/>
                    </a:solidFill>
                  </a:tcPr>
                </a:tc>
                <a:tc>
                  <a:txBody>
                    <a:bodyPr/>
                    <a:lstStyle/>
                    <a:p>
                      <a:pPr algn="r"/>
                      <a:r>
                        <a:rPr sz="1800">
                          <a:solidFill>
                            <a:srgbClr val="3B3D3E"/>
                          </a:solidFill>
                          <a:latin typeface="PT Sans"/>
                        </a:rPr>
                        <a:t>0.8</a:t>
                      </a:r>
                    </a:p>
                  </a:txBody>
                  <a:tcPr anchor="ctr">
                    <a:solidFill>
                      <a:srgbClr val="FFFFFF"/>
                    </a:solidFill>
                  </a:tcPr>
                </a:tc>
                <a:tc>
                  <a:txBody>
                    <a:bodyPr/>
                    <a:lstStyle/>
                    <a:p>
                      <a:pPr algn="r"/>
                      <a:r>
                        <a:rPr sz="1800">
                          <a:solidFill>
                            <a:srgbClr val="3B3D3E"/>
                          </a:solidFill>
                          <a:latin typeface="PT Sans"/>
                        </a:rPr>
                        <a:t>0</a:t>
                      </a:r>
                    </a:p>
                  </a:txBody>
                  <a:tcPr anchor="ctr">
                    <a:solidFill>
                      <a:srgbClr val="FFFFFF"/>
                    </a:solidFill>
                  </a:tcPr>
                </a:tc>
                <a:tc>
                  <a:txBody>
                    <a:bodyPr/>
                    <a:lstStyle/>
                    <a:p>
                      <a:pPr algn="r"/>
                      <a:r>
                        <a:rPr sz="1800">
                          <a:solidFill>
                            <a:srgbClr val="3B3D3E"/>
                          </a:solidFill>
                          <a:latin typeface="PT Sans"/>
                        </a:rPr>
                        <a:t>-0.8</a:t>
                      </a:r>
                    </a:p>
                  </a:txBody>
                  <a:tcPr anchor="ctr">
                    <a:solidFill>
                      <a:srgbClr val="FFFFFF"/>
                    </a:solidFill>
                  </a:tcPr>
                </a:tc>
                <a:extLst>
                  <a:ext uri="{0D108BD9-81ED-4DB2-BD59-A6C34878D82A}">
                    <a16:rowId xmlns:a16="http://schemas.microsoft.com/office/drawing/2014/main" val="10002"/>
                  </a:ext>
                </a:extLst>
              </a:tr>
              <a:tr h="698500">
                <a:tc>
                  <a:txBody>
                    <a:bodyPr/>
                    <a:lstStyle/>
                    <a:p>
                      <a:r>
                        <a:rPr sz="1800">
                          <a:solidFill>
                            <a:srgbClr val="3B3D3E"/>
                          </a:solidFill>
                          <a:latin typeface="PT Sans"/>
                        </a:rPr>
                        <a:t>cried</a:t>
                      </a:r>
                    </a:p>
                  </a:txBody>
                  <a:tcPr anchor="ctr">
                    <a:solidFill>
                      <a:srgbClr val="FFFFFF"/>
                    </a:solidFill>
                  </a:tcPr>
                </a:tc>
                <a:tc>
                  <a:txBody>
                    <a:bodyPr/>
                    <a:lstStyle/>
                    <a:p>
                      <a:pPr algn="r"/>
                      <a:r>
                        <a:rPr sz="1800">
                          <a:solidFill>
                            <a:srgbClr val="3B3D3E"/>
                          </a:solidFill>
                          <a:latin typeface="PT Sans"/>
                        </a:rPr>
                        <a:t>3</a:t>
                      </a:r>
                    </a:p>
                  </a:txBody>
                  <a:tcPr anchor="ctr">
                    <a:solidFill>
                      <a:srgbClr val="FFFFFF"/>
                    </a:solidFill>
                  </a:tcPr>
                </a:tc>
                <a:tc>
                  <a:txBody>
                    <a:bodyPr/>
                    <a:lstStyle/>
                    <a:p>
                      <a:pPr algn="r"/>
                      <a:r>
                        <a:rPr sz="1800">
                          <a:solidFill>
                            <a:srgbClr val="3B3D3E"/>
                          </a:solidFill>
                          <a:latin typeface="PT Sans"/>
                        </a:rPr>
                        <a:t>-1</a:t>
                      </a:r>
                    </a:p>
                  </a:txBody>
                  <a:tcPr anchor="ctr">
                    <a:solidFill>
                      <a:srgbClr val="FFFFFF"/>
                    </a:solidFill>
                  </a:tcPr>
                </a:tc>
                <a:tc>
                  <a:txBody>
                    <a:bodyPr/>
                    <a:lstStyle/>
                    <a:p>
                      <a:pPr algn="r"/>
                      <a:r>
                        <a:rPr sz="1800">
                          <a:solidFill>
                            <a:srgbClr val="3B3D3E"/>
                          </a:solidFill>
                          <a:latin typeface="PT Sans"/>
                        </a:rPr>
                        <a:t>-1</a:t>
                      </a:r>
                    </a:p>
                  </a:txBody>
                  <a:tcPr anchor="ctr">
                    <a:solidFill>
                      <a:srgbClr val="FFFFFF"/>
                    </a:solidFill>
                  </a:tcPr>
                </a:tc>
                <a:tc>
                  <a:txBody>
                    <a:bodyPr/>
                    <a:lstStyle/>
                    <a:p>
                      <a:pPr algn="r"/>
                      <a:r>
                        <a:rPr sz="1800">
                          <a:solidFill>
                            <a:srgbClr val="3B3D3E"/>
                          </a:solidFill>
                          <a:latin typeface="PT Sans"/>
                        </a:rPr>
                        <a:t>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609600" y="5750000"/>
            <a:ext cx="10972800" cy="384721"/>
          </a:xfrm>
          <a:prstGeom prst="rect">
            <a:avLst/>
          </a:prstGeom>
          <a:noFill/>
        </p:spPr>
        <p:txBody>
          <a:bodyPr wrap="square" lIns="0" tIns="0" rIns="0" bIns="0">
            <a:spAutoFit/>
          </a:bodyPr>
          <a:lstStyle/>
          <a:p>
            <a:pPr algn="l"/>
            <a:r>
              <a:rPr sz="1250" b="0" i="1">
                <a:solidFill>
                  <a:srgbClr val="3B3D3E"/>
                </a:solidFill>
                <a:latin typeface="PT Sans"/>
              </a:rPr>
              <a:t>Word2Vec learns vectors like these automatically, from how words are actually used together. It's the same geometry Product2Vec used on Day 1 to place basket items near each other.</a:t>
            </a:r>
          </a:p>
        </p:txBody>
      </p:sp>
      <p:pic>
        <p:nvPicPr>
          <p:cNvPr id="10" name="Picture 9" descr="image.png"/>
          <p:cNvPicPr>
            <a:picLocks noChangeAspect="1"/>
          </p:cNvPicPr>
          <p:nvPr/>
        </p:nvPicPr>
        <p:blipFill>
          <a:blip r:embed="rId3"/>
          <a:stretch>
            <a:fillRect/>
          </a:stretch>
        </p:blipFill>
        <p:spPr>
          <a:xfrm>
            <a:off x="0" y="6496050"/>
            <a:ext cx="12192000" cy="361950"/>
          </a:xfrm>
          <a:prstGeom prst="rect">
            <a:avLst/>
          </a:prstGeom>
        </p:spPr>
      </p:pic>
      <p:pic>
        <p:nvPicPr>
          <p:cNvPr id="12" name="Picture 11" descr="image.png"/>
          <p:cNvPicPr>
            <a:picLocks noChangeAspect="1"/>
          </p:cNvPicPr>
          <p:nvPr/>
        </p:nvPicPr>
        <p:blipFill>
          <a:blip r:embed="rId4"/>
          <a:stretch>
            <a:fillRect/>
          </a:stretch>
        </p:blipFill>
        <p:spPr>
          <a:xfrm>
            <a:off x="10564368" y="164592"/>
            <a:ext cx="1261872" cy="284366"/>
          </a:xfrm>
          <a:prstGeom prst="rect">
            <a:avLst/>
          </a:prstGeom>
        </p:spPr>
      </p:pic>
      <p:sp>
        <p:nvSpPr>
          <p:cNvPr id="13" name="TextBox 12"/>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2928211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descr="A diagram of a diagram&#10;&#10;Description automatically generated">
            <a:extLst>
              <a:ext uri="{FF2B5EF4-FFF2-40B4-BE49-F238E27FC236}">
                <a16:creationId xmlns:a16="http://schemas.microsoft.com/office/drawing/2014/main" id="{23D50A41-4190-87BC-B397-F1F57462E11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77108" y="1146261"/>
            <a:ext cx="8884203" cy="4997364"/>
          </a:xfrm>
          <a:prstGeom prst="rect">
            <a:avLst/>
          </a:prstGeom>
        </p:spPr>
      </p:pic>
      <p:sp>
        <p:nvSpPr>
          <p:cNvPr id="8" name="TextBox 7"/>
          <p:cNvSpPr txBox="1"/>
          <p:nvPr/>
        </p:nvSpPr>
        <p:spPr>
          <a:xfrm>
            <a:off x="609600" y="438150"/>
            <a:ext cx="10972800" cy="184666"/>
          </a:xfrm>
          <a:prstGeom prst="rect">
            <a:avLst/>
          </a:prstGeom>
          <a:noFill/>
        </p:spPr>
        <p:txBody>
          <a:bodyPr wrap="square" lIns="0" tIns="0" rIns="0" bIns="0">
            <a:spAutoFit/>
          </a:bodyPr>
          <a:lstStyle/>
          <a:p>
            <a:pPr algn="l"/>
            <a:r>
              <a:rPr sz="1350" b="0" i="0">
                <a:solidFill>
                  <a:srgbClr val="00A3E0"/>
                </a:solidFill>
                <a:latin typeface="Nunito Sans"/>
              </a:rPr>
              <a:t>MECHANICS • WHAT AN LLM ACTUALLY DOES</a:t>
            </a:r>
          </a:p>
        </p:txBody>
      </p:sp>
      <p:sp>
        <p:nvSpPr>
          <p:cNvPr id="9" name="TextBox 8"/>
          <p:cNvSpPr txBox="1"/>
          <p:nvPr/>
        </p:nvSpPr>
        <p:spPr>
          <a:xfrm>
            <a:off x="609600" y="714375"/>
            <a:ext cx="11521440" cy="404406"/>
          </a:xfrm>
          <a:prstGeom prst="rect">
            <a:avLst/>
          </a:prstGeom>
          <a:noFill/>
        </p:spPr>
        <p:txBody>
          <a:bodyPr wrap="square" lIns="0" tIns="0" rIns="0" bIns="0">
            <a:spAutoFit/>
          </a:bodyPr>
          <a:lstStyle/>
          <a:p>
            <a:pPr algn="l"/>
            <a:r>
              <a:rPr sz="1350" b="0" i="0">
                <a:solidFill>
                  <a:srgbClr val="004C97"/>
                </a:solidFill>
                <a:latin typeface="Nunito Sans"/>
              </a:rPr>
              <a:t>What Do LLMs Do?</a:t>
            </a:r>
          </a:p>
        </p:txBody>
      </p:sp>
      <p:sp>
        <p:nvSpPr>
          <p:cNvPr id="10" name="TextBox 9"/>
          <p:cNvSpPr txBox="1"/>
          <p:nvPr/>
        </p:nvSpPr>
        <p:spPr>
          <a:xfrm>
            <a:off x="609600" y="6220000"/>
            <a:ext cx="10972800" cy="250000"/>
          </a:xfrm>
          <a:prstGeom prst="rect">
            <a:avLst/>
          </a:prstGeom>
          <a:noFill/>
        </p:spPr>
        <p:txBody>
          <a:bodyPr wrap="square" lIns="0" tIns="0" rIns="0" bIns="0">
            <a:spAutoFit/>
          </a:bodyPr>
          <a:lstStyle/>
          <a:p>
            <a:pPr algn="l"/>
            <a:r>
              <a:rPr sz="1250" b="0" i="1">
                <a:solidFill>
                  <a:srgbClr val="3B3D3E"/>
                </a:solidFill>
                <a:latin typeface="PT Sans"/>
              </a:rPr>
              <a:t>Tokenize, vectorize, predict the next token, decode back to text. Every answer an LLM ever gives you is this loop, run one token at a time.</a:t>
            </a:r>
          </a:p>
        </p:txBody>
      </p:sp>
      <p:pic>
        <p:nvPicPr>
          <p:cNvPr id="11" name="Picture 10" descr="image.png"/>
          <p:cNvPicPr>
            <a:picLocks noChangeAspect="1"/>
          </p:cNvPicPr>
          <p:nvPr/>
        </p:nvPicPr>
        <p:blipFill>
          <a:blip r:embed="rId4"/>
          <a:stretch>
            <a:fillRect/>
          </a:stretch>
        </p:blipFill>
        <p:spPr>
          <a:xfrm>
            <a:off x="0" y="6496050"/>
            <a:ext cx="12192000" cy="361950"/>
          </a:xfrm>
          <a:prstGeom prst="rect">
            <a:avLst/>
          </a:prstGeom>
        </p:spPr>
      </p:pic>
      <p:pic>
        <p:nvPicPr>
          <p:cNvPr id="13" name="Picture 12" descr="image.png"/>
          <p:cNvPicPr>
            <a:picLocks noChangeAspect="1"/>
          </p:cNvPicPr>
          <p:nvPr/>
        </p:nvPicPr>
        <p:blipFill>
          <a:blip r:embed="rId5"/>
          <a:stretch>
            <a:fillRect/>
          </a:stretch>
        </p:blipFill>
        <p:spPr>
          <a:xfrm>
            <a:off x="10564368" y="164592"/>
            <a:ext cx="1261872" cy="284366"/>
          </a:xfrm>
          <a:prstGeom prst="rect">
            <a:avLst/>
          </a:prstGeom>
        </p:spPr>
      </p:pic>
      <p:sp>
        <p:nvSpPr>
          <p:cNvPr id="14" name="TextBox 13"/>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1131682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8F141-722F-3EA5-4765-718C8984E5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A70EDC-AF5E-6122-C8BB-10985A691EFB}"/>
              </a:ext>
            </a:extLst>
          </p:cNvPr>
          <p:cNvSpPr>
            <a:spLocks noGrp="1"/>
          </p:cNvSpPr>
          <p:nvPr>
            <p:ph idx="1"/>
          </p:nvPr>
        </p:nvSpPr>
        <p:spPr/>
        <p:txBody>
          <a:bodyPr>
            <a:normAutofit/>
          </a:bodyPr>
          <a:lstStyle/>
          <a:p>
            <a:endParaRPr lang="en-US" sz="3600" dirty="0"/>
          </a:p>
          <a:p>
            <a:r>
              <a:rPr lang="en-US" sz="1400" dirty="0">
                <a:solidFill>
                  <a:srgbClr val="1E293B"/>
                </a:solidFill>
                <a:latin typeface="Nunito Sans"/>
              </a:rPr>
              <a:t>Word2vec was a good starting point. Converted words to rich numerical vectors</a:t>
            </a:r>
          </a:p>
          <a:p>
            <a:endParaRPr lang="en-US" sz="3600" dirty="0"/>
          </a:p>
          <a:p>
            <a:r>
              <a:rPr lang="en-US" sz="1400" dirty="0">
                <a:solidFill>
                  <a:srgbClr val="1E293B"/>
                </a:solidFill>
                <a:latin typeface="Nunito Sans"/>
              </a:rPr>
              <a:t>However key limitation:  Based on the context, meaning may change</a:t>
            </a:r>
          </a:p>
          <a:p>
            <a:endParaRPr lang="en-US" sz="3600" dirty="0"/>
          </a:p>
          <a:p>
            <a:pPr lvl="1"/>
            <a:r>
              <a:rPr lang="en-IN" sz="1400" dirty="0">
                <a:solidFill>
                  <a:srgbClr val="1E293B"/>
                </a:solidFill>
                <a:latin typeface="Nunito Sans"/>
              </a:rPr>
              <a:t>I took my </a:t>
            </a:r>
            <a:r>
              <a:rPr lang="en-IN" sz="1400" dirty="0">
                <a:solidFill>
                  <a:srgbClr val="FF0000"/>
                </a:solidFill>
                <a:latin typeface="Nunito Sans"/>
              </a:rPr>
              <a:t>cell </a:t>
            </a:r>
            <a:r>
              <a:rPr lang="en-IN" sz="1400" dirty="0">
                <a:solidFill>
                  <a:srgbClr val="1E293B"/>
                </a:solidFill>
                <a:latin typeface="Nunito Sans"/>
              </a:rPr>
              <a:t>phone into the prison </a:t>
            </a:r>
            <a:r>
              <a:rPr lang="en-IN" sz="1400" dirty="0">
                <a:solidFill>
                  <a:srgbClr val="00B0F0"/>
                </a:solidFill>
                <a:latin typeface="Nunito Sans"/>
              </a:rPr>
              <a:t>cell </a:t>
            </a:r>
            <a:r>
              <a:rPr lang="en-IN" sz="1400" dirty="0">
                <a:solidFill>
                  <a:srgbClr val="1E293B"/>
                </a:solidFill>
                <a:latin typeface="Nunito Sans"/>
              </a:rPr>
              <a:t>to meet the </a:t>
            </a:r>
            <a:r>
              <a:rPr lang="en-IN" sz="1400" dirty="0">
                <a:solidFill>
                  <a:srgbClr val="00B0F0"/>
                </a:solidFill>
                <a:latin typeface="Nunito Sans"/>
              </a:rPr>
              <a:t>cell </a:t>
            </a:r>
            <a:r>
              <a:rPr lang="en-IN" sz="1400" dirty="0">
                <a:solidFill>
                  <a:srgbClr val="1E293B"/>
                </a:solidFill>
                <a:latin typeface="Nunito Sans"/>
              </a:rPr>
              <a:t>mates and collect their </a:t>
            </a:r>
            <a:r>
              <a:rPr lang="en-IN" sz="1400" dirty="0">
                <a:solidFill>
                  <a:srgbClr val="00B050"/>
                </a:solidFill>
                <a:latin typeface="Nunito Sans"/>
              </a:rPr>
              <a:t>cell</a:t>
            </a:r>
            <a:r>
              <a:rPr lang="en-IN" sz="1400" dirty="0">
                <a:solidFill>
                  <a:srgbClr val="FF0000"/>
                </a:solidFill>
                <a:latin typeface="Nunito Sans"/>
              </a:rPr>
              <a:t> </a:t>
            </a:r>
            <a:r>
              <a:rPr lang="en-IN" sz="1400" dirty="0">
                <a:solidFill>
                  <a:srgbClr val="1E293B"/>
                </a:solidFill>
                <a:latin typeface="Nunito Sans"/>
              </a:rPr>
              <a:t>DNAs</a:t>
            </a:r>
          </a:p>
          <a:p>
            <a:endParaRPr lang="en-IN" sz="3600" dirty="0"/>
          </a:p>
        </p:txBody>
      </p:sp>
      <p:sp>
        <p:nvSpPr>
          <p:cNvPr id="4" name="TextBox 3"/>
          <p:cNvSpPr txBox="1"/>
          <p:nvPr/>
        </p:nvSpPr>
        <p:spPr>
          <a:xfrm>
            <a:off x="609600" y="438150"/>
            <a:ext cx="10972800" cy="184666"/>
          </a:xfrm>
          <a:prstGeom prst="rect">
            <a:avLst/>
          </a:prstGeom>
          <a:noFill/>
        </p:spPr>
        <p:txBody>
          <a:bodyPr wrap="square" lIns="0" tIns="0" rIns="0" bIns="0">
            <a:spAutoFit/>
          </a:bodyPr>
          <a:lstStyle/>
          <a:p>
            <a:pPr algn="l"/>
            <a:r>
              <a:rPr sz="1350" b="0" i="0" dirty="0">
                <a:solidFill>
                  <a:srgbClr val="00A3E0"/>
                </a:solidFill>
                <a:latin typeface="Nunito Sans"/>
              </a:rPr>
              <a:t>MECHANICS • WHERE EMBEDDINGS BREAK DOWN</a:t>
            </a:r>
          </a:p>
        </p:txBody>
      </p:sp>
      <p:sp>
        <p:nvSpPr>
          <p:cNvPr id="5" name="TextBox 4"/>
          <p:cNvSpPr txBox="1"/>
          <p:nvPr/>
        </p:nvSpPr>
        <p:spPr>
          <a:xfrm>
            <a:off x="609600" y="714375"/>
            <a:ext cx="11521440" cy="430887"/>
          </a:xfrm>
          <a:prstGeom prst="rect">
            <a:avLst/>
          </a:prstGeom>
          <a:noFill/>
        </p:spPr>
        <p:txBody>
          <a:bodyPr wrap="square" lIns="0" tIns="0" rIns="0" bIns="0">
            <a:spAutoFit/>
          </a:bodyPr>
          <a:lstStyle/>
          <a:p>
            <a:pPr algn="l"/>
            <a:r>
              <a:rPr sz="2800" b="0" i="0" dirty="0">
                <a:solidFill>
                  <a:srgbClr val="004C97"/>
                </a:solidFill>
                <a:latin typeface="Nunito Sans"/>
              </a:rPr>
              <a:t>Embeddings: Limitation</a:t>
            </a:r>
          </a:p>
        </p:txBody>
      </p:sp>
      <p:sp>
        <p:nvSpPr>
          <p:cNvPr id="6" name="TextBox 5"/>
          <p:cNvSpPr txBox="1"/>
          <p:nvPr/>
        </p:nvSpPr>
        <p:spPr>
          <a:xfrm>
            <a:off x="609600" y="6220000"/>
            <a:ext cx="10972800" cy="250000"/>
          </a:xfrm>
          <a:prstGeom prst="rect">
            <a:avLst/>
          </a:prstGeom>
          <a:noFill/>
        </p:spPr>
        <p:txBody>
          <a:bodyPr wrap="square" lIns="0" tIns="0" rIns="0" bIns="0">
            <a:spAutoFit/>
          </a:bodyPr>
          <a:lstStyle/>
          <a:p>
            <a:pPr algn="l"/>
            <a:r>
              <a:rPr sz="1250" b="0" i="1">
                <a:solidFill>
                  <a:srgbClr val="3B3D3E"/>
                </a:solidFill>
                <a:latin typeface="PT Sans"/>
              </a:rPr>
              <a:t>Word2Vec gives every word ONE fixed vector, no matter the context. That's the gap attention is built to close.</a:t>
            </a:r>
          </a:p>
        </p:txBody>
      </p:sp>
      <p:pic>
        <p:nvPicPr>
          <p:cNvPr id="7" name="Picture 6" descr="image.png"/>
          <p:cNvPicPr>
            <a:picLocks noChangeAspect="1"/>
          </p:cNvPicPr>
          <p:nvPr/>
        </p:nvPicPr>
        <p:blipFill>
          <a:blip r:embed="rId3"/>
          <a:stretch>
            <a:fillRect/>
          </a:stretch>
        </p:blipFill>
        <p:spPr>
          <a:xfrm>
            <a:off x="0" y="6496050"/>
            <a:ext cx="12192000" cy="361950"/>
          </a:xfrm>
          <a:prstGeom prst="rect">
            <a:avLst/>
          </a:prstGeom>
        </p:spPr>
      </p:pic>
      <p:pic>
        <p:nvPicPr>
          <p:cNvPr id="9" name="Picture 8" descr="image.png"/>
          <p:cNvPicPr>
            <a:picLocks noChangeAspect="1"/>
          </p:cNvPicPr>
          <p:nvPr/>
        </p:nvPicPr>
        <p:blipFill>
          <a:blip r:embed="rId4"/>
          <a:stretch>
            <a:fillRect/>
          </a:stretch>
        </p:blipFill>
        <p:spPr>
          <a:xfrm>
            <a:off x="10564368" y="164592"/>
            <a:ext cx="1261872" cy="284366"/>
          </a:xfrm>
          <a:prstGeom prst="rect">
            <a:avLst/>
          </a:prstGeom>
        </p:spPr>
      </p:pic>
      <p:sp>
        <p:nvSpPr>
          <p:cNvPr id="10" name="TextBox 9"/>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2016821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6496050"/>
            <a:ext cx="12192000" cy="361950"/>
          </a:xfrm>
          <a:prstGeom prst="rect">
            <a:avLst/>
          </a:prstGeom>
        </p:spPr>
      </p:pic>
      <p:sp>
        <p:nvSpPr>
          <p:cNvPr id="3" name="TextBox 2"/>
          <p:cNvSpPr txBox="1"/>
          <p:nvPr/>
        </p:nvSpPr>
        <p:spPr>
          <a:xfrm>
            <a:off x="609600" y="438150"/>
            <a:ext cx="10972800" cy="184666"/>
          </a:xfrm>
          <a:prstGeom prst="rect">
            <a:avLst/>
          </a:prstGeom>
          <a:noFill/>
        </p:spPr>
        <p:txBody>
          <a:bodyPr wrap="square" lIns="0" tIns="0" rIns="0" bIns="0" anchor="t">
            <a:spAutoFit/>
          </a:bodyPr>
          <a:lstStyle/>
          <a:p>
            <a:pPr algn="l"/>
            <a:r>
              <a:rPr sz="1200" b="0" i="0" u="none" dirty="0">
                <a:solidFill>
                  <a:srgbClr val="00A3E0"/>
                </a:solidFill>
                <a:latin typeface="Poppins SemiBold"/>
              </a:rPr>
              <a:t>MECHANICS • ATTENTION</a:t>
            </a:r>
          </a:p>
        </p:txBody>
      </p:sp>
      <p:sp>
        <p:nvSpPr>
          <p:cNvPr id="4" name="TextBox 3"/>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dirty="0">
                <a:solidFill>
                  <a:srgbClr val="004C97"/>
                </a:solidFill>
                <a:latin typeface="Poppins SemiBold"/>
              </a:rPr>
              <a:t>Attention: the Context Finder</a:t>
            </a:r>
          </a:p>
        </p:txBody>
      </p:sp>
      <p:sp>
        <p:nvSpPr>
          <p:cNvPr id="11" name="TextBox 10"/>
          <p:cNvSpPr txBox="1"/>
          <p:nvPr/>
        </p:nvSpPr>
        <p:spPr>
          <a:xfrm>
            <a:off x="609600" y="2023615"/>
            <a:ext cx="228600" cy="246221"/>
          </a:xfrm>
          <a:prstGeom prst="rect">
            <a:avLst/>
          </a:prstGeom>
          <a:noFill/>
        </p:spPr>
        <p:txBody>
          <a:bodyPr wrap="square" lIns="0" tIns="0" rIns="0" bIns="0" anchor="t">
            <a:spAutoFit/>
          </a:bodyPr>
          <a:lstStyle/>
          <a:p>
            <a:pPr algn="l"/>
            <a:r>
              <a:rPr sz="1600" b="1" i="0" u="none" dirty="0">
                <a:solidFill>
                  <a:srgbClr val="00A3E0"/>
                </a:solidFill>
                <a:latin typeface="Poppins"/>
              </a:rPr>
              <a:t>1</a:t>
            </a:r>
          </a:p>
        </p:txBody>
      </p:sp>
      <p:sp>
        <p:nvSpPr>
          <p:cNvPr id="12" name="TextBox 11"/>
          <p:cNvSpPr txBox="1"/>
          <p:nvPr/>
        </p:nvSpPr>
        <p:spPr>
          <a:xfrm>
            <a:off x="990600" y="2013049"/>
            <a:ext cx="8420100" cy="436017"/>
          </a:xfrm>
          <a:prstGeom prst="rect">
            <a:avLst/>
          </a:prstGeom>
          <a:noFill/>
        </p:spPr>
        <p:txBody>
          <a:bodyPr wrap="square" lIns="0" tIns="0" rIns="0" bIns="0" anchor="t">
            <a:spAutoFit/>
          </a:bodyPr>
          <a:lstStyle/>
          <a:p>
            <a:pPr algn="l">
              <a:lnSpc>
                <a:spcPts val="1739"/>
              </a:lnSpc>
            </a:pPr>
            <a:r>
              <a:rPr sz="1400" b="0" i="0" u="none" dirty="0">
                <a:solidFill>
                  <a:srgbClr val="004C97"/>
                </a:solidFill>
                <a:latin typeface="Nunito Sans SemiBold"/>
              </a:rPr>
              <a:t>‘Cell’ four ways</a:t>
            </a:r>
            <a:r>
              <a:rPr lang="en-IN" sz="1400" b="0" i="0" u="none" dirty="0">
                <a:solidFill>
                  <a:srgbClr val="004C97"/>
                </a:solidFill>
                <a:latin typeface="Nunito Sans SemiBold"/>
              </a:rPr>
              <a:t>;</a:t>
            </a:r>
            <a:r>
              <a:rPr sz="1400" b="0" i="0" u="none" dirty="0">
                <a:solidFill>
                  <a:srgbClr val="1E293B"/>
                </a:solidFill>
                <a:latin typeface="Nunito Sans"/>
              </a:rPr>
              <a:t> Phone, prison room, inmate, biology. One word, one static vector: the embedding can't tell them apart.</a:t>
            </a:r>
          </a:p>
        </p:txBody>
      </p:sp>
      <p:sp>
        <p:nvSpPr>
          <p:cNvPr id="13" name="TextBox 12"/>
          <p:cNvSpPr txBox="1"/>
          <p:nvPr/>
        </p:nvSpPr>
        <p:spPr>
          <a:xfrm>
            <a:off x="609600" y="2785960"/>
            <a:ext cx="228600" cy="246221"/>
          </a:xfrm>
          <a:prstGeom prst="rect">
            <a:avLst/>
          </a:prstGeom>
          <a:noFill/>
        </p:spPr>
        <p:txBody>
          <a:bodyPr wrap="square" lIns="0" tIns="0" rIns="0" bIns="0" anchor="t">
            <a:spAutoFit/>
          </a:bodyPr>
          <a:lstStyle/>
          <a:p>
            <a:pPr algn="l"/>
            <a:r>
              <a:rPr sz="1600" b="1" i="0" u="none">
                <a:solidFill>
                  <a:srgbClr val="00A3E0"/>
                </a:solidFill>
                <a:latin typeface="Poppins"/>
              </a:rPr>
              <a:t>2</a:t>
            </a:r>
          </a:p>
        </p:txBody>
      </p:sp>
      <p:sp>
        <p:nvSpPr>
          <p:cNvPr id="14" name="TextBox 13"/>
          <p:cNvSpPr txBox="1"/>
          <p:nvPr/>
        </p:nvSpPr>
        <p:spPr>
          <a:xfrm>
            <a:off x="990600" y="2775394"/>
            <a:ext cx="10591800" cy="443070"/>
          </a:xfrm>
          <a:prstGeom prst="rect">
            <a:avLst/>
          </a:prstGeom>
          <a:noFill/>
        </p:spPr>
        <p:txBody>
          <a:bodyPr wrap="square" lIns="0" tIns="0" rIns="0" bIns="0" anchor="t">
            <a:spAutoFit/>
          </a:bodyPr>
          <a:lstStyle/>
          <a:p>
            <a:pPr algn="l">
              <a:lnSpc>
                <a:spcPts val="1739"/>
              </a:lnSpc>
            </a:pPr>
            <a:r>
              <a:rPr sz="1400" b="0" i="0" u="none" dirty="0">
                <a:solidFill>
                  <a:srgbClr val="004C97"/>
                </a:solidFill>
                <a:latin typeface="Nunito Sans SemiBold"/>
              </a:rPr>
              <a:t>Reweighted by neighbors</a:t>
            </a:r>
            <a:r>
              <a:rPr lang="en-IN" sz="1400" b="0" i="0" u="none" dirty="0">
                <a:solidFill>
                  <a:srgbClr val="004C97"/>
                </a:solidFill>
                <a:latin typeface="Nunito Sans SemiBold"/>
              </a:rPr>
              <a:t>;</a:t>
            </a:r>
            <a:r>
              <a:rPr sz="1400" b="0" i="0" u="none" dirty="0">
                <a:solidFill>
                  <a:srgbClr val="1E293B"/>
                </a:solidFill>
                <a:latin typeface="Nunito Sans"/>
              </a:rPr>
              <a:t> ‘Apple’ near ‘orange’ pulls toward fruit. ‘Apple’ near ‘phone’ pulls toward tech. A learned, weighted average, computed across the whole sequence at once.</a:t>
            </a:r>
          </a:p>
        </p:txBody>
      </p:sp>
      <p:sp>
        <p:nvSpPr>
          <p:cNvPr id="15" name="TextBox 14"/>
          <p:cNvSpPr txBox="1"/>
          <p:nvPr/>
        </p:nvSpPr>
        <p:spPr>
          <a:xfrm>
            <a:off x="609600" y="3819618"/>
            <a:ext cx="228600" cy="246221"/>
          </a:xfrm>
          <a:prstGeom prst="rect">
            <a:avLst/>
          </a:prstGeom>
          <a:noFill/>
        </p:spPr>
        <p:txBody>
          <a:bodyPr wrap="square" lIns="0" tIns="0" rIns="0" bIns="0" anchor="t">
            <a:spAutoFit/>
          </a:bodyPr>
          <a:lstStyle/>
          <a:p>
            <a:pPr algn="l"/>
            <a:r>
              <a:rPr sz="1600" b="1" i="0" u="none" dirty="0">
                <a:solidFill>
                  <a:srgbClr val="00A3E0"/>
                </a:solidFill>
                <a:latin typeface="Poppins"/>
              </a:rPr>
              <a:t>3</a:t>
            </a:r>
          </a:p>
        </p:txBody>
      </p:sp>
      <p:sp>
        <p:nvSpPr>
          <p:cNvPr id="16" name="TextBox 15"/>
          <p:cNvSpPr txBox="1"/>
          <p:nvPr/>
        </p:nvSpPr>
        <p:spPr>
          <a:xfrm>
            <a:off x="990600" y="3809052"/>
            <a:ext cx="10591800" cy="443070"/>
          </a:xfrm>
          <a:prstGeom prst="rect">
            <a:avLst/>
          </a:prstGeom>
          <a:noFill/>
        </p:spPr>
        <p:txBody>
          <a:bodyPr wrap="square" lIns="0" tIns="0" rIns="0" bIns="0" anchor="t">
            <a:spAutoFit/>
          </a:bodyPr>
          <a:lstStyle/>
          <a:p>
            <a:pPr algn="l">
              <a:lnSpc>
                <a:spcPts val="1739"/>
              </a:lnSpc>
            </a:pPr>
            <a:r>
              <a:rPr sz="1400" b="0" i="0" u="none" dirty="0">
                <a:solidFill>
                  <a:srgbClr val="004C97"/>
                </a:solidFill>
                <a:latin typeface="Nunito Sans SemiBold"/>
              </a:rPr>
              <a:t>Multi-head attention</a:t>
            </a:r>
            <a:r>
              <a:rPr lang="en-IN" sz="1400" b="0" i="0" u="none" dirty="0">
                <a:solidFill>
                  <a:srgbClr val="004C97"/>
                </a:solidFill>
                <a:latin typeface="Nunito Sans SemiBold"/>
              </a:rPr>
              <a:t>;</a:t>
            </a:r>
            <a:r>
              <a:rPr sz="1400" b="0" i="0" u="none" dirty="0">
                <a:solidFill>
                  <a:srgbClr val="1E293B"/>
                </a:solidFill>
                <a:latin typeface="Nunito Sans"/>
              </a:rPr>
              <a:t> Parallel specialist departments</a:t>
            </a:r>
            <a:r>
              <a:rPr lang="en-IN" sz="1400" b="0" i="0" u="none" dirty="0">
                <a:solidFill>
                  <a:srgbClr val="1E293B"/>
                </a:solidFill>
                <a:latin typeface="Nunito Sans"/>
              </a:rPr>
              <a:t>;</a:t>
            </a:r>
            <a:r>
              <a:rPr sz="1400" b="0" i="0" u="none" dirty="0">
                <a:solidFill>
                  <a:srgbClr val="1E293B"/>
                </a:solidFill>
                <a:latin typeface="Nunito Sans"/>
              </a:rPr>
              <a:t> one head tracks timeline, another liability, another identity</a:t>
            </a:r>
            <a:r>
              <a:rPr lang="en-IN" sz="1400" b="0" i="0" u="none" dirty="0">
                <a:solidFill>
                  <a:srgbClr val="1E293B"/>
                </a:solidFill>
                <a:latin typeface="Nunito Sans"/>
              </a:rPr>
              <a:t>;</a:t>
            </a:r>
            <a:r>
              <a:rPr sz="1400" b="0" i="0" u="none" dirty="0">
                <a:solidFill>
                  <a:srgbClr val="1E293B"/>
                </a:solidFill>
                <a:latin typeface="Nunito Sans"/>
              </a:rPr>
              <a:t> reviewing the same contract simultaneously.</a:t>
            </a:r>
          </a:p>
        </p:txBody>
      </p:sp>
      <p:sp>
        <p:nvSpPr>
          <p:cNvPr id="18" name="TextBox 17">
            <a:extLst>
              <a:ext uri="{FF2B5EF4-FFF2-40B4-BE49-F238E27FC236}">
                <a16:creationId xmlns:a16="http://schemas.microsoft.com/office/drawing/2014/main" id="{C65ABDE5-963A-EB12-4D22-0DE14EF5CB41}"/>
              </a:ext>
            </a:extLst>
          </p:cNvPr>
          <p:cNvSpPr txBox="1"/>
          <p:nvPr/>
        </p:nvSpPr>
        <p:spPr>
          <a:xfrm>
            <a:off x="609600" y="4922296"/>
            <a:ext cx="11802960" cy="194540"/>
          </a:xfrm>
          <a:prstGeom prst="rect">
            <a:avLst/>
          </a:prstGeom>
          <a:noFill/>
        </p:spPr>
        <p:txBody>
          <a:bodyPr wrap="square" lIns="0" tIns="0" rIns="0" bIns="0" anchor="t">
            <a:spAutoFit/>
          </a:bodyPr>
          <a:lstStyle/>
          <a:p>
            <a:pPr algn="l">
              <a:lnSpc>
                <a:spcPct val="112000"/>
              </a:lnSpc>
            </a:pPr>
            <a:r>
              <a:rPr sz="1200" b="0" i="1" dirty="0">
                <a:solidFill>
                  <a:srgbClr val="3B3D3E"/>
                </a:solidFill>
                <a:latin typeface="PT Sans"/>
              </a:rPr>
              <a:t>Architectural consequence: whatever is in the window changes behavior. Prompt construction is context engineering, an architecture concern, not prompting trivia.</a:t>
            </a:r>
          </a:p>
        </p:txBody>
      </p:sp>
      <p:pic>
        <p:nvPicPr>
          <p:cNvPr id="21" name="Picture 20" descr="layout12_pic1.png">
            <a:extLst>
              <a:ext uri="{FF2B5EF4-FFF2-40B4-BE49-F238E27FC236}">
                <a16:creationId xmlns:a16="http://schemas.microsoft.com/office/drawing/2014/main" id="{66C21023-A8E9-05BA-1C61-1972120397DC}"/>
              </a:ext>
            </a:extLst>
          </p:cNvPr>
          <p:cNvPicPr>
            <a:picLocks noChangeAspect="1"/>
          </p:cNvPicPr>
          <p:nvPr/>
        </p:nvPicPr>
        <p:blipFill>
          <a:blip r:embed="rId3"/>
          <a:stretch>
            <a:fillRect/>
          </a:stretch>
        </p:blipFill>
        <p:spPr>
          <a:xfrm>
            <a:off x="10564368" y="164592"/>
            <a:ext cx="1261872" cy="284366"/>
          </a:xfrm>
          <a:prstGeom prst="rect">
            <a:avLst/>
          </a:prstGeom>
        </p:spPr>
      </p:pic>
      <p:sp>
        <p:nvSpPr>
          <p:cNvPr id="22" name="TextBox 21">
            <a:extLst>
              <a:ext uri="{FF2B5EF4-FFF2-40B4-BE49-F238E27FC236}">
                <a16:creationId xmlns:a16="http://schemas.microsoft.com/office/drawing/2014/main" id="{4D2D976E-A551-588B-BE37-A4A48404B311}"/>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dirty="0" err="1">
                <a:solidFill>
                  <a:srgbClr val="FFFFFF"/>
                </a:solidFill>
                <a:latin typeface="Poppins SemiBold"/>
              </a:rPr>
              <a:t>Insight</a:t>
            </a:r>
            <a:r>
              <a:rPr sz="1125" b="0" i="0" u="none" dirty="0" err="1">
                <a:solidFill>
                  <a:srgbClr val="10B981"/>
                </a:solidFill>
                <a:latin typeface="Poppins SemiBold"/>
              </a:rPr>
              <a:t>Verge</a:t>
            </a:r>
            <a:endParaRPr sz="1125" b="0" i="0" u="none" dirty="0">
              <a:solidFill>
                <a:srgbClr val="10B981"/>
              </a:solidFill>
              <a:latin typeface="Poppins SemiBold"/>
            </a:endParaRPr>
          </a:p>
        </p:txBody>
      </p:sp>
    </p:spTree>
    <p:extLst>
      <p:ext uri="{BB962C8B-B14F-4D97-AF65-F5344CB8AC3E}">
        <p14:creationId xmlns:p14="http://schemas.microsoft.com/office/powerpoint/2010/main" val="1087455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7D9CD5-E1A7-866D-793D-341D5DAFC765}"/>
              </a:ext>
            </a:extLst>
          </p:cNvPr>
          <p:cNvPicPr>
            <a:picLocks noChangeAspect="1"/>
          </p:cNvPicPr>
          <p:nvPr/>
        </p:nvPicPr>
        <p:blipFill>
          <a:blip r:embed="rId3"/>
          <a:stretch>
            <a:fillRect/>
          </a:stretch>
        </p:blipFill>
        <p:spPr>
          <a:xfrm>
            <a:off x="1836966" y="1650000"/>
            <a:ext cx="8518067" cy="4650000"/>
          </a:xfrm>
          <a:prstGeom prst="rect">
            <a:avLst/>
          </a:prstGeom>
        </p:spPr>
      </p:pic>
      <p:sp>
        <p:nvSpPr>
          <p:cNvPr id="8" name="TextBox 7"/>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MECHANICS • FROM PREDICTOR TO ASSISTANT</a:t>
            </a:r>
          </a:p>
        </p:txBody>
      </p:sp>
      <p:sp>
        <p:nvSpPr>
          <p:cNvPr id="9" name="TextBox 8"/>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How a Transformer Becomes ChatGPT</a:t>
            </a:r>
          </a:p>
        </p:txBody>
      </p:sp>
      <p:sp>
        <p:nvSpPr>
          <p:cNvPr id="10" name="TextBox 9"/>
          <p:cNvSpPr txBox="1"/>
          <p:nvPr/>
        </p:nvSpPr>
        <p:spPr>
          <a:xfrm>
            <a:off x="609600" y="1300162"/>
            <a:ext cx="10972800" cy="384721"/>
          </a:xfrm>
          <a:prstGeom prst="rect">
            <a:avLst/>
          </a:prstGeom>
          <a:noFill/>
        </p:spPr>
        <p:txBody>
          <a:bodyPr wrap="square" lIns="0" tIns="0" rIns="0" bIns="0">
            <a:spAutoFit/>
          </a:bodyPr>
          <a:lstStyle/>
          <a:p>
            <a:pPr algn="l"/>
            <a:r>
              <a:rPr sz="1250" b="0" i="0">
                <a:solidFill>
                  <a:srgbClr val="334155"/>
                </a:solidFill>
                <a:latin typeface="Nunito Sans"/>
              </a:rPr>
              <a:t>A Transformer is many attention blocks like the last slide's, stacked layer on layer. Train that stack at scale on raw text, and this is the six-stage path from there to a helpful assistant.</a:t>
            </a:r>
          </a:p>
        </p:txBody>
      </p:sp>
      <p:pic>
        <p:nvPicPr>
          <p:cNvPr id="11" name="Picture 10" descr="image.png"/>
          <p:cNvPicPr>
            <a:picLocks noChangeAspect="1"/>
          </p:cNvPicPr>
          <p:nvPr/>
        </p:nvPicPr>
        <p:blipFill>
          <a:blip r:embed="rId4"/>
          <a:stretch>
            <a:fillRect/>
          </a:stretch>
        </p:blipFill>
        <p:spPr>
          <a:xfrm>
            <a:off x="0" y="6496050"/>
            <a:ext cx="12192000" cy="361950"/>
          </a:xfrm>
          <a:prstGeom prst="rect">
            <a:avLst/>
          </a:prstGeom>
        </p:spPr>
      </p:pic>
      <p:pic>
        <p:nvPicPr>
          <p:cNvPr id="13" name="Picture 12" descr="image.png"/>
          <p:cNvPicPr>
            <a:picLocks noChangeAspect="1"/>
          </p:cNvPicPr>
          <p:nvPr/>
        </p:nvPicPr>
        <p:blipFill>
          <a:blip r:embed="rId5"/>
          <a:stretch>
            <a:fillRect/>
          </a:stretch>
        </p:blipFill>
        <p:spPr>
          <a:xfrm>
            <a:off x="10564368" y="164592"/>
            <a:ext cx="1261872" cy="284366"/>
          </a:xfrm>
          <a:prstGeom prst="rect">
            <a:avLst/>
          </a:prstGeom>
        </p:spPr>
      </p:pic>
      <p:sp>
        <p:nvSpPr>
          <p:cNvPr id="14" name="TextBox 13"/>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1173755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709BA8-019F-F5A8-63FC-26512722FF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786FD4-5AB0-C8A4-62F7-A37DDFEE16EA}"/>
              </a:ext>
            </a:extLst>
          </p:cNvPr>
          <p:cNvSpPr txBox="1"/>
          <p:nvPr/>
        </p:nvSpPr>
        <p:spPr>
          <a:xfrm>
            <a:off x="564368" y="502353"/>
            <a:ext cx="10000000"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00A3E0"/>
                </a:solidFill>
                <a:effectLst/>
                <a:uLnTx/>
                <a:uFillTx/>
                <a:latin typeface="Nunito SemiBold"/>
                <a:ea typeface="+mn-ea"/>
                <a:cs typeface="+mn-cs"/>
              </a:rPr>
              <a:t>MECHANICS  •  THE PICTURE THAT EXPLAINS EVERYTHING</a:t>
            </a:r>
          </a:p>
        </p:txBody>
      </p:sp>
      <p:sp>
        <p:nvSpPr>
          <p:cNvPr id="8" name="TextBox 7">
            <a:extLst>
              <a:ext uri="{FF2B5EF4-FFF2-40B4-BE49-F238E27FC236}">
                <a16:creationId xmlns:a16="http://schemas.microsoft.com/office/drawing/2014/main" id="{948CC3AB-6763-1D01-8A7B-2AE0B5733745}"/>
              </a:ext>
            </a:extLst>
          </p:cNvPr>
          <p:cNvSpPr txBox="1"/>
          <p:nvPr/>
        </p:nvSpPr>
        <p:spPr>
          <a:xfrm>
            <a:off x="600000" y="5597785"/>
            <a:ext cx="10992000" cy="22576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67" b="0" i="0" u="none" strike="noStrike" kern="1200" cap="none" spc="0" normalizeH="0" baseline="0" noProof="0" dirty="0">
                <a:ln>
                  <a:noFill/>
                </a:ln>
                <a:solidFill>
                  <a:srgbClr val="3B3D3E"/>
                </a:solidFill>
                <a:effectLst/>
                <a:uLnTx/>
                <a:uFillTx/>
                <a:latin typeface="PT Sans"/>
                <a:ea typeface="+mn-ea"/>
                <a:cs typeface="+mn-cs"/>
              </a:rPr>
              <a:t>Never a database: it will fabricate a plausible policy clause with full confidence.</a:t>
            </a:r>
          </a:p>
        </p:txBody>
      </p:sp>
      <p:sp>
        <p:nvSpPr>
          <p:cNvPr id="9" name="TextBox 8">
            <a:extLst>
              <a:ext uri="{FF2B5EF4-FFF2-40B4-BE49-F238E27FC236}">
                <a16:creationId xmlns:a16="http://schemas.microsoft.com/office/drawing/2014/main" id="{DF875662-A036-B3E2-B576-C34C5114ADB5}"/>
              </a:ext>
            </a:extLst>
          </p:cNvPr>
          <p:cNvSpPr txBox="1"/>
          <p:nvPr/>
        </p:nvSpPr>
        <p:spPr>
          <a:xfrm>
            <a:off x="600000" y="5841209"/>
            <a:ext cx="10992000" cy="22576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67" b="0" i="0" u="none" strike="noStrike" kern="1200" cap="none" spc="0" normalizeH="0" baseline="0" noProof="0" dirty="0">
                <a:ln>
                  <a:noFill/>
                </a:ln>
                <a:solidFill>
                  <a:srgbClr val="3B3D3E"/>
                </a:solidFill>
                <a:effectLst/>
                <a:uLnTx/>
                <a:uFillTx/>
                <a:latin typeface="PT Sans"/>
                <a:ea typeface="+mn-ea"/>
                <a:cs typeface="+mn-cs"/>
              </a:rPr>
              <a:t>Never a calculator: arithmetic is a behavior it imitates, not a mechanism it has.</a:t>
            </a:r>
          </a:p>
        </p:txBody>
      </p:sp>
      <p:sp>
        <p:nvSpPr>
          <p:cNvPr id="10" name="TextBox 9">
            <a:extLst>
              <a:ext uri="{FF2B5EF4-FFF2-40B4-BE49-F238E27FC236}">
                <a16:creationId xmlns:a16="http://schemas.microsoft.com/office/drawing/2014/main" id="{B57D6E2E-AE98-F229-4A67-6423B187C020}"/>
              </a:ext>
            </a:extLst>
          </p:cNvPr>
          <p:cNvSpPr txBox="1"/>
          <p:nvPr/>
        </p:nvSpPr>
        <p:spPr>
          <a:xfrm>
            <a:off x="600000" y="6093777"/>
            <a:ext cx="10992000" cy="22576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67" b="0" i="0" u="none" strike="noStrike" kern="1200" cap="none" spc="0" normalizeH="0" baseline="0" noProof="0" dirty="0">
                <a:ln>
                  <a:noFill/>
                </a:ln>
                <a:solidFill>
                  <a:srgbClr val="3B3D3E"/>
                </a:solidFill>
                <a:effectLst/>
                <a:uLnTx/>
                <a:uFillTx/>
                <a:latin typeface="PT Sans"/>
                <a:ea typeface="+mn-ea"/>
                <a:cs typeface="+mn-cs"/>
              </a:rPr>
              <a:t>Never a policy engine: the rules it states are patterns of language, not enforced rules.</a:t>
            </a:r>
          </a:p>
        </p:txBody>
      </p:sp>
      <p:pic>
        <p:nvPicPr>
          <p:cNvPr id="14" name="Picture 13" descr="image.png">
            <a:extLst>
              <a:ext uri="{FF2B5EF4-FFF2-40B4-BE49-F238E27FC236}">
                <a16:creationId xmlns:a16="http://schemas.microsoft.com/office/drawing/2014/main" id="{901E7A9B-CED7-B5EF-BC95-84DF965A0389}"/>
              </a:ext>
            </a:extLst>
          </p:cNvPr>
          <p:cNvPicPr>
            <a:picLocks noChangeAspect="1"/>
          </p:cNvPicPr>
          <p:nvPr/>
        </p:nvPicPr>
        <p:blipFill>
          <a:blip r:embed="rId3"/>
          <a:stretch>
            <a:fillRect/>
          </a:stretch>
        </p:blipFill>
        <p:spPr>
          <a:xfrm>
            <a:off x="0" y="6496050"/>
            <a:ext cx="12192000" cy="361950"/>
          </a:xfrm>
          <a:prstGeom prst="rect">
            <a:avLst/>
          </a:prstGeom>
        </p:spPr>
      </p:pic>
      <p:pic>
        <p:nvPicPr>
          <p:cNvPr id="17" name="Picture 16" descr="layout12_pic1.png">
            <a:extLst>
              <a:ext uri="{FF2B5EF4-FFF2-40B4-BE49-F238E27FC236}">
                <a16:creationId xmlns:a16="http://schemas.microsoft.com/office/drawing/2014/main" id="{411EE072-3C6C-B1A6-9574-6A559B8EA9A7}"/>
              </a:ext>
            </a:extLst>
          </p:cNvPr>
          <p:cNvPicPr>
            <a:picLocks noChangeAspect="1"/>
          </p:cNvPicPr>
          <p:nvPr/>
        </p:nvPicPr>
        <p:blipFill>
          <a:blip r:embed="rId4"/>
          <a:stretch>
            <a:fillRect/>
          </a:stretch>
        </p:blipFill>
        <p:spPr>
          <a:xfrm>
            <a:off x="10564368" y="164592"/>
            <a:ext cx="1261872" cy="284366"/>
          </a:xfrm>
          <a:prstGeom prst="rect">
            <a:avLst/>
          </a:prstGeom>
        </p:spPr>
      </p:pic>
      <p:sp>
        <p:nvSpPr>
          <p:cNvPr id="18" name="TextBox 17">
            <a:extLst>
              <a:ext uri="{FF2B5EF4-FFF2-40B4-BE49-F238E27FC236}">
                <a16:creationId xmlns:a16="http://schemas.microsoft.com/office/drawing/2014/main" id="{A6300277-9FEF-D04B-CDD0-C9A050665B64}"/>
              </a:ext>
            </a:extLst>
          </p:cNvPr>
          <p:cNvSpPr txBox="1"/>
          <p:nvPr/>
        </p:nvSpPr>
        <p:spPr>
          <a:xfrm>
            <a:off x="10734675" y="6567487"/>
            <a:ext cx="1038225" cy="21907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25" b="0" i="0" u="none" strike="noStrike" kern="1200" cap="none" spc="0" normalizeH="0" baseline="0" noProof="0" dirty="0" err="1">
                <a:ln>
                  <a:noFill/>
                </a:ln>
                <a:solidFill>
                  <a:srgbClr val="FFFFFF"/>
                </a:solidFill>
                <a:effectLst/>
                <a:uLnTx/>
                <a:uFillTx/>
                <a:latin typeface="Poppins SemiBold"/>
                <a:ea typeface="+mn-ea"/>
                <a:cs typeface="+mn-cs"/>
              </a:rPr>
              <a:t>Insight</a:t>
            </a:r>
            <a:r>
              <a:rPr kumimoji="0" sz="1125" b="0" i="0" u="none" strike="noStrike" kern="1200" cap="none" spc="0" normalizeH="0" baseline="0" noProof="0" dirty="0" err="1">
                <a:ln>
                  <a:noFill/>
                </a:ln>
                <a:solidFill>
                  <a:srgbClr val="10B981"/>
                </a:solidFill>
                <a:effectLst/>
                <a:uLnTx/>
                <a:uFillTx/>
                <a:latin typeface="Poppins SemiBold"/>
                <a:ea typeface="+mn-ea"/>
                <a:cs typeface="+mn-cs"/>
              </a:rPr>
              <a:t>Verge</a:t>
            </a:r>
            <a:endParaRPr kumimoji="0" sz="1125" b="0" i="0" u="none" strike="noStrike" kern="1200" cap="none" spc="0" normalizeH="0" baseline="0" noProof="0" dirty="0">
              <a:ln>
                <a:noFill/>
              </a:ln>
              <a:solidFill>
                <a:srgbClr val="10B981"/>
              </a:solidFill>
              <a:effectLst/>
              <a:uLnTx/>
              <a:uFillTx/>
              <a:latin typeface="Poppins SemiBold"/>
              <a:ea typeface="+mn-ea"/>
              <a:cs typeface="+mn-cs"/>
            </a:endParaRPr>
          </a:p>
        </p:txBody>
      </p:sp>
      <p:pic>
        <p:nvPicPr>
          <p:cNvPr id="11" name="Picture 2">
            <a:extLst>
              <a:ext uri="{FF2B5EF4-FFF2-40B4-BE49-F238E27FC236}">
                <a16:creationId xmlns:a16="http://schemas.microsoft.com/office/drawing/2014/main" id="{4D0121B6-DBB2-2AF0-24F7-A7C9CA7C1CAE}"/>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039112" y="946049"/>
            <a:ext cx="8160532" cy="4549496"/>
          </a:xfrm>
          <a:prstGeom prst="rect">
            <a:avLst/>
          </a:prstGeom>
          <a:solidFill>
            <a:srgbClr val="FFFFFF"/>
          </a:solidFill>
        </p:spPr>
      </p:pic>
    </p:spTree>
    <p:extLst>
      <p:ext uri="{BB962C8B-B14F-4D97-AF65-F5344CB8AC3E}">
        <p14:creationId xmlns:p14="http://schemas.microsoft.com/office/powerpoint/2010/main" val="273515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RETRIEVAL • WHY RAG</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The Model Doesn't Know Two Things</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Its training ended on a fixed date, and it has never seen your company's data. Retrieval is how you close both gaps.</a:t>
            </a:r>
          </a:p>
        </p:txBody>
      </p:sp>
      <p:sp>
        <p:nvSpPr>
          <p:cNvPr id="5" name="Rounded Rectangle 4"/>
          <p:cNvSpPr/>
          <p:nvPr/>
        </p:nvSpPr>
        <p:spPr>
          <a:xfrm>
            <a:off x="609600" y="1750000"/>
            <a:ext cx="5150000" cy="19685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4950000" cy="220000"/>
          </a:xfrm>
          <a:prstGeom prst="rect">
            <a:avLst/>
          </a:prstGeom>
          <a:noFill/>
        </p:spPr>
        <p:txBody>
          <a:bodyPr wrap="square" lIns="0" tIns="0" rIns="0" bIns="0">
            <a:spAutoFit/>
          </a:bodyPr>
          <a:lstStyle/>
          <a:p>
            <a:pPr algn="l"/>
            <a:r>
              <a:rPr sz="1400" b="0" i="0">
                <a:solidFill>
                  <a:srgbClr val="004C97"/>
                </a:solidFill>
                <a:latin typeface="Poppins SemiBold"/>
              </a:rPr>
              <a:t>IT'S FROZEN IN TIME</a:t>
            </a:r>
          </a:p>
        </p:txBody>
      </p:sp>
      <p:sp>
        <p:nvSpPr>
          <p:cNvPr id="7" name="TextBox 6"/>
          <p:cNvSpPr txBox="1"/>
          <p:nvPr/>
        </p:nvSpPr>
        <p:spPr>
          <a:xfrm>
            <a:off x="709600" y="2323333"/>
            <a:ext cx="4950000" cy="938719"/>
          </a:xfrm>
          <a:prstGeom prst="rect">
            <a:avLst/>
          </a:prstGeom>
          <a:noFill/>
        </p:spPr>
        <p:txBody>
          <a:bodyPr wrap="square" lIns="0" tIns="0" rIns="0" bIns="0">
            <a:spAutoFit/>
          </a:bodyPr>
          <a:lstStyle/>
          <a:p>
            <a:pPr>
              <a:spcAft>
                <a:spcPts val="600"/>
              </a:spcAft>
            </a:pPr>
            <a:r>
              <a:rPr sz="1400" b="0" i="0">
                <a:solidFill>
                  <a:srgbClr val="3B3D3E"/>
                </a:solidFill>
                <a:latin typeface="PT Sans"/>
              </a:rPr>
              <a:t>Training data has a cutoff date. Ask about a policy that changed last month, a product that launched last week, or this quarter's numbers, and there is nothing there.</a:t>
            </a:r>
          </a:p>
          <a:p>
            <a:pPr>
              <a:spcAft>
                <a:spcPts val="600"/>
              </a:spcAft>
            </a:pPr>
            <a:r>
              <a:rPr sz="1400" b="0" i="0">
                <a:solidFill>
                  <a:srgbClr val="3B3D3E"/>
                </a:solidFill>
                <a:latin typeface="PT Sans"/>
              </a:rPr>
              <a:t>It will still answer. It just makes something up that sounds right.</a:t>
            </a:r>
          </a:p>
        </p:txBody>
      </p:sp>
      <p:sp>
        <p:nvSpPr>
          <p:cNvPr id="8" name="Rounded Rectangle 7"/>
          <p:cNvSpPr/>
          <p:nvPr/>
        </p:nvSpPr>
        <p:spPr>
          <a:xfrm>
            <a:off x="6079600" y="1750000"/>
            <a:ext cx="5502800" cy="19685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9600" y="1850000"/>
            <a:ext cx="5302800" cy="220000"/>
          </a:xfrm>
          <a:prstGeom prst="rect">
            <a:avLst/>
          </a:prstGeom>
          <a:noFill/>
        </p:spPr>
        <p:txBody>
          <a:bodyPr wrap="square" lIns="0" tIns="0" rIns="0" bIns="0">
            <a:spAutoFit/>
          </a:bodyPr>
          <a:lstStyle/>
          <a:p>
            <a:pPr algn="l"/>
            <a:r>
              <a:rPr sz="1400" b="0" i="0">
                <a:solidFill>
                  <a:srgbClr val="004C97"/>
                </a:solidFill>
                <a:latin typeface="Poppins SemiBold"/>
              </a:rPr>
              <a:t>IT HAS NEVER SEEN YOUR DATA</a:t>
            </a:r>
          </a:p>
        </p:txBody>
      </p:sp>
      <p:sp>
        <p:nvSpPr>
          <p:cNvPr id="10" name="TextBox 9"/>
          <p:cNvSpPr txBox="1"/>
          <p:nvPr/>
        </p:nvSpPr>
        <p:spPr>
          <a:xfrm>
            <a:off x="6179600" y="2323333"/>
            <a:ext cx="5302800" cy="1154162"/>
          </a:xfrm>
          <a:prstGeom prst="rect">
            <a:avLst/>
          </a:prstGeom>
          <a:noFill/>
        </p:spPr>
        <p:txBody>
          <a:bodyPr wrap="square" lIns="0" tIns="0" rIns="0" bIns="0">
            <a:spAutoFit/>
          </a:bodyPr>
          <a:lstStyle/>
          <a:p>
            <a:pPr>
              <a:spcAft>
                <a:spcPts val="600"/>
              </a:spcAft>
            </a:pPr>
            <a:r>
              <a:rPr sz="1400" b="0" i="0">
                <a:solidFill>
                  <a:srgbClr val="3B3D3E"/>
                </a:solidFill>
                <a:latin typeface="PT Sans"/>
              </a:rPr>
              <a:t>Your contracts, your inventory, your internal policies, your customer history were never in its training data. No public model has trained on them.</a:t>
            </a:r>
          </a:p>
          <a:p>
            <a:pPr>
              <a:spcAft>
                <a:spcPts val="600"/>
              </a:spcAft>
            </a:pPr>
            <a:r>
              <a:rPr sz="1400" b="0" i="0">
                <a:solidFill>
                  <a:srgbClr val="3B3D3E"/>
                </a:solidFill>
                <a:latin typeface="PT Sans"/>
              </a:rPr>
              <a:t>It knows language and reasoning well. It does not know your business at all.</a:t>
            </a:r>
          </a:p>
        </p:txBody>
      </p:sp>
      <p:sp>
        <p:nvSpPr>
          <p:cNvPr id="11" name="TextBox 10"/>
          <p:cNvSpPr txBox="1"/>
          <p:nvPr/>
        </p:nvSpPr>
        <p:spPr>
          <a:xfrm>
            <a:off x="609600" y="4254500"/>
            <a:ext cx="10972800" cy="250000"/>
          </a:xfrm>
          <a:prstGeom prst="rect">
            <a:avLst/>
          </a:prstGeom>
          <a:noFill/>
        </p:spPr>
        <p:txBody>
          <a:bodyPr wrap="square" lIns="0" tIns="0" rIns="0" bIns="0">
            <a:spAutoFit/>
          </a:bodyPr>
          <a:lstStyle/>
          <a:p>
            <a:pPr algn="l"/>
            <a:r>
              <a:rPr sz="1250" b="0" i="1">
                <a:solidFill>
                  <a:srgbClr val="3B3D3E"/>
                </a:solidFill>
                <a:latin typeface="PT Sans"/>
              </a:rPr>
              <a:t>Retrieval hands the model what it's missing: current, company-specific facts, at the moment it answers. That's everything from here on.</a:t>
            </a:r>
          </a:p>
        </p:txBody>
      </p:sp>
      <p:pic>
        <p:nvPicPr>
          <p:cNvPr id="12" name="Picture 11" descr="image.png"/>
          <p:cNvPicPr>
            <a:picLocks noChangeAspect="1"/>
          </p:cNvPicPr>
          <p:nvPr/>
        </p:nvPicPr>
        <p:blipFill>
          <a:blip r:embed="rId3"/>
          <a:stretch>
            <a:fillRect/>
          </a:stretch>
        </p:blipFill>
        <p:spPr>
          <a:xfrm>
            <a:off x="0" y="6496050"/>
            <a:ext cx="12192000" cy="361950"/>
          </a:xfrm>
          <a:prstGeom prst="rect">
            <a:avLst/>
          </a:prstGeom>
        </p:spPr>
      </p:pic>
      <p:pic>
        <p:nvPicPr>
          <p:cNvPr id="14" name="Picture 13" descr="image.png"/>
          <p:cNvPicPr>
            <a:picLocks noChangeAspect="1"/>
          </p:cNvPicPr>
          <p:nvPr/>
        </p:nvPicPr>
        <p:blipFill>
          <a:blip r:embed="rId4"/>
          <a:stretch>
            <a:fillRect/>
          </a:stretch>
        </p:blipFill>
        <p:spPr>
          <a:xfrm>
            <a:off x="10564368" y="164592"/>
            <a:ext cx="1261872" cy="284366"/>
          </a:xfrm>
          <a:prstGeom prst="rect">
            <a:avLst/>
          </a:prstGeom>
        </p:spPr>
      </p:pic>
      <p:sp>
        <p:nvSpPr>
          <p:cNvPr id="15" name="TextBox 14"/>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1272209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descr="image.png"/>
          <p:cNvPicPr>
            <a:picLocks noChangeAspect="1"/>
          </p:cNvPicPr>
          <p:nvPr/>
        </p:nvPicPr>
        <p:blipFill>
          <a:blip r:embed="rId2"/>
          <a:stretch>
            <a:fillRect/>
          </a:stretch>
        </p:blipFill>
        <p:spPr>
          <a:xfrm>
            <a:off x="0" y="6496050"/>
            <a:ext cx="12192000" cy="361950"/>
          </a:xfrm>
          <a:prstGeom prst="rect">
            <a:avLst/>
          </a:prstGeom>
        </p:spPr>
      </p:pic>
      <p:sp>
        <p:nvSpPr>
          <p:cNvPr id="11" name="TextBox 10"/>
          <p:cNvSpPr txBox="1"/>
          <p:nvPr/>
        </p:nvSpPr>
        <p:spPr>
          <a:xfrm>
            <a:off x="609600" y="438150"/>
            <a:ext cx="10972800" cy="200025"/>
          </a:xfrm>
          <a:prstGeom prst="rect">
            <a:avLst/>
          </a:prstGeom>
          <a:noFill/>
        </p:spPr>
        <p:txBody>
          <a:bodyPr wrap="square" lIns="0" tIns="0" rIns="0" bIns="0" anchor="t">
            <a:spAutoFit/>
          </a:bodyPr>
          <a:lstStyle/>
          <a:p>
            <a:pPr algn="l"/>
            <a:r>
              <a:rPr sz="1050" b="0" i="0" u="none" dirty="0">
                <a:solidFill>
                  <a:srgbClr val="00A3E0"/>
                </a:solidFill>
                <a:latin typeface="Poppins SemiBold"/>
              </a:rPr>
              <a:t>SEGMENT 3 • ENTERPRISE RAG</a:t>
            </a:r>
          </a:p>
        </p:txBody>
      </p:sp>
      <p:sp>
        <p:nvSpPr>
          <p:cNvPr id="12" name="TextBox 11"/>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dirty="0">
                <a:solidFill>
                  <a:srgbClr val="004C97"/>
                </a:solidFill>
                <a:latin typeface="Poppins SemiBold"/>
              </a:rPr>
              <a:t>Memory on Demand</a:t>
            </a:r>
          </a:p>
        </p:txBody>
      </p:sp>
      <p:pic>
        <p:nvPicPr>
          <p:cNvPr id="48" name="Picture 47" descr="layout12_pic1.png">
            <a:extLst>
              <a:ext uri="{FF2B5EF4-FFF2-40B4-BE49-F238E27FC236}">
                <a16:creationId xmlns:a16="http://schemas.microsoft.com/office/drawing/2014/main" id="{0C81B431-2A1A-412C-179A-064B190C61E1}"/>
              </a:ext>
            </a:extLst>
          </p:cNvPr>
          <p:cNvPicPr>
            <a:picLocks noChangeAspect="1"/>
          </p:cNvPicPr>
          <p:nvPr/>
        </p:nvPicPr>
        <p:blipFill>
          <a:blip r:embed="rId3"/>
          <a:stretch>
            <a:fillRect/>
          </a:stretch>
        </p:blipFill>
        <p:spPr>
          <a:xfrm>
            <a:off x="10564368" y="164592"/>
            <a:ext cx="1261872" cy="284366"/>
          </a:xfrm>
          <a:prstGeom prst="rect">
            <a:avLst/>
          </a:prstGeom>
        </p:spPr>
      </p:pic>
      <p:sp>
        <p:nvSpPr>
          <p:cNvPr id="49" name="TextBox 48">
            <a:extLst>
              <a:ext uri="{FF2B5EF4-FFF2-40B4-BE49-F238E27FC236}">
                <a16:creationId xmlns:a16="http://schemas.microsoft.com/office/drawing/2014/main" id="{E6FBFFC1-22D8-BC4A-CD45-4614A540E8EA}"/>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dirty="0" err="1">
                <a:solidFill>
                  <a:srgbClr val="FFFFFF"/>
                </a:solidFill>
                <a:latin typeface="Poppins SemiBold"/>
              </a:rPr>
              <a:t>Insight</a:t>
            </a:r>
            <a:r>
              <a:rPr sz="1125" b="0" i="0" u="none" dirty="0" err="1">
                <a:solidFill>
                  <a:srgbClr val="10B981"/>
                </a:solidFill>
                <a:latin typeface="Poppins SemiBold"/>
              </a:rPr>
              <a:t>Verge</a:t>
            </a:r>
            <a:endParaRPr sz="1125" b="0" i="0" u="none" dirty="0">
              <a:solidFill>
                <a:srgbClr val="10B981"/>
              </a:solidFill>
              <a:latin typeface="Poppins SemiBold"/>
            </a:endParaRPr>
          </a:p>
        </p:txBody>
      </p:sp>
      <p:pic>
        <p:nvPicPr>
          <p:cNvPr id="50" name="Picture 49" descr="image.png"/>
          <p:cNvPicPr>
            <a:picLocks noChangeAspect="1"/>
          </p:cNvPicPr>
          <p:nvPr/>
        </p:nvPicPr>
        <p:blipFill>
          <a:blip r:embed="rId4"/>
          <a:stretch>
            <a:fillRect/>
          </a:stretch>
        </p:blipFill>
        <p:spPr>
          <a:xfrm>
            <a:off x="498188" y="1335969"/>
            <a:ext cx="10981945" cy="51477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RAG • HOW IT'S BUILT</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Chunking: The First Decision in RAG</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Before a single document can be retrieved, it has to be cut into pieces. How you cut it decides how well it can ever be found again.</a:t>
            </a:r>
          </a:p>
        </p:txBody>
      </p:sp>
      <p:sp>
        <p:nvSpPr>
          <p:cNvPr id="5" name="Rounded Rectangle 4"/>
          <p:cNvSpPr/>
          <p:nvPr/>
        </p:nvSpPr>
        <p:spPr>
          <a:xfrm>
            <a:off x="609600" y="1750000"/>
            <a:ext cx="10972800" cy="18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10772800" cy="220000"/>
          </a:xfrm>
          <a:prstGeom prst="rect">
            <a:avLst/>
          </a:prstGeom>
          <a:noFill/>
        </p:spPr>
        <p:txBody>
          <a:bodyPr wrap="square" lIns="0" tIns="0" rIns="0" bIns="0">
            <a:spAutoFit/>
          </a:bodyPr>
          <a:lstStyle/>
          <a:p>
            <a:pPr algn="l"/>
            <a:r>
              <a:rPr sz="1350" b="0" i="0">
                <a:solidFill>
                  <a:srgbClr val="004C97"/>
                </a:solidFill>
                <a:latin typeface="Poppins SemiBold"/>
              </a:rPr>
              <a:t>THE SIZE TRADE-OFF</a:t>
            </a:r>
          </a:p>
        </p:txBody>
      </p:sp>
      <p:sp>
        <p:nvSpPr>
          <p:cNvPr id="7" name="TextBox 6"/>
          <p:cNvSpPr txBox="1"/>
          <p:nvPr/>
        </p:nvSpPr>
        <p:spPr>
          <a:xfrm>
            <a:off x="709600" y="2323333"/>
            <a:ext cx="10772800" cy="1176667"/>
          </a:xfrm>
          <a:prstGeom prst="rect">
            <a:avLst/>
          </a:prstGeom>
          <a:noFill/>
        </p:spPr>
        <p:txBody>
          <a:bodyPr wrap="square" lIns="0" tIns="0" rIns="0" bIns="0">
            <a:spAutoFit/>
          </a:bodyPr>
          <a:lstStyle/>
          <a:p>
            <a:pPr>
              <a:spcAft>
                <a:spcPts val="600"/>
              </a:spcAft>
            </a:pPr>
            <a:r>
              <a:rPr sz="1300" b="0" i="0">
                <a:solidFill>
                  <a:srgbClr val="3B3D3E"/>
                </a:solidFill>
                <a:latin typeface="PT Sans"/>
              </a:rPr>
              <a:t>• Larger chunks: more context per retrieval, but slower and quick to drag in irrelevant material alongside the relevant line.</a:t>
            </a:r>
          </a:p>
          <a:p>
            <a:pPr>
              <a:spcAft>
                <a:spcPts val="600"/>
              </a:spcAft>
            </a:pPr>
            <a:r>
              <a:rPr sz="1300" b="0" i="0">
                <a:solidFill>
                  <a:srgbClr val="3B3D3E"/>
                </a:solidFill>
                <a:latin typeface="PT Sans"/>
              </a:rPr>
              <a:t>• Smaller chunks: precise and fast, but meaning leaks out across the cut. Sweet spot most teams land on: ~300–500 tokens, never split mid-sentence.</a:t>
            </a:r>
          </a:p>
        </p:txBody>
      </p:sp>
      <p:sp>
        <p:nvSpPr>
          <p:cNvPr id="8" name="TextBox 7"/>
          <p:cNvSpPr txBox="1"/>
          <p:nvPr/>
        </p:nvSpPr>
        <p:spPr>
          <a:xfrm>
            <a:off x="609600" y="3800000"/>
            <a:ext cx="228600" cy="246221"/>
          </a:xfrm>
          <a:prstGeom prst="rect">
            <a:avLst/>
          </a:prstGeom>
          <a:noFill/>
        </p:spPr>
        <p:txBody>
          <a:bodyPr wrap="square" lIns="0" tIns="0" rIns="0" bIns="0">
            <a:spAutoFit/>
          </a:bodyPr>
          <a:lstStyle/>
          <a:p>
            <a:pPr algn="l"/>
            <a:r>
              <a:rPr sz="1600" b="1" i="0">
                <a:solidFill>
                  <a:srgbClr val="00A3E0"/>
                </a:solidFill>
                <a:latin typeface="Poppins"/>
              </a:rPr>
              <a:t>1</a:t>
            </a:r>
          </a:p>
        </p:txBody>
      </p:sp>
      <p:sp>
        <p:nvSpPr>
          <p:cNvPr id="9" name="TextBox 8"/>
          <p:cNvSpPr txBox="1"/>
          <p:nvPr/>
        </p:nvSpPr>
        <p:spPr>
          <a:xfrm>
            <a:off x="990600" y="3790000"/>
            <a:ext cx="10591800" cy="420000"/>
          </a:xfrm>
          <a:prstGeom prst="rect">
            <a:avLst/>
          </a:prstGeom>
          <a:noFill/>
        </p:spPr>
        <p:txBody>
          <a:bodyPr wrap="square" lIns="0" tIns="0" rIns="0" bIns="0">
            <a:spAutoFit/>
          </a:bodyPr>
          <a:lstStyle/>
          <a:p>
            <a:pPr algn="l"/>
            <a:r>
              <a:rPr sz="1400" b="0" i="0">
                <a:solidFill>
                  <a:srgbClr val="004C97"/>
                </a:solidFill>
                <a:latin typeface="Nunito Sans SemiBold"/>
              </a:rPr>
              <a:t>Fixed-size;  </a:t>
            </a:r>
            <a:r>
              <a:rPr sz="1400" b="0" i="0">
                <a:solidFill>
                  <a:srgbClr val="1E293B"/>
                </a:solidFill>
                <a:latin typeface="Nunito Sans"/>
              </a:rPr>
              <a:t>cut every N tokens; cheapest, crudest, ignores meaning.</a:t>
            </a:r>
          </a:p>
        </p:txBody>
      </p:sp>
      <p:sp>
        <p:nvSpPr>
          <p:cNvPr id="10" name="TextBox 9"/>
          <p:cNvSpPr txBox="1"/>
          <p:nvPr/>
        </p:nvSpPr>
        <p:spPr>
          <a:xfrm>
            <a:off x="609600" y="4290000"/>
            <a:ext cx="228600" cy="246221"/>
          </a:xfrm>
          <a:prstGeom prst="rect">
            <a:avLst/>
          </a:prstGeom>
          <a:noFill/>
        </p:spPr>
        <p:txBody>
          <a:bodyPr wrap="square" lIns="0" tIns="0" rIns="0" bIns="0">
            <a:spAutoFit/>
          </a:bodyPr>
          <a:lstStyle/>
          <a:p>
            <a:pPr algn="l"/>
            <a:r>
              <a:rPr sz="1600" b="1" i="0">
                <a:solidFill>
                  <a:srgbClr val="00A3E0"/>
                </a:solidFill>
                <a:latin typeface="Poppins"/>
              </a:rPr>
              <a:t>2</a:t>
            </a:r>
          </a:p>
        </p:txBody>
      </p:sp>
      <p:sp>
        <p:nvSpPr>
          <p:cNvPr id="11" name="TextBox 10"/>
          <p:cNvSpPr txBox="1"/>
          <p:nvPr/>
        </p:nvSpPr>
        <p:spPr>
          <a:xfrm>
            <a:off x="990600" y="4280000"/>
            <a:ext cx="10591800" cy="420000"/>
          </a:xfrm>
          <a:prstGeom prst="rect">
            <a:avLst/>
          </a:prstGeom>
          <a:noFill/>
        </p:spPr>
        <p:txBody>
          <a:bodyPr wrap="square" lIns="0" tIns="0" rIns="0" bIns="0">
            <a:spAutoFit/>
          </a:bodyPr>
          <a:lstStyle/>
          <a:p>
            <a:pPr algn="l"/>
            <a:r>
              <a:rPr sz="1400" b="0" i="0">
                <a:solidFill>
                  <a:srgbClr val="004C97"/>
                </a:solidFill>
                <a:latin typeface="Nunito Sans SemiBold"/>
              </a:rPr>
              <a:t>Sliding-window / recursive;  </a:t>
            </a:r>
            <a:r>
              <a:rPr sz="1400" b="0" i="0">
                <a:solidFill>
                  <a:srgbClr val="1E293B"/>
                </a:solidFill>
                <a:latin typeface="Nunito Sans"/>
              </a:rPr>
              <a:t>overlap chunks and split on structure (headings, paragraphs) so context survives the cut.</a:t>
            </a:r>
          </a:p>
        </p:txBody>
      </p:sp>
      <p:sp>
        <p:nvSpPr>
          <p:cNvPr id="12" name="TextBox 11"/>
          <p:cNvSpPr txBox="1"/>
          <p:nvPr/>
        </p:nvSpPr>
        <p:spPr>
          <a:xfrm>
            <a:off x="609600" y="4780000"/>
            <a:ext cx="228600" cy="246221"/>
          </a:xfrm>
          <a:prstGeom prst="rect">
            <a:avLst/>
          </a:prstGeom>
          <a:noFill/>
        </p:spPr>
        <p:txBody>
          <a:bodyPr wrap="square" lIns="0" tIns="0" rIns="0" bIns="0">
            <a:spAutoFit/>
          </a:bodyPr>
          <a:lstStyle/>
          <a:p>
            <a:pPr algn="l"/>
            <a:r>
              <a:rPr sz="1600" b="1" i="0">
                <a:solidFill>
                  <a:srgbClr val="00A3E0"/>
                </a:solidFill>
                <a:latin typeface="Poppins"/>
              </a:rPr>
              <a:t>3</a:t>
            </a:r>
          </a:p>
        </p:txBody>
      </p:sp>
      <p:sp>
        <p:nvSpPr>
          <p:cNvPr id="13" name="TextBox 12"/>
          <p:cNvSpPr txBox="1"/>
          <p:nvPr/>
        </p:nvSpPr>
        <p:spPr>
          <a:xfrm>
            <a:off x="990600" y="4770000"/>
            <a:ext cx="10591800" cy="420000"/>
          </a:xfrm>
          <a:prstGeom prst="rect">
            <a:avLst/>
          </a:prstGeom>
          <a:noFill/>
        </p:spPr>
        <p:txBody>
          <a:bodyPr wrap="square" lIns="0" tIns="0" rIns="0" bIns="0">
            <a:spAutoFit/>
          </a:bodyPr>
          <a:lstStyle/>
          <a:p>
            <a:pPr algn="l"/>
            <a:r>
              <a:rPr sz="1400" b="0" i="0">
                <a:solidFill>
                  <a:srgbClr val="004C97"/>
                </a:solidFill>
                <a:latin typeface="Nunito Sans SemiBold"/>
              </a:rPr>
              <a:t>Semantic / structure-aware;  </a:t>
            </a:r>
            <a:r>
              <a:rPr sz="1400" b="0" i="0">
                <a:solidFill>
                  <a:srgbClr val="1E293B"/>
                </a:solidFill>
                <a:latin typeface="Nunito Sans"/>
              </a:rPr>
              <a:t>cut where meaning actually changes; the ladder's top rung, used when the accuracy bar is high.</a:t>
            </a:r>
          </a:p>
        </p:txBody>
      </p:sp>
      <p:sp>
        <p:nvSpPr>
          <p:cNvPr id="14" name="TextBox 13"/>
          <p:cNvSpPr txBox="1"/>
          <p:nvPr/>
        </p:nvSpPr>
        <p:spPr>
          <a:xfrm>
            <a:off x="609600" y="5850000"/>
            <a:ext cx="10972800" cy="250000"/>
          </a:xfrm>
          <a:prstGeom prst="rect">
            <a:avLst/>
          </a:prstGeom>
          <a:noFill/>
        </p:spPr>
        <p:txBody>
          <a:bodyPr wrap="square" lIns="0" tIns="0" rIns="0" bIns="0">
            <a:spAutoFit/>
          </a:bodyPr>
          <a:lstStyle/>
          <a:p>
            <a:pPr algn="l"/>
            <a:r>
              <a:rPr sz="1250" b="0" i="1">
                <a:solidFill>
                  <a:srgbClr val="3B3D3E"/>
                </a:solidFill>
                <a:latin typeface="PT Sans"/>
              </a:rPr>
              <a:t>A vendor-funding policy split mid-clause retrieves half a sentence, and the answer cites half a rule. Chunk boundaries are policy boundaries. Get this right first: everything downstream, including the production controls on the next slide, assumes clean chunks.</a:t>
            </a:r>
          </a:p>
        </p:txBody>
      </p:sp>
      <p:pic>
        <p:nvPicPr>
          <p:cNvPr id="15" name="Picture 14" descr="image.png"/>
          <p:cNvPicPr>
            <a:picLocks noChangeAspect="1"/>
          </p:cNvPicPr>
          <p:nvPr/>
        </p:nvPicPr>
        <p:blipFill>
          <a:blip r:embed="rId3"/>
          <a:stretch>
            <a:fillRect/>
          </a:stretch>
        </p:blipFill>
        <p:spPr>
          <a:xfrm>
            <a:off x="0" y="6496050"/>
            <a:ext cx="12192000" cy="361950"/>
          </a:xfrm>
          <a:prstGeom prst="rect">
            <a:avLst/>
          </a:prstGeom>
        </p:spPr>
      </p:pic>
      <p:pic>
        <p:nvPicPr>
          <p:cNvPr id="17" name="Picture 16" descr="image.png"/>
          <p:cNvPicPr>
            <a:picLocks noChangeAspect="1"/>
          </p:cNvPicPr>
          <p:nvPr/>
        </p:nvPicPr>
        <p:blipFill>
          <a:blip r:embed="rId4"/>
          <a:stretch>
            <a:fillRect/>
          </a:stretch>
        </p:blipFill>
        <p:spPr>
          <a:xfrm>
            <a:off x="10564368" y="164592"/>
            <a:ext cx="1261872" cy="284366"/>
          </a:xfrm>
          <a:prstGeom prst="rect">
            <a:avLst/>
          </a:prstGeom>
        </p:spPr>
      </p:pic>
      <p:sp>
        <p:nvSpPr>
          <p:cNvPr id="18" name="TextBox 17"/>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112161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RAG • PRODUCTIONIZING AT SCALE</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Filter Before You Search</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Same chunks, a harder problem: at a million documents, access control has to happen before similarity scoring, not after.</a:t>
            </a:r>
          </a:p>
        </p:txBody>
      </p:sp>
      <p:sp>
        <p:nvSpPr>
          <p:cNvPr id="5" name="Rounded Rectangle 4"/>
          <p:cNvSpPr/>
          <p:nvPr/>
        </p:nvSpPr>
        <p:spPr>
          <a:xfrm>
            <a:off x="609600" y="1750000"/>
            <a:ext cx="2900000" cy="950000"/>
          </a:xfrm>
          <a:prstGeom prst="roundRect">
            <a:avLst>
              <a:gd name="adj" fmla="val 120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9600" y="1750000"/>
            <a:ext cx="2740000" cy="950000"/>
          </a:xfrm>
          <a:prstGeom prst="rect">
            <a:avLst/>
          </a:prstGeom>
          <a:noFill/>
        </p:spPr>
        <p:txBody>
          <a:bodyPr wrap="square" lIns="0" tIns="0" rIns="0" bIns="0" anchor="ctr">
            <a:spAutoFit/>
          </a:bodyPr>
          <a:lstStyle/>
          <a:p>
            <a:pPr algn="ctr"/>
            <a:r>
              <a:rPr sz="2700" b="1" i="0">
                <a:solidFill>
                  <a:srgbClr val="00B0F0"/>
                </a:solidFill>
                <a:latin typeface="Nunito SemiBold"/>
              </a:rPr>
              <a:t>10M → 80K</a:t>
            </a:r>
          </a:p>
        </p:txBody>
      </p:sp>
      <p:sp>
        <p:nvSpPr>
          <p:cNvPr id="7" name="TextBox 6"/>
          <p:cNvSpPr txBox="1"/>
          <p:nvPr/>
        </p:nvSpPr>
        <p:spPr>
          <a:xfrm>
            <a:off x="609600" y="2745000"/>
            <a:ext cx="2900000" cy="200000"/>
          </a:xfrm>
          <a:prstGeom prst="rect">
            <a:avLst/>
          </a:prstGeom>
          <a:noFill/>
        </p:spPr>
        <p:txBody>
          <a:bodyPr wrap="square" lIns="0" tIns="0" rIns="0" bIns="0">
            <a:spAutoFit/>
          </a:bodyPr>
          <a:lstStyle/>
          <a:p>
            <a:pPr algn="ctr"/>
            <a:r>
              <a:rPr sz="1150" b="0" i="0">
                <a:solidFill>
                  <a:srgbClr val="3B3D3E"/>
                </a:solidFill>
                <a:latin typeface="PT Sans"/>
              </a:rPr>
              <a:t>chunks filtered by metadata before a single similarity score runs</a:t>
            </a:r>
          </a:p>
        </p:txBody>
      </p:sp>
      <p:sp>
        <p:nvSpPr>
          <p:cNvPr id="8" name="Rounded Rectangle 7"/>
          <p:cNvSpPr/>
          <p:nvPr/>
        </p:nvSpPr>
        <p:spPr>
          <a:xfrm>
            <a:off x="3760000" y="1750000"/>
            <a:ext cx="7822400" cy="17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60000" y="1850000"/>
            <a:ext cx="7622400" cy="220000"/>
          </a:xfrm>
          <a:prstGeom prst="rect">
            <a:avLst/>
          </a:prstGeom>
          <a:noFill/>
        </p:spPr>
        <p:txBody>
          <a:bodyPr wrap="square" lIns="0" tIns="0" rIns="0" bIns="0">
            <a:spAutoFit/>
          </a:bodyPr>
          <a:lstStyle/>
          <a:p>
            <a:pPr algn="l"/>
            <a:r>
              <a:rPr sz="1350" b="0" i="0">
                <a:solidFill>
                  <a:srgbClr val="004C97"/>
                </a:solidFill>
                <a:latin typeface="Poppins SemiBold"/>
              </a:rPr>
              <a:t>WHY FILTER FIRST</a:t>
            </a:r>
          </a:p>
        </p:txBody>
      </p:sp>
      <p:sp>
        <p:nvSpPr>
          <p:cNvPr id="10" name="TextBox 9"/>
          <p:cNvSpPr txBox="1"/>
          <p:nvPr/>
        </p:nvSpPr>
        <p:spPr>
          <a:xfrm>
            <a:off x="3860000" y="2323333"/>
            <a:ext cx="7622400" cy="1076667"/>
          </a:xfrm>
          <a:prstGeom prst="rect">
            <a:avLst/>
          </a:prstGeom>
          <a:noFill/>
        </p:spPr>
        <p:txBody>
          <a:bodyPr wrap="square" lIns="0" tIns="0" rIns="0" bIns="0">
            <a:spAutoFit/>
          </a:bodyPr>
          <a:lstStyle/>
          <a:p>
            <a:pPr>
              <a:spcAft>
                <a:spcPts val="600"/>
              </a:spcAft>
            </a:pPr>
            <a:r>
              <a:rPr sz="1250" b="0" i="0">
                <a:solidFill>
                  <a:srgbClr val="3B3D3E"/>
                </a:solidFill>
                <a:latin typeface="PT Sans"/>
              </a:rPr>
              <a:t>• Access-aware filtering is a security mechanism, not a relevance feature. Tenant, document type, date, and permission decide what's even eligible.</a:t>
            </a:r>
          </a:p>
          <a:p>
            <a:pPr>
              <a:spcAft>
                <a:spcPts val="600"/>
              </a:spcAft>
            </a:pPr>
            <a:r>
              <a:rPr sz="1250" b="0" i="0">
                <a:solidFill>
                  <a:srgbClr val="3B3D3E"/>
                </a:solidFill>
                <a:latin typeface="PT Sans"/>
              </a:rPr>
              <a:t>• Filtering after the vector search means a permission check on results the model has already seen; filtering before means it never sees them.</a:t>
            </a:r>
          </a:p>
        </p:txBody>
      </p:sp>
      <p:sp>
        <p:nvSpPr>
          <p:cNvPr id="11" name="Rounded Rectangle 10"/>
          <p:cNvSpPr/>
          <p:nvPr/>
        </p:nvSpPr>
        <p:spPr>
          <a:xfrm>
            <a:off x="609600" y="3900000"/>
            <a:ext cx="10972800" cy="150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9600" y="4000000"/>
            <a:ext cx="10772800" cy="220000"/>
          </a:xfrm>
          <a:prstGeom prst="rect">
            <a:avLst/>
          </a:prstGeom>
          <a:noFill/>
        </p:spPr>
        <p:txBody>
          <a:bodyPr wrap="square" lIns="0" tIns="0" rIns="0" bIns="0">
            <a:spAutoFit/>
          </a:bodyPr>
          <a:lstStyle/>
          <a:p>
            <a:pPr algn="l"/>
            <a:r>
              <a:rPr sz="1350" b="0" i="0">
                <a:solidFill>
                  <a:srgbClr val="004C97"/>
                </a:solidFill>
                <a:latin typeface="Poppins SemiBold"/>
              </a:rPr>
              <a:t>THE HNSW TRAP</a:t>
            </a:r>
          </a:p>
        </p:txBody>
      </p:sp>
      <p:sp>
        <p:nvSpPr>
          <p:cNvPr id="13" name="TextBox 12"/>
          <p:cNvSpPr txBox="1"/>
          <p:nvPr/>
        </p:nvSpPr>
        <p:spPr>
          <a:xfrm>
            <a:off x="709600" y="4473333"/>
            <a:ext cx="10772800" cy="826667"/>
          </a:xfrm>
          <a:prstGeom prst="rect">
            <a:avLst/>
          </a:prstGeom>
          <a:noFill/>
        </p:spPr>
        <p:txBody>
          <a:bodyPr wrap="square" lIns="0" tIns="0" rIns="0" bIns="0">
            <a:spAutoFit/>
          </a:bodyPr>
          <a:lstStyle/>
          <a:p>
            <a:pPr>
              <a:spcAft>
                <a:spcPts val="600"/>
              </a:spcAft>
            </a:pPr>
            <a:r>
              <a:rPr sz="1250" b="0" i="0">
                <a:solidFill>
                  <a:srgbClr val="3B3D3E"/>
                </a:solidFill>
                <a:latin typeface="PT Sans"/>
              </a:rPr>
              <a:t>• Naive pre-filtering breaks HNSW's navigability: pruning the graph before traversal can strand the search in a disconnected pocket and miss real matches.</a:t>
            </a:r>
          </a:p>
          <a:p>
            <a:pPr>
              <a:spcAft>
                <a:spcPts val="600"/>
              </a:spcAft>
            </a:pPr>
            <a:r>
              <a:rPr sz="1250" b="0" i="0">
                <a:solidFill>
                  <a:srgbClr val="3B3D3E"/>
                </a:solidFill>
                <a:latin typeface="PT Sans"/>
              </a:rPr>
              <a:t>• Production engines (Qdrant, Weaviate, Milvus) build filtering into the ANN traversal itself, so the graph and the access rules are applied together.</a:t>
            </a:r>
          </a:p>
        </p:txBody>
      </p:sp>
      <p:sp>
        <p:nvSpPr>
          <p:cNvPr id="14" name="TextBox 13"/>
          <p:cNvSpPr txBox="1"/>
          <p:nvPr/>
        </p:nvSpPr>
        <p:spPr>
          <a:xfrm>
            <a:off x="609600" y="5750000"/>
            <a:ext cx="10972800" cy="250000"/>
          </a:xfrm>
          <a:prstGeom prst="rect">
            <a:avLst/>
          </a:prstGeom>
          <a:noFill/>
        </p:spPr>
        <p:txBody>
          <a:bodyPr wrap="square" lIns="0" tIns="0" rIns="0" bIns="0">
            <a:spAutoFit/>
          </a:bodyPr>
          <a:lstStyle/>
          <a:p>
            <a:pPr algn="l"/>
            <a:r>
              <a:rPr sz="1250" b="0" i="1">
                <a:solidFill>
                  <a:srgbClr val="3B3D3E"/>
                </a:solidFill>
                <a:latin typeface="PT Sans"/>
              </a:rPr>
              <a:t>This is the same index from the last slide, just at real scale. Clean chunking earns nothing if the filtering layer breaks the search that sits on top of it.</a:t>
            </a:r>
          </a:p>
        </p:txBody>
      </p:sp>
      <p:pic>
        <p:nvPicPr>
          <p:cNvPr id="15" name="Picture 14" descr="image.png"/>
          <p:cNvPicPr>
            <a:picLocks noChangeAspect="1"/>
          </p:cNvPicPr>
          <p:nvPr/>
        </p:nvPicPr>
        <p:blipFill>
          <a:blip r:embed="rId3"/>
          <a:stretch>
            <a:fillRect/>
          </a:stretch>
        </p:blipFill>
        <p:spPr>
          <a:xfrm>
            <a:off x="0" y="6496050"/>
            <a:ext cx="12192000" cy="361950"/>
          </a:xfrm>
          <a:prstGeom prst="rect">
            <a:avLst/>
          </a:prstGeom>
        </p:spPr>
      </p:pic>
      <p:pic>
        <p:nvPicPr>
          <p:cNvPr id="17" name="Picture 16" descr="image.png"/>
          <p:cNvPicPr>
            <a:picLocks noChangeAspect="1"/>
          </p:cNvPicPr>
          <p:nvPr/>
        </p:nvPicPr>
        <p:blipFill>
          <a:blip r:embed="rId4"/>
          <a:stretch>
            <a:fillRect/>
          </a:stretch>
        </p:blipFill>
        <p:spPr>
          <a:xfrm>
            <a:off x="10564368" y="164592"/>
            <a:ext cx="1261872" cy="284366"/>
          </a:xfrm>
          <a:prstGeom prst="rect">
            <a:avLst/>
          </a:prstGeom>
        </p:spPr>
      </p:pic>
      <p:sp>
        <p:nvSpPr>
          <p:cNvPr id="18" name="TextBox 17"/>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363660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RAG • MODES AND THE EXIT CRITERION</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Retrieval: Choose the Mode, Enforce the Exit</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Retrieval quality is the biggest lever on answer quality, bigger than prompt polish.</a:t>
            </a:r>
          </a:p>
        </p:txBody>
      </p:sp>
      <p:sp>
        <p:nvSpPr>
          <p:cNvPr id="5" name="Rounded Rectangle 4"/>
          <p:cNvSpPr/>
          <p:nvPr/>
        </p:nvSpPr>
        <p:spPr>
          <a:xfrm>
            <a:off x="609600" y="1750000"/>
            <a:ext cx="3550000" cy="950000"/>
          </a:xfrm>
          <a:prstGeom prst="roundRect">
            <a:avLst>
              <a:gd name="adj" fmla="val 12000"/>
            </a:avLst>
          </a:prstGeom>
          <a:solidFill>
            <a:srgbClr val="F4F7F5"/>
          </a:solidFill>
          <a:ln w="9525">
            <a:solidFill>
              <a:srgbClr val="DBE3EA"/>
            </a:solid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400" b="1" i="0">
                <a:solidFill>
                  <a:srgbClr val="00002E"/>
                </a:solidFill>
                <a:latin typeface="Nunito SemiBold"/>
              </a:rPr>
              <a:t>Keyword</a:t>
            </a:r>
          </a:p>
          <a:p>
            <a:pPr algn="ctr"/>
            <a:r>
              <a:rPr sz="1400" b="1" i="0">
                <a:solidFill>
                  <a:srgbClr val="00002E"/>
                </a:solidFill>
                <a:latin typeface="Nunito SemiBold"/>
              </a:rPr>
              <a:t>(BM25-style)</a:t>
            </a:r>
          </a:p>
        </p:txBody>
      </p:sp>
      <p:cxnSp>
        <p:nvCxnSpPr>
          <p:cNvPr id="6" name="Connector 5"/>
          <p:cNvCxnSpPr/>
          <p:nvPr/>
        </p:nvCxnSpPr>
        <p:spPr>
          <a:xfrm>
            <a:off x="4159600" y="2225000"/>
            <a:ext cx="155000" cy="0"/>
          </a:xfrm>
          <a:prstGeom prst="line">
            <a:avLst/>
          </a:prstGeom>
          <a:ln w="22225">
            <a:solidFill>
              <a:srgbClr val="52C07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14600" y="1750000"/>
            <a:ext cx="3550000" cy="950000"/>
          </a:xfrm>
          <a:prstGeom prst="roundRect">
            <a:avLst>
              <a:gd name="adj" fmla="val 12000"/>
            </a:avLst>
          </a:prstGeom>
          <a:solidFill>
            <a:srgbClr val="F4F7F5"/>
          </a:solidFill>
          <a:ln w="9525">
            <a:solidFill>
              <a:srgbClr val="DBE3EA"/>
            </a:solid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400" b="1" i="0">
                <a:solidFill>
                  <a:srgbClr val="00002E"/>
                </a:solidFill>
                <a:latin typeface="Nunito SemiBold"/>
              </a:rPr>
              <a:t>Vector</a:t>
            </a:r>
          </a:p>
          <a:p>
            <a:pPr algn="ctr"/>
            <a:r>
              <a:rPr sz="1400" b="1" i="0">
                <a:solidFill>
                  <a:srgbClr val="00002E"/>
                </a:solidFill>
                <a:latin typeface="Nunito SemiBold"/>
              </a:rPr>
              <a:t>(meaning)</a:t>
            </a:r>
          </a:p>
        </p:txBody>
      </p:sp>
      <p:cxnSp>
        <p:nvCxnSpPr>
          <p:cNvPr id="8" name="Connector 7"/>
          <p:cNvCxnSpPr/>
          <p:nvPr/>
        </p:nvCxnSpPr>
        <p:spPr>
          <a:xfrm>
            <a:off x="7864600" y="2225000"/>
            <a:ext cx="155000" cy="0"/>
          </a:xfrm>
          <a:prstGeom prst="line">
            <a:avLst/>
          </a:prstGeom>
          <a:ln w="22225">
            <a:solidFill>
              <a:srgbClr val="52C07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19600" y="1750000"/>
            <a:ext cx="3550000" cy="950000"/>
          </a:xfrm>
          <a:prstGeom prst="roundRect">
            <a:avLst>
              <a:gd name="adj" fmla="val 12000"/>
            </a:avLst>
          </a:prstGeom>
          <a:solidFill>
            <a:srgbClr val="F4F7F5"/>
          </a:solidFill>
          <a:ln w="9525">
            <a:solidFill>
              <a:srgbClr val="DBE3EA"/>
            </a:solid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400" b="1" i="0">
                <a:solidFill>
                  <a:srgbClr val="00002E"/>
                </a:solidFill>
                <a:latin typeface="Nunito SemiBold"/>
              </a:rPr>
              <a:t>Hybrid + Rerank</a:t>
            </a:r>
          </a:p>
          <a:p>
            <a:pPr algn="ctr"/>
            <a:r>
              <a:rPr sz="1400" b="1" i="0">
                <a:solidFill>
                  <a:srgbClr val="00002E"/>
                </a:solidFill>
                <a:latin typeface="Nunito SemiBold"/>
              </a:rPr>
              <a:t>(production default)</a:t>
            </a:r>
          </a:p>
        </p:txBody>
      </p:sp>
      <p:sp>
        <p:nvSpPr>
          <p:cNvPr id="10" name="TextBox 9"/>
          <p:cNvSpPr txBox="1"/>
          <p:nvPr/>
        </p:nvSpPr>
        <p:spPr>
          <a:xfrm>
            <a:off x="609600" y="2900000"/>
            <a:ext cx="10972800" cy="500000"/>
          </a:xfrm>
          <a:prstGeom prst="rect">
            <a:avLst/>
          </a:prstGeom>
          <a:noFill/>
        </p:spPr>
        <p:txBody>
          <a:bodyPr wrap="square" lIns="0" tIns="0" rIns="0" bIns="0">
            <a:spAutoFit/>
          </a:bodyPr>
          <a:lstStyle/>
          <a:p>
            <a:pPr algn="l"/>
            <a:r>
              <a:rPr sz="1200" b="0" i="1">
                <a:solidFill>
                  <a:srgbClr val="3B3D3E"/>
                </a:solidFill>
                <a:latin typeface="PT Sans"/>
              </a:rPr>
              <a:t>Keyword is blind to synonyms; vector is blind to exact tokens (a misread SKU becomes a confident wrong answer); hybrid fuses both, then reranks before the window.</a:t>
            </a:r>
          </a:p>
        </p:txBody>
      </p:sp>
      <p:sp>
        <p:nvSpPr>
          <p:cNvPr id="11" name="TextBox 10"/>
          <p:cNvSpPr txBox="1"/>
          <p:nvPr/>
        </p:nvSpPr>
        <p:spPr>
          <a:xfrm>
            <a:off x="609600" y="3650000"/>
            <a:ext cx="228600" cy="246221"/>
          </a:xfrm>
          <a:prstGeom prst="rect">
            <a:avLst/>
          </a:prstGeom>
          <a:noFill/>
        </p:spPr>
        <p:txBody>
          <a:bodyPr wrap="square" lIns="0" tIns="0" rIns="0" bIns="0">
            <a:spAutoFit/>
          </a:bodyPr>
          <a:lstStyle/>
          <a:p>
            <a:pPr algn="l"/>
            <a:r>
              <a:rPr sz="1600" b="1" i="0">
                <a:solidFill>
                  <a:srgbClr val="00A3E0"/>
                </a:solidFill>
                <a:latin typeface="Poppins"/>
              </a:rPr>
              <a:t>1</a:t>
            </a:r>
          </a:p>
        </p:txBody>
      </p:sp>
      <p:sp>
        <p:nvSpPr>
          <p:cNvPr id="12" name="TextBox 11"/>
          <p:cNvSpPr txBox="1"/>
          <p:nvPr/>
        </p:nvSpPr>
        <p:spPr>
          <a:xfrm>
            <a:off x="990600" y="3640000"/>
            <a:ext cx="10591800" cy="430000"/>
          </a:xfrm>
          <a:prstGeom prst="rect">
            <a:avLst/>
          </a:prstGeom>
          <a:noFill/>
        </p:spPr>
        <p:txBody>
          <a:bodyPr wrap="square" lIns="0" tIns="0" rIns="0" bIns="0">
            <a:spAutoFit/>
          </a:bodyPr>
          <a:lstStyle/>
          <a:p>
            <a:pPr algn="l"/>
            <a:r>
              <a:rPr sz="1400" b="0" i="0">
                <a:solidFill>
                  <a:srgbClr val="004C97"/>
                </a:solidFill>
                <a:latin typeface="Nunito Sans SemiBold"/>
              </a:rPr>
              <a:t>Cite;  </a:t>
            </a:r>
            <a:r>
              <a:rPr sz="1400" b="0" i="0">
                <a:solidFill>
                  <a:srgbClr val="1E293B"/>
                </a:solidFill>
                <a:latin typeface="Nunito Sans"/>
              </a:rPr>
              <a:t>every claim carries a pointer to the chunk it came from; the audit trail an auditor can open.</a:t>
            </a:r>
          </a:p>
        </p:txBody>
      </p:sp>
      <p:sp>
        <p:nvSpPr>
          <p:cNvPr id="13" name="TextBox 12"/>
          <p:cNvSpPr txBox="1"/>
          <p:nvPr/>
        </p:nvSpPr>
        <p:spPr>
          <a:xfrm>
            <a:off x="609600" y="4150000"/>
            <a:ext cx="228600" cy="246221"/>
          </a:xfrm>
          <a:prstGeom prst="rect">
            <a:avLst/>
          </a:prstGeom>
          <a:noFill/>
        </p:spPr>
        <p:txBody>
          <a:bodyPr wrap="square" lIns="0" tIns="0" rIns="0" bIns="0">
            <a:spAutoFit/>
          </a:bodyPr>
          <a:lstStyle/>
          <a:p>
            <a:pPr algn="l"/>
            <a:r>
              <a:rPr sz="1600" b="1" i="0">
                <a:solidFill>
                  <a:srgbClr val="00A3E0"/>
                </a:solidFill>
                <a:latin typeface="Poppins"/>
              </a:rPr>
              <a:t>2</a:t>
            </a:r>
          </a:p>
        </p:txBody>
      </p:sp>
      <p:sp>
        <p:nvSpPr>
          <p:cNvPr id="14" name="TextBox 13"/>
          <p:cNvSpPr txBox="1"/>
          <p:nvPr/>
        </p:nvSpPr>
        <p:spPr>
          <a:xfrm>
            <a:off x="990600" y="4140000"/>
            <a:ext cx="10591800" cy="430000"/>
          </a:xfrm>
          <a:prstGeom prst="rect">
            <a:avLst/>
          </a:prstGeom>
          <a:noFill/>
        </p:spPr>
        <p:txBody>
          <a:bodyPr wrap="square" lIns="0" tIns="0" rIns="0" bIns="0">
            <a:spAutoFit/>
          </a:bodyPr>
          <a:lstStyle/>
          <a:p>
            <a:pPr algn="l"/>
            <a:r>
              <a:rPr sz="1400" b="0" i="0">
                <a:solidFill>
                  <a:srgbClr val="004C97"/>
                </a:solidFill>
                <a:latin typeface="Nunito Sans SemiBold"/>
              </a:rPr>
              <a:t>Verify;  </a:t>
            </a:r>
            <a:r>
              <a:rPr sz="1400" b="0" i="0">
                <a:solidFill>
                  <a:srgbClr val="1E293B"/>
                </a:solidFill>
                <a:latin typeface="Nunito Sans"/>
              </a:rPr>
              <a:t>claims are validated against retrieved evidence before release: source exists, quote matches.</a:t>
            </a:r>
          </a:p>
        </p:txBody>
      </p:sp>
      <p:sp>
        <p:nvSpPr>
          <p:cNvPr id="15" name="TextBox 14"/>
          <p:cNvSpPr txBox="1"/>
          <p:nvPr/>
        </p:nvSpPr>
        <p:spPr>
          <a:xfrm>
            <a:off x="609600" y="4650000"/>
            <a:ext cx="228600" cy="246221"/>
          </a:xfrm>
          <a:prstGeom prst="rect">
            <a:avLst/>
          </a:prstGeom>
          <a:noFill/>
        </p:spPr>
        <p:txBody>
          <a:bodyPr wrap="square" lIns="0" tIns="0" rIns="0" bIns="0">
            <a:spAutoFit/>
          </a:bodyPr>
          <a:lstStyle/>
          <a:p>
            <a:pPr algn="l"/>
            <a:r>
              <a:rPr sz="1600" b="1" i="0">
                <a:solidFill>
                  <a:srgbClr val="00A3E0"/>
                </a:solidFill>
                <a:latin typeface="Poppins"/>
              </a:rPr>
              <a:t>3</a:t>
            </a:r>
          </a:p>
        </p:txBody>
      </p:sp>
      <p:sp>
        <p:nvSpPr>
          <p:cNvPr id="16" name="TextBox 15"/>
          <p:cNvSpPr txBox="1"/>
          <p:nvPr/>
        </p:nvSpPr>
        <p:spPr>
          <a:xfrm>
            <a:off x="990600" y="4640000"/>
            <a:ext cx="10591800" cy="430000"/>
          </a:xfrm>
          <a:prstGeom prst="rect">
            <a:avLst/>
          </a:prstGeom>
          <a:noFill/>
        </p:spPr>
        <p:txBody>
          <a:bodyPr wrap="square" lIns="0" tIns="0" rIns="0" bIns="0">
            <a:spAutoFit/>
          </a:bodyPr>
          <a:lstStyle/>
          <a:p>
            <a:pPr algn="l"/>
            <a:r>
              <a:rPr sz="1400" b="0" i="0">
                <a:solidFill>
                  <a:srgbClr val="004C97"/>
                </a:solidFill>
                <a:latin typeface="Nunito Sans SemiBold"/>
              </a:rPr>
              <a:t>STOP;  </a:t>
            </a:r>
            <a:r>
              <a:rPr sz="1400" b="0" i="0">
                <a:solidFill>
                  <a:srgbClr val="1E293B"/>
                </a:solidFill>
                <a:latin typeface="Nunito Sans"/>
              </a:rPr>
              <a:t>when evidence is insufficient or conflicting, the workflow halts and escalates.</a:t>
            </a:r>
          </a:p>
        </p:txBody>
      </p:sp>
      <p:sp>
        <p:nvSpPr>
          <p:cNvPr id="17" name="TextBox 16"/>
          <p:cNvSpPr txBox="1"/>
          <p:nvPr/>
        </p:nvSpPr>
        <p:spPr>
          <a:xfrm>
            <a:off x="609600" y="5350000"/>
            <a:ext cx="10972800" cy="250000"/>
          </a:xfrm>
          <a:prstGeom prst="rect">
            <a:avLst/>
          </a:prstGeom>
          <a:noFill/>
        </p:spPr>
        <p:txBody>
          <a:bodyPr wrap="square" lIns="0" tIns="0" rIns="0" bIns="0">
            <a:spAutoFit/>
          </a:bodyPr>
          <a:lstStyle/>
          <a:p>
            <a:pPr algn="l"/>
            <a:r>
              <a:rPr sz="1250" b="0" i="1">
                <a:solidFill>
                  <a:srgbClr val="3B3D3E"/>
                </a:solidFill>
                <a:latin typeface="PT Sans"/>
              </a:rPr>
              <a:t>Where vector search fails, on deterministic lookups and database questions wearing search costumes, route to SQL/API, not a bigger top-K.</a:t>
            </a:r>
          </a:p>
        </p:txBody>
      </p:sp>
      <p:pic>
        <p:nvPicPr>
          <p:cNvPr id="18" name="Picture 17" descr="image.png"/>
          <p:cNvPicPr>
            <a:picLocks noChangeAspect="1"/>
          </p:cNvPicPr>
          <p:nvPr/>
        </p:nvPicPr>
        <p:blipFill>
          <a:blip r:embed="rId3"/>
          <a:stretch>
            <a:fillRect/>
          </a:stretch>
        </p:blipFill>
        <p:spPr>
          <a:xfrm>
            <a:off x="0" y="6496050"/>
            <a:ext cx="12192000" cy="361950"/>
          </a:xfrm>
          <a:prstGeom prst="rect">
            <a:avLst/>
          </a:prstGeom>
        </p:spPr>
      </p:pic>
      <p:pic>
        <p:nvPicPr>
          <p:cNvPr id="20" name="Picture 19" descr="image.png"/>
          <p:cNvPicPr>
            <a:picLocks noChangeAspect="1"/>
          </p:cNvPicPr>
          <p:nvPr/>
        </p:nvPicPr>
        <p:blipFill>
          <a:blip r:embed="rId4"/>
          <a:stretch>
            <a:fillRect/>
          </a:stretch>
        </p:blipFill>
        <p:spPr>
          <a:xfrm>
            <a:off x="10564368" y="164592"/>
            <a:ext cx="1261872" cy="284366"/>
          </a:xfrm>
          <a:prstGeom prst="rect">
            <a:avLst/>
          </a:prstGeom>
        </p:spPr>
      </p:pic>
      <p:sp>
        <p:nvSpPr>
          <p:cNvPr id="21" name="TextBox 20"/>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3183047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RAG • MEASURING QUALITY</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RAGAS: Measuring RAG Quality</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The retrieval mode and the exit criterion on the last slide are only as good as your ability to prove they're working. That's a measurement problem.</a:t>
            </a:r>
          </a:p>
        </p:txBody>
      </p:sp>
      <p:sp>
        <p:nvSpPr>
          <p:cNvPr id="5" name="Rounded Rectangle 4"/>
          <p:cNvSpPr/>
          <p:nvPr/>
        </p:nvSpPr>
        <p:spPr>
          <a:xfrm>
            <a:off x="609600" y="1750000"/>
            <a:ext cx="10972800" cy="16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10772800" cy="220000"/>
          </a:xfrm>
          <a:prstGeom prst="rect">
            <a:avLst/>
          </a:prstGeom>
          <a:noFill/>
        </p:spPr>
        <p:txBody>
          <a:bodyPr wrap="square" lIns="0" tIns="0" rIns="0" bIns="0">
            <a:spAutoFit/>
          </a:bodyPr>
          <a:lstStyle/>
          <a:p>
            <a:pPr algn="l"/>
            <a:r>
              <a:rPr sz="1350" b="0" i="0">
                <a:solidFill>
                  <a:srgbClr val="004C97"/>
                </a:solidFill>
                <a:latin typeface="Poppins SemiBold"/>
              </a:rPr>
              <a:t>WHAT RAGAS DOES</a:t>
            </a:r>
          </a:p>
        </p:txBody>
      </p:sp>
      <p:sp>
        <p:nvSpPr>
          <p:cNvPr id="7" name="TextBox 6"/>
          <p:cNvSpPr txBox="1"/>
          <p:nvPr/>
        </p:nvSpPr>
        <p:spPr>
          <a:xfrm>
            <a:off x="709600" y="2323333"/>
            <a:ext cx="10772800" cy="976667"/>
          </a:xfrm>
          <a:prstGeom prst="rect">
            <a:avLst/>
          </a:prstGeom>
          <a:noFill/>
        </p:spPr>
        <p:txBody>
          <a:bodyPr wrap="square" lIns="0" tIns="0" rIns="0" bIns="0">
            <a:spAutoFit/>
          </a:bodyPr>
          <a:lstStyle/>
          <a:p>
            <a:pPr>
              <a:spcAft>
                <a:spcPts val="600"/>
              </a:spcAft>
            </a:pPr>
            <a:r>
              <a:rPr sz="1300" b="0" i="0">
                <a:solidFill>
                  <a:srgbClr val="3B3D3E"/>
                </a:solidFill>
                <a:latin typeface="PT Sans"/>
              </a:rPr>
              <a:t>• Open-source framework (Hugging Face) that scores a RAG pipeline automatically, without a human reading every output.</a:t>
            </a:r>
          </a:p>
          <a:p>
            <a:pPr>
              <a:spcAft>
                <a:spcPts val="600"/>
              </a:spcAft>
            </a:pPr>
            <a:r>
              <a:rPr sz="1300" b="0" i="0">
                <a:solidFill>
                  <a:srgbClr val="3B3D3E"/>
                </a:solidFill>
                <a:latin typeface="PT Sans"/>
              </a:rPr>
              <a:t>• Compares the answer against both the question and the retrieved context using semantic similarity models, not string matching.</a:t>
            </a:r>
          </a:p>
        </p:txBody>
      </p:sp>
      <p:sp>
        <p:nvSpPr>
          <p:cNvPr id="8" name="Rounded Rectangle 7"/>
          <p:cNvSpPr/>
          <p:nvPr/>
        </p:nvSpPr>
        <p:spPr>
          <a:xfrm>
            <a:off x="609600" y="3750000"/>
            <a:ext cx="5150000" cy="900000"/>
          </a:xfrm>
          <a:prstGeom prst="roundRect">
            <a:avLst>
              <a:gd name="adj" fmla="val 120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9600" y="3750000"/>
            <a:ext cx="4990000" cy="900000"/>
          </a:xfrm>
          <a:prstGeom prst="rect">
            <a:avLst/>
          </a:prstGeom>
          <a:noFill/>
        </p:spPr>
        <p:txBody>
          <a:bodyPr wrap="square" lIns="0" tIns="0" rIns="0" bIns="0" anchor="ctr">
            <a:spAutoFit/>
          </a:bodyPr>
          <a:lstStyle/>
          <a:p>
            <a:pPr algn="ctr"/>
            <a:r>
              <a:rPr sz="2700" b="1" i="0">
                <a:solidFill>
                  <a:srgbClr val="00B0F0"/>
                </a:solidFill>
                <a:latin typeface="Nunito SemiBold"/>
              </a:rPr>
              <a:t>4 Metrics</a:t>
            </a:r>
          </a:p>
        </p:txBody>
      </p:sp>
      <p:sp>
        <p:nvSpPr>
          <p:cNvPr id="10" name="TextBox 9"/>
          <p:cNvSpPr txBox="1"/>
          <p:nvPr/>
        </p:nvSpPr>
        <p:spPr>
          <a:xfrm>
            <a:off x="609600" y="4695000"/>
            <a:ext cx="5150000" cy="200000"/>
          </a:xfrm>
          <a:prstGeom prst="rect">
            <a:avLst/>
          </a:prstGeom>
          <a:noFill/>
        </p:spPr>
        <p:txBody>
          <a:bodyPr wrap="square" lIns="0" tIns="0" rIns="0" bIns="0">
            <a:spAutoFit/>
          </a:bodyPr>
          <a:lstStyle/>
          <a:p>
            <a:pPr algn="ctr"/>
            <a:r>
              <a:rPr sz="1150" b="0" i="0">
                <a:solidFill>
                  <a:srgbClr val="3B3D3E"/>
                </a:solidFill>
                <a:latin typeface="PT Sans"/>
              </a:rPr>
              <a:t>faithfulness · context precision · context recall · relevance</a:t>
            </a:r>
          </a:p>
        </p:txBody>
      </p:sp>
      <p:sp>
        <p:nvSpPr>
          <p:cNvPr id="11" name="Rounded Rectangle 10"/>
          <p:cNvSpPr/>
          <p:nvPr/>
        </p:nvSpPr>
        <p:spPr>
          <a:xfrm>
            <a:off x="6079600" y="3750000"/>
            <a:ext cx="5502800" cy="16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9600" y="3850000"/>
            <a:ext cx="5302800" cy="220000"/>
          </a:xfrm>
          <a:prstGeom prst="rect">
            <a:avLst/>
          </a:prstGeom>
          <a:noFill/>
        </p:spPr>
        <p:txBody>
          <a:bodyPr wrap="square" lIns="0" tIns="0" rIns="0" bIns="0">
            <a:spAutoFit/>
          </a:bodyPr>
          <a:lstStyle/>
          <a:p>
            <a:pPr algn="l"/>
            <a:r>
              <a:rPr sz="1350" b="0" i="0">
                <a:solidFill>
                  <a:srgbClr val="004C97"/>
                </a:solidFill>
                <a:latin typeface="Poppins SemiBold"/>
              </a:rPr>
              <a:t>RUN IT CONTINUOUSLY</a:t>
            </a:r>
          </a:p>
        </p:txBody>
      </p:sp>
      <p:sp>
        <p:nvSpPr>
          <p:cNvPr id="13" name="TextBox 12"/>
          <p:cNvSpPr txBox="1"/>
          <p:nvPr/>
        </p:nvSpPr>
        <p:spPr>
          <a:xfrm>
            <a:off x="6179600" y="4323333"/>
            <a:ext cx="5302800" cy="976667"/>
          </a:xfrm>
          <a:prstGeom prst="rect">
            <a:avLst/>
          </a:prstGeom>
          <a:noFill/>
        </p:spPr>
        <p:txBody>
          <a:bodyPr wrap="square" lIns="0" tIns="0" rIns="0" bIns="0">
            <a:spAutoFit/>
          </a:bodyPr>
          <a:lstStyle/>
          <a:p>
            <a:pPr>
              <a:spcAft>
                <a:spcPts val="600"/>
              </a:spcAft>
            </a:pPr>
            <a:r>
              <a:rPr sz="1200" b="0" i="0">
                <a:solidFill>
                  <a:srgbClr val="3B3D3E"/>
                </a:solidFill>
                <a:latin typeface="PT Sans"/>
              </a:rPr>
              <a:t>• Plugged into LangChain, LlamaIndex, or TruLens as a regression test, not a one-time report.</a:t>
            </a:r>
          </a:p>
          <a:p>
            <a:pPr>
              <a:spcAft>
                <a:spcPts val="600"/>
              </a:spcAft>
            </a:pPr>
            <a:r>
              <a:rPr sz="1200" b="0" i="0">
                <a:solidFill>
                  <a:srgbClr val="3B3D3E"/>
                </a:solidFill>
                <a:latin typeface="PT Sans"/>
              </a:rPr>
              <a:t>• Judge the judge: an LLM scoring outputs agrees with humans about as often as two humans agree with each other. Good enough to catch drift, not a substitute for spot-checks.</a:t>
            </a:r>
          </a:p>
        </p:txBody>
      </p:sp>
      <p:sp>
        <p:nvSpPr>
          <p:cNvPr id="14" name="TextBox 13"/>
          <p:cNvSpPr txBox="1"/>
          <p:nvPr/>
        </p:nvSpPr>
        <p:spPr>
          <a:xfrm>
            <a:off x="609600" y="5750000"/>
            <a:ext cx="10972800" cy="250000"/>
          </a:xfrm>
          <a:prstGeom prst="rect">
            <a:avLst/>
          </a:prstGeom>
          <a:noFill/>
        </p:spPr>
        <p:txBody>
          <a:bodyPr wrap="square" lIns="0" tIns="0" rIns="0" bIns="0">
            <a:spAutoFit/>
          </a:bodyPr>
          <a:lstStyle/>
          <a:p>
            <a:pPr algn="l"/>
            <a:r>
              <a:rPr sz="1250" b="0" i="1">
                <a:solidFill>
                  <a:srgbClr val="3B3D3E"/>
                </a:solidFill>
                <a:latin typeface="PT Sans"/>
              </a:rPr>
              <a:t>This turns evaluation from a one-time gut check into a continuous regression test, the same discipline the exit criterion on the last slide was asking for, now automated.</a:t>
            </a:r>
          </a:p>
        </p:txBody>
      </p:sp>
      <p:pic>
        <p:nvPicPr>
          <p:cNvPr id="15" name="Picture 14" descr="image.png"/>
          <p:cNvPicPr>
            <a:picLocks noChangeAspect="1"/>
          </p:cNvPicPr>
          <p:nvPr/>
        </p:nvPicPr>
        <p:blipFill>
          <a:blip r:embed="rId3"/>
          <a:stretch>
            <a:fillRect/>
          </a:stretch>
        </p:blipFill>
        <p:spPr>
          <a:xfrm>
            <a:off x="0" y="6496050"/>
            <a:ext cx="12192000" cy="361950"/>
          </a:xfrm>
          <a:prstGeom prst="rect">
            <a:avLst/>
          </a:prstGeom>
        </p:spPr>
      </p:pic>
      <p:pic>
        <p:nvPicPr>
          <p:cNvPr id="17" name="Picture 16" descr="image.png"/>
          <p:cNvPicPr>
            <a:picLocks noChangeAspect="1"/>
          </p:cNvPicPr>
          <p:nvPr/>
        </p:nvPicPr>
        <p:blipFill>
          <a:blip r:embed="rId4"/>
          <a:stretch>
            <a:fillRect/>
          </a:stretch>
        </p:blipFill>
        <p:spPr>
          <a:xfrm>
            <a:off x="10564368" y="164592"/>
            <a:ext cx="1261872" cy="284366"/>
          </a:xfrm>
          <a:prstGeom prst="rect">
            <a:avLst/>
          </a:prstGeom>
        </p:spPr>
      </p:pic>
      <p:sp>
        <p:nvSpPr>
          <p:cNvPr id="18" name="TextBox 17"/>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861259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RAG • OPERATING IT</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Running RAG in Production: Stale Data and Cost</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A pipeline can score well on RAGAS on Monday and still misbehave in production by Friday. These are the two ways that happens.</a:t>
            </a:r>
          </a:p>
        </p:txBody>
      </p:sp>
      <p:sp>
        <p:nvSpPr>
          <p:cNvPr id="5" name="Rounded Rectangle 4"/>
          <p:cNvSpPr/>
          <p:nvPr/>
        </p:nvSpPr>
        <p:spPr>
          <a:xfrm>
            <a:off x="609600" y="1750000"/>
            <a:ext cx="5150000" cy="35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4950000" cy="220000"/>
          </a:xfrm>
          <a:prstGeom prst="rect">
            <a:avLst/>
          </a:prstGeom>
          <a:noFill/>
        </p:spPr>
        <p:txBody>
          <a:bodyPr wrap="square" lIns="0" tIns="0" rIns="0" bIns="0">
            <a:spAutoFit/>
          </a:bodyPr>
          <a:lstStyle/>
          <a:p>
            <a:pPr algn="l"/>
            <a:r>
              <a:rPr sz="1350" b="0" i="0">
                <a:solidFill>
                  <a:srgbClr val="004C97"/>
                </a:solidFill>
                <a:latin typeface="Poppins SemiBold"/>
              </a:rPr>
              <a:t>STALE</a:t>
            </a:r>
          </a:p>
        </p:txBody>
      </p:sp>
      <p:sp>
        <p:nvSpPr>
          <p:cNvPr id="7" name="TextBox 6"/>
          <p:cNvSpPr txBox="1"/>
          <p:nvPr/>
        </p:nvSpPr>
        <p:spPr>
          <a:xfrm>
            <a:off x="709600" y="2323333"/>
            <a:ext cx="4950000" cy="2876667"/>
          </a:xfrm>
          <a:prstGeom prst="rect">
            <a:avLst/>
          </a:prstGeom>
          <a:noFill/>
        </p:spPr>
        <p:txBody>
          <a:bodyPr wrap="square" lIns="0" tIns="0" rIns="0" bIns="0">
            <a:spAutoFit/>
          </a:bodyPr>
          <a:lstStyle/>
          <a:p>
            <a:pPr>
              <a:spcAft>
                <a:spcPts val="600"/>
              </a:spcAft>
            </a:pPr>
            <a:r>
              <a:rPr sz="1300" b="0" i="0">
                <a:solidFill>
                  <a:srgbClr val="3B3D3E"/>
                </a:solidFill>
                <a:latin typeface="PT Sans"/>
              </a:rPr>
              <a:t>• HR updates a policy Monday; Tuesday the bot is still quoting the old one. The index didn't know anything changed.</a:t>
            </a:r>
          </a:p>
          <a:p>
            <a:pPr>
              <a:spcAft>
                <a:spcPts val="600"/>
              </a:spcAft>
            </a:pPr>
            <a:r>
              <a:rPr sz="1300" b="0" i="0">
                <a:solidFill>
                  <a:srgbClr val="3B3D3E"/>
                </a:solidFill>
                <a:latin typeface="PT Sans"/>
              </a:rPr>
              <a:t>• Fix: upsert by parent document ID so a re-ingested document replaces the old chunks instead of sitting alongside them, and weight retrieval by recency.</a:t>
            </a:r>
          </a:p>
        </p:txBody>
      </p:sp>
      <p:sp>
        <p:nvSpPr>
          <p:cNvPr id="8" name="Rounded Rectangle 7"/>
          <p:cNvSpPr/>
          <p:nvPr/>
        </p:nvSpPr>
        <p:spPr>
          <a:xfrm>
            <a:off x="6079600" y="1750000"/>
            <a:ext cx="5502800" cy="35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9600" y="1850000"/>
            <a:ext cx="5302800" cy="220000"/>
          </a:xfrm>
          <a:prstGeom prst="rect">
            <a:avLst/>
          </a:prstGeom>
          <a:noFill/>
        </p:spPr>
        <p:txBody>
          <a:bodyPr wrap="square" lIns="0" tIns="0" rIns="0" bIns="0">
            <a:spAutoFit/>
          </a:bodyPr>
          <a:lstStyle/>
          <a:p>
            <a:pPr algn="l"/>
            <a:r>
              <a:rPr sz="1350" b="0" i="0">
                <a:solidFill>
                  <a:srgbClr val="004C97"/>
                </a:solidFill>
                <a:latin typeface="Poppins SemiBold"/>
              </a:rPr>
              <a:t>EXPENSIVE</a:t>
            </a:r>
          </a:p>
        </p:txBody>
      </p:sp>
      <p:sp>
        <p:nvSpPr>
          <p:cNvPr id="10" name="TextBox 9"/>
          <p:cNvSpPr txBox="1"/>
          <p:nvPr/>
        </p:nvSpPr>
        <p:spPr>
          <a:xfrm>
            <a:off x="6179600" y="2323333"/>
            <a:ext cx="5302800" cy="2876667"/>
          </a:xfrm>
          <a:prstGeom prst="rect">
            <a:avLst/>
          </a:prstGeom>
          <a:noFill/>
        </p:spPr>
        <p:txBody>
          <a:bodyPr wrap="square" lIns="0" tIns="0" rIns="0" bIns="0">
            <a:spAutoFit/>
          </a:bodyPr>
          <a:lstStyle/>
          <a:p>
            <a:pPr>
              <a:spcAft>
                <a:spcPts val="600"/>
              </a:spcAft>
            </a:pPr>
            <a:r>
              <a:rPr sz="1300" b="0" i="0">
                <a:solidFill>
                  <a:srgbClr val="3B3D3E"/>
                </a:solidFill>
                <a:latin typeface="PT Sans"/>
              </a:rPr>
              <a:t>• 30–40% of enterprise queries are repetitive: the same handful of questions, asked by different people, hitting the full pipeline every time.</a:t>
            </a:r>
          </a:p>
          <a:p>
            <a:pPr>
              <a:spcAft>
                <a:spcPts val="600"/>
              </a:spcAft>
            </a:pPr>
            <a:r>
              <a:rPr sz="1300" b="0" i="0">
                <a:solidFill>
                  <a:srgbClr val="3B3D3E"/>
                </a:solidFill>
                <a:latin typeface="PT Sans"/>
              </a:rPr>
              <a:t>• Fix: semantic caching recognizes a previously-answered question and serves it at near-zero cost and near-zero latency, no embedding or generation call needed.</a:t>
            </a:r>
          </a:p>
        </p:txBody>
      </p:sp>
      <p:sp>
        <p:nvSpPr>
          <p:cNvPr id="11" name="TextBox 10"/>
          <p:cNvSpPr txBox="1"/>
          <p:nvPr/>
        </p:nvSpPr>
        <p:spPr>
          <a:xfrm>
            <a:off x="609600" y="5550000"/>
            <a:ext cx="10972800" cy="250000"/>
          </a:xfrm>
          <a:prstGeom prst="rect">
            <a:avLst/>
          </a:prstGeom>
          <a:noFill/>
        </p:spPr>
        <p:txBody>
          <a:bodyPr wrap="square" lIns="0" tIns="0" rIns="0" bIns="0">
            <a:spAutoFit/>
          </a:bodyPr>
          <a:lstStyle/>
          <a:p>
            <a:pPr algn="l"/>
            <a:r>
              <a:rPr sz="1250" b="0" i="1">
                <a:solidFill>
                  <a:srgbClr val="3B3D3E"/>
                </a:solidFill>
                <a:latin typeface="PT Sans"/>
              </a:rPr>
              <a:t>Neither failure shows up in a RAGAS score taken in isolation. Both only surface when you watch the pipeline over time, which is the whole argument for running that measurement continuously.</a:t>
            </a:r>
          </a:p>
        </p:txBody>
      </p:sp>
      <p:pic>
        <p:nvPicPr>
          <p:cNvPr id="12" name="Picture 11" descr="image.png"/>
          <p:cNvPicPr>
            <a:picLocks noChangeAspect="1"/>
          </p:cNvPicPr>
          <p:nvPr/>
        </p:nvPicPr>
        <p:blipFill>
          <a:blip r:embed="rId3"/>
          <a:stretch>
            <a:fillRect/>
          </a:stretch>
        </p:blipFill>
        <p:spPr>
          <a:xfrm>
            <a:off x="0" y="6496050"/>
            <a:ext cx="12192000" cy="361950"/>
          </a:xfrm>
          <a:prstGeom prst="rect">
            <a:avLst/>
          </a:prstGeom>
        </p:spPr>
      </p:pic>
      <p:pic>
        <p:nvPicPr>
          <p:cNvPr id="14" name="Picture 13" descr="image.png"/>
          <p:cNvPicPr>
            <a:picLocks noChangeAspect="1"/>
          </p:cNvPicPr>
          <p:nvPr/>
        </p:nvPicPr>
        <p:blipFill>
          <a:blip r:embed="rId4"/>
          <a:stretch>
            <a:fillRect/>
          </a:stretch>
        </p:blipFill>
        <p:spPr>
          <a:xfrm>
            <a:off x="10564368" y="164592"/>
            <a:ext cx="1261872" cy="284366"/>
          </a:xfrm>
          <a:prstGeom prst="rect">
            <a:avLst/>
          </a:prstGeom>
        </p:spPr>
      </p:pic>
      <p:sp>
        <p:nvSpPr>
          <p:cNvPr id="15" name="TextBox 14"/>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2680109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6496050"/>
            <a:ext cx="12192000" cy="361950"/>
          </a:xfrm>
          <a:prstGeom prst="rect">
            <a:avLst/>
          </a:prstGeom>
        </p:spPr>
      </p:pic>
      <p:sp>
        <p:nvSpPr>
          <p:cNvPr id="3" name="TextBox 2"/>
          <p:cNvSpPr txBox="1"/>
          <p:nvPr/>
        </p:nvSpPr>
        <p:spPr>
          <a:xfrm>
            <a:off x="609600" y="438150"/>
            <a:ext cx="10972800" cy="200025"/>
          </a:xfrm>
          <a:prstGeom prst="rect">
            <a:avLst/>
          </a:prstGeom>
          <a:noFill/>
        </p:spPr>
        <p:txBody>
          <a:bodyPr wrap="square" lIns="0" tIns="0" rIns="0" bIns="0" anchor="t">
            <a:spAutoFit/>
          </a:bodyPr>
          <a:lstStyle/>
          <a:p>
            <a:pPr algn="l"/>
            <a:r>
              <a:rPr sz="1050" b="0" i="0" u="none">
                <a:solidFill>
                  <a:srgbClr val="00A3E0"/>
                </a:solidFill>
                <a:latin typeface="Poppins SemiBold"/>
              </a:rPr>
              <a:t>RAG • THE EMPTY PANTRY RETURNS</a:t>
            </a:r>
          </a:p>
        </p:txBody>
      </p:sp>
      <p:sp>
        <p:nvSpPr>
          <p:cNvPr id="4" name="TextBox 3"/>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dirty="0">
                <a:solidFill>
                  <a:srgbClr val="004C97"/>
                </a:solidFill>
                <a:latin typeface="Poppins SemiBold"/>
              </a:rPr>
              <a:t>Your Data Is Not Ready</a:t>
            </a:r>
            <a:r>
              <a:rPr lang="en-IN" sz="2250" b="0" i="0" u="none" dirty="0">
                <a:solidFill>
                  <a:srgbClr val="004C97"/>
                </a:solidFill>
                <a:latin typeface="Poppins SemiBold"/>
              </a:rPr>
              <a:t>;</a:t>
            </a:r>
            <a:r>
              <a:rPr sz="2250" b="0" i="0" u="none" dirty="0">
                <a:solidFill>
                  <a:srgbClr val="004C97"/>
                </a:solidFill>
                <a:latin typeface="Poppins SemiBold"/>
              </a:rPr>
              <a:t> and RAG Inherits That</a:t>
            </a:r>
          </a:p>
        </p:txBody>
      </p:sp>
      <p:sp>
        <p:nvSpPr>
          <p:cNvPr id="5" name="TextBox 4"/>
          <p:cNvSpPr txBox="1"/>
          <p:nvPr/>
        </p:nvSpPr>
        <p:spPr>
          <a:xfrm>
            <a:off x="609525" y="4693070"/>
            <a:ext cx="10972800" cy="227855"/>
          </a:xfrm>
          <a:prstGeom prst="rect">
            <a:avLst/>
          </a:prstGeom>
          <a:noFill/>
        </p:spPr>
        <p:txBody>
          <a:bodyPr wrap="square" lIns="0" tIns="0" rIns="0" bIns="0" anchor="t">
            <a:spAutoFit/>
          </a:bodyPr>
          <a:lstStyle/>
          <a:p>
            <a:pPr algn="l">
              <a:lnSpc>
                <a:spcPts val="1794"/>
              </a:lnSpc>
            </a:pPr>
            <a:r>
              <a:rPr sz="1237" b="0" i="0" u="none" dirty="0">
                <a:solidFill>
                  <a:srgbClr val="334155"/>
                </a:solidFill>
                <a:latin typeface="Nunito Sans"/>
              </a:rPr>
              <a:t>Day 1's Empty Pantry, one rung up: AI amplifies whatever data system it sits on</a:t>
            </a:r>
            <a:r>
              <a:rPr lang="en-IN" sz="1237" b="0" i="0" u="none" dirty="0">
                <a:solidFill>
                  <a:srgbClr val="334155"/>
                </a:solidFill>
                <a:latin typeface="Nunito Sans"/>
              </a:rPr>
              <a:t>;</a:t>
            </a:r>
            <a:r>
              <a:rPr sz="1237" b="0" i="0" u="none" dirty="0">
                <a:solidFill>
                  <a:srgbClr val="334155"/>
                </a:solidFill>
                <a:latin typeface="Nunito Sans"/>
              </a:rPr>
              <a:t> including a weak one.</a:t>
            </a:r>
          </a:p>
        </p:txBody>
      </p:sp>
      <p:sp>
        <p:nvSpPr>
          <p:cNvPr id="11" name="TextBox 10"/>
          <p:cNvSpPr txBox="1"/>
          <p:nvPr/>
        </p:nvSpPr>
        <p:spPr>
          <a:xfrm>
            <a:off x="609525" y="4021216"/>
            <a:ext cx="10772775" cy="200173"/>
          </a:xfrm>
          <a:prstGeom prst="rect">
            <a:avLst/>
          </a:prstGeom>
          <a:noFill/>
        </p:spPr>
        <p:txBody>
          <a:bodyPr wrap="square" lIns="0" tIns="0" rIns="0" bIns="0" anchor="t">
            <a:spAutoFit/>
          </a:bodyPr>
          <a:lstStyle/>
          <a:p>
            <a:pPr algn="l">
              <a:lnSpc>
                <a:spcPts val="1576"/>
              </a:lnSpc>
            </a:pPr>
            <a:r>
              <a:rPr sz="1087" b="0" i="0" u="none" dirty="0">
                <a:solidFill>
                  <a:srgbClr val="64748B"/>
                </a:solidFill>
                <a:latin typeface="Nunito Sans"/>
              </a:rPr>
              <a:t>– </a:t>
            </a:r>
            <a:r>
              <a:rPr sz="1087" b="0" i="0" u="none" dirty="0" err="1">
                <a:solidFill>
                  <a:srgbClr val="64748B"/>
                </a:solidFill>
                <a:latin typeface="Nunito Sans"/>
              </a:rPr>
              <a:t>Eniko</a:t>
            </a:r>
            <a:r>
              <a:rPr sz="1087" b="0" i="0" u="none" dirty="0">
                <a:solidFill>
                  <a:srgbClr val="64748B"/>
                </a:solidFill>
                <a:latin typeface="Nunito Sans"/>
              </a:rPr>
              <a:t> Rozsa, IBM</a:t>
            </a:r>
          </a:p>
        </p:txBody>
      </p:sp>
      <p:sp>
        <p:nvSpPr>
          <p:cNvPr id="12" name="TextBox 11"/>
          <p:cNvSpPr txBox="1"/>
          <p:nvPr/>
        </p:nvSpPr>
        <p:spPr>
          <a:xfrm>
            <a:off x="609600" y="1737568"/>
            <a:ext cx="3479750" cy="292644"/>
          </a:xfrm>
          <a:prstGeom prst="rect">
            <a:avLst/>
          </a:prstGeom>
          <a:noFill/>
        </p:spPr>
        <p:txBody>
          <a:bodyPr wrap="square" lIns="0" tIns="0" rIns="0" bIns="0" anchor="t">
            <a:spAutoFit/>
          </a:bodyPr>
          <a:lstStyle/>
          <a:p>
            <a:pPr algn="l">
              <a:lnSpc>
                <a:spcPct val="150000"/>
              </a:lnSpc>
            </a:pPr>
            <a:r>
              <a:rPr sz="1400" b="0" i="0" u="none">
                <a:solidFill>
                  <a:srgbClr val="004C97"/>
                </a:solidFill>
                <a:latin typeface="Poppins SemiBold"/>
              </a:rPr>
              <a:t>Scattered</a:t>
            </a:r>
          </a:p>
        </p:txBody>
      </p:sp>
      <p:sp>
        <p:nvSpPr>
          <p:cNvPr id="13" name="TextBox 12"/>
          <p:cNvSpPr txBox="1"/>
          <p:nvPr/>
        </p:nvSpPr>
        <p:spPr>
          <a:xfrm>
            <a:off x="609600" y="2042368"/>
            <a:ext cx="3479750" cy="486672"/>
          </a:xfrm>
          <a:prstGeom prst="rect">
            <a:avLst/>
          </a:prstGeom>
          <a:noFill/>
        </p:spPr>
        <p:txBody>
          <a:bodyPr wrap="square" lIns="0" tIns="0" rIns="0" bIns="0" anchor="t">
            <a:spAutoFit/>
          </a:bodyPr>
          <a:lstStyle/>
          <a:p>
            <a:pPr algn="l">
              <a:lnSpc>
                <a:spcPct val="150000"/>
              </a:lnSpc>
            </a:pPr>
            <a:r>
              <a:rPr sz="1100" b="0" i="0" u="none" dirty="0">
                <a:latin typeface="Nunito Sans"/>
              </a:rPr>
              <a:t>The policy lives across SharePoint, email, local drives, three document systems</a:t>
            </a:r>
            <a:r>
              <a:rPr lang="en-IN" sz="1100" b="0" i="0" u="none" dirty="0">
                <a:latin typeface="Nunito Sans"/>
              </a:rPr>
              <a:t>;</a:t>
            </a:r>
            <a:r>
              <a:rPr sz="1100" b="0" i="0" u="none" dirty="0">
                <a:latin typeface="Nunito Sans"/>
              </a:rPr>
              <a:t> no single source of truth.</a:t>
            </a:r>
          </a:p>
        </p:txBody>
      </p:sp>
      <p:sp>
        <p:nvSpPr>
          <p:cNvPr id="14" name="TextBox 13"/>
          <p:cNvSpPr txBox="1"/>
          <p:nvPr/>
        </p:nvSpPr>
        <p:spPr>
          <a:xfrm>
            <a:off x="4356050" y="1737568"/>
            <a:ext cx="3479750" cy="292644"/>
          </a:xfrm>
          <a:prstGeom prst="rect">
            <a:avLst/>
          </a:prstGeom>
          <a:noFill/>
        </p:spPr>
        <p:txBody>
          <a:bodyPr wrap="square" lIns="0" tIns="0" rIns="0" bIns="0" anchor="t">
            <a:spAutoFit/>
          </a:bodyPr>
          <a:lstStyle/>
          <a:p>
            <a:pPr algn="l">
              <a:lnSpc>
                <a:spcPct val="150000"/>
              </a:lnSpc>
            </a:pPr>
            <a:r>
              <a:rPr sz="1400" b="0" i="0" u="none">
                <a:solidFill>
                  <a:srgbClr val="00A3E0"/>
                </a:solidFill>
                <a:latin typeface="Poppins SemiBold"/>
              </a:rPr>
              <a:t>Stale</a:t>
            </a:r>
          </a:p>
        </p:txBody>
      </p:sp>
      <p:sp>
        <p:nvSpPr>
          <p:cNvPr id="15" name="TextBox 14"/>
          <p:cNvSpPr txBox="1"/>
          <p:nvPr/>
        </p:nvSpPr>
        <p:spPr>
          <a:xfrm>
            <a:off x="4356050" y="2042368"/>
            <a:ext cx="3479750" cy="740587"/>
          </a:xfrm>
          <a:prstGeom prst="rect">
            <a:avLst/>
          </a:prstGeom>
          <a:noFill/>
        </p:spPr>
        <p:txBody>
          <a:bodyPr wrap="square" lIns="0" tIns="0" rIns="0" bIns="0" anchor="t">
            <a:spAutoFit/>
          </a:bodyPr>
          <a:lstStyle/>
          <a:p>
            <a:pPr algn="l">
              <a:lnSpc>
                <a:spcPct val="150000"/>
              </a:lnSpc>
            </a:pPr>
            <a:r>
              <a:rPr sz="1100" b="0" i="0" u="none">
                <a:latin typeface="Nunito Sans"/>
              </a:rPr>
              <a:t>The documents exist, but nobody trusts them; they haven't been updated in years, so people route around them.</a:t>
            </a:r>
          </a:p>
        </p:txBody>
      </p:sp>
      <p:sp>
        <p:nvSpPr>
          <p:cNvPr id="16" name="TextBox 15"/>
          <p:cNvSpPr txBox="1"/>
          <p:nvPr/>
        </p:nvSpPr>
        <p:spPr>
          <a:xfrm>
            <a:off x="8102500" y="1737568"/>
            <a:ext cx="3479899" cy="292644"/>
          </a:xfrm>
          <a:prstGeom prst="rect">
            <a:avLst/>
          </a:prstGeom>
          <a:noFill/>
        </p:spPr>
        <p:txBody>
          <a:bodyPr wrap="square" lIns="0" tIns="0" rIns="0" bIns="0" anchor="t">
            <a:spAutoFit/>
          </a:bodyPr>
          <a:lstStyle/>
          <a:p>
            <a:pPr algn="l">
              <a:lnSpc>
                <a:spcPct val="150000"/>
              </a:lnSpc>
            </a:pPr>
            <a:r>
              <a:rPr sz="1400" b="0" i="0" u="none">
                <a:solidFill>
                  <a:srgbClr val="004C97"/>
                </a:solidFill>
                <a:latin typeface="Poppins SemiBold"/>
              </a:rPr>
              <a:t>Tacit</a:t>
            </a:r>
          </a:p>
        </p:txBody>
      </p:sp>
      <p:sp>
        <p:nvSpPr>
          <p:cNvPr id="17" name="TextBox 16"/>
          <p:cNvSpPr txBox="1"/>
          <p:nvPr/>
        </p:nvSpPr>
        <p:spPr>
          <a:xfrm>
            <a:off x="8102500" y="2042368"/>
            <a:ext cx="3479899" cy="740587"/>
          </a:xfrm>
          <a:prstGeom prst="rect">
            <a:avLst/>
          </a:prstGeom>
          <a:noFill/>
        </p:spPr>
        <p:txBody>
          <a:bodyPr wrap="square" lIns="0" tIns="0" rIns="0" bIns="0" anchor="t">
            <a:spAutoFit/>
          </a:bodyPr>
          <a:lstStyle/>
          <a:p>
            <a:pPr algn="l">
              <a:lnSpc>
                <a:spcPct val="150000"/>
              </a:lnSpc>
            </a:pPr>
            <a:r>
              <a:rPr sz="1100" b="0" i="0" u="none">
                <a:latin typeface="Nunito Sans"/>
              </a:rPr>
              <a:t>The worst one: the real rule lives in one person's head or one local file. The process step is literally ‘ask so-and-so.’</a:t>
            </a:r>
          </a:p>
        </p:txBody>
      </p:sp>
      <p:sp>
        <p:nvSpPr>
          <p:cNvPr id="19" name="TextBox 18">
            <a:extLst>
              <a:ext uri="{FF2B5EF4-FFF2-40B4-BE49-F238E27FC236}">
                <a16:creationId xmlns:a16="http://schemas.microsoft.com/office/drawing/2014/main" id="{C61ABF95-31E0-3D3F-0C4C-D4C6E5DD9F9F}"/>
              </a:ext>
            </a:extLst>
          </p:cNvPr>
          <p:cNvSpPr txBox="1"/>
          <p:nvPr/>
        </p:nvSpPr>
        <p:spPr>
          <a:xfrm>
            <a:off x="609525" y="3363332"/>
            <a:ext cx="7724000" cy="490904"/>
          </a:xfrm>
          <a:prstGeom prst="rect">
            <a:avLst/>
          </a:prstGeom>
          <a:noFill/>
        </p:spPr>
        <p:txBody>
          <a:bodyPr wrap="square" lIns="0" tIns="0" rIns="0" bIns="0" anchor="ctr">
            <a:spAutoFit/>
          </a:bodyPr>
          <a:lstStyle/>
          <a:p>
            <a:pPr algn="l">
              <a:lnSpc>
                <a:spcPct val="128000"/>
              </a:lnSpc>
            </a:pPr>
            <a:r>
              <a:rPr sz="1300" b="0" i="1" dirty="0">
                <a:latin typeface="PT Sans"/>
              </a:rPr>
              <a:t>“The reason your AI agent keeps getting it wrong isn't the model. It's the data. Your data strategy and your AI strategy aren't two separate conversations.”</a:t>
            </a:r>
          </a:p>
        </p:txBody>
      </p:sp>
      <p:pic>
        <p:nvPicPr>
          <p:cNvPr id="21" name="Picture 20" descr="layout12_pic1.png">
            <a:extLst>
              <a:ext uri="{FF2B5EF4-FFF2-40B4-BE49-F238E27FC236}">
                <a16:creationId xmlns:a16="http://schemas.microsoft.com/office/drawing/2014/main" id="{B50D6749-42C7-2E03-7CDC-1373CBECEC66}"/>
              </a:ext>
            </a:extLst>
          </p:cNvPr>
          <p:cNvPicPr>
            <a:picLocks noChangeAspect="1"/>
          </p:cNvPicPr>
          <p:nvPr/>
        </p:nvPicPr>
        <p:blipFill>
          <a:blip r:embed="rId3"/>
          <a:stretch>
            <a:fillRect/>
          </a:stretch>
        </p:blipFill>
        <p:spPr>
          <a:xfrm>
            <a:off x="10564368" y="164592"/>
            <a:ext cx="1261872" cy="284366"/>
          </a:xfrm>
          <a:prstGeom prst="rect">
            <a:avLst/>
          </a:prstGeom>
        </p:spPr>
      </p:pic>
      <p:sp>
        <p:nvSpPr>
          <p:cNvPr id="22" name="TextBox 21">
            <a:extLst>
              <a:ext uri="{FF2B5EF4-FFF2-40B4-BE49-F238E27FC236}">
                <a16:creationId xmlns:a16="http://schemas.microsoft.com/office/drawing/2014/main" id="{4989C22A-496A-E0AC-1C2D-7FA9C9E92AA3}"/>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dirty="0" err="1">
                <a:solidFill>
                  <a:srgbClr val="FFFFFF"/>
                </a:solidFill>
                <a:latin typeface="Poppins SemiBold"/>
              </a:rPr>
              <a:t>Insight</a:t>
            </a:r>
            <a:r>
              <a:rPr sz="1125" b="0" i="0" u="none" dirty="0" err="1">
                <a:solidFill>
                  <a:srgbClr val="10B981"/>
                </a:solidFill>
                <a:latin typeface="Poppins SemiBold"/>
              </a:rPr>
              <a:t>Verge</a:t>
            </a:r>
            <a:endParaRPr sz="1125" b="0" i="0" u="none" dirty="0">
              <a:solidFill>
                <a:srgbClr val="10B981"/>
              </a:solidFill>
              <a:latin typeface="Poppins SemiBold"/>
            </a:endParaRPr>
          </a:p>
        </p:txBody>
      </p:sp>
    </p:spTree>
    <p:extLst>
      <p:ext uri="{BB962C8B-B14F-4D97-AF65-F5344CB8AC3E}">
        <p14:creationId xmlns:p14="http://schemas.microsoft.com/office/powerpoint/2010/main" val="2316171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6496050"/>
            <a:ext cx="12192000" cy="361950"/>
          </a:xfrm>
          <a:prstGeom prst="rect">
            <a:avLst/>
          </a:prstGeom>
        </p:spPr>
      </p:pic>
      <p:sp>
        <p:nvSpPr>
          <p:cNvPr id="3" name="TextBox 2"/>
          <p:cNvSpPr txBox="1"/>
          <p:nvPr/>
        </p:nvSpPr>
        <p:spPr>
          <a:xfrm>
            <a:off x="609600" y="438150"/>
            <a:ext cx="10972800" cy="200025"/>
          </a:xfrm>
          <a:prstGeom prst="rect">
            <a:avLst/>
          </a:prstGeom>
          <a:noFill/>
        </p:spPr>
        <p:txBody>
          <a:bodyPr wrap="square" lIns="0" tIns="0" rIns="0" bIns="0" anchor="t">
            <a:spAutoFit/>
          </a:bodyPr>
          <a:lstStyle/>
          <a:p>
            <a:pPr algn="l"/>
            <a:r>
              <a:rPr sz="1050" b="0" i="0" u="none" dirty="0">
                <a:solidFill>
                  <a:srgbClr val="00A3E0"/>
                </a:solidFill>
                <a:latin typeface="Poppins SemiBold"/>
              </a:rPr>
              <a:t>RIGHT-SIZING • SLM VS FRONTIER</a:t>
            </a:r>
          </a:p>
        </p:txBody>
      </p:sp>
      <p:sp>
        <p:nvSpPr>
          <p:cNvPr id="4" name="TextBox 3"/>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dirty="0">
                <a:solidFill>
                  <a:srgbClr val="004C97"/>
                </a:solidFill>
                <a:latin typeface="Poppins SemiBold"/>
              </a:rPr>
              <a:t>Two Deployment Worlds</a:t>
            </a:r>
            <a:r>
              <a:rPr lang="en-IN" sz="2250" b="0" i="0" u="none" dirty="0">
                <a:solidFill>
                  <a:srgbClr val="004C97"/>
                </a:solidFill>
                <a:latin typeface="Poppins SemiBold"/>
              </a:rPr>
              <a:t>;</a:t>
            </a:r>
            <a:r>
              <a:rPr sz="2250" b="0" i="0" u="none" dirty="0">
                <a:solidFill>
                  <a:srgbClr val="004C97"/>
                </a:solidFill>
                <a:latin typeface="Poppins SemiBold"/>
              </a:rPr>
              <a:t> and the History That Rhymes</a:t>
            </a:r>
          </a:p>
        </p:txBody>
      </p:sp>
      <p:sp>
        <p:nvSpPr>
          <p:cNvPr id="5" name="TextBox 4"/>
          <p:cNvSpPr txBox="1"/>
          <p:nvPr/>
        </p:nvSpPr>
        <p:spPr>
          <a:xfrm>
            <a:off x="609600" y="1300162"/>
            <a:ext cx="10972800" cy="227855"/>
          </a:xfrm>
          <a:prstGeom prst="rect">
            <a:avLst/>
          </a:prstGeom>
          <a:noFill/>
        </p:spPr>
        <p:txBody>
          <a:bodyPr wrap="square" lIns="0" tIns="0" rIns="0" bIns="0" anchor="t">
            <a:spAutoFit/>
          </a:bodyPr>
          <a:lstStyle/>
          <a:p>
            <a:pPr algn="l">
              <a:lnSpc>
                <a:spcPts val="1794"/>
              </a:lnSpc>
            </a:pPr>
            <a:r>
              <a:rPr sz="1237" b="0" i="0" u="none">
                <a:solidFill>
                  <a:srgbClr val="334155"/>
                </a:solidFill>
                <a:latin typeface="Nunito Sans"/>
              </a:rPr>
              <a:t>The honest version: both worlds keep growing. Most enterprise workloads never needed the frontier.</a:t>
            </a:r>
          </a:p>
        </p:txBody>
      </p:sp>
      <p:graphicFrame>
        <p:nvGraphicFramePr>
          <p:cNvPr id="6" name="Table 5"/>
          <p:cNvGraphicFramePr>
            <a:graphicFrameLocks noGrp="1"/>
          </p:cNvGraphicFramePr>
          <p:nvPr/>
        </p:nvGraphicFramePr>
        <p:xfrm>
          <a:off x="609600" y="1794718"/>
          <a:ext cx="10972799" cy="2429619"/>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059882">
                  <a:extLst>
                    <a:ext uri="{9D8B030D-6E8A-4147-A177-3AD203B41FA5}">
                      <a16:colId xmlns:a16="http://schemas.microsoft.com/office/drawing/2014/main" val="20001"/>
                    </a:ext>
                  </a:extLst>
                </a:gridCol>
                <a:gridCol w="4169717">
                  <a:extLst>
                    <a:ext uri="{9D8B030D-6E8A-4147-A177-3AD203B41FA5}">
                      <a16:colId xmlns:a16="http://schemas.microsoft.com/office/drawing/2014/main" val="20002"/>
                    </a:ext>
                  </a:extLst>
                </a:gridCol>
              </a:tblGrid>
              <a:tr h="404936">
                <a:tc>
                  <a:txBody>
                    <a:bodyPr/>
                    <a:lstStyle/>
                    <a:p>
                      <a:pPr algn="l"/>
                      <a:r>
                        <a:rPr sz="1087" b="1" i="0" u="none">
                          <a:solidFill>
                            <a:srgbClr val="004C97"/>
                          </a:solidFill>
                          <a:latin typeface="Poppins"/>
                        </a:rPr>
                        <a:t>Dimension</a:t>
                      </a:r>
                    </a:p>
                  </a:txBody>
                  <a:tcPr marL="63500" marR="63500" marT="25400" marB="25400" anchor="ctr">
                    <a:lnL>
                      <a:noFill/>
                    </a:lnL>
                    <a:lnR>
                      <a:noFill/>
                    </a:lnR>
                    <a:lnT>
                      <a:noFill/>
                    </a:lnT>
                    <a:lnB>
                      <a:noFill/>
                    </a:lnB>
                    <a:solidFill>
                      <a:srgbClr val="C4F0FC"/>
                    </a:solidFill>
                  </a:tcPr>
                </a:tc>
                <a:tc>
                  <a:txBody>
                    <a:bodyPr/>
                    <a:lstStyle/>
                    <a:p>
                      <a:pPr algn="l"/>
                      <a:r>
                        <a:rPr sz="1087" b="1" i="0" u="none">
                          <a:solidFill>
                            <a:srgbClr val="004C97"/>
                          </a:solidFill>
                          <a:latin typeface="Poppins"/>
                        </a:rPr>
                        <a:t>Frontier (cloud)</a:t>
                      </a:r>
                    </a:p>
                  </a:txBody>
                  <a:tcPr marL="63500" marR="63500" marT="25400" marB="25400" anchor="ctr">
                    <a:lnL>
                      <a:noFill/>
                    </a:lnL>
                    <a:lnR>
                      <a:noFill/>
                    </a:lnR>
                    <a:lnT>
                      <a:noFill/>
                    </a:lnT>
                    <a:lnB>
                      <a:noFill/>
                    </a:lnB>
                    <a:solidFill>
                      <a:srgbClr val="C4F0FC"/>
                    </a:solidFill>
                  </a:tcPr>
                </a:tc>
                <a:tc>
                  <a:txBody>
                    <a:bodyPr/>
                    <a:lstStyle/>
                    <a:p>
                      <a:pPr algn="l"/>
                      <a:r>
                        <a:rPr sz="1087" b="1" i="0" u="none">
                          <a:solidFill>
                            <a:srgbClr val="004C97"/>
                          </a:solidFill>
                          <a:latin typeface="Poppins"/>
                        </a:rPr>
                        <a:t>SLM (local)</a:t>
                      </a:r>
                    </a:p>
                  </a:txBody>
                  <a:tcPr marL="63500" marR="63500" marT="25400" marB="25400" anchor="ctr">
                    <a:lnL>
                      <a:noFill/>
                    </a:lnL>
                    <a:lnR>
                      <a:noFill/>
                    </a:lnR>
                    <a:lnT>
                      <a:noFill/>
                    </a:lnT>
                    <a:lnB>
                      <a:noFill/>
                    </a:lnB>
                    <a:solidFill>
                      <a:srgbClr val="C4F0FC"/>
                    </a:solidFill>
                  </a:tcPr>
                </a:tc>
                <a:extLst>
                  <a:ext uri="{0D108BD9-81ED-4DB2-BD59-A6C34878D82A}">
                    <a16:rowId xmlns:a16="http://schemas.microsoft.com/office/drawing/2014/main" val="10000"/>
                  </a:ext>
                </a:extLst>
              </a:tr>
              <a:tr h="404936">
                <a:tc>
                  <a:txBody>
                    <a:bodyPr/>
                    <a:lstStyle/>
                    <a:p>
                      <a:pPr algn="l"/>
                      <a:r>
                        <a:rPr sz="1087" b="1" i="0" u="none">
                          <a:solidFill>
                            <a:srgbClr val="004C97"/>
                          </a:solidFill>
                          <a:latin typeface="Nunito Sans"/>
                        </a:rPr>
                        <a:t>Capability breadth</a:t>
                      </a:r>
                    </a:p>
                  </a:txBody>
                  <a:tcPr marL="63500" marR="63500" marT="25400" marB="25400" anchor="ctr">
                    <a:lnL>
                      <a:noFill/>
                    </a:lnL>
                    <a:lnR>
                      <a:noFill/>
                    </a:lnR>
                    <a:lnT>
                      <a:noFill/>
                    </a:lnT>
                    <a:lnB>
                      <a:noFill/>
                    </a:lnB>
                    <a:noFill/>
                  </a:tcPr>
                </a:tc>
                <a:tc>
                  <a:txBody>
                    <a:bodyPr/>
                    <a:lstStyle/>
                    <a:p>
                      <a:pPr algn="l"/>
                      <a:r>
                        <a:rPr sz="1087" b="0" i="0" u="none">
                          <a:solidFill>
                            <a:srgbClr val="334155"/>
                          </a:solidFill>
                          <a:latin typeface="Nunito Sans"/>
                        </a:rPr>
                        <a:t>Deep, general</a:t>
                      </a:r>
                    </a:p>
                  </a:txBody>
                  <a:tcPr marL="63500" marR="63500" marT="25400" marB="25400" anchor="ctr">
                    <a:lnL>
                      <a:noFill/>
                    </a:lnL>
                    <a:lnR>
                      <a:noFill/>
                    </a:lnR>
                    <a:lnT>
                      <a:noFill/>
                    </a:lnT>
                    <a:lnB>
                      <a:noFill/>
                    </a:lnB>
                    <a:noFill/>
                  </a:tcPr>
                </a:tc>
                <a:tc>
                  <a:txBody>
                    <a:bodyPr/>
                    <a:lstStyle/>
                    <a:p>
                      <a:pPr algn="l"/>
                      <a:r>
                        <a:rPr sz="1087" b="0" i="0" u="none">
                          <a:solidFill>
                            <a:srgbClr val="334155"/>
                          </a:solidFill>
                          <a:latin typeface="Nunito Sans"/>
                        </a:rPr>
                        <a:t>Narrow, task-focused</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04936">
                <a:tc>
                  <a:txBody>
                    <a:bodyPr/>
                    <a:lstStyle/>
                    <a:p>
                      <a:pPr algn="l"/>
                      <a:r>
                        <a:rPr sz="1087" b="1" i="0" u="none">
                          <a:solidFill>
                            <a:srgbClr val="004C97"/>
                          </a:solidFill>
                          <a:latin typeface="Nunito Sans"/>
                        </a:rPr>
                        <a:t>Latency</a:t>
                      </a:r>
                    </a:p>
                  </a:txBody>
                  <a:tcPr marL="63500" marR="63500" marT="25400" marB="25400" anchor="ctr">
                    <a:lnL>
                      <a:noFill/>
                    </a:lnL>
                    <a:lnR>
                      <a:noFill/>
                    </a:lnR>
                    <a:lnT>
                      <a:noFill/>
                    </a:lnT>
                    <a:lnB>
                      <a:noFill/>
                    </a:lnB>
                    <a:solidFill>
                      <a:srgbClr val="F8FAFC"/>
                    </a:solidFill>
                  </a:tcPr>
                </a:tc>
                <a:tc>
                  <a:txBody>
                    <a:bodyPr/>
                    <a:lstStyle/>
                    <a:p>
                      <a:pPr algn="l"/>
                      <a:r>
                        <a:rPr sz="1087" b="0" i="0" u="none">
                          <a:solidFill>
                            <a:srgbClr val="334155"/>
                          </a:solidFill>
                          <a:latin typeface="Nunito Sans"/>
                        </a:rPr>
                        <a:t>Network round-trip</a:t>
                      </a:r>
                    </a:p>
                  </a:txBody>
                  <a:tcPr marL="63500" marR="63500" marT="25400" marB="25400" anchor="ctr">
                    <a:lnL>
                      <a:noFill/>
                    </a:lnL>
                    <a:lnR>
                      <a:noFill/>
                    </a:lnR>
                    <a:lnT>
                      <a:noFill/>
                    </a:lnT>
                    <a:lnB>
                      <a:noFill/>
                    </a:lnB>
                    <a:solidFill>
                      <a:srgbClr val="F8FAFC"/>
                    </a:solidFill>
                  </a:tcPr>
                </a:tc>
                <a:tc>
                  <a:txBody>
                    <a:bodyPr/>
                    <a:lstStyle/>
                    <a:p>
                      <a:pPr algn="l"/>
                      <a:r>
                        <a:rPr sz="1087" b="0" i="0" u="none">
                          <a:solidFill>
                            <a:srgbClr val="334155"/>
                          </a:solidFill>
                          <a:latin typeface="Nunito Sans"/>
                        </a:rPr>
                        <a:t>Local, ultra-low</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04936">
                <a:tc>
                  <a:txBody>
                    <a:bodyPr/>
                    <a:lstStyle/>
                    <a:p>
                      <a:pPr algn="l"/>
                      <a:r>
                        <a:rPr sz="1087" b="1" i="0" u="none">
                          <a:solidFill>
                            <a:srgbClr val="004C97"/>
                          </a:solidFill>
                          <a:latin typeface="Nunito Sans"/>
                        </a:rPr>
                        <a:t>Cost</a:t>
                      </a:r>
                    </a:p>
                  </a:txBody>
                  <a:tcPr marL="63500" marR="63500" marT="25400" marB="25400" anchor="ctr">
                    <a:lnL>
                      <a:noFill/>
                    </a:lnL>
                    <a:lnR>
                      <a:noFill/>
                    </a:lnR>
                    <a:lnT>
                      <a:noFill/>
                    </a:lnT>
                    <a:lnB>
                      <a:noFill/>
                    </a:lnB>
                    <a:noFill/>
                  </a:tcPr>
                </a:tc>
                <a:tc>
                  <a:txBody>
                    <a:bodyPr/>
                    <a:lstStyle/>
                    <a:p>
                      <a:pPr algn="l"/>
                      <a:r>
                        <a:rPr sz="1087" b="0" i="0" u="none">
                          <a:solidFill>
                            <a:srgbClr val="334155"/>
                          </a:solidFill>
                          <a:latin typeface="Nunito Sans"/>
                        </a:rPr>
                        <a:t>Per-token, recurring</a:t>
                      </a:r>
                    </a:p>
                  </a:txBody>
                  <a:tcPr marL="63500" marR="63500" marT="25400" marB="25400" anchor="ctr">
                    <a:lnL>
                      <a:noFill/>
                    </a:lnL>
                    <a:lnR>
                      <a:noFill/>
                    </a:lnR>
                    <a:lnT>
                      <a:noFill/>
                    </a:lnT>
                    <a:lnB>
                      <a:noFill/>
                    </a:lnB>
                    <a:noFill/>
                  </a:tcPr>
                </a:tc>
                <a:tc>
                  <a:txBody>
                    <a:bodyPr/>
                    <a:lstStyle/>
                    <a:p>
                      <a:pPr algn="l"/>
                      <a:r>
                        <a:rPr sz="1087" b="0" i="0" u="none">
                          <a:solidFill>
                            <a:srgbClr val="334155"/>
                          </a:solidFill>
                          <a:latin typeface="Nunito Sans"/>
                        </a:rPr>
                        <a:t>Hardware, then near-zero marginal</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404936">
                <a:tc>
                  <a:txBody>
                    <a:bodyPr/>
                    <a:lstStyle/>
                    <a:p>
                      <a:pPr algn="l"/>
                      <a:r>
                        <a:rPr sz="1087" b="1" i="0" u="none">
                          <a:solidFill>
                            <a:srgbClr val="004C97"/>
                          </a:solidFill>
                          <a:latin typeface="Nunito Sans"/>
                        </a:rPr>
                        <a:t>Privacy &amp; compliance</a:t>
                      </a:r>
                    </a:p>
                  </a:txBody>
                  <a:tcPr marL="63500" marR="63500" marT="25400" marB="25400" anchor="ctr">
                    <a:lnL>
                      <a:noFill/>
                    </a:lnL>
                    <a:lnR>
                      <a:noFill/>
                    </a:lnR>
                    <a:lnT>
                      <a:noFill/>
                    </a:lnT>
                    <a:lnB>
                      <a:noFill/>
                    </a:lnB>
                    <a:solidFill>
                      <a:srgbClr val="F8FAFC"/>
                    </a:solidFill>
                  </a:tcPr>
                </a:tc>
                <a:tc>
                  <a:txBody>
                    <a:bodyPr/>
                    <a:lstStyle/>
                    <a:p>
                      <a:pPr algn="l"/>
                      <a:r>
                        <a:rPr sz="1087" b="0" i="0" u="none">
                          <a:solidFill>
                            <a:srgbClr val="334155"/>
                          </a:solidFill>
                          <a:latin typeface="Nunito Sans"/>
                        </a:rPr>
                        <a:t>Data leaves the envelope</a:t>
                      </a:r>
                    </a:p>
                  </a:txBody>
                  <a:tcPr marL="63500" marR="63500" marT="25400" marB="25400" anchor="ctr">
                    <a:lnL>
                      <a:noFill/>
                    </a:lnL>
                    <a:lnR>
                      <a:noFill/>
                    </a:lnR>
                    <a:lnT>
                      <a:noFill/>
                    </a:lnT>
                    <a:lnB>
                      <a:noFill/>
                    </a:lnB>
                    <a:solidFill>
                      <a:srgbClr val="F8FAFC"/>
                    </a:solidFill>
                  </a:tcPr>
                </a:tc>
                <a:tc>
                  <a:txBody>
                    <a:bodyPr/>
                    <a:lstStyle/>
                    <a:p>
                      <a:pPr algn="l"/>
                      <a:r>
                        <a:rPr sz="1087" b="0" i="0" u="none">
                          <a:solidFill>
                            <a:srgbClr val="334155"/>
                          </a:solidFill>
                          <a:latin typeface="Nunito Sans"/>
                        </a:rPr>
                        <a:t>Data never leaves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404939">
                <a:tc>
                  <a:txBody>
                    <a:bodyPr/>
                    <a:lstStyle/>
                    <a:p>
                      <a:pPr algn="l"/>
                      <a:r>
                        <a:rPr sz="1087" b="1" i="0" u="none">
                          <a:solidFill>
                            <a:srgbClr val="004C97"/>
                          </a:solidFill>
                          <a:latin typeface="Nunito Sans"/>
                        </a:rPr>
                        <a:t>Control</a:t>
                      </a:r>
                    </a:p>
                  </a:txBody>
                  <a:tcPr marL="63500" marR="63500" marT="25400" marB="25400" anchor="ctr">
                    <a:lnL>
                      <a:noFill/>
                    </a:lnL>
                    <a:lnR>
                      <a:noFill/>
                    </a:lnR>
                    <a:lnT>
                      <a:noFill/>
                    </a:lnT>
                    <a:lnB>
                      <a:noFill/>
                    </a:lnB>
                    <a:noFill/>
                  </a:tcPr>
                </a:tc>
                <a:tc>
                  <a:txBody>
                    <a:bodyPr/>
                    <a:lstStyle/>
                    <a:p>
                      <a:pPr algn="l"/>
                      <a:r>
                        <a:rPr sz="1087" b="0" i="0" u="none">
                          <a:solidFill>
                            <a:srgbClr val="334155"/>
                          </a:solidFill>
                          <a:latin typeface="Nunito Sans"/>
                        </a:rPr>
                        <a:t>Provider updates silently</a:t>
                      </a:r>
                    </a:p>
                  </a:txBody>
                  <a:tcPr marL="63500" marR="63500" marT="25400" marB="25400" anchor="ctr">
                    <a:lnL>
                      <a:noFill/>
                    </a:lnL>
                    <a:lnR>
                      <a:noFill/>
                    </a:lnR>
                    <a:lnT>
                      <a:noFill/>
                    </a:lnT>
                    <a:lnB>
                      <a:noFill/>
                    </a:lnB>
                    <a:noFill/>
                  </a:tcPr>
                </a:tc>
                <a:tc>
                  <a:txBody>
                    <a:bodyPr/>
                    <a:lstStyle/>
                    <a:p>
                      <a:pPr algn="l"/>
                      <a:r>
                        <a:rPr sz="1087" b="0" i="0" u="none">
                          <a:solidFill>
                            <a:srgbClr val="334155"/>
                          </a:solidFill>
                          <a:latin typeface="Nunito Sans"/>
                        </a:rPr>
                        <a:t>You pin the version, fully auditable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7" name="TextBox 6"/>
          <p:cNvSpPr txBox="1"/>
          <p:nvPr/>
        </p:nvSpPr>
        <p:spPr>
          <a:xfrm>
            <a:off x="781050" y="4414837"/>
            <a:ext cx="10801350" cy="414337"/>
          </a:xfrm>
          <a:prstGeom prst="rect">
            <a:avLst/>
          </a:prstGeom>
          <a:noFill/>
        </p:spPr>
        <p:txBody>
          <a:bodyPr wrap="square" lIns="0" tIns="0" rIns="0" bIns="0" anchor="t">
            <a:spAutoFit/>
          </a:bodyPr>
          <a:lstStyle/>
          <a:p>
            <a:pPr algn="l">
              <a:lnSpc>
                <a:spcPts val="1631"/>
              </a:lnSpc>
            </a:pPr>
            <a:r>
              <a:rPr sz="1125" b="0" i="1" u="none" dirty="0">
                <a:solidFill>
                  <a:srgbClr val="004C97"/>
                </a:solidFill>
                <a:latin typeface="Nunito Sans"/>
              </a:rPr>
              <a:t> “Supercomputers with time-sliced access were supposed to be the future. Then commodity hardware won. Cloud LLMs are the HPC of this era; local SLMs are the commodity hardware.”</a:t>
            </a:r>
            <a:r>
              <a:rPr lang="en-IN" sz="1125" b="0" i="1" u="none" dirty="0">
                <a:solidFill>
                  <a:srgbClr val="004C97"/>
                </a:solidFill>
                <a:latin typeface="Nunito Sans"/>
              </a:rPr>
              <a:t>;</a:t>
            </a:r>
            <a:r>
              <a:rPr sz="1125" b="0" i="1" u="none" dirty="0">
                <a:solidFill>
                  <a:srgbClr val="004C97"/>
                </a:solidFill>
                <a:latin typeface="Nunito Sans"/>
              </a:rPr>
              <a:t> after Justin </a:t>
            </a:r>
            <a:r>
              <a:rPr sz="1125" b="0" i="1" u="none" dirty="0" err="1">
                <a:solidFill>
                  <a:srgbClr val="004C97"/>
                </a:solidFill>
                <a:latin typeface="Nunito Sans"/>
              </a:rPr>
              <a:t>Gottschlich</a:t>
            </a:r>
            <a:r>
              <a:rPr sz="1125" b="0" i="1" u="none" dirty="0">
                <a:solidFill>
                  <a:srgbClr val="004C97"/>
                </a:solidFill>
                <a:latin typeface="Nunito Sans"/>
              </a:rPr>
              <a:t> </a:t>
            </a:r>
          </a:p>
        </p:txBody>
      </p:sp>
      <p:sp>
        <p:nvSpPr>
          <p:cNvPr id="9" name="Rectangle 8"/>
          <p:cNvSpPr/>
          <p:nvPr/>
        </p:nvSpPr>
        <p:spPr>
          <a:xfrm>
            <a:off x="609600" y="4414837"/>
            <a:ext cx="28575" cy="414337"/>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9600" y="2194768"/>
            <a:ext cx="2743200" cy="1905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52800" y="2194768"/>
            <a:ext cx="4059882" cy="1905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12682" y="2194768"/>
            <a:ext cx="4169717" cy="1905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9600" y="2609254"/>
            <a:ext cx="2743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52800" y="2609254"/>
            <a:ext cx="4059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12682" y="2609254"/>
            <a:ext cx="41697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9600" y="3009453"/>
            <a:ext cx="2743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352800" y="3009453"/>
            <a:ext cx="4059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12682" y="3009453"/>
            <a:ext cx="41697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9600" y="3409652"/>
            <a:ext cx="2743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52800" y="3409652"/>
            <a:ext cx="4059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12682" y="3409652"/>
            <a:ext cx="41697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09600" y="3809851"/>
            <a:ext cx="2743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352800" y="3809851"/>
            <a:ext cx="4059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412682" y="3809851"/>
            <a:ext cx="41697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09600" y="4210050"/>
            <a:ext cx="2743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352800" y="4210050"/>
            <a:ext cx="4059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412682" y="4210050"/>
            <a:ext cx="41697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layout12_pic1.png">
            <a:extLst>
              <a:ext uri="{FF2B5EF4-FFF2-40B4-BE49-F238E27FC236}">
                <a16:creationId xmlns:a16="http://schemas.microsoft.com/office/drawing/2014/main" id="{7026F31B-361A-4F0D-3CBD-A35251495FCE}"/>
              </a:ext>
            </a:extLst>
          </p:cNvPr>
          <p:cNvPicPr>
            <a:picLocks noChangeAspect="1"/>
          </p:cNvPicPr>
          <p:nvPr/>
        </p:nvPicPr>
        <p:blipFill>
          <a:blip r:embed="rId3"/>
          <a:stretch>
            <a:fillRect/>
          </a:stretch>
        </p:blipFill>
        <p:spPr>
          <a:xfrm>
            <a:off x="10564368" y="164592"/>
            <a:ext cx="1261872" cy="284366"/>
          </a:xfrm>
          <a:prstGeom prst="rect">
            <a:avLst/>
          </a:prstGeom>
        </p:spPr>
      </p:pic>
      <p:sp>
        <p:nvSpPr>
          <p:cNvPr id="34" name="TextBox 33">
            <a:extLst>
              <a:ext uri="{FF2B5EF4-FFF2-40B4-BE49-F238E27FC236}">
                <a16:creationId xmlns:a16="http://schemas.microsoft.com/office/drawing/2014/main" id="{B095E990-A2D6-1E68-AF12-1E038A37312D}"/>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dirty="0" err="1">
                <a:solidFill>
                  <a:srgbClr val="FFFFFF"/>
                </a:solidFill>
                <a:latin typeface="Poppins SemiBold"/>
              </a:rPr>
              <a:t>Insight</a:t>
            </a:r>
            <a:r>
              <a:rPr sz="1125" b="0" i="0" u="none" dirty="0" err="1">
                <a:solidFill>
                  <a:srgbClr val="10B981"/>
                </a:solidFill>
                <a:latin typeface="Poppins SemiBold"/>
              </a:rPr>
              <a:t>Verge</a:t>
            </a:r>
            <a:endParaRPr sz="1125" b="0" i="0" u="none" dirty="0">
              <a:solidFill>
                <a:srgbClr val="10B981"/>
              </a:solidFill>
              <a:latin typeface="Poppins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5741DA4-E736-927A-C35F-E1B4EBB9CC6D}"/>
              </a:ext>
            </a:extLst>
          </p:cNvPr>
          <p:cNvGraphicFramePr>
            <a:graphicFrameLocks noGrp="1"/>
          </p:cNvGraphicFramePr>
          <p:nvPr>
            <p:ph idx="1"/>
          </p:nvPr>
        </p:nvGraphicFramePr>
        <p:xfrm>
          <a:off x="1091962" y="1825625"/>
          <a:ext cx="9380000" cy="4471256"/>
        </p:xfrm>
        <a:graphic>
          <a:graphicData uri="http://schemas.openxmlformats.org/drawingml/2006/table">
            <a:tbl>
              <a:tblPr/>
              <a:tblGrid>
                <a:gridCol w="1550000">
                  <a:extLst>
                    <a:ext uri="{9D8B030D-6E8A-4147-A177-3AD203B41FA5}">
                      <a16:colId xmlns:a16="http://schemas.microsoft.com/office/drawing/2014/main" val="236965006"/>
                    </a:ext>
                  </a:extLst>
                </a:gridCol>
                <a:gridCol w="2100000">
                  <a:extLst>
                    <a:ext uri="{9D8B030D-6E8A-4147-A177-3AD203B41FA5}">
                      <a16:colId xmlns:a16="http://schemas.microsoft.com/office/drawing/2014/main" val="1046450505"/>
                    </a:ext>
                  </a:extLst>
                </a:gridCol>
                <a:gridCol w="2650000">
                  <a:extLst>
                    <a:ext uri="{9D8B030D-6E8A-4147-A177-3AD203B41FA5}">
                      <a16:colId xmlns:a16="http://schemas.microsoft.com/office/drawing/2014/main" val="1622466297"/>
                    </a:ext>
                  </a:extLst>
                </a:gridCol>
                <a:gridCol w="3080000">
                  <a:extLst>
                    <a:ext uri="{9D8B030D-6E8A-4147-A177-3AD203B41FA5}">
                      <a16:colId xmlns:a16="http://schemas.microsoft.com/office/drawing/2014/main" val="4039454928"/>
                    </a:ext>
                  </a:extLst>
                </a:gridCol>
              </a:tblGrid>
              <a:tr h="348107">
                <a:tc>
                  <a:txBody>
                    <a:bodyPr/>
                    <a:lstStyle/>
                    <a:p>
                      <a:pPr algn="l"/>
                      <a:r>
                        <a:rPr lang="en-IN" sz="1300" b="0">
                          <a:solidFill>
                            <a:srgbClr val="FFFFFF"/>
                          </a:solidFill>
                          <a:latin typeface="Poppins SemiBold"/>
                        </a:rPr>
                        <a:t>Criteria</a:t>
                      </a:r>
                    </a:p>
                  </a:txBody>
                  <a:tcPr marL="87027" marR="87027" marT="43513" marB="43513" anchor="ctr">
                    <a:lnL>
                      <a:noFill/>
                    </a:lnL>
                    <a:lnR>
                      <a:noFill/>
                    </a:lnR>
                    <a:lnT>
                      <a:noFill/>
                    </a:lnT>
                    <a:lnB>
                      <a:noFill/>
                    </a:lnB>
                    <a:solidFill>
                      <a:srgbClr val="004C97"/>
                    </a:solidFill>
                  </a:tcPr>
                </a:tc>
                <a:tc>
                  <a:txBody>
                    <a:bodyPr/>
                    <a:lstStyle/>
                    <a:p>
                      <a:pPr algn="l"/>
                      <a:r>
                        <a:rPr lang="en-IN" sz="1300" b="0">
                          <a:solidFill>
                            <a:srgbClr val="FFFFFF"/>
                          </a:solidFill>
                          <a:latin typeface="Poppins SemiBold"/>
                        </a:rPr>
                        <a:t>Prompting</a:t>
                      </a:r>
                      <a:endParaRPr lang="en-IN" sz="1700"/>
                    </a:p>
                  </a:txBody>
                  <a:tcPr marL="87027" marR="87027" marT="43513" marB="43513" anchor="ctr">
                    <a:lnL>
                      <a:noFill/>
                    </a:lnL>
                    <a:lnR>
                      <a:noFill/>
                    </a:lnR>
                    <a:lnT>
                      <a:noFill/>
                    </a:lnT>
                    <a:lnB>
                      <a:noFill/>
                    </a:lnB>
                    <a:solidFill>
                      <a:srgbClr val="004C97"/>
                    </a:solidFill>
                  </a:tcPr>
                </a:tc>
                <a:tc>
                  <a:txBody>
                    <a:bodyPr/>
                    <a:lstStyle/>
                    <a:p>
                      <a:pPr algn="l"/>
                      <a:r>
                        <a:rPr lang="en-IN" sz="1300" b="0">
                          <a:solidFill>
                            <a:srgbClr val="FFFFFF"/>
                          </a:solidFill>
                          <a:latin typeface="Poppins SemiBold"/>
                        </a:rPr>
                        <a:t>RAG</a:t>
                      </a:r>
                      <a:endParaRPr lang="en-IN" sz="1700"/>
                    </a:p>
                  </a:txBody>
                  <a:tcPr marL="87027" marR="87027" marT="43513" marB="43513" anchor="ctr">
                    <a:lnL>
                      <a:noFill/>
                    </a:lnL>
                    <a:lnR>
                      <a:noFill/>
                    </a:lnR>
                    <a:lnT>
                      <a:noFill/>
                    </a:lnT>
                    <a:lnB>
                      <a:noFill/>
                    </a:lnB>
                    <a:solidFill>
                      <a:srgbClr val="004C97"/>
                    </a:solidFill>
                  </a:tcPr>
                </a:tc>
                <a:tc>
                  <a:txBody>
                    <a:bodyPr/>
                    <a:lstStyle/>
                    <a:p>
                      <a:pPr algn="l"/>
                      <a:r>
                        <a:rPr lang="en-IN" sz="1300" b="0">
                          <a:solidFill>
                            <a:srgbClr val="FFFFFF"/>
                          </a:solidFill>
                          <a:latin typeface="Poppins SemiBold"/>
                        </a:rPr>
                        <a:t>Fine-Tuning / PEFT</a:t>
                      </a:r>
                      <a:endParaRPr lang="en-IN" sz="1700"/>
                    </a:p>
                  </a:txBody>
                  <a:tcPr marL="87027" marR="87027" marT="43513" marB="43513" anchor="ctr">
                    <a:lnL>
                      <a:noFill/>
                    </a:lnL>
                    <a:lnR>
                      <a:noFill/>
                    </a:lnR>
                    <a:lnT>
                      <a:noFill/>
                    </a:lnT>
                    <a:lnB>
                      <a:noFill/>
                    </a:lnB>
                    <a:solidFill>
                      <a:srgbClr val="004C97"/>
                    </a:solidFill>
                  </a:tcPr>
                </a:tc>
                <a:extLst>
                  <a:ext uri="{0D108BD9-81ED-4DB2-BD59-A6C34878D82A}">
                    <a16:rowId xmlns:a16="http://schemas.microsoft.com/office/drawing/2014/main" val="411443125"/>
                  </a:ext>
                </a:extLst>
              </a:tr>
              <a:tr h="348107">
                <a:tc>
                  <a:txBody>
                    <a:bodyPr/>
                    <a:lstStyle/>
                    <a:p>
                      <a:r>
                        <a:rPr lang="en-IN" sz="1250" b="1">
                          <a:solidFill>
                            <a:srgbClr val="3B3D3E"/>
                          </a:solidFill>
                          <a:latin typeface="PT Sans"/>
                        </a:rPr>
                        <a:t>Effort to Implement</a:t>
                      </a:r>
                      <a:endParaRPr lang="en-IN" sz="1700"/>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Very low</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Medium</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High</a:t>
                      </a:r>
                    </a:p>
                  </a:txBody>
                  <a:tcPr marL="87027" marR="87027" marT="43513" marB="43513" anchor="ctr">
                    <a:lnL>
                      <a:noFill/>
                    </a:lnL>
                    <a:lnR>
                      <a:noFill/>
                    </a:lnR>
                    <a:lnT>
                      <a:noFill/>
                    </a:lnT>
                    <a:lnB>
                      <a:noFill/>
                    </a:lnB>
                    <a:solidFill>
                      <a:srgbClr val="FFFFFF"/>
                    </a:solidFill>
                  </a:tcPr>
                </a:tc>
                <a:extLst>
                  <a:ext uri="{0D108BD9-81ED-4DB2-BD59-A6C34878D82A}">
                    <a16:rowId xmlns:a16="http://schemas.microsoft.com/office/drawing/2014/main" val="2803826286"/>
                  </a:ext>
                </a:extLst>
              </a:tr>
              <a:tr h="609187">
                <a:tc>
                  <a:txBody>
                    <a:bodyPr/>
                    <a:lstStyle/>
                    <a:p>
                      <a:r>
                        <a:rPr lang="en-IN" sz="1250" b="1">
                          <a:solidFill>
                            <a:srgbClr val="3B3D3E"/>
                          </a:solidFill>
                          <a:latin typeface="PT Sans"/>
                        </a:rPr>
                        <a:t>Needs Labeled Data?</a:t>
                      </a:r>
                      <a:endParaRPr lang="en-IN" sz="1700"/>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No</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No</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Yes (input-output pairs)</a:t>
                      </a:r>
                    </a:p>
                  </a:txBody>
                  <a:tcPr marL="87027" marR="87027" marT="43513" marB="43513" anchor="ctr">
                    <a:lnL>
                      <a:noFill/>
                    </a:lnL>
                    <a:lnR>
                      <a:noFill/>
                    </a:lnR>
                    <a:lnT>
                      <a:noFill/>
                    </a:lnT>
                    <a:lnB>
                      <a:noFill/>
                    </a:lnB>
                    <a:solidFill>
                      <a:srgbClr val="FFFFFF"/>
                    </a:solidFill>
                  </a:tcPr>
                </a:tc>
                <a:extLst>
                  <a:ext uri="{0D108BD9-81ED-4DB2-BD59-A6C34878D82A}">
                    <a16:rowId xmlns:a16="http://schemas.microsoft.com/office/drawing/2014/main" val="2705090085"/>
                  </a:ext>
                </a:extLst>
              </a:tr>
              <a:tr h="609187">
                <a:tc>
                  <a:txBody>
                    <a:bodyPr/>
                    <a:lstStyle/>
                    <a:p>
                      <a:r>
                        <a:rPr lang="en-IN" sz="1250" b="1">
                          <a:solidFill>
                            <a:srgbClr val="3B3D3E"/>
                          </a:solidFill>
                          <a:latin typeface="PT Sans"/>
                        </a:rPr>
                        <a:t>Needs External Storage?</a:t>
                      </a:r>
                      <a:endParaRPr lang="en-IN" sz="1700"/>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No</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Yes (vector DB, documents)</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No</a:t>
                      </a:r>
                    </a:p>
                  </a:txBody>
                  <a:tcPr marL="87027" marR="87027" marT="43513" marB="43513" anchor="ctr">
                    <a:lnL>
                      <a:noFill/>
                    </a:lnL>
                    <a:lnR>
                      <a:noFill/>
                    </a:lnR>
                    <a:lnT>
                      <a:noFill/>
                    </a:lnT>
                    <a:lnB>
                      <a:noFill/>
                    </a:lnB>
                    <a:solidFill>
                      <a:srgbClr val="FFFFFF"/>
                    </a:solidFill>
                  </a:tcPr>
                </a:tc>
                <a:extLst>
                  <a:ext uri="{0D108BD9-81ED-4DB2-BD59-A6C34878D82A}">
                    <a16:rowId xmlns:a16="http://schemas.microsoft.com/office/drawing/2014/main" val="1206111983"/>
                  </a:ext>
                </a:extLst>
              </a:tr>
              <a:tr h="609187">
                <a:tc>
                  <a:txBody>
                    <a:bodyPr/>
                    <a:lstStyle/>
                    <a:p>
                      <a:r>
                        <a:rPr lang="en-IN" sz="1250" b="1">
                          <a:solidFill>
                            <a:srgbClr val="3B3D3E"/>
                          </a:solidFill>
                          <a:latin typeface="PT Sans"/>
                        </a:rPr>
                        <a:t>Personalization</a:t>
                      </a:r>
                      <a:endParaRPr lang="en-IN" sz="1700"/>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Prompt-hacked</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Strong (via content)</a:t>
                      </a:r>
                    </a:p>
                  </a:txBody>
                  <a:tcPr marL="87027" marR="87027" marT="43513" marB="43513" anchor="ctr">
                    <a:lnL>
                      <a:noFill/>
                    </a:lnL>
                    <a:lnR>
                      <a:noFill/>
                    </a:lnR>
                    <a:lnT>
                      <a:noFill/>
                    </a:lnT>
                    <a:lnB>
                      <a:noFill/>
                    </a:lnB>
                    <a:solidFill>
                      <a:srgbClr val="FFFFFF"/>
                    </a:solidFill>
                  </a:tcPr>
                </a:tc>
                <a:tc>
                  <a:txBody>
                    <a:bodyPr/>
                    <a:lstStyle/>
                    <a:p>
                      <a:r>
                        <a:rPr lang="en-US" sz="1250">
                          <a:solidFill>
                            <a:srgbClr val="3B3D3E"/>
                          </a:solidFill>
                          <a:latin typeface="PT Sans"/>
                        </a:rPr>
                        <a:t>🟢 Strong (via weight updates)</a:t>
                      </a:r>
                    </a:p>
                  </a:txBody>
                  <a:tcPr marL="87027" marR="87027" marT="43513" marB="43513" anchor="ctr">
                    <a:lnL>
                      <a:noFill/>
                    </a:lnL>
                    <a:lnR>
                      <a:noFill/>
                    </a:lnR>
                    <a:lnT>
                      <a:noFill/>
                    </a:lnT>
                    <a:lnB>
                      <a:noFill/>
                    </a:lnB>
                    <a:solidFill>
                      <a:srgbClr val="FFFFFF"/>
                    </a:solidFill>
                  </a:tcPr>
                </a:tc>
                <a:extLst>
                  <a:ext uri="{0D108BD9-81ED-4DB2-BD59-A6C34878D82A}">
                    <a16:rowId xmlns:a16="http://schemas.microsoft.com/office/drawing/2014/main" val="1183445143"/>
                  </a:ext>
                </a:extLst>
              </a:tr>
              <a:tr h="348107">
                <a:tc>
                  <a:txBody>
                    <a:bodyPr/>
                    <a:lstStyle/>
                    <a:p>
                      <a:r>
                        <a:rPr lang="en-IN" sz="1250" b="1">
                          <a:solidFill>
                            <a:srgbClr val="3B3D3E"/>
                          </a:solidFill>
                          <a:latin typeface="PT Sans"/>
                        </a:rPr>
                        <a:t>Grounded Knowledge</a:t>
                      </a:r>
                      <a:endParaRPr lang="en-IN" sz="1700"/>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Can hallucinate</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Pulls real documents</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May still hallucinate</a:t>
                      </a:r>
                    </a:p>
                  </a:txBody>
                  <a:tcPr marL="87027" marR="87027" marT="43513" marB="43513" anchor="ctr">
                    <a:lnL>
                      <a:noFill/>
                    </a:lnL>
                    <a:lnR>
                      <a:noFill/>
                    </a:lnR>
                    <a:lnT>
                      <a:noFill/>
                    </a:lnT>
                    <a:lnB>
                      <a:noFill/>
                    </a:lnB>
                    <a:solidFill>
                      <a:srgbClr val="FFFFFF"/>
                    </a:solidFill>
                  </a:tcPr>
                </a:tc>
                <a:extLst>
                  <a:ext uri="{0D108BD9-81ED-4DB2-BD59-A6C34878D82A}">
                    <a16:rowId xmlns:a16="http://schemas.microsoft.com/office/drawing/2014/main" val="2152013147"/>
                  </a:ext>
                </a:extLst>
              </a:tr>
              <a:tr h="609187">
                <a:tc>
                  <a:txBody>
                    <a:bodyPr/>
                    <a:lstStyle/>
                    <a:p>
                      <a:r>
                        <a:rPr lang="en-IN" sz="1250" b="1">
                          <a:solidFill>
                            <a:srgbClr val="3B3D3E"/>
                          </a:solidFill>
                          <a:latin typeface="PT Sans"/>
                        </a:rPr>
                        <a:t>Latency</a:t>
                      </a:r>
                      <a:endParaRPr lang="en-IN" sz="1700"/>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Low</a:t>
                      </a:r>
                    </a:p>
                  </a:txBody>
                  <a:tcPr marL="87027" marR="87027" marT="43513" marB="43513" anchor="ctr">
                    <a:lnL>
                      <a:noFill/>
                    </a:lnL>
                    <a:lnR>
                      <a:noFill/>
                    </a:lnR>
                    <a:lnT>
                      <a:noFill/>
                    </a:lnT>
                    <a:lnB>
                      <a:noFill/>
                    </a:lnB>
                    <a:solidFill>
                      <a:srgbClr val="FFFFFF"/>
                    </a:solidFill>
                  </a:tcPr>
                </a:tc>
                <a:tc>
                  <a:txBody>
                    <a:bodyPr/>
                    <a:lstStyle/>
                    <a:p>
                      <a:r>
                        <a:rPr lang="en-US" sz="1250">
                          <a:solidFill>
                            <a:srgbClr val="3B3D3E"/>
                          </a:solidFill>
                          <a:latin typeface="PT Sans"/>
                        </a:rPr>
                        <a:t>🟡 Medium (due to retrieval step)</a:t>
                      </a:r>
                    </a:p>
                  </a:txBody>
                  <a:tcPr marL="87027" marR="87027" marT="43513" marB="43513" anchor="ctr">
                    <a:lnL>
                      <a:noFill/>
                    </a:lnL>
                    <a:lnR>
                      <a:noFill/>
                    </a:lnR>
                    <a:lnT>
                      <a:noFill/>
                    </a:lnT>
                    <a:lnB>
                      <a:noFill/>
                    </a:lnB>
                    <a:solidFill>
                      <a:srgbClr val="FFFFFF"/>
                    </a:solidFill>
                  </a:tcPr>
                </a:tc>
                <a:tc>
                  <a:txBody>
                    <a:bodyPr/>
                    <a:lstStyle/>
                    <a:p>
                      <a:r>
                        <a:rPr lang="en-IN" sz="1250">
                          <a:solidFill>
                            <a:srgbClr val="3B3D3E"/>
                          </a:solidFill>
                          <a:latin typeface="PT Sans"/>
                        </a:rPr>
                        <a:t>🟢 Low</a:t>
                      </a:r>
                    </a:p>
                  </a:txBody>
                  <a:tcPr marL="87027" marR="87027" marT="43513" marB="43513" anchor="ctr">
                    <a:lnL>
                      <a:noFill/>
                    </a:lnL>
                    <a:lnR>
                      <a:noFill/>
                    </a:lnR>
                    <a:lnT>
                      <a:noFill/>
                    </a:lnT>
                    <a:lnB>
                      <a:noFill/>
                    </a:lnB>
                    <a:solidFill>
                      <a:srgbClr val="FFFFFF"/>
                    </a:solidFill>
                  </a:tcPr>
                </a:tc>
                <a:extLst>
                  <a:ext uri="{0D108BD9-81ED-4DB2-BD59-A6C34878D82A}">
                    <a16:rowId xmlns:a16="http://schemas.microsoft.com/office/drawing/2014/main" val="1988110378"/>
                  </a:ext>
                </a:extLst>
              </a:tr>
              <a:tr h="870268">
                <a:tc>
                  <a:txBody>
                    <a:bodyPr/>
                    <a:lstStyle/>
                    <a:p>
                      <a:r>
                        <a:rPr lang="en-IN" sz="1250" b="1">
                          <a:solidFill>
                            <a:srgbClr val="3B3D3E"/>
                          </a:solidFill>
                          <a:latin typeface="PT Sans"/>
                        </a:rPr>
                        <a:t>Best When</a:t>
                      </a:r>
                      <a:endParaRPr lang="en-IN" sz="1700"/>
                    </a:p>
                  </a:txBody>
                  <a:tcPr marL="87027" marR="87027" marT="43513" marB="43513" anchor="ctr">
                    <a:lnL>
                      <a:noFill/>
                    </a:lnL>
                    <a:lnR>
                      <a:noFill/>
                    </a:lnR>
                    <a:lnT>
                      <a:noFill/>
                    </a:lnT>
                    <a:lnB>
                      <a:noFill/>
                    </a:lnB>
                    <a:solidFill>
                      <a:srgbClr val="FFFFFF"/>
                    </a:solidFill>
                  </a:tcPr>
                </a:tc>
                <a:tc>
                  <a:txBody>
                    <a:bodyPr/>
                    <a:lstStyle/>
                    <a:p>
                      <a:r>
                        <a:rPr lang="en-US" sz="1250">
                          <a:solidFill>
                            <a:srgbClr val="3B3D3E"/>
                          </a:solidFill>
                          <a:latin typeface="PT Sans"/>
                        </a:rPr>
                        <a:t>You just need format/style control</a:t>
                      </a:r>
                    </a:p>
                  </a:txBody>
                  <a:tcPr marL="87027" marR="87027" marT="43513" marB="43513" anchor="ctr">
                    <a:lnL>
                      <a:noFill/>
                    </a:lnL>
                    <a:lnR>
                      <a:noFill/>
                    </a:lnR>
                    <a:lnT>
                      <a:noFill/>
                    </a:lnT>
                    <a:lnB>
                      <a:noFill/>
                    </a:lnB>
                    <a:solidFill>
                      <a:srgbClr val="FFFFFF"/>
                    </a:solidFill>
                  </a:tcPr>
                </a:tc>
                <a:tc>
                  <a:txBody>
                    <a:bodyPr/>
                    <a:lstStyle/>
                    <a:p>
                      <a:r>
                        <a:rPr lang="en-US" sz="1250">
                          <a:solidFill>
                            <a:srgbClr val="3B3D3E"/>
                          </a:solidFill>
                          <a:latin typeface="PT Sans"/>
                        </a:rPr>
                        <a:t>You want </a:t>
                      </a:r>
                      <a:r>
                        <a:rPr lang="en-US" sz="1250" b="1">
                          <a:solidFill>
                            <a:srgbClr val="3B3D3E"/>
                          </a:solidFill>
                          <a:latin typeface="PT Sans"/>
                        </a:rPr>
                        <a:t>domain-aware + up-to-date</a:t>
                      </a:r>
                      <a:r>
                        <a:rPr lang="en-US" sz="1250">
                          <a:solidFill>
                            <a:srgbClr val="3B3D3E"/>
                          </a:solidFill>
                          <a:latin typeface="PT Sans"/>
                        </a:rPr>
                        <a:t> output</a:t>
                      </a:r>
                    </a:p>
                  </a:txBody>
                  <a:tcPr marL="87027" marR="87027" marT="43513" marB="43513" anchor="ctr">
                    <a:lnL>
                      <a:noFill/>
                    </a:lnL>
                    <a:lnR>
                      <a:noFill/>
                    </a:lnR>
                    <a:lnT>
                      <a:noFill/>
                    </a:lnT>
                    <a:lnB>
                      <a:noFill/>
                    </a:lnB>
                    <a:solidFill>
                      <a:srgbClr val="FFFFFF"/>
                    </a:solidFill>
                  </a:tcPr>
                </a:tc>
                <a:tc>
                  <a:txBody>
                    <a:bodyPr/>
                    <a:lstStyle/>
                    <a:p>
                      <a:r>
                        <a:rPr lang="en-US" sz="1250" dirty="0">
                          <a:solidFill>
                            <a:srgbClr val="3B3D3E"/>
                          </a:solidFill>
                          <a:latin typeface="PT Sans"/>
                        </a:rPr>
                        <a:t>You want </a:t>
                      </a:r>
                      <a:r>
                        <a:rPr lang="en-US" sz="1250" b="1" dirty="0">
                          <a:solidFill>
                            <a:srgbClr val="3B3D3E"/>
                          </a:solidFill>
                          <a:latin typeface="PT Sans"/>
                        </a:rPr>
                        <a:t>custom behavior embedded</a:t>
                      </a:r>
                      <a:r>
                        <a:rPr lang="en-US" sz="1250" dirty="0">
                          <a:solidFill>
                            <a:srgbClr val="3B3D3E"/>
                          </a:solidFill>
                          <a:latin typeface="PT Sans"/>
                        </a:rPr>
                        <a:t> in model</a:t>
                      </a:r>
                    </a:p>
                  </a:txBody>
                  <a:tcPr marL="87027" marR="87027" marT="43513" marB="43513" anchor="ctr">
                    <a:lnL>
                      <a:noFill/>
                    </a:lnL>
                    <a:lnR>
                      <a:noFill/>
                    </a:lnR>
                    <a:lnT>
                      <a:noFill/>
                    </a:lnT>
                    <a:lnB>
                      <a:noFill/>
                    </a:lnB>
                    <a:solidFill>
                      <a:srgbClr val="FFFFFF"/>
                    </a:solidFill>
                  </a:tcPr>
                </a:tc>
                <a:extLst>
                  <a:ext uri="{0D108BD9-81ED-4DB2-BD59-A6C34878D82A}">
                    <a16:rowId xmlns:a16="http://schemas.microsoft.com/office/drawing/2014/main" val="1137544251"/>
                  </a:ext>
                </a:extLst>
              </a:tr>
            </a:tbl>
          </a:graphicData>
        </a:graphic>
      </p:graphicFrame>
      <p:sp>
        <p:nvSpPr>
          <p:cNvPr id="5" name="TextBox 4"/>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RIGHT-SIZING • THE FIRST DECISION</a:t>
            </a:r>
          </a:p>
        </p:txBody>
      </p:sp>
      <p:sp>
        <p:nvSpPr>
          <p:cNvPr id="6" name="TextBox 5"/>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Prompting vs RAG vs Fine-Tuning</a:t>
            </a:r>
          </a:p>
        </p:txBody>
      </p:sp>
      <p:sp>
        <p:nvSpPr>
          <p:cNvPr id="7" name="TextBox 6"/>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Everything from here to the end of this segment expands one row of this table, starting with the one most teams reach for too early: fine-tuning.</a:t>
            </a:r>
          </a:p>
        </p:txBody>
      </p:sp>
      <p:sp>
        <p:nvSpPr>
          <p:cNvPr id="8" name="TextBox 7"/>
          <p:cNvSpPr txBox="1"/>
          <p:nvPr/>
        </p:nvSpPr>
        <p:spPr>
          <a:xfrm>
            <a:off x="609600" y="6250000"/>
            <a:ext cx="10972800" cy="250000"/>
          </a:xfrm>
          <a:prstGeom prst="rect">
            <a:avLst/>
          </a:prstGeom>
          <a:noFill/>
        </p:spPr>
        <p:txBody>
          <a:bodyPr wrap="square" lIns="0" tIns="0" rIns="0" bIns="0">
            <a:spAutoFit/>
          </a:bodyPr>
          <a:lstStyle/>
          <a:p>
            <a:pPr algn="l"/>
            <a:r>
              <a:rPr sz="1250" b="0" i="1">
                <a:solidFill>
                  <a:srgbClr val="3B3D3E"/>
                </a:solidFill>
                <a:latin typeface="PT Sans"/>
              </a:rPr>
              <a:t>Escalate only when the rung below fails. Every step up this table adds cost, complexity, and governance surface.</a:t>
            </a:r>
          </a:p>
        </p:txBody>
      </p:sp>
      <p:pic>
        <p:nvPicPr>
          <p:cNvPr id="9" name="Picture 8" descr="image.png"/>
          <p:cNvPicPr>
            <a:picLocks noChangeAspect="1"/>
          </p:cNvPicPr>
          <p:nvPr/>
        </p:nvPicPr>
        <p:blipFill>
          <a:blip r:embed="rId3"/>
          <a:stretch>
            <a:fillRect/>
          </a:stretch>
        </p:blipFill>
        <p:spPr>
          <a:xfrm>
            <a:off x="0" y="6496050"/>
            <a:ext cx="12192000" cy="361950"/>
          </a:xfrm>
          <a:prstGeom prst="rect">
            <a:avLst/>
          </a:prstGeom>
        </p:spPr>
      </p:pic>
      <p:pic>
        <p:nvPicPr>
          <p:cNvPr id="11" name="Picture 10" descr="image.png"/>
          <p:cNvPicPr>
            <a:picLocks noChangeAspect="1"/>
          </p:cNvPicPr>
          <p:nvPr/>
        </p:nvPicPr>
        <p:blipFill>
          <a:blip r:embed="rId4"/>
          <a:stretch>
            <a:fillRect/>
          </a:stretch>
        </p:blipFill>
        <p:spPr>
          <a:xfrm>
            <a:off x="10564368" y="164592"/>
            <a:ext cx="1261872" cy="284366"/>
          </a:xfrm>
          <a:prstGeom prst="rect">
            <a:avLst/>
          </a:prstGeom>
        </p:spPr>
      </p:pic>
      <p:sp>
        <p:nvSpPr>
          <p:cNvPr id="12" name="TextBox 11"/>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3394256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FINE-TUNING • THE DECISION AND THE LOOP</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Why Fine-Tune, and What the Loop Looks Like</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The last column of the table on the last slide, opened up: when it's actually the right call, and what happens mechanically when you do it.</a:t>
            </a:r>
          </a:p>
        </p:txBody>
      </p:sp>
      <p:sp>
        <p:nvSpPr>
          <p:cNvPr id="5" name="Rounded Rectangle 4"/>
          <p:cNvSpPr/>
          <p:nvPr/>
        </p:nvSpPr>
        <p:spPr>
          <a:xfrm>
            <a:off x="609600" y="1750000"/>
            <a:ext cx="5150000" cy="30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4950000" cy="220000"/>
          </a:xfrm>
          <a:prstGeom prst="rect">
            <a:avLst/>
          </a:prstGeom>
          <a:noFill/>
        </p:spPr>
        <p:txBody>
          <a:bodyPr wrap="square" lIns="0" tIns="0" rIns="0" bIns="0">
            <a:spAutoFit/>
          </a:bodyPr>
          <a:lstStyle/>
          <a:p>
            <a:pPr algn="l"/>
            <a:r>
              <a:rPr sz="1350" b="0" i="0">
                <a:solidFill>
                  <a:srgbClr val="004C97"/>
                </a:solidFill>
                <a:latin typeface="Poppins SemiBold"/>
              </a:rPr>
              <a:t>THE DECISION</a:t>
            </a:r>
          </a:p>
        </p:txBody>
      </p:sp>
      <p:sp>
        <p:nvSpPr>
          <p:cNvPr id="7" name="TextBox 6"/>
          <p:cNvSpPr txBox="1"/>
          <p:nvPr/>
        </p:nvSpPr>
        <p:spPr>
          <a:xfrm>
            <a:off x="709600" y="2323333"/>
            <a:ext cx="4950000" cy="2376667"/>
          </a:xfrm>
          <a:prstGeom prst="rect">
            <a:avLst/>
          </a:prstGeom>
          <a:noFill/>
        </p:spPr>
        <p:txBody>
          <a:bodyPr wrap="square" lIns="0" tIns="0" rIns="0" bIns="0">
            <a:spAutoFit/>
          </a:bodyPr>
          <a:lstStyle/>
          <a:p>
            <a:pPr>
              <a:spcAft>
                <a:spcPts val="600"/>
              </a:spcAft>
            </a:pPr>
            <a:r>
              <a:rPr sz="1300" b="0" i="0">
                <a:solidFill>
                  <a:srgbClr val="3B3D3E"/>
                </a:solidFill>
                <a:latin typeface="PT Sans"/>
              </a:rPr>
              <a:t>• Prompting = surface-level control; fine-tuning = embed knowledge or style into the model itself.</a:t>
            </a:r>
          </a:p>
          <a:p>
            <a:pPr>
              <a:spcAft>
                <a:spcPts val="600"/>
              </a:spcAft>
            </a:pPr>
            <a:r>
              <a:rPr sz="1300" b="0" i="0">
                <a:solidFill>
                  <a:srgbClr val="3B3D3E"/>
                </a:solidFill>
                <a:latin typeface="PT Sans"/>
              </a:rPr>
              <a:t>• Start with prompting.</a:t>
            </a:r>
          </a:p>
          <a:p>
            <a:pPr>
              <a:spcAft>
                <a:spcPts val="600"/>
              </a:spcAft>
            </a:pPr>
            <a:r>
              <a:rPr sz="1300" b="0" i="0">
                <a:solidFill>
                  <a:srgbClr val="3B3D3E"/>
                </a:solidFill>
                <a:latin typeface="PT Sans"/>
              </a:rPr>
              <a:t>• Use RAG if the model needs external knowledge.</a:t>
            </a:r>
          </a:p>
          <a:p>
            <a:pPr>
              <a:spcAft>
                <a:spcPts val="600"/>
              </a:spcAft>
            </a:pPr>
            <a:r>
              <a:rPr sz="1300" b="0" i="0">
                <a:solidFill>
                  <a:srgbClr val="3B3D3E"/>
                </a:solidFill>
                <a:latin typeface="PT Sans"/>
              </a:rPr>
              <a:t>• Use fine-tuning when the model itself needs to change how it behaves.</a:t>
            </a:r>
          </a:p>
        </p:txBody>
      </p:sp>
      <p:sp>
        <p:nvSpPr>
          <p:cNvPr id="8" name="Rounded Rectangle 7"/>
          <p:cNvSpPr/>
          <p:nvPr/>
        </p:nvSpPr>
        <p:spPr>
          <a:xfrm>
            <a:off x="6079600" y="2050000"/>
            <a:ext cx="1700000" cy="750000"/>
          </a:xfrm>
          <a:prstGeom prst="roundRect">
            <a:avLst>
              <a:gd name="adj" fmla="val 12000"/>
            </a:avLst>
          </a:prstGeom>
          <a:solidFill>
            <a:srgbClr val="F4F7F5"/>
          </a:solidFill>
          <a:ln w="9525">
            <a:solidFill>
              <a:srgbClr val="DBE3EA"/>
            </a:solid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400" b="1" i="0">
                <a:solidFill>
                  <a:srgbClr val="00002E"/>
                </a:solidFill>
                <a:latin typeface="Nunito SemiBold"/>
              </a:rPr>
              <a:t>Pre-trained</a:t>
            </a:r>
          </a:p>
          <a:p>
            <a:pPr algn="ctr"/>
            <a:r>
              <a:rPr sz="1400" b="1" i="0">
                <a:solidFill>
                  <a:srgbClr val="00002E"/>
                </a:solidFill>
                <a:latin typeface="Nunito SemiBold"/>
              </a:rPr>
              <a:t>LLM</a:t>
            </a:r>
          </a:p>
        </p:txBody>
      </p:sp>
      <p:cxnSp>
        <p:nvCxnSpPr>
          <p:cNvPr id="9" name="Connector 8"/>
          <p:cNvCxnSpPr/>
          <p:nvPr/>
        </p:nvCxnSpPr>
        <p:spPr>
          <a:xfrm>
            <a:off x="7779600" y="2425000"/>
            <a:ext cx="170000" cy="0"/>
          </a:xfrm>
          <a:prstGeom prst="line">
            <a:avLst/>
          </a:prstGeom>
          <a:ln w="22225">
            <a:solidFill>
              <a:srgbClr val="52C07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949600" y="2050000"/>
            <a:ext cx="1700000" cy="750000"/>
          </a:xfrm>
          <a:prstGeom prst="roundRect">
            <a:avLst>
              <a:gd name="adj" fmla="val 12000"/>
            </a:avLst>
          </a:prstGeom>
          <a:solidFill>
            <a:srgbClr val="F4F7F5"/>
          </a:solidFill>
          <a:ln w="9525">
            <a:solidFill>
              <a:srgbClr val="DBE3EA"/>
            </a:solid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400" b="1" i="0">
                <a:solidFill>
                  <a:srgbClr val="00002E"/>
                </a:solidFill>
                <a:latin typeface="Nunito SemiBold"/>
              </a:rPr>
              <a:t>+ Task-Specific</a:t>
            </a:r>
          </a:p>
          <a:p>
            <a:pPr algn="ctr"/>
            <a:r>
              <a:rPr sz="1400" b="1" i="0">
                <a:solidFill>
                  <a:srgbClr val="00002E"/>
                </a:solidFill>
                <a:latin typeface="Nunito SemiBold"/>
              </a:rPr>
              <a:t>Examples</a:t>
            </a:r>
          </a:p>
        </p:txBody>
      </p:sp>
      <p:cxnSp>
        <p:nvCxnSpPr>
          <p:cNvPr id="11" name="Connector 10"/>
          <p:cNvCxnSpPr/>
          <p:nvPr/>
        </p:nvCxnSpPr>
        <p:spPr>
          <a:xfrm>
            <a:off x="9649600" y="2425000"/>
            <a:ext cx="170000" cy="0"/>
          </a:xfrm>
          <a:prstGeom prst="line">
            <a:avLst/>
          </a:prstGeom>
          <a:ln w="22225">
            <a:solidFill>
              <a:srgbClr val="52C07E"/>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819600" y="2050000"/>
            <a:ext cx="1700000" cy="750000"/>
          </a:xfrm>
          <a:prstGeom prst="roundRect">
            <a:avLst>
              <a:gd name="adj" fmla="val 12000"/>
            </a:avLst>
          </a:prstGeom>
          <a:solidFill>
            <a:srgbClr val="F4F7F5"/>
          </a:solidFill>
          <a:ln w="9525">
            <a:solidFill>
              <a:srgbClr val="DBE3EA"/>
            </a:solid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400" b="1" i="0">
                <a:solidFill>
                  <a:srgbClr val="00002E"/>
                </a:solidFill>
                <a:latin typeface="Nunito SemiBold"/>
              </a:rPr>
              <a:t>Fine-Tuned</a:t>
            </a:r>
          </a:p>
          <a:p>
            <a:pPr algn="ctr"/>
            <a:r>
              <a:rPr sz="1400" b="1" i="0">
                <a:solidFill>
                  <a:srgbClr val="00002E"/>
                </a:solidFill>
                <a:latin typeface="Nunito SemiBold"/>
              </a:rPr>
              <a:t>LLM</a:t>
            </a:r>
          </a:p>
        </p:txBody>
      </p:sp>
      <p:sp>
        <p:nvSpPr>
          <p:cNvPr id="13" name="TextBox 12"/>
          <p:cNvSpPr txBox="1"/>
          <p:nvPr/>
        </p:nvSpPr>
        <p:spPr>
          <a:xfrm>
            <a:off x="6079600" y="3250000"/>
            <a:ext cx="5502800" cy="700000"/>
          </a:xfrm>
          <a:prstGeom prst="rect">
            <a:avLst/>
          </a:prstGeom>
          <a:noFill/>
        </p:spPr>
        <p:txBody>
          <a:bodyPr wrap="square" lIns="0" tIns="0" rIns="0" bIns="0">
            <a:spAutoFit/>
          </a:bodyPr>
          <a:lstStyle/>
          <a:p>
            <a:pPr algn="l"/>
            <a:r>
              <a:rPr sz="1250" b="0" i="1">
                <a:solidFill>
                  <a:srgbClr val="3B3D3E"/>
                </a:solidFill>
                <a:latin typeface="PT Sans"/>
              </a:rPr>
              <a:t>Pretraining already taught the model language and reasoning. Fine-tuning only needs to redirect it, typically a few thousand examples, not millions.</a:t>
            </a:r>
          </a:p>
        </p:txBody>
      </p:sp>
      <p:sp>
        <p:nvSpPr>
          <p:cNvPr id="14" name="TextBox 13"/>
          <p:cNvSpPr txBox="1"/>
          <p:nvPr/>
        </p:nvSpPr>
        <p:spPr>
          <a:xfrm>
            <a:off x="609600" y="5650000"/>
            <a:ext cx="10972800" cy="250000"/>
          </a:xfrm>
          <a:prstGeom prst="rect">
            <a:avLst/>
          </a:prstGeom>
          <a:noFill/>
        </p:spPr>
        <p:txBody>
          <a:bodyPr wrap="square" lIns="0" tIns="0" rIns="0" bIns="0">
            <a:spAutoFit/>
          </a:bodyPr>
          <a:lstStyle/>
          <a:p>
            <a:pPr algn="l"/>
            <a:r>
              <a:rPr sz="1250" b="0" i="1">
                <a:solidFill>
                  <a:srgbClr val="3B3D3E"/>
                </a:solidFill>
                <a:latin typeface="PT Sans"/>
              </a:rPr>
              <a:t>Prompting is a temporary fix; fine-tuning is permanent learning. Most problems that feel like they need fine-tuning are actually RAG problems.</a:t>
            </a:r>
          </a:p>
        </p:txBody>
      </p:sp>
      <p:pic>
        <p:nvPicPr>
          <p:cNvPr id="15" name="Picture 14" descr="image.png"/>
          <p:cNvPicPr>
            <a:picLocks noChangeAspect="1"/>
          </p:cNvPicPr>
          <p:nvPr/>
        </p:nvPicPr>
        <p:blipFill>
          <a:blip r:embed="rId3"/>
          <a:stretch>
            <a:fillRect/>
          </a:stretch>
        </p:blipFill>
        <p:spPr>
          <a:xfrm>
            <a:off x="0" y="6496050"/>
            <a:ext cx="12192000" cy="361950"/>
          </a:xfrm>
          <a:prstGeom prst="rect">
            <a:avLst/>
          </a:prstGeom>
        </p:spPr>
      </p:pic>
      <p:pic>
        <p:nvPicPr>
          <p:cNvPr id="17" name="Picture 16" descr="image.png"/>
          <p:cNvPicPr>
            <a:picLocks noChangeAspect="1"/>
          </p:cNvPicPr>
          <p:nvPr/>
        </p:nvPicPr>
        <p:blipFill>
          <a:blip r:embed="rId4"/>
          <a:stretch>
            <a:fillRect/>
          </a:stretch>
        </p:blipFill>
        <p:spPr>
          <a:xfrm>
            <a:off x="10564368" y="164592"/>
            <a:ext cx="1261872" cy="284366"/>
          </a:xfrm>
          <a:prstGeom prst="rect">
            <a:avLst/>
          </a:prstGeom>
        </p:spPr>
      </p:pic>
      <p:sp>
        <p:nvSpPr>
          <p:cNvPr id="18" name="TextBox 17"/>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8357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FINE-TUNING • THE COST PROBLEM, AND THE FIX</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The Cost Problem, and PEFT's Fix</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You've decided fine-tuning is the right call. Here's why doing it the naive way is unaffordable, and the technique that makes it practical.</a:t>
            </a:r>
          </a:p>
        </p:txBody>
      </p:sp>
      <p:sp>
        <p:nvSpPr>
          <p:cNvPr id="5" name="Rounded Rectangle 4"/>
          <p:cNvSpPr/>
          <p:nvPr/>
        </p:nvSpPr>
        <p:spPr>
          <a:xfrm>
            <a:off x="609600" y="1750000"/>
            <a:ext cx="5150000" cy="35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4950000" cy="220000"/>
          </a:xfrm>
          <a:prstGeom prst="rect">
            <a:avLst/>
          </a:prstGeom>
          <a:noFill/>
        </p:spPr>
        <p:txBody>
          <a:bodyPr wrap="square" lIns="0" tIns="0" rIns="0" bIns="0">
            <a:spAutoFit/>
          </a:bodyPr>
          <a:lstStyle/>
          <a:p>
            <a:pPr algn="l"/>
            <a:r>
              <a:rPr sz="1350" b="0" i="0">
                <a:solidFill>
                  <a:srgbClr val="004C97"/>
                </a:solidFill>
                <a:latin typeface="Poppins SemiBold"/>
              </a:rPr>
              <a:t>FULL FINE-TUNING: THE COST</a:t>
            </a:r>
          </a:p>
        </p:txBody>
      </p:sp>
      <p:sp>
        <p:nvSpPr>
          <p:cNvPr id="7" name="TextBox 6"/>
          <p:cNvSpPr txBox="1"/>
          <p:nvPr/>
        </p:nvSpPr>
        <p:spPr>
          <a:xfrm>
            <a:off x="709600" y="2323333"/>
            <a:ext cx="4950000" cy="2876667"/>
          </a:xfrm>
          <a:prstGeom prst="rect">
            <a:avLst/>
          </a:prstGeom>
          <a:noFill/>
        </p:spPr>
        <p:txBody>
          <a:bodyPr wrap="square" lIns="0" tIns="0" rIns="0" bIns="0">
            <a:spAutoFit/>
          </a:bodyPr>
          <a:lstStyle/>
          <a:p>
            <a:pPr>
              <a:spcAft>
                <a:spcPts val="600"/>
              </a:spcAft>
            </a:pPr>
            <a:r>
              <a:rPr sz="1300" b="0" i="0">
                <a:solidFill>
                  <a:srgbClr val="3B3D3E"/>
                </a:solidFill>
                <a:latin typeface="PT Sans"/>
              </a:rPr>
              <a:t>• GPU memory needed is equivalent to training the LLM from scratch: optimizer states, gradients, activations, on top of the weights.</a:t>
            </a:r>
          </a:p>
          <a:p>
            <a:pPr>
              <a:spcAft>
                <a:spcPts val="600"/>
              </a:spcAft>
            </a:pPr>
            <a:r>
              <a:rPr sz="1300" b="0" i="0">
                <a:solidFill>
                  <a:srgbClr val="3B3D3E"/>
                </a:solidFill>
                <a:latin typeface="PT Sans"/>
              </a:rPr>
              <a:t>• A 7B model needs 80–120 GB of GPU memory to fine-tune; a 70B model, 600+ GB.</a:t>
            </a:r>
          </a:p>
          <a:p>
            <a:pPr>
              <a:spcAft>
                <a:spcPts val="600"/>
              </a:spcAft>
            </a:pPr>
            <a:r>
              <a:rPr sz="1300" b="0" i="0">
                <a:solidFill>
                  <a:srgbClr val="3B3D3E"/>
                </a:solidFill>
                <a:latin typeface="PT Sans"/>
              </a:rPr>
              <a:t>• And that's one fine-tuned copy, for one task.</a:t>
            </a:r>
          </a:p>
        </p:txBody>
      </p:sp>
      <p:sp>
        <p:nvSpPr>
          <p:cNvPr id="8" name="Rounded Rectangle 7"/>
          <p:cNvSpPr/>
          <p:nvPr/>
        </p:nvSpPr>
        <p:spPr>
          <a:xfrm>
            <a:off x="6079600" y="1750000"/>
            <a:ext cx="5502800" cy="35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9600" y="1850000"/>
            <a:ext cx="5302800" cy="220000"/>
          </a:xfrm>
          <a:prstGeom prst="rect">
            <a:avLst/>
          </a:prstGeom>
          <a:noFill/>
        </p:spPr>
        <p:txBody>
          <a:bodyPr wrap="square" lIns="0" tIns="0" rIns="0" bIns="0">
            <a:spAutoFit/>
          </a:bodyPr>
          <a:lstStyle/>
          <a:p>
            <a:pPr algn="l"/>
            <a:r>
              <a:rPr sz="1350" b="0" i="0">
                <a:solidFill>
                  <a:srgbClr val="004C97"/>
                </a:solidFill>
                <a:latin typeface="Poppins SemiBold"/>
              </a:rPr>
              <a:t>PEFT: THE FIX</a:t>
            </a:r>
          </a:p>
        </p:txBody>
      </p:sp>
      <p:sp>
        <p:nvSpPr>
          <p:cNvPr id="10" name="TextBox 9"/>
          <p:cNvSpPr txBox="1"/>
          <p:nvPr/>
        </p:nvSpPr>
        <p:spPr>
          <a:xfrm>
            <a:off x="6179600" y="2323333"/>
            <a:ext cx="5302800" cy="2876667"/>
          </a:xfrm>
          <a:prstGeom prst="rect">
            <a:avLst/>
          </a:prstGeom>
          <a:noFill/>
        </p:spPr>
        <p:txBody>
          <a:bodyPr wrap="square" lIns="0" tIns="0" rIns="0" bIns="0">
            <a:spAutoFit/>
          </a:bodyPr>
          <a:lstStyle/>
          <a:p>
            <a:pPr>
              <a:spcAft>
                <a:spcPts val="600"/>
              </a:spcAft>
            </a:pPr>
            <a:r>
              <a:rPr sz="1300" b="0" i="0">
                <a:solidFill>
                  <a:srgbClr val="3B3D3E"/>
                </a:solidFill>
                <a:latin typeface="PT Sans"/>
              </a:rPr>
              <a:t>• Train only a small set of additional parameters; most layers of the LLM stay frozen.</a:t>
            </a:r>
          </a:p>
          <a:p>
            <a:pPr>
              <a:spcAft>
                <a:spcPts val="600"/>
              </a:spcAft>
            </a:pPr>
            <a:r>
              <a:rPr sz="1300" b="0" i="0">
                <a:solidFill>
                  <a:srgbClr val="3B3D3E"/>
                </a:solidFill>
                <a:latin typeface="PT Sans"/>
              </a:rPr>
              <a:t>• Less prone to catastrophic forgetting. The original weights never change.</a:t>
            </a:r>
          </a:p>
          <a:p>
            <a:pPr>
              <a:spcAft>
                <a:spcPts val="600"/>
              </a:spcAft>
            </a:pPr>
            <a:r>
              <a:rPr sz="1300" b="0" i="0">
                <a:solidFill>
                  <a:srgbClr val="3B3D3E"/>
                </a:solidFill>
                <a:latin typeface="PT Sans"/>
              </a:rPr>
              <a:t>• Dramatically less storage, compute, and budget required.</a:t>
            </a:r>
          </a:p>
        </p:txBody>
      </p:sp>
      <p:sp>
        <p:nvSpPr>
          <p:cNvPr id="11" name="TextBox 10"/>
          <p:cNvSpPr txBox="1"/>
          <p:nvPr/>
        </p:nvSpPr>
        <p:spPr>
          <a:xfrm>
            <a:off x="609600" y="5550000"/>
            <a:ext cx="10972800" cy="250000"/>
          </a:xfrm>
          <a:prstGeom prst="rect">
            <a:avLst/>
          </a:prstGeom>
          <a:noFill/>
        </p:spPr>
        <p:txBody>
          <a:bodyPr wrap="square" lIns="0" tIns="0" rIns="0" bIns="0">
            <a:spAutoFit/>
          </a:bodyPr>
          <a:lstStyle/>
          <a:p>
            <a:pPr algn="l"/>
            <a:r>
              <a:rPr sz="1250" b="0" i="1">
                <a:solidFill>
                  <a:srgbClr val="3B3D3E"/>
                </a:solidFill>
                <a:latin typeface="PT Sans"/>
              </a:rPr>
              <a:t>PEFT trains a small set of new parameters and freezes the rest, the same idea as adding an adapter, not rebuilding the engine.</a:t>
            </a:r>
          </a:p>
        </p:txBody>
      </p:sp>
      <p:pic>
        <p:nvPicPr>
          <p:cNvPr id="12" name="Picture 11" descr="image.png"/>
          <p:cNvPicPr>
            <a:picLocks noChangeAspect="1"/>
          </p:cNvPicPr>
          <p:nvPr/>
        </p:nvPicPr>
        <p:blipFill>
          <a:blip r:embed="rId3"/>
          <a:stretch>
            <a:fillRect/>
          </a:stretch>
        </p:blipFill>
        <p:spPr>
          <a:xfrm>
            <a:off x="0" y="6496050"/>
            <a:ext cx="12192000" cy="361950"/>
          </a:xfrm>
          <a:prstGeom prst="rect">
            <a:avLst/>
          </a:prstGeom>
        </p:spPr>
      </p:pic>
      <p:pic>
        <p:nvPicPr>
          <p:cNvPr id="14" name="Picture 13" descr="image.png"/>
          <p:cNvPicPr>
            <a:picLocks noChangeAspect="1"/>
          </p:cNvPicPr>
          <p:nvPr/>
        </p:nvPicPr>
        <p:blipFill>
          <a:blip r:embed="rId4"/>
          <a:stretch>
            <a:fillRect/>
          </a:stretch>
        </p:blipFill>
        <p:spPr>
          <a:xfrm>
            <a:off x="10564368" y="164592"/>
            <a:ext cx="1261872" cy="284366"/>
          </a:xfrm>
          <a:prstGeom prst="rect">
            <a:avLst/>
          </a:prstGeom>
        </p:spPr>
      </p:pic>
      <p:sp>
        <p:nvSpPr>
          <p:cNvPr id="15" name="TextBox 14"/>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399351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FINE-TUNING • STORAGE, BEFORE AND AFTER</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Storage: Full Copies vs. PEFT Adapters</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PEFT solved the training-cost problem on the last slide. It solves a second one at the same time: what it costs to keep ten fine-tuned variants around.</a:t>
            </a:r>
          </a:p>
        </p:txBody>
      </p:sp>
      <p:pic>
        <p:nvPicPr>
          <p:cNvPr id="5" name="Picture 4" descr="image.png"/>
          <p:cNvPicPr>
            <a:picLocks noChangeAspect="1"/>
          </p:cNvPicPr>
          <p:nvPr/>
        </p:nvPicPr>
        <p:blipFill>
          <a:blip r:embed="rId3"/>
          <a:stretch>
            <a:fillRect/>
          </a:stretch>
        </p:blipFill>
        <p:spPr>
          <a:xfrm>
            <a:off x="850644" y="1750000"/>
            <a:ext cx="4667910" cy="3150000"/>
          </a:xfrm>
          <a:prstGeom prst="rect">
            <a:avLst/>
          </a:prstGeom>
        </p:spPr>
      </p:pic>
      <p:sp>
        <p:nvSpPr>
          <p:cNvPr id="6" name="TextBox 5"/>
          <p:cNvSpPr txBox="1"/>
          <p:nvPr/>
        </p:nvSpPr>
        <p:spPr>
          <a:xfrm>
            <a:off x="609600" y="5000000"/>
            <a:ext cx="5150000" cy="500000"/>
          </a:xfrm>
          <a:prstGeom prst="rect">
            <a:avLst/>
          </a:prstGeom>
          <a:noFill/>
        </p:spPr>
        <p:txBody>
          <a:bodyPr wrap="square" lIns="0" tIns="0" rIns="0" bIns="0">
            <a:spAutoFit/>
          </a:bodyPr>
          <a:lstStyle/>
          <a:p>
            <a:pPr algn="ctr"/>
            <a:r>
              <a:rPr sz="1200" b="0" i="1">
                <a:solidFill>
                  <a:srgbClr val="3B3D3E"/>
                </a:solidFill>
                <a:latin typeface="PT Sans"/>
              </a:rPr>
              <a:t>Full fine-tuning: one complete copy per task (~14 GB each).</a:t>
            </a:r>
          </a:p>
        </p:txBody>
      </p:sp>
      <p:pic>
        <p:nvPicPr>
          <p:cNvPr id="7" name="Picture 6" descr="image.png"/>
          <p:cNvPicPr>
            <a:picLocks noChangeAspect="1"/>
          </p:cNvPicPr>
          <p:nvPr/>
        </p:nvPicPr>
        <p:blipFill>
          <a:blip r:embed="rId4"/>
          <a:stretch>
            <a:fillRect/>
          </a:stretch>
        </p:blipFill>
        <p:spPr>
          <a:xfrm>
            <a:off x="6692000" y="1750000"/>
            <a:ext cx="4278000" cy="3150000"/>
          </a:xfrm>
          <a:prstGeom prst="rect">
            <a:avLst/>
          </a:prstGeom>
        </p:spPr>
      </p:pic>
      <p:sp>
        <p:nvSpPr>
          <p:cNvPr id="8" name="TextBox 7"/>
          <p:cNvSpPr txBox="1"/>
          <p:nvPr/>
        </p:nvSpPr>
        <p:spPr>
          <a:xfrm>
            <a:off x="6079600" y="5000000"/>
            <a:ext cx="5502800" cy="500000"/>
          </a:xfrm>
          <a:prstGeom prst="rect">
            <a:avLst/>
          </a:prstGeom>
          <a:noFill/>
        </p:spPr>
        <p:txBody>
          <a:bodyPr wrap="square" lIns="0" tIns="0" rIns="0" bIns="0">
            <a:spAutoFit/>
          </a:bodyPr>
          <a:lstStyle/>
          <a:p>
            <a:pPr algn="ctr"/>
            <a:r>
              <a:rPr sz="1200" b="0" i="1">
                <a:solidFill>
                  <a:srgbClr val="3B3D3E"/>
                </a:solidFill>
                <a:latin typeface="PT Sans"/>
              </a:rPr>
              <a:t>PEFT: one shared base + tiny adapters (10–50 MB each).</a:t>
            </a:r>
          </a:p>
        </p:txBody>
      </p:sp>
      <p:sp>
        <p:nvSpPr>
          <p:cNvPr id="9" name="TextBox 8"/>
          <p:cNvSpPr txBox="1"/>
          <p:nvPr/>
        </p:nvSpPr>
        <p:spPr>
          <a:xfrm>
            <a:off x="609600" y="5750000"/>
            <a:ext cx="10972800" cy="250000"/>
          </a:xfrm>
          <a:prstGeom prst="rect">
            <a:avLst/>
          </a:prstGeom>
          <a:noFill/>
        </p:spPr>
        <p:txBody>
          <a:bodyPr wrap="square" lIns="0" tIns="0" rIns="0" bIns="0">
            <a:spAutoFit/>
          </a:bodyPr>
          <a:lstStyle/>
          <a:p>
            <a:pPr algn="l"/>
            <a:r>
              <a:rPr sz="1250" b="0" i="1">
                <a:solidFill>
                  <a:srgbClr val="3B3D3E"/>
                </a:solidFill>
                <a:latin typeface="PT Sans"/>
              </a:rPr>
              <a:t>Ten task variants: 140 GB versus under 500 MB, three orders of magnitude, and adapters retrain and roll back independently of the frozen base.</a:t>
            </a:r>
          </a:p>
        </p:txBody>
      </p:sp>
      <p:pic>
        <p:nvPicPr>
          <p:cNvPr id="10" name="Picture 9" descr="image.png"/>
          <p:cNvPicPr>
            <a:picLocks noChangeAspect="1"/>
          </p:cNvPicPr>
          <p:nvPr/>
        </p:nvPicPr>
        <p:blipFill>
          <a:blip r:embed="rId5"/>
          <a:stretch>
            <a:fillRect/>
          </a:stretch>
        </p:blipFill>
        <p:spPr>
          <a:xfrm>
            <a:off x="0" y="6496050"/>
            <a:ext cx="12192000" cy="361950"/>
          </a:xfrm>
          <a:prstGeom prst="rect">
            <a:avLst/>
          </a:prstGeom>
        </p:spPr>
      </p:pic>
      <p:pic>
        <p:nvPicPr>
          <p:cNvPr id="12" name="Picture 11" descr="image.png"/>
          <p:cNvPicPr>
            <a:picLocks noChangeAspect="1"/>
          </p:cNvPicPr>
          <p:nvPr/>
        </p:nvPicPr>
        <p:blipFill>
          <a:blip r:embed="rId6"/>
          <a:stretch>
            <a:fillRect/>
          </a:stretch>
        </p:blipFill>
        <p:spPr>
          <a:xfrm>
            <a:off x="10564368" y="164592"/>
            <a:ext cx="1261872" cy="284366"/>
          </a:xfrm>
          <a:prstGeom prst="rect">
            <a:avLst/>
          </a:prstGeom>
        </p:spPr>
      </p:pic>
      <p:sp>
        <p:nvSpPr>
          <p:cNvPr id="13" name="TextBox 12"/>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554808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RIGHT-SIZING • A REAL CASE</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Thomson Reuters Shows Why Companies Fine-Tune</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Rent the base, own the data, and right-size the envelope. That's the trade behind every fine-tuning decision.</a:t>
            </a:r>
          </a:p>
        </p:txBody>
      </p:sp>
      <p:sp>
        <p:nvSpPr>
          <p:cNvPr id="5" name="Rounded Rectangle 4"/>
          <p:cNvSpPr/>
          <p:nvPr/>
        </p:nvSpPr>
        <p:spPr>
          <a:xfrm>
            <a:off x="609600" y="1752600"/>
            <a:ext cx="10972800" cy="2794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2800" y="1905000"/>
            <a:ext cx="10566400" cy="207749"/>
          </a:xfrm>
          <a:prstGeom prst="rect">
            <a:avLst/>
          </a:prstGeom>
          <a:noFill/>
        </p:spPr>
        <p:txBody>
          <a:bodyPr wrap="square" lIns="0" tIns="0" rIns="0" bIns="0">
            <a:spAutoFit/>
          </a:bodyPr>
          <a:lstStyle/>
          <a:p>
            <a:pPr algn="l"/>
            <a:r>
              <a:rPr sz="1350" b="0" i="0">
                <a:solidFill>
                  <a:srgbClr val="004C97"/>
                </a:solidFill>
                <a:latin typeface="Poppins SemiBold"/>
              </a:rPr>
              <a:t>THOMSON REUTERS STOPPED RENTING</a:t>
            </a:r>
          </a:p>
        </p:txBody>
      </p:sp>
      <p:sp>
        <p:nvSpPr>
          <p:cNvPr id="7" name="TextBox 6"/>
          <p:cNvSpPr txBox="1"/>
          <p:nvPr/>
        </p:nvSpPr>
        <p:spPr>
          <a:xfrm>
            <a:off x="812800" y="2374900"/>
            <a:ext cx="10566400" cy="1564531"/>
          </a:xfrm>
          <a:prstGeom prst="rect">
            <a:avLst/>
          </a:prstGeom>
          <a:noFill/>
        </p:spPr>
        <p:txBody>
          <a:bodyPr wrap="square" lIns="0" tIns="0" rIns="0" bIns="0">
            <a:spAutoFit/>
          </a:bodyPr>
          <a:lstStyle/>
          <a:p>
            <a:pPr>
              <a:spcAft>
                <a:spcPts val="1000"/>
              </a:spcAft>
            </a:pPr>
            <a:r>
              <a:rPr sz="1700" b="0" i="0">
                <a:solidFill>
                  <a:srgbClr val="3B3D3E"/>
                </a:solidFill>
                <a:latin typeface="PT Sans"/>
              </a:rPr>
              <a:t>• ~$40M over two years to build their own model; the final training run: ~$450K. Started from an open-source base, fine-tuned on proprietary Westlaw, Practical Law, and Reuters content.</a:t>
            </a:r>
          </a:p>
          <a:p>
            <a:pPr>
              <a:spcAft>
                <a:spcPts val="1000"/>
              </a:spcAft>
            </a:pPr>
            <a:r>
              <a:rPr sz="1700" b="0" i="0">
                <a:solidFill>
                  <a:srgbClr val="3B3D3E"/>
                </a:solidFill>
                <a:latin typeface="PT Sans"/>
              </a:rPr>
              <a:t>• READ THIS AS: the base model is a commodity; the proprietary data is the moat.</a:t>
            </a:r>
          </a:p>
          <a:p>
            <a:pPr>
              <a:spcAft>
                <a:spcPts val="1000"/>
              </a:spcAft>
            </a:pPr>
            <a:r>
              <a:rPr sz="1700" b="0" i="0">
                <a:solidFill>
                  <a:srgbClr val="3B3D3E"/>
                </a:solidFill>
                <a:latin typeface="PT Sans"/>
              </a:rPr>
              <a:t>• DON'T READ THIS AS: "everyone should train a model." $40M is a rounding error for a $60B firm whose product IS the corpus, and a non-starter for almost everyone else.</a:t>
            </a:r>
          </a:p>
        </p:txBody>
      </p:sp>
      <p:sp>
        <p:nvSpPr>
          <p:cNvPr id="11" name="TextBox 10"/>
          <p:cNvSpPr txBox="1"/>
          <p:nvPr/>
        </p:nvSpPr>
        <p:spPr>
          <a:xfrm>
            <a:off x="609600" y="5888881"/>
            <a:ext cx="10972800" cy="250000"/>
          </a:xfrm>
          <a:prstGeom prst="rect">
            <a:avLst/>
          </a:prstGeom>
          <a:noFill/>
        </p:spPr>
        <p:txBody>
          <a:bodyPr wrap="square" lIns="0" tIns="0" rIns="0" bIns="0">
            <a:spAutoFit/>
          </a:bodyPr>
          <a:lstStyle/>
          <a:p>
            <a:pPr algn="l"/>
            <a:r>
              <a:rPr sz="1250" b="0" i="1" dirty="0">
                <a:solidFill>
                  <a:srgbClr val="3B3D3E"/>
                </a:solidFill>
                <a:latin typeface="PT Sans"/>
              </a:rPr>
              <a:t>The takeaway for us: the base model is a commodity race. The proprietary data is what wins it.</a:t>
            </a:r>
          </a:p>
        </p:txBody>
      </p:sp>
      <p:pic>
        <p:nvPicPr>
          <p:cNvPr id="12" name="Picture 11" descr="image.png"/>
          <p:cNvPicPr>
            <a:picLocks noChangeAspect="1"/>
          </p:cNvPicPr>
          <p:nvPr/>
        </p:nvPicPr>
        <p:blipFill>
          <a:blip r:embed="rId3"/>
          <a:stretch>
            <a:fillRect/>
          </a:stretch>
        </p:blipFill>
        <p:spPr>
          <a:xfrm>
            <a:off x="0" y="6496050"/>
            <a:ext cx="12192000" cy="361950"/>
          </a:xfrm>
          <a:prstGeom prst="rect">
            <a:avLst/>
          </a:prstGeom>
        </p:spPr>
      </p:pic>
      <p:pic>
        <p:nvPicPr>
          <p:cNvPr id="14" name="Picture 13" descr="image.png"/>
          <p:cNvPicPr>
            <a:picLocks noChangeAspect="1"/>
          </p:cNvPicPr>
          <p:nvPr/>
        </p:nvPicPr>
        <p:blipFill>
          <a:blip r:embed="rId4"/>
          <a:stretch>
            <a:fillRect/>
          </a:stretch>
        </p:blipFill>
        <p:spPr>
          <a:xfrm>
            <a:off x="10564368" y="164592"/>
            <a:ext cx="1261872" cy="284366"/>
          </a:xfrm>
          <a:prstGeom prst="rect">
            <a:avLst/>
          </a:prstGeom>
        </p:spPr>
      </p:pic>
      <p:sp>
        <p:nvSpPr>
          <p:cNvPr id="15" name="TextBox 14"/>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3421517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RIGHT-SIZING • QUANTIZATION</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Quantization: Why Shrink It, and the Math</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A different lever from PEFT. This one shrinks the model itself, fine-tuned or not, and the two are usually combined rather than chosen between.</a:t>
            </a:r>
          </a:p>
        </p:txBody>
      </p:sp>
      <p:sp>
        <p:nvSpPr>
          <p:cNvPr id="5" name="Rounded Rectangle 4"/>
          <p:cNvSpPr/>
          <p:nvPr/>
        </p:nvSpPr>
        <p:spPr>
          <a:xfrm>
            <a:off x="609600" y="1750000"/>
            <a:ext cx="5150000" cy="3550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9600" y="1850000"/>
            <a:ext cx="4950000" cy="220000"/>
          </a:xfrm>
          <a:prstGeom prst="rect">
            <a:avLst/>
          </a:prstGeom>
          <a:noFill/>
        </p:spPr>
        <p:txBody>
          <a:bodyPr wrap="square" lIns="0" tIns="0" rIns="0" bIns="0">
            <a:spAutoFit/>
          </a:bodyPr>
          <a:lstStyle/>
          <a:p>
            <a:pPr algn="l"/>
            <a:r>
              <a:rPr sz="1350" b="0" i="0">
                <a:solidFill>
                  <a:srgbClr val="004C97"/>
                </a:solidFill>
                <a:latin typeface="Poppins SemiBold"/>
              </a:rPr>
              <a:t>WHY SHRINK THE MODEL?</a:t>
            </a:r>
          </a:p>
        </p:txBody>
      </p:sp>
      <p:sp>
        <p:nvSpPr>
          <p:cNvPr id="7" name="TextBox 6"/>
          <p:cNvSpPr txBox="1"/>
          <p:nvPr/>
        </p:nvSpPr>
        <p:spPr>
          <a:xfrm>
            <a:off x="709600" y="2323333"/>
            <a:ext cx="4950000" cy="2876667"/>
          </a:xfrm>
          <a:prstGeom prst="rect">
            <a:avLst/>
          </a:prstGeom>
          <a:noFill/>
        </p:spPr>
        <p:txBody>
          <a:bodyPr wrap="square" lIns="0" tIns="0" rIns="0" bIns="0">
            <a:spAutoFit/>
          </a:bodyPr>
          <a:lstStyle/>
          <a:p>
            <a:pPr>
              <a:spcAft>
                <a:spcPts val="600"/>
              </a:spcAft>
            </a:pPr>
            <a:r>
              <a:rPr sz="1300" b="0" i="0">
                <a:solidFill>
                  <a:srgbClr val="3B3D3E"/>
                </a:solidFill>
                <a:latin typeface="PT Sans"/>
              </a:rPr>
              <a:t>• Most LLMs have billions of parameters, slow and memory-hungry at inference.</a:t>
            </a:r>
          </a:p>
          <a:p>
            <a:pPr>
              <a:spcAft>
                <a:spcPts val="600"/>
              </a:spcAft>
            </a:pPr>
            <a:r>
              <a:rPr sz="1300" b="0" i="0">
                <a:solidFill>
                  <a:srgbClr val="3B3D3E"/>
                </a:solidFill>
                <a:latin typeface="PT Sans"/>
              </a:rPr>
              <a:t>• Inference cost is high in the cloud; a hard blocker on the edge (memory limits, latency budgets).</a:t>
            </a:r>
          </a:p>
          <a:p>
            <a:pPr>
              <a:spcAft>
                <a:spcPts val="600"/>
              </a:spcAft>
            </a:pPr>
            <a:r>
              <a:rPr sz="1300" b="0" i="0">
                <a:solidFill>
                  <a:srgbClr val="3B3D3E"/>
                </a:solidFill>
                <a:latin typeface="PT Sans"/>
              </a:rPr>
              <a:t>• The fix: compress the model you already have, without sacrificing much performance.</a:t>
            </a:r>
          </a:p>
        </p:txBody>
      </p:sp>
      <p:pic>
        <p:nvPicPr>
          <p:cNvPr id="8" name="Picture 7" descr="image.jpg"/>
          <p:cNvPicPr>
            <a:picLocks noChangeAspect="1"/>
          </p:cNvPicPr>
          <p:nvPr/>
        </p:nvPicPr>
        <p:blipFill>
          <a:blip r:embed="rId3"/>
          <a:stretch>
            <a:fillRect/>
          </a:stretch>
        </p:blipFill>
        <p:spPr>
          <a:xfrm>
            <a:off x="6079600" y="2262617"/>
            <a:ext cx="5502800" cy="1674765"/>
          </a:xfrm>
          <a:prstGeom prst="rect">
            <a:avLst/>
          </a:prstGeom>
        </p:spPr>
      </p:pic>
      <p:sp>
        <p:nvSpPr>
          <p:cNvPr id="9" name="TextBox 8"/>
          <p:cNvSpPr txBox="1"/>
          <p:nvPr/>
        </p:nvSpPr>
        <p:spPr>
          <a:xfrm>
            <a:off x="6079600" y="4450000"/>
            <a:ext cx="5502800" cy="850000"/>
          </a:xfrm>
          <a:prstGeom prst="rect">
            <a:avLst/>
          </a:prstGeom>
          <a:noFill/>
        </p:spPr>
        <p:txBody>
          <a:bodyPr wrap="square" lIns="0" tIns="0" rIns="0" bIns="0">
            <a:spAutoFit/>
          </a:bodyPr>
          <a:lstStyle/>
          <a:p>
            <a:pPr algn="l"/>
            <a:r>
              <a:rPr sz="1200" b="0" i="0">
                <a:solidFill>
                  <a:srgbClr val="3B3D3E"/>
                </a:solidFill>
                <a:latin typeface="PT Sans"/>
              </a:rPr>
              <a:t>Store numbers in 8-bit or 4-bit format instead of 32-bit floats. A 7B model at FP32 (~28 GB) becomes ~3.5–4 GB in INT4, a small accuracy hit, usually acceptable.</a:t>
            </a:r>
          </a:p>
        </p:txBody>
      </p:sp>
      <p:sp>
        <p:nvSpPr>
          <p:cNvPr id="10" name="TextBox 9"/>
          <p:cNvSpPr txBox="1"/>
          <p:nvPr/>
        </p:nvSpPr>
        <p:spPr>
          <a:xfrm>
            <a:off x="609600" y="5650000"/>
            <a:ext cx="10972800" cy="250000"/>
          </a:xfrm>
          <a:prstGeom prst="rect">
            <a:avLst/>
          </a:prstGeom>
          <a:noFill/>
        </p:spPr>
        <p:txBody>
          <a:bodyPr wrap="square" lIns="0" tIns="0" rIns="0" bIns="0">
            <a:spAutoFit/>
          </a:bodyPr>
          <a:lstStyle/>
          <a:p>
            <a:pPr algn="l"/>
            <a:r>
              <a:rPr sz="1250" b="0" i="1">
                <a:solidFill>
                  <a:srgbClr val="3B3D3E"/>
                </a:solidFill>
                <a:latin typeface="PT Sans"/>
              </a:rPr>
              <a:t>This is what makes running a serious model on a laptop or a single consumer GPU possible at all.</a:t>
            </a:r>
          </a:p>
        </p:txBody>
      </p:sp>
      <p:pic>
        <p:nvPicPr>
          <p:cNvPr id="11" name="Picture 10" descr="image.png"/>
          <p:cNvPicPr>
            <a:picLocks noChangeAspect="1"/>
          </p:cNvPicPr>
          <p:nvPr/>
        </p:nvPicPr>
        <p:blipFill>
          <a:blip r:embed="rId4"/>
          <a:stretch>
            <a:fillRect/>
          </a:stretch>
        </p:blipFill>
        <p:spPr>
          <a:xfrm>
            <a:off x="0" y="6496050"/>
            <a:ext cx="12192000" cy="361950"/>
          </a:xfrm>
          <a:prstGeom prst="rect">
            <a:avLst/>
          </a:prstGeom>
        </p:spPr>
      </p:pic>
      <p:pic>
        <p:nvPicPr>
          <p:cNvPr id="13" name="Picture 12" descr="image.png"/>
          <p:cNvPicPr>
            <a:picLocks noChangeAspect="1"/>
          </p:cNvPicPr>
          <p:nvPr/>
        </p:nvPicPr>
        <p:blipFill>
          <a:blip r:embed="rId5"/>
          <a:stretch>
            <a:fillRect/>
          </a:stretch>
        </p:blipFill>
        <p:spPr>
          <a:xfrm>
            <a:off x="10564368" y="164592"/>
            <a:ext cx="1261872" cy="284366"/>
          </a:xfrm>
          <a:prstGeom prst="rect">
            <a:avLst/>
          </a:prstGeom>
        </p:spPr>
      </p:pic>
      <p:sp>
        <p:nvSpPr>
          <p:cNvPr id="14" name="TextBox 13"/>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1770236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150"/>
            <a:ext cx="10972800" cy="184666"/>
          </a:xfrm>
          <a:prstGeom prst="rect">
            <a:avLst/>
          </a:prstGeom>
          <a:noFill/>
        </p:spPr>
        <p:txBody>
          <a:bodyPr wrap="square" lIns="0" tIns="0" rIns="0" bIns="0">
            <a:spAutoFit/>
          </a:bodyPr>
          <a:lstStyle/>
          <a:p>
            <a:pPr algn="l"/>
            <a:r>
              <a:rPr sz="1200" b="0" i="0">
                <a:solidFill>
                  <a:srgbClr val="00A3E0"/>
                </a:solidFill>
                <a:latin typeface="Poppins SemiBold"/>
              </a:rPr>
              <a:t>RIGHT-SIZING • THE DECISION RULE</a:t>
            </a:r>
          </a:p>
        </p:txBody>
      </p:sp>
      <p:sp>
        <p:nvSpPr>
          <p:cNvPr id="3" name="TextBox 2"/>
          <p:cNvSpPr txBox="1"/>
          <p:nvPr/>
        </p:nvSpPr>
        <p:spPr>
          <a:xfrm>
            <a:off x="609600" y="714375"/>
            <a:ext cx="11521440" cy="404406"/>
          </a:xfrm>
          <a:prstGeom prst="rect">
            <a:avLst/>
          </a:prstGeom>
          <a:noFill/>
        </p:spPr>
        <p:txBody>
          <a:bodyPr wrap="square" lIns="0" tIns="0" rIns="0" bIns="0">
            <a:spAutoFit/>
          </a:bodyPr>
          <a:lstStyle/>
          <a:p>
            <a:pPr algn="l"/>
            <a:r>
              <a:rPr sz="2250" b="0" i="0">
                <a:solidFill>
                  <a:srgbClr val="004C97"/>
                </a:solidFill>
                <a:latin typeface="Poppins SemiBold"/>
              </a:rPr>
              <a:t>When Fine-Tuning Earns Its Cost</a:t>
            </a:r>
          </a:p>
        </p:txBody>
      </p:sp>
      <p:sp>
        <p:nvSpPr>
          <p:cNvPr id="4" name="TextBox 3"/>
          <p:cNvSpPr txBox="1"/>
          <p:nvPr/>
        </p:nvSpPr>
        <p:spPr>
          <a:xfrm>
            <a:off x="609600" y="1300162"/>
            <a:ext cx="10972800" cy="260000"/>
          </a:xfrm>
          <a:prstGeom prst="rect">
            <a:avLst/>
          </a:prstGeom>
          <a:noFill/>
        </p:spPr>
        <p:txBody>
          <a:bodyPr wrap="square" lIns="0" tIns="0" rIns="0" bIns="0">
            <a:spAutoFit/>
          </a:bodyPr>
          <a:lstStyle/>
          <a:p>
            <a:pPr algn="l"/>
            <a:r>
              <a:rPr sz="1250" b="0" i="0">
                <a:solidFill>
                  <a:srgbClr val="334155"/>
                </a:solidFill>
                <a:latin typeface="Nunito Sans"/>
              </a:rPr>
              <a:t>The conditions that make fine-tuning worth the cost, and the ones that don't.</a:t>
            </a:r>
          </a:p>
        </p:txBody>
      </p:sp>
      <p:sp>
        <p:nvSpPr>
          <p:cNvPr id="8" name="Rounded Rectangle 7"/>
          <p:cNvSpPr/>
          <p:nvPr/>
        </p:nvSpPr>
        <p:spPr>
          <a:xfrm>
            <a:off x="609600" y="1752600"/>
            <a:ext cx="10972800" cy="2921000"/>
          </a:xfrm>
          <a:prstGeom prst="roundRect">
            <a:avLst>
              <a:gd name="adj" fmla="val 4500"/>
            </a:avLst>
          </a:prstGeom>
          <a:no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1905000"/>
            <a:ext cx="10566400" cy="207749"/>
          </a:xfrm>
          <a:prstGeom prst="rect">
            <a:avLst/>
          </a:prstGeom>
          <a:noFill/>
        </p:spPr>
        <p:txBody>
          <a:bodyPr wrap="square" lIns="0" tIns="0" rIns="0" bIns="0">
            <a:spAutoFit/>
          </a:bodyPr>
          <a:lstStyle/>
          <a:p>
            <a:pPr algn="l"/>
            <a:r>
              <a:rPr sz="1350" b="0" i="0">
                <a:solidFill>
                  <a:srgbClr val="004C97"/>
                </a:solidFill>
                <a:latin typeface="Poppins SemiBold"/>
              </a:rPr>
              <a:t>WHEN FINE-TUNING EARNS ITS COST</a:t>
            </a:r>
          </a:p>
        </p:txBody>
      </p:sp>
      <p:sp>
        <p:nvSpPr>
          <p:cNvPr id="10" name="TextBox 9"/>
          <p:cNvSpPr txBox="1"/>
          <p:nvPr/>
        </p:nvSpPr>
        <p:spPr>
          <a:xfrm>
            <a:off x="812800" y="2374900"/>
            <a:ext cx="10566400" cy="2203167"/>
          </a:xfrm>
          <a:prstGeom prst="rect">
            <a:avLst/>
          </a:prstGeom>
          <a:noFill/>
        </p:spPr>
        <p:txBody>
          <a:bodyPr wrap="square" lIns="0" tIns="0" rIns="0" bIns="0">
            <a:spAutoFit/>
          </a:bodyPr>
          <a:lstStyle/>
          <a:p>
            <a:pPr>
              <a:spcAft>
                <a:spcPts val="400"/>
              </a:spcAft>
            </a:pPr>
            <a:r>
              <a:rPr sz="1500" b="1" i="0">
                <a:solidFill>
                  <a:srgbClr val="004C97"/>
                </a:solidFill>
                <a:latin typeface="PT Sans"/>
              </a:rPr>
              <a:t>JUSTIFIED WHEN:</a:t>
            </a:r>
          </a:p>
          <a:p>
            <a:pPr>
              <a:spcAft>
                <a:spcPts val="500"/>
              </a:spcAft>
            </a:pPr>
            <a:r>
              <a:rPr sz="1400" b="0" i="0">
                <a:solidFill>
                  <a:srgbClr val="3B3D3E"/>
                </a:solidFill>
                <a:latin typeface="PT Sans"/>
              </a:rPr>
              <a:t>• A stable, well-defined behavior target</a:t>
            </a:r>
          </a:p>
          <a:p>
            <a:pPr>
              <a:spcAft>
                <a:spcPts val="500"/>
              </a:spcAft>
            </a:pPr>
            <a:r>
              <a:rPr sz="1400" b="0" i="0">
                <a:solidFill>
                  <a:srgbClr val="3B3D3E"/>
                </a:solidFill>
                <a:latin typeface="PT Sans"/>
              </a:rPr>
              <a:t>• Volume high enough that per-call costs dominate</a:t>
            </a:r>
          </a:p>
          <a:p>
            <a:pPr>
              <a:spcAft>
                <a:spcPts val="700"/>
              </a:spcAft>
            </a:pPr>
            <a:r>
              <a:rPr sz="1400" b="0" i="0">
                <a:solidFill>
                  <a:srgbClr val="3B3D3E"/>
                </a:solidFill>
                <a:latin typeface="PT Sans"/>
              </a:rPr>
              <a:t>• Prompting and RAG genuinely tried and documented as insufficient</a:t>
            </a:r>
          </a:p>
          <a:p>
            <a:pPr>
              <a:spcAft>
                <a:spcPts val="400"/>
              </a:spcAft>
            </a:pPr>
            <a:r>
              <a:rPr sz="1500" b="1" i="0">
                <a:solidFill>
                  <a:srgbClr val="004C97"/>
                </a:solidFill>
                <a:latin typeface="PT Sans"/>
              </a:rPr>
              <a:t>REJECTED WHEN:</a:t>
            </a:r>
          </a:p>
          <a:p>
            <a:pPr>
              <a:spcAft>
                <a:spcPts val="500"/>
              </a:spcAft>
            </a:pPr>
            <a:r>
              <a:rPr sz="1400" b="0" i="0">
                <a:solidFill>
                  <a:srgbClr val="3B3D3E"/>
                </a:solidFill>
                <a:latin typeface="PT Sans"/>
              </a:rPr>
              <a:t>• The real need is fresh or changing facts. That's what RAG solves.</a:t>
            </a:r>
          </a:p>
          <a:p>
            <a:pPr>
              <a:spcAft>
                <a:spcPts val="500"/>
              </a:spcAft>
            </a:pPr>
            <a:r>
              <a:rPr sz="1400" b="0" i="0">
                <a:solidFill>
                  <a:srgbClr val="3B3D3E"/>
                </a:solidFill>
                <a:latin typeface="PT Sans"/>
              </a:rPr>
              <a:t>• The "target behavior" is actually a moving target</a:t>
            </a:r>
          </a:p>
          <a:p>
            <a:pPr>
              <a:spcAft>
                <a:spcPts val="500"/>
              </a:spcAft>
            </a:pPr>
            <a:r>
              <a:rPr sz="1400" b="0" i="0">
                <a:solidFill>
                  <a:srgbClr val="3B3D3E"/>
                </a:solidFill>
                <a:latin typeface="PT Sans"/>
              </a:rPr>
              <a:t>• It "sounds more serious" than prompt engineering</a:t>
            </a:r>
          </a:p>
        </p:txBody>
      </p:sp>
      <p:sp>
        <p:nvSpPr>
          <p:cNvPr id="11" name="TextBox 10"/>
          <p:cNvSpPr txBox="1"/>
          <p:nvPr/>
        </p:nvSpPr>
        <p:spPr>
          <a:xfrm>
            <a:off x="609600" y="4953000"/>
            <a:ext cx="10972800" cy="250000"/>
          </a:xfrm>
          <a:prstGeom prst="rect">
            <a:avLst/>
          </a:prstGeom>
          <a:noFill/>
        </p:spPr>
        <p:txBody>
          <a:bodyPr wrap="square" lIns="0" tIns="0" rIns="0" bIns="0">
            <a:spAutoFit/>
          </a:bodyPr>
          <a:lstStyle/>
          <a:p>
            <a:pPr algn="l"/>
            <a:r>
              <a:rPr sz="1250" b="0" i="1">
                <a:solidFill>
                  <a:srgbClr val="3B3D3E"/>
                </a:solidFill>
                <a:latin typeface="PT Sans"/>
              </a:rPr>
              <a:t>Steering-committee line: “We fine-tune when a stable behavior, at volume, survives documentation of what prompting and RAG already achieved. Everything else rents.”</a:t>
            </a:r>
          </a:p>
        </p:txBody>
      </p:sp>
      <p:pic>
        <p:nvPicPr>
          <p:cNvPr id="12" name="Picture 11" descr="image.png"/>
          <p:cNvPicPr>
            <a:picLocks noChangeAspect="1"/>
          </p:cNvPicPr>
          <p:nvPr/>
        </p:nvPicPr>
        <p:blipFill>
          <a:blip r:embed="rId3"/>
          <a:stretch>
            <a:fillRect/>
          </a:stretch>
        </p:blipFill>
        <p:spPr>
          <a:xfrm>
            <a:off x="0" y="6496050"/>
            <a:ext cx="12192000" cy="361950"/>
          </a:xfrm>
          <a:prstGeom prst="rect">
            <a:avLst/>
          </a:prstGeom>
        </p:spPr>
      </p:pic>
      <p:pic>
        <p:nvPicPr>
          <p:cNvPr id="14" name="Picture 13" descr="image.png"/>
          <p:cNvPicPr>
            <a:picLocks noChangeAspect="1"/>
          </p:cNvPicPr>
          <p:nvPr/>
        </p:nvPicPr>
        <p:blipFill>
          <a:blip r:embed="rId4"/>
          <a:stretch>
            <a:fillRect/>
          </a:stretch>
        </p:blipFill>
        <p:spPr>
          <a:xfrm>
            <a:off x="10564368" y="164592"/>
            <a:ext cx="1261872" cy="284366"/>
          </a:xfrm>
          <a:prstGeom prst="rect">
            <a:avLst/>
          </a:prstGeom>
        </p:spPr>
      </p:pic>
      <p:sp>
        <p:nvSpPr>
          <p:cNvPr id="15" name="TextBox 14"/>
          <p:cNvSpPr txBox="1"/>
          <p:nvPr/>
        </p:nvSpPr>
        <p:spPr>
          <a:xfrm>
            <a:off x="10734675" y="6567487"/>
            <a:ext cx="1038225" cy="219075"/>
          </a:xfrm>
          <a:prstGeom prst="rect">
            <a:avLst/>
          </a:prstGeom>
          <a:noFill/>
        </p:spPr>
        <p:txBody>
          <a:bodyPr wrap="square" lIns="0" tIns="0" rIns="0" bIns="0">
            <a:spAutoFit/>
          </a:bodyPr>
          <a:lstStyle/>
          <a:p>
            <a:pPr algn="l"/>
            <a:r>
              <a:rPr sz="1125" b="0" i="0">
                <a:solidFill>
                  <a:srgbClr val="FFFFFF"/>
                </a:solidFill>
                <a:latin typeface="Poppins SemiBold"/>
              </a:rPr>
              <a:t>Insight</a:t>
            </a:r>
            <a:r>
              <a:rPr sz="1125" b="0" i="0">
                <a:solidFill>
                  <a:srgbClr val="10B981"/>
                </a:solidFill>
                <a:latin typeface="Poppins SemiBold"/>
              </a:rPr>
              <a:t>Verge</a:t>
            </a:r>
          </a:p>
        </p:txBody>
      </p:sp>
    </p:spTree>
    <p:extLst>
      <p:ext uri="{BB962C8B-B14F-4D97-AF65-F5344CB8AC3E}">
        <p14:creationId xmlns:p14="http://schemas.microsoft.com/office/powerpoint/2010/main" val="2091541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6496050"/>
            <a:ext cx="12192000" cy="361950"/>
          </a:xfrm>
          <a:prstGeom prst="rect">
            <a:avLst/>
          </a:prstGeom>
        </p:spPr>
      </p:pic>
      <p:sp>
        <p:nvSpPr>
          <p:cNvPr id="4" name="TextBox 3"/>
          <p:cNvSpPr txBox="1"/>
          <p:nvPr/>
        </p:nvSpPr>
        <p:spPr>
          <a:xfrm>
            <a:off x="609600" y="714375"/>
            <a:ext cx="11521440" cy="357187"/>
          </a:xfrm>
          <a:prstGeom prst="rect">
            <a:avLst/>
          </a:prstGeom>
          <a:noFill/>
        </p:spPr>
        <p:txBody>
          <a:bodyPr wrap="square" lIns="0" tIns="0" rIns="0" bIns="0" anchor="t">
            <a:spAutoFit/>
          </a:bodyPr>
          <a:lstStyle/>
          <a:p>
            <a:pPr algn="l">
              <a:lnSpc>
                <a:spcPts val="2812"/>
              </a:lnSpc>
            </a:pPr>
            <a:r>
              <a:rPr sz="2250" b="0" i="0" u="none">
                <a:solidFill>
                  <a:srgbClr val="004C97"/>
                </a:solidFill>
                <a:latin typeface="Poppins SemiBold"/>
              </a:rPr>
              <a:t>What You're Actually Guarding Against</a:t>
            </a:r>
          </a:p>
        </p:txBody>
      </p:sp>
      <p:sp>
        <p:nvSpPr>
          <p:cNvPr id="5" name="TextBox 4"/>
          <p:cNvSpPr txBox="1"/>
          <p:nvPr/>
        </p:nvSpPr>
        <p:spPr>
          <a:xfrm>
            <a:off x="609600" y="1300162"/>
            <a:ext cx="10972800" cy="220766"/>
          </a:xfrm>
          <a:prstGeom prst="rect">
            <a:avLst/>
          </a:prstGeom>
          <a:noFill/>
        </p:spPr>
        <p:txBody>
          <a:bodyPr wrap="square" lIns="0" tIns="0" rIns="0" bIns="0" anchor="t">
            <a:spAutoFit/>
          </a:bodyPr>
          <a:lstStyle/>
          <a:p>
            <a:pPr algn="l">
              <a:lnSpc>
                <a:spcPts val="1794"/>
              </a:lnSpc>
            </a:pPr>
            <a:r>
              <a:rPr sz="1237" b="0" i="0" u="none" dirty="0">
                <a:solidFill>
                  <a:srgbClr val="334155"/>
                </a:solidFill>
                <a:latin typeface="Nunito Sans"/>
              </a:rPr>
              <a:t>Enabling success takes careful usage and the right architecture, not more model, not more scale.</a:t>
            </a:r>
          </a:p>
        </p:txBody>
      </p:sp>
      <p:sp>
        <p:nvSpPr>
          <p:cNvPr id="11" name="TextBox 10"/>
          <p:cNvSpPr txBox="1"/>
          <p:nvPr/>
        </p:nvSpPr>
        <p:spPr>
          <a:xfrm>
            <a:off x="609600" y="1905000"/>
            <a:ext cx="304800" cy="330200"/>
          </a:xfrm>
          <a:prstGeom prst="rect">
            <a:avLst/>
          </a:prstGeom>
          <a:noFill/>
        </p:spPr>
        <p:txBody>
          <a:bodyPr wrap="none" lIns="0" tIns="0" rIns="0" bIns="0" anchor="t">
            <a:noAutofit/>
          </a:bodyPr>
          <a:lstStyle/>
          <a:p>
            <a:pPr algn="l"/>
            <a:r>
              <a:rPr sz="1600" b="1" i="0" u="none">
                <a:solidFill>
                  <a:srgbClr val="00A3E0"/>
                </a:solidFill>
                <a:latin typeface="Poppins"/>
              </a:rPr>
              <a:t>1</a:t>
            </a:r>
          </a:p>
        </p:txBody>
      </p:sp>
      <p:sp>
        <p:nvSpPr>
          <p:cNvPr id="12" name="TextBox 11"/>
          <p:cNvSpPr txBox="1"/>
          <p:nvPr/>
        </p:nvSpPr>
        <p:spPr>
          <a:xfrm>
            <a:off x="990600" y="1930400"/>
            <a:ext cx="10591800" cy="584200"/>
          </a:xfrm>
          <a:prstGeom prst="rect">
            <a:avLst/>
          </a:prstGeom>
          <a:noFill/>
        </p:spPr>
        <p:txBody>
          <a:bodyPr wrap="square" lIns="0" tIns="0" rIns="0" bIns="0" anchor="t">
            <a:spAutoFit/>
          </a:bodyPr>
          <a:lstStyle/>
          <a:p>
            <a:pPr algn="l">
              <a:lnSpc>
                <a:spcPts val="1900"/>
              </a:lnSpc>
            </a:pPr>
            <a:r>
              <a:rPr sz="1400" b="0" i="0" u="none" dirty="0">
                <a:solidFill>
                  <a:srgbClr val="004C97"/>
                </a:solidFill>
                <a:latin typeface="Nunito Sans SemiBold"/>
              </a:rPr>
              <a:t>PERFORMING;</a:t>
            </a:r>
            <a:r>
              <a:rPr sz="1400" b="0" i="0" u="none" dirty="0">
                <a:solidFill>
                  <a:srgbClr val="1E293B"/>
                </a:solidFill>
                <a:latin typeface="Nunito Sans"/>
              </a:rPr>
              <a:t> “AI wishing” and “AI washing.” 75% of executives admit their AI strategy is “more for show.” 95% of GenAI pilots deliver zero P&amp;amp;L impact. Still true.</a:t>
            </a:r>
          </a:p>
        </p:txBody>
      </p:sp>
      <p:sp>
        <p:nvSpPr>
          <p:cNvPr id="13" name="TextBox 12"/>
          <p:cNvSpPr txBox="1"/>
          <p:nvPr/>
        </p:nvSpPr>
        <p:spPr>
          <a:xfrm>
            <a:off x="609600" y="2743200"/>
            <a:ext cx="304800" cy="330200"/>
          </a:xfrm>
          <a:prstGeom prst="rect">
            <a:avLst/>
          </a:prstGeom>
          <a:noFill/>
        </p:spPr>
        <p:txBody>
          <a:bodyPr wrap="none" lIns="0" tIns="0" rIns="0" bIns="0" anchor="t">
            <a:noAutofit/>
          </a:bodyPr>
          <a:lstStyle/>
          <a:p>
            <a:pPr algn="l"/>
            <a:r>
              <a:rPr sz="1600" b="1" i="0" u="none">
                <a:solidFill>
                  <a:srgbClr val="00A3E0"/>
                </a:solidFill>
                <a:latin typeface="Poppins"/>
              </a:rPr>
              <a:t>2</a:t>
            </a:r>
          </a:p>
        </p:txBody>
      </p:sp>
      <p:sp>
        <p:nvSpPr>
          <p:cNvPr id="14" name="TextBox 13"/>
          <p:cNvSpPr txBox="1"/>
          <p:nvPr/>
        </p:nvSpPr>
        <p:spPr>
          <a:xfrm>
            <a:off x="990600" y="2768600"/>
            <a:ext cx="10591800" cy="584200"/>
          </a:xfrm>
          <a:prstGeom prst="rect">
            <a:avLst/>
          </a:prstGeom>
          <a:noFill/>
        </p:spPr>
        <p:txBody>
          <a:bodyPr wrap="square" lIns="0" tIns="0" rIns="0" bIns="0" anchor="t">
            <a:spAutoFit/>
          </a:bodyPr>
          <a:lstStyle/>
          <a:p>
            <a:pPr algn="l">
              <a:lnSpc>
                <a:spcPts val="1900"/>
              </a:lnSpc>
            </a:pPr>
            <a:r>
              <a:rPr sz="1400" b="0" i="0" u="none" dirty="0">
                <a:solidFill>
                  <a:srgbClr val="004C97"/>
                </a:solidFill>
                <a:latin typeface="Nunito Sans SemiBold"/>
              </a:rPr>
              <a:t>SKIPPING THE BOUNDARY TEST;</a:t>
            </a:r>
            <a:r>
              <a:rPr sz="1400" b="0" i="0" u="none" dirty="0">
                <a:solidFill>
                  <a:srgbClr val="1E293B"/>
                </a:solidFill>
                <a:latin typeface="Nunito Sans"/>
              </a:rPr>
              <a:t> Fine-tuning gets reached for before the acid test does. RAG solves fresher-facts problems for a fraction of the cost and complexity.</a:t>
            </a:r>
          </a:p>
        </p:txBody>
      </p:sp>
      <p:sp>
        <p:nvSpPr>
          <p:cNvPr id="15" name="TextBox 14"/>
          <p:cNvSpPr txBox="1"/>
          <p:nvPr/>
        </p:nvSpPr>
        <p:spPr>
          <a:xfrm>
            <a:off x="609600" y="3581400"/>
            <a:ext cx="304800" cy="330200"/>
          </a:xfrm>
          <a:prstGeom prst="rect">
            <a:avLst/>
          </a:prstGeom>
          <a:noFill/>
        </p:spPr>
        <p:txBody>
          <a:bodyPr wrap="none" lIns="0" tIns="0" rIns="0" bIns="0" anchor="t">
            <a:noAutofit/>
          </a:bodyPr>
          <a:lstStyle/>
          <a:p>
            <a:pPr algn="l"/>
            <a:r>
              <a:rPr sz="1600" b="1" i="0" u="none">
                <a:solidFill>
                  <a:srgbClr val="00A3E0"/>
                </a:solidFill>
                <a:latin typeface="Poppins"/>
              </a:rPr>
              <a:t>3</a:t>
            </a:r>
          </a:p>
        </p:txBody>
      </p:sp>
      <p:sp>
        <p:nvSpPr>
          <p:cNvPr id="16" name="TextBox 15"/>
          <p:cNvSpPr txBox="1"/>
          <p:nvPr/>
        </p:nvSpPr>
        <p:spPr>
          <a:xfrm>
            <a:off x="990600" y="3606800"/>
            <a:ext cx="10591800" cy="584200"/>
          </a:xfrm>
          <a:prstGeom prst="rect">
            <a:avLst/>
          </a:prstGeom>
          <a:noFill/>
        </p:spPr>
        <p:txBody>
          <a:bodyPr wrap="square" lIns="0" tIns="0" rIns="0" bIns="0" anchor="t">
            <a:spAutoFit/>
          </a:bodyPr>
          <a:lstStyle/>
          <a:p>
            <a:pPr algn="l">
              <a:lnSpc>
                <a:spcPts val="1900"/>
              </a:lnSpc>
            </a:pPr>
            <a:r>
              <a:rPr sz="1400" b="0" i="0" u="none" dirty="0">
                <a:solidFill>
                  <a:srgbClr val="004C97"/>
                </a:solidFill>
                <a:latin typeface="Nunito Sans SemiBold"/>
              </a:rPr>
              <a:t>NO RIGHT-SIZING DISCIPLINE;</a:t>
            </a:r>
            <a:r>
              <a:rPr sz="1400" b="0" i="0" u="none" dirty="0">
                <a:solidFill>
                  <a:srgbClr val="1E293B"/>
                </a:solidFill>
                <a:latin typeface="Nunito Sans"/>
              </a:rPr>
              <a:t> A quantized, LoRA-tuned 7B does the job a 70B model was reached for. The expensive path becomes the default when nobody checks the cheaper rung first.</a:t>
            </a:r>
          </a:p>
        </p:txBody>
      </p:sp>
      <p:sp>
        <p:nvSpPr>
          <p:cNvPr id="18" name="TextBox 17">
            <a:extLst>
              <a:ext uri="{FF2B5EF4-FFF2-40B4-BE49-F238E27FC236}">
                <a16:creationId xmlns:a16="http://schemas.microsoft.com/office/drawing/2014/main" id="{E85AEAB9-60A4-3310-B769-AE0C2408C9DD}"/>
              </a:ext>
            </a:extLst>
          </p:cNvPr>
          <p:cNvSpPr txBox="1"/>
          <p:nvPr/>
        </p:nvSpPr>
        <p:spPr>
          <a:xfrm>
            <a:off x="10734675" y="6567487"/>
            <a:ext cx="1038225" cy="219075"/>
          </a:xfrm>
          <a:prstGeom prst="rect">
            <a:avLst/>
          </a:prstGeom>
          <a:noFill/>
        </p:spPr>
        <p:txBody>
          <a:bodyPr wrap="square" lIns="0" tIns="0" rIns="0" bIns="0" anchor="t">
            <a:spAutoFit/>
          </a:bodyPr>
          <a:lstStyle/>
          <a:p>
            <a:pPr algn="l"/>
            <a:r>
              <a:rPr sz="1125" b="0" i="0" u="none" dirty="0" err="1">
                <a:solidFill>
                  <a:srgbClr val="FFFFFF"/>
                </a:solidFill>
                <a:latin typeface="Poppins SemiBold"/>
              </a:rPr>
              <a:t>Insight</a:t>
            </a:r>
            <a:r>
              <a:rPr sz="1125" b="0" i="0" u="none" dirty="0" err="1">
                <a:solidFill>
                  <a:srgbClr val="10B981"/>
                </a:solidFill>
                <a:latin typeface="Poppins SemiBold"/>
              </a:rPr>
              <a:t>Verge</a:t>
            </a:r>
            <a:endParaRPr sz="1125" b="0" i="0" u="none" dirty="0">
              <a:solidFill>
                <a:srgbClr val="10B981"/>
              </a:solidFill>
              <a:latin typeface="Poppins SemiBold"/>
            </a:endParaRPr>
          </a:p>
        </p:txBody>
      </p:sp>
      <p:pic>
        <p:nvPicPr>
          <p:cNvPr id="19" name="Picture 18" descr="layout12_pic1.png">
            <a:extLst>
              <a:ext uri="{FF2B5EF4-FFF2-40B4-BE49-F238E27FC236}">
                <a16:creationId xmlns:a16="http://schemas.microsoft.com/office/drawing/2014/main" id="{EBC39351-D9CC-28CF-999A-D79CEE279AC1}"/>
              </a:ext>
            </a:extLst>
          </p:cNvPr>
          <p:cNvPicPr>
            <a:picLocks noChangeAspect="1"/>
          </p:cNvPicPr>
          <p:nvPr/>
        </p:nvPicPr>
        <p:blipFill>
          <a:blip r:embed="rId3"/>
          <a:stretch>
            <a:fillRect/>
          </a:stretch>
        </p:blipFill>
        <p:spPr>
          <a:xfrm>
            <a:off x="10564368" y="164592"/>
            <a:ext cx="1261872" cy="284366"/>
          </a:xfrm>
          <a:prstGeom prst="rect">
            <a:avLst/>
          </a:prstGeom>
        </p:spPr>
      </p:pic>
      <p:sp>
        <p:nvSpPr>
          <p:cNvPr id="6" name="TextBox 5">
            <a:extLst>
              <a:ext uri="{FF2B5EF4-FFF2-40B4-BE49-F238E27FC236}">
                <a16:creationId xmlns:a16="http://schemas.microsoft.com/office/drawing/2014/main" id="{3F9AF48A-CFD1-42FF-BB28-F13737BD0858}"/>
              </a:ext>
            </a:extLst>
          </p:cNvPr>
          <p:cNvSpPr txBox="1"/>
          <p:nvPr/>
        </p:nvSpPr>
        <p:spPr>
          <a:xfrm>
            <a:off x="609600" y="4419600"/>
            <a:ext cx="304800" cy="330200"/>
          </a:xfrm>
          <a:prstGeom prst="rect">
            <a:avLst/>
          </a:prstGeom>
          <a:noFill/>
        </p:spPr>
        <p:txBody>
          <a:bodyPr vertOverflow="overflow" vert="horz" wrap="none" lIns="0" tIns="0" rIns="0" bIns="0" rtlCol="0" anchor="t">
            <a:noAutofit/>
          </a:bodyPr>
          <a:lstStyle/>
          <a:p>
            <a:pPr algn="l"/>
            <a:r>
              <a:rPr sz="1600" b="1" i="0" u="none">
                <a:solidFill>
                  <a:srgbClr val="00A3E0"/>
                </a:solidFill>
                <a:latin typeface="Poppins"/>
              </a:rPr>
              <a:t>4</a:t>
            </a:r>
          </a:p>
        </p:txBody>
      </p:sp>
      <p:sp>
        <p:nvSpPr>
          <p:cNvPr id="7" name="TextBox 6">
            <a:extLst>
              <a:ext uri="{FF2B5EF4-FFF2-40B4-BE49-F238E27FC236}">
                <a16:creationId xmlns:a16="http://schemas.microsoft.com/office/drawing/2014/main" id="{E0291503-7C3F-46D8-8071-E924677894BE}"/>
              </a:ext>
            </a:extLst>
          </p:cNvPr>
          <p:cNvSpPr txBox="1"/>
          <p:nvPr/>
        </p:nvSpPr>
        <p:spPr>
          <a:xfrm>
            <a:off x="990600" y="4445000"/>
            <a:ext cx="10591800" cy="584200"/>
          </a:xfrm>
          <a:prstGeom prst="rect">
            <a:avLst/>
          </a:prstGeom>
          <a:noFill/>
        </p:spPr>
        <p:txBody>
          <a:bodyPr vertOverflow="overflow" vert="horz" wrap="square" rtlCol="0" anchor="t">
            <a:spAutoFit/>
          </a:bodyPr>
          <a:lstStyle/>
          <a:p>
            <a:pPr algn="l">
              <a:lnSpc>
                <a:spcPts val="1900"/>
              </a:lnSpc>
            </a:pPr>
            <a:r>
              <a:rPr sz="1400" b="0" i="0" u="none" dirty="0">
                <a:solidFill>
                  <a:srgbClr val="004C97"/>
                </a:solidFill>
                <a:latin typeface="Nunito Sans SemiBold"/>
              </a:rPr>
              <a:t>UNDOCUMENTED REJECTS;</a:t>
            </a:r>
            <a:r>
              <a:rPr sz="1400" b="0" i="0" u="none" dirty="0">
                <a:solidFill>
                  <a:srgbClr val="1E293B"/>
                </a:solidFill>
                <a:latin typeface="Nunito Sans"/>
              </a:rPr>
              <a:t> Decisions made without recording what was tried and rejected. Teams re-litigate the same tradeoffs project after project instead of compounding what they've learned.</a:t>
            </a:r>
          </a:p>
        </p:txBody>
      </p:sp>
      <p:sp>
        <p:nvSpPr>
          <p:cNvPr id="8" name="TextBox 7">
            <a:extLst>
              <a:ext uri="{FF2B5EF4-FFF2-40B4-BE49-F238E27FC236}">
                <a16:creationId xmlns:a16="http://schemas.microsoft.com/office/drawing/2014/main" id="{2930FBC2-BB4E-43DA-8B59-54C6ECCCC9A6}"/>
              </a:ext>
            </a:extLst>
          </p:cNvPr>
          <p:cNvSpPr txBox="1"/>
          <p:nvPr/>
        </p:nvSpPr>
        <p:spPr>
          <a:xfrm>
            <a:off x="609600" y="5257800"/>
            <a:ext cx="304800" cy="330200"/>
          </a:xfrm>
          <a:prstGeom prst="rect">
            <a:avLst/>
          </a:prstGeom>
          <a:noFill/>
        </p:spPr>
        <p:txBody>
          <a:bodyPr vertOverflow="overflow" vert="horz" wrap="none" lIns="0" tIns="0" rIns="0" bIns="0" rtlCol="0" anchor="t">
            <a:noAutofit/>
          </a:bodyPr>
          <a:lstStyle/>
          <a:p>
            <a:pPr algn="l"/>
            <a:r>
              <a:rPr sz="1600" b="1" i="0" u="none">
                <a:solidFill>
                  <a:srgbClr val="00A3E0"/>
                </a:solidFill>
                <a:latin typeface="Poppins"/>
              </a:rPr>
              <a:t>5</a:t>
            </a:r>
          </a:p>
        </p:txBody>
      </p:sp>
      <p:sp>
        <p:nvSpPr>
          <p:cNvPr id="9" name="TextBox 8">
            <a:extLst>
              <a:ext uri="{FF2B5EF4-FFF2-40B4-BE49-F238E27FC236}">
                <a16:creationId xmlns:a16="http://schemas.microsoft.com/office/drawing/2014/main" id="{ED71CBA7-D9A4-4612-B660-F49E3AEAF371}"/>
              </a:ext>
            </a:extLst>
          </p:cNvPr>
          <p:cNvSpPr txBox="1"/>
          <p:nvPr/>
        </p:nvSpPr>
        <p:spPr>
          <a:xfrm>
            <a:off x="990600" y="5283200"/>
            <a:ext cx="10591800" cy="584200"/>
          </a:xfrm>
          <a:prstGeom prst="rect">
            <a:avLst/>
          </a:prstGeom>
          <a:noFill/>
        </p:spPr>
        <p:txBody>
          <a:bodyPr vertOverflow="overflow" vert="horz" wrap="square" rtlCol="0" anchor="t">
            <a:spAutoFit/>
          </a:bodyPr>
          <a:lstStyle/>
          <a:p>
            <a:pPr algn="l">
              <a:lnSpc>
                <a:spcPts val="1900"/>
              </a:lnSpc>
            </a:pPr>
            <a:r>
              <a:rPr sz="1400" b="0" i="0" u="none" dirty="0">
                <a:solidFill>
                  <a:srgbClr val="004C97"/>
                </a:solidFill>
                <a:latin typeface="Nunito Sans SemiBold"/>
              </a:rPr>
              <a:t>NO OWNER ON THE OUTPUT;</a:t>
            </a:r>
            <a:r>
              <a:rPr sz="1400" b="0" i="0" u="none" dirty="0">
                <a:solidFill>
                  <a:srgbClr val="1E293B"/>
                </a:solidFill>
                <a:latin typeface="Nunito Sans"/>
              </a:rPr>
              <a:t> Nobody signed off on what the model is allowed to say before it shipped. The accountability follows the company either way.</a:t>
            </a:r>
          </a:p>
        </p:txBody>
      </p:sp>
    </p:spTree>
    <p:extLst>
      <p:ext uri="{BB962C8B-B14F-4D97-AF65-F5344CB8AC3E}">
        <p14:creationId xmlns:p14="http://schemas.microsoft.com/office/powerpoint/2010/main" val="3900658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B7969C3-76C5-4F6E-AD39-509AFFC93AE9}">
  <we:reference id="WA200010001" version="1.0.0.1" store="Omex" storeType="OMEX"/>
  <we:alternateReferences>
    <we:reference id="WA200010001" version="1.0.0.1" store="WA200010001" storeType="OMEX"/>
  </we:alternateReferences>
  <we:properties>
    <we:property name="claude.fileId" value="&quot;5de83c93-7728-4a33-8c5c-e8856aba34b8&quot;"/>
  </we:properties>
  <we:bindings/>
  <we:snapshot xmlns:r="http://schemas.openxmlformats.org/officeDocument/2006/relationships"/>
</we:webextension>
</file>

<file path=docMetadata/LabelInfo.xml><?xml version="1.0" encoding="utf-8"?>
<clbl:labelList xmlns:clbl="http://schemas.microsoft.com/office/2020/mipLabelMetadata">
  <clbl:label id="{a9d90964-91d3-4c01-ab00-563f95f00a38}" enabled="0" method="" siteId="{a9d90964-91d3-4c01-ab00-563f95f00a38}" removed="1"/>
</clbl:labelList>
</file>

<file path=docProps/app.xml><?xml version="1.0" encoding="utf-8"?>
<Properties xmlns="http://schemas.openxmlformats.org/officeDocument/2006/extended-properties" xmlns:vt="http://schemas.openxmlformats.org/officeDocument/2006/docPropsVTypes">
  <TotalTime>624</TotalTime>
  <Words>7667</Words>
  <Application>Microsoft Office PowerPoint</Application>
  <PresentationFormat>Widescreen</PresentationFormat>
  <Paragraphs>425</Paragraphs>
  <Slides>29</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Aptos</vt:lpstr>
      <vt:lpstr>Arial</vt:lpstr>
      <vt:lpstr>Calibri</vt:lpstr>
      <vt:lpstr>Georgia</vt:lpstr>
      <vt:lpstr>Nunito Sans</vt:lpstr>
      <vt:lpstr>Nunito Sans SemiBold</vt:lpstr>
      <vt:lpstr>Nunito SemiBold</vt:lpstr>
      <vt:lpstr>Poppins</vt:lpstr>
      <vt:lpstr>Poppins SemiBold</vt:lpstr>
      <vt:lpstr>PT Sans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Anandhan Jayaraman</cp:lastModifiedBy>
  <cp:revision>4</cp:revision>
  <dcterms:created xsi:type="dcterms:W3CDTF">2013-01-27T09:14:16Z</dcterms:created>
  <dcterms:modified xsi:type="dcterms:W3CDTF">2026-09-08T07:08:02Z</dcterms:modified>
  <cp:category/>
</cp:coreProperties>
</file>