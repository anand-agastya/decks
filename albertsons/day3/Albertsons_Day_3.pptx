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2DA72B-A24A-4AD7-8501-19AEC833F46A}" v="2" dt="2026-09-09T04:00:31.2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dhan Jayaraman" userId="ad023700-3bd3-4326-8bd0-9b8b8316c802" providerId="ADAL" clId="{883574D2-A9E2-4EFE-B483-187DC1339090}"/>
    <pc:docChg chg="custSel modSld">
      <pc:chgData name="Anandhan Jayaraman" userId="ad023700-3bd3-4326-8bd0-9b8b8316c802" providerId="ADAL" clId="{883574D2-A9E2-4EFE-B483-187DC1339090}" dt="2026-09-09T04:00:31.263" v="7"/>
      <pc:docMkLst>
        <pc:docMk/>
      </pc:docMkLst>
      <pc:sldChg chg="delSp modSp mod modAnim">
        <pc:chgData name="Anandhan Jayaraman" userId="ad023700-3bd3-4326-8bd0-9b8b8316c802" providerId="ADAL" clId="{883574D2-A9E2-4EFE-B483-187DC1339090}" dt="2026-09-09T04:00:31.263" v="7"/>
        <pc:sldMkLst>
          <pc:docMk/>
          <pc:sldMk cId="0" sldId="285"/>
        </pc:sldMkLst>
        <pc:spChg chg="del">
          <ac:chgData name="Anandhan Jayaraman" userId="ad023700-3bd3-4326-8bd0-9b8b8316c802" providerId="ADAL" clId="{883574D2-A9E2-4EFE-B483-187DC1339090}" dt="2026-09-09T04:00:03.108" v="0" actId="478"/>
          <ac:spMkLst>
            <pc:docMk/>
            <pc:sldMk cId="0" sldId="285"/>
            <ac:spMk id="7" creationId="{00000000-0000-0000-0000-000000000000}"/>
          </ac:spMkLst>
        </pc:spChg>
        <pc:spChg chg="del">
          <ac:chgData name="Anandhan Jayaraman" userId="ad023700-3bd3-4326-8bd0-9b8b8316c802" providerId="ADAL" clId="{883574D2-A9E2-4EFE-B483-187DC1339090}" dt="2026-09-09T04:00:13.939" v="2" actId="478"/>
          <ac:spMkLst>
            <pc:docMk/>
            <pc:sldMk cId="0" sldId="285"/>
            <ac:spMk id="12" creationId="{00000000-0000-0000-0000-000000000000}"/>
          </ac:spMkLst>
        </pc:spChg>
        <pc:picChg chg="mod">
          <ac:chgData name="Anandhan Jayaraman" userId="ad023700-3bd3-4326-8bd0-9b8b8316c802" providerId="ADAL" clId="{883574D2-A9E2-4EFE-B483-187DC1339090}" dt="2026-09-09T04:00:22.358" v="5" actId="1076"/>
          <ac:picMkLst>
            <pc:docMk/>
            <pc:sldMk cId="0" sldId="285"/>
            <ac:picMk id="9" creationId="{00000000-0000-0000-0000-000000000000}"/>
          </ac:picMkLst>
        </pc:picChg>
        <pc:picChg chg="mod">
          <ac:chgData name="Anandhan Jayaraman" userId="ad023700-3bd3-4326-8bd0-9b8b8316c802" providerId="ADAL" clId="{883574D2-A9E2-4EFE-B483-187DC1339090}" dt="2026-09-09T04:00:19.948" v="4" actId="1076"/>
          <ac:picMkLst>
            <pc:docMk/>
            <pc:sldMk cId="0" sldId="285"/>
            <ac:picMk id="11"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9397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05B"/>
        </a:solidFill>
        <a:effectLst/>
      </p:bgPr>
    </p:bg>
    <p:spTree>
      <p:nvGrpSpPr>
        <p:cNvPr id="1" name=""/>
        <p:cNvGrpSpPr/>
        <p:nvPr/>
      </p:nvGrpSpPr>
      <p:grpSpPr>
        <a:xfrm>
          <a:off x="0" y="0"/>
          <a:ext cx="0" cy="0"/>
          <a:chOff x="0" y="0"/>
          <a:chExt cx="0" cy="0"/>
        </a:xfrm>
      </p:grpSpPr>
      <p:pic>
        <p:nvPicPr>
          <p:cNvPr id="2" name="Image 0" descr="/home/claude/day3build/assets/hex_logo.png"/>
          <p:cNvPicPr>
            <a:picLocks noChangeAspect="1"/>
          </p:cNvPicPr>
          <p:nvPr/>
        </p:nvPicPr>
        <p:blipFill>
          <a:blip r:embed="rId3"/>
          <a:stretch>
            <a:fillRect/>
          </a:stretch>
        </p:blipFill>
        <p:spPr>
          <a:xfrm>
            <a:off x="449885" y="384048"/>
            <a:ext cx="384048" cy="420624"/>
          </a:xfrm>
          <a:prstGeom prst="rect">
            <a:avLst/>
          </a:prstGeom>
        </p:spPr>
      </p:pic>
      <p:sp>
        <p:nvSpPr>
          <p:cNvPr id="3" name="Text 0"/>
          <p:cNvSpPr txBox="1"/>
          <p:nvPr/>
        </p:nvSpPr>
        <p:spPr>
          <a:xfrm>
            <a:off x="943661" y="384048"/>
            <a:ext cx="2011680" cy="420624"/>
          </a:xfrm>
          <a:prstGeom prst="rect">
            <a:avLst/>
          </a:prstGeom>
          <a:noFill/>
          <a:ln/>
        </p:spPr>
        <p:txBody>
          <a:bodyPr wrap="square" lIns="0" tIns="0" rIns="0" bIns="0" rtlCol="0" anchor="ctr"/>
          <a:lstStyle/>
          <a:p>
            <a:pPr marL="0" indent="0" algn="l">
              <a:buNone/>
            </a:pPr>
            <a:r>
              <a:rPr lang="en-US" sz="1500" b="1" dirty="0">
                <a:solidFill>
                  <a:srgbClr val="FFFFFF"/>
                </a:solidFill>
                <a:latin typeface="Poppins SemiBold" pitchFamily="34" charset="0"/>
                <a:ea typeface="Poppins SemiBold" pitchFamily="34" charset="-122"/>
                <a:cs typeface="Poppins SemiBold" pitchFamily="34" charset="-120"/>
              </a:rPr>
              <a:t>Insight</a:t>
            </a:r>
            <a:r>
              <a:rPr lang="en-US" sz="1500" b="1" dirty="0">
                <a:solidFill>
                  <a:srgbClr val="10B981"/>
                </a:solidFill>
                <a:latin typeface="Poppins SemiBold" pitchFamily="34" charset="0"/>
                <a:ea typeface="Poppins SemiBold" pitchFamily="34" charset="-122"/>
                <a:cs typeface="Poppins SemiBold" pitchFamily="34" charset="-120"/>
              </a:rPr>
              <a:t>Verge</a:t>
            </a:r>
            <a:endParaRPr lang="en-US" sz="1500" dirty="0"/>
          </a:p>
        </p:txBody>
      </p:sp>
      <p:pic>
        <p:nvPicPr>
          <p:cNvPr id="4" name="Image 1" descr="/home/claude/day3build/assets/albertsons_logo_white.png"/>
          <p:cNvPicPr>
            <a:picLocks noChangeAspect="1"/>
          </p:cNvPicPr>
          <p:nvPr/>
        </p:nvPicPr>
        <p:blipFill>
          <a:blip r:embed="rId4"/>
          <a:stretch>
            <a:fillRect/>
          </a:stretch>
        </p:blipFill>
        <p:spPr>
          <a:xfrm>
            <a:off x="7642555" y="365760"/>
            <a:ext cx="1051560" cy="240357"/>
          </a:xfrm>
          <a:prstGeom prst="rect">
            <a:avLst/>
          </a:prstGeom>
        </p:spPr>
      </p:pic>
      <p:sp>
        <p:nvSpPr>
          <p:cNvPr id="5" name="Text 1"/>
          <p:cNvSpPr txBox="1"/>
          <p:nvPr/>
        </p:nvSpPr>
        <p:spPr>
          <a:xfrm>
            <a:off x="449885" y="1170432"/>
            <a:ext cx="8244230" cy="274320"/>
          </a:xfrm>
          <a:prstGeom prst="rect">
            <a:avLst/>
          </a:prstGeom>
          <a:noFill/>
          <a:ln/>
        </p:spPr>
        <p:txBody>
          <a:bodyPr wrap="square" lIns="0" tIns="0" rIns="0" bIns="0" rtlCol="0" anchor="ctr"/>
          <a:lstStyle/>
          <a:p>
            <a:pPr marL="0" indent="0">
              <a:buNone/>
            </a:pPr>
            <a:r>
              <a:rPr lang="en-US" sz="1100" b="1" kern="0" spc="100" dirty="0">
                <a:solidFill>
                  <a:srgbClr val="00A3E0"/>
                </a:solidFill>
                <a:latin typeface="Poppins SemiBold" pitchFamily="34" charset="0"/>
                <a:ea typeface="Poppins SemiBold" pitchFamily="34" charset="-122"/>
                <a:cs typeface="Poppins SemiBold" pitchFamily="34" charset="-120"/>
              </a:rPr>
              <a:t>ENTERPRISE AI ARCHITECTURE INTENSIVE  •  ALBERTSONS</a:t>
            </a:r>
            <a:endParaRPr lang="en-US" sz="1100" dirty="0"/>
          </a:p>
        </p:txBody>
      </p:sp>
      <p:sp>
        <p:nvSpPr>
          <p:cNvPr id="6" name="Text 2"/>
          <p:cNvSpPr txBox="1"/>
          <p:nvPr/>
        </p:nvSpPr>
        <p:spPr>
          <a:xfrm>
            <a:off x="449885" y="1481328"/>
            <a:ext cx="7498080" cy="1234440"/>
          </a:xfrm>
          <a:prstGeom prst="rect">
            <a:avLst/>
          </a:prstGeom>
          <a:noFill/>
          <a:ln/>
        </p:spPr>
        <p:txBody>
          <a:bodyPr wrap="square" lIns="0" tIns="0" rIns="0" bIns="0" rtlCol="0" anchor="t"/>
          <a:lstStyle/>
          <a:p>
            <a:pPr marL="0" indent="0">
              <a:lnSpc>
                <a:spcPct val="112000"/>
              </a:lnSpc>
              <a:buNone/>
            </a:pPr>
            <a:r>
              <a:rPr lang="en-US" sz="3200" b="1" dirty="0">
                <a:solidFill>
                  <a:srgbClr val="FFFFFF"/>
                </a:solidFill>
                <a:latin typeface="Poppins SemiBold" pitchFamily="34" charset="0"/>
                <a:ea typeface="Poppins SemiBold" pitchFamily="34" charset="-122"/>
                <a:cs typeface="Poppins SemiBold" pitchFamily="34" charset="-120"/>
              </a:rPr>
              <a:t>Day 3 — Governed Agentic</a:t>
            </a:r>
            <a:endParaRPr lang="en-US" sz="3200" dirty="0"/>
          </a:p>
          <a:p>
            <a:pPr marL="0" indent="0">
              <a:lnSpc>
                <a:spcPct val="112000"/>
              </a:lnSpc>
              <a:buNone/>
            </a:pPr>
            <a:r>
              <a:rPr lang="en-US" sz="3200" b="1" dirty="0">
                <a:solidFill>
                  <a:srgbClr val="FFFFFF"/>
                </a:solidFill>
                <a:latin typeface="Poppins SemiBold" pitchFamily="34" charset="0"/>
                <a:ea typeface="Poppins SemiBold" pitchFamily="34" charset="-122"/>
                <a:cs typeface="Poppins SemiBold" pitchFamily="34" charset="-120"/>
              </a:rPr>
              <a:t>Orchestration</a:t>
            </a:r>
            <a:endParaRPr lang="en-US" sz="3200" dirty="0"/>
          </a:p>
        </p:txBody>
      </p:sp>
      <p:sp>
        <p:nvSpPr>
          <p:cNvPr id="7" name="Text 3"/>
          <p:cNvSpPr txBox="1"/>
          <p:nvPr/>
        </p:nvSpPr>
        <p:spPr>
          <a:xfrm>
            <a:off x="449885" y="2743200"/>
            <a:ext cx="7223760" cy="685800"/>
          </a:xfrm>
          <a:prstGeom prst="rect">
            <a:avLst/>
          </a:prstGeom>
          <a:noFill/>
          <a:ln/>
        </p:spPr>
        <p:txBody>
          <a:bodyPr wrap="square" lIns="0" tIns="0" rIns="0" bIns="0" rtlCol="0" anchor="t"/>
          <a:lstStyle/>
          <a:p>
            <a:pPr marL="0" indent="0">
              <a:lnSpc>
                <a:spcPct val="130000"/>
              </a:lnSpc>
              <a:buNone/>
            </a:pPr>
            <a:r>
              <a:rPr lang="en-US" sz="1300" i="1" dirty="0">
                <a:solidFill>
                  <a:srgbClr val="00A3E0"/>
                </a:solidFill>
                <a:latin typeface="PT Sans" pitchFamily="34" charset="0"/>
                <a:ea typeface="PT Sans" pitchFamily="34" charset="-122"/>
                <a:cs typeface="PT Sans" pitchFamily="34" charset="-120"/>
              </a:rPr>
              <a:t>From an LLM that reasons over tools, to specialists that coordinate as colleagues — and the boundary neither is allowed to cross without a human.</a:t>
            </a:r>
            <a:endParaRPr lang="en-US" sz="1300" dirty="0"/>
          </a:p>
        </p:txBody>
      </p:sp>
      <p:sp>
        <p:nvSpPr>
          <p:cNvPr id="8" name="Text 4"/>
          <p:cNvSpPr txBox="1"/>
          <p:nvPr/>
        </p:nvSpPr>
        <p:spPr>
          <a:xfrm>
            <a:off x="449885" y="3657600"/>
            <a:ext cx="4572000" cy="256032"/>
          </a:xfrm>
          <a:prstGeom prst="rect">
            <a:avLst/>
          </a:prstGeom>
          <a:noFill/>
          <a:ln/>
        </p:spPr>
        <p:txBody>
          <a:bodyPr wrap="square" lIns="0" tIns="0" rIns="0" bIns="0" rtlCol="0" anchor="ctr"/>
          <a:lstStyle/>
          <a:p>
            <a:pPr marL="0" indent="0">
              <a:buNone/>
            </a:pPr>
            <a:r>
              <a:rPr lang="en-US" sz="1300" b="1" dirty="0">
                <a:solidFill>
                  <a:srgbClr val="FFFFFF"/>
                </a:solidFill>
                <a:latin typeface="Poppins SemiBold" pitchFamily="34" charset="0"/>
                <a:ea typeface="Poppins SemiBold" pitchFamily="34" charset="-122"/>
                <a:cs typeface="Poppins SemiBold" pitchFamily="34" charset="-120"/>
              </a:rPr>
              <a:t>Dr. Anand Jayaraman</a:t>
            </a:r>
            <a:endParaRPr lang="en-US" sz="1300" dirty="0"/>
          </a:p>
        </p:txBody>
      </p:sp>
      <p:sp>
        <p:nvSpPr>
          <p:cNvPr id="9" name="Text 5"/>
          <p:cNvSpPr txBox="1"/>
          <p:nvPr/>
        </p:nvSpPr>
        <p:spPr>
          <a:xfrm>
            <a:off x="449885" y="3904488"/>
            <a:ext cx="4572000" cy="237744"/>
          </a:xfrm>
          <a:prstGeom prst="rect">
            <a:avLst/>
          </a:prstGeom>
          <a:noFill/>
          <a:ln/>
        </p:spPr>
        <p:txBody>
          <a:bodyPr wrap="square" lIns="0" tIns="0" rIns="0" bIns="0" rtlCol="0" anchor="ctr"/>
          <a:lstStyle/>
          <a:p>
            <a:pPr marL="0" indent="0">
              <a:buNone/>
            </a:pPr>
            <a:r>
              <a:rPr lang="en-US" sz="1100" dirty="0">
                <a:solidFill>
                  <a:srgbClr val="CBD5E1"/>
                </a:solidFill>
                <a:latin typeface="PT Sans" pitchFamily="34" charset="0"/>
                <a:ea typeface="PT Sans" pitchFamily="34" charset="-122"/>
                <a:cs typeface="PT Sans" pitchFamily="34" charset="-120"/>
              </a:rPr>
              <a:t>Chief AI Officer, InsightVerge</a:t>
            </a:r>
            <a:endParaRPr lang="en-US" sz="1100" dirty="0"/>
          </a:p>
        </p:txBody>
      </p:sp>
      <p:sp>
        <p:nvSpPr>
          <p:cNvPr id="10" name="Text 6"/>
          <p:cNvSpPr txBox="1"/>
          <p:nvPr/>
        </p:nvSpPr>
        <p:spPr>
          <a:xfrm>
            <a:off x="449885" y="4700016"/>
            <a:ext cx="8244230" cy="274320"/>
          </a:xfrm>
          <a:prstGeom prst="rect">
            <a:avLst/>
          </a:prstGeom>
          <a:noFill/>
          <a:ln/>
        </p:spPr>
        <p:txBody>
          <a:bodyPr wrap="square" lIns="0" tIns="0" rIns="0" bIns="0" rtlCol="0" anchor="ctr"/>
          <a:lstStyle/>
          <a:p>
            <a:pPr marL="0" indent="0">
              <a:buNone/>
            </a:pPr>
            <a:r>
              <a:rPr lang="en-US" sz="900" dirty="0">
                <a:solidFill>
                  <a:srgbClr val="9AA39D"/>
                </a:solidFill>
                <a:latin typeface="PT Sans" pitchFamily="34" charset="0"/>
                <a:ea typeface="PT Sans" pitchFamily="34" charset="-122"/>
                <a:cs typeface="PT Sans" pitchFamily="34" charset="-120"/>
              </a:rPr>
              <a:t>3.5-Day Enterprise AI Architecture Intensive  |  InsightVerge  |  Day 3 Lecture  |  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TODAY'S ROADMAP</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2100" b="1" dirty="0">
                <a:solidFill>
                  <a:srgbClr val="004C97"/>
                </a:solidFill>
                <a:latin typeface="Poppins SemiBold" pitchFamily="34" charset="0"/>
                <a:ea typeface="Poppins SemiBold" pitchFamily="34" charset="-122"/>
                <a:cs typeface="Poppins SemiBold" pitchFamily="34" charset="-120"/>
              </a:rPr>
              <a:t>Four Moves, From Reasoning to Restraint</a:t>
            </a:r>
            <a:endParaRPr lang="en-US" sz="21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449885" y="1234440"/>
            <a:ext cx="1865376" cy="2606040"/>
          </a:xfrm>
          <a:prstGeom prst="roundRect">
            <a:avLst>
              <a:gd name="adj" fmla="val 2451"/>
            </a:avLst>
          </a:prstGeom>
          <a:solidFill>
            <a:srgbClr val="FFFFFF"/>
          </a:solidFill>
          <a:ln w="9525">
            <a:solidFill>
              <a:srgbClr val="E2E8F0"/>
            </a:solidFill>
            <a:prstDash val="solid"/>
          </a:ln>
        </p:spPr>
        <p:txBody>
          <a:bodyPr/>
          <a:lstStyle/>
          <a:p>
            <a:endParaRPr lang="en-IN"/>
          </a:p>
        </p:txBody>
      </p:sp>
      <p:sp>
        <p:nvSpPr>
          <p:cNvPr id="8" name="Shape 5"/>
          <p:cNvSpPr/>
          <p:nvPr/>
        </p:nvSpPr>
        <p:spPr>
          <a:xfrm>
            <a:off x="1199693" y="1399032"/>
            <a:ext cx="365760" cy="365760"/>
          </a:xfrm>
          <a:prstGeom prst="ellipse">
            <a:avLst/>
          </a:prstGeom>
          <a:solidFill>
            <a:srgbClr val="004C97"/>
          </a:solidFill>
          <a:ln/>
        </p:spPr>
        <p:txBody>
          <a:bodyPr/>
          <a:lstStyle/>
          <a:p>
            <a:endParaRPr lang="en-IN"/>
          </a:p>
        </p:txBody>
      </p:sp>
      <p:sp>
        <p:nvSpPr>
          <p:cNvPr id="9" name="Text 6"/>
          <p:cNvSpPr txBox="1"/>
          <p:nvPr/>
        </p:nvSpPr>
        <p:spPr>
          <a:xfrm>
            <a:off x="1199693" y="1399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SemiBold" pitchFamily="34" charset="0"/>
                <a:ea typeface="Poppins SemiBold" pitchFamily="34" charset="-122"/>
                <a:cs typeface="Poppins SemiBold" pitchFamily="34" charset="-120"/>
              </a:rPr>
              <a:t>1</a:t>
            </a:r>
            <a:endParaRPr lang="en-US" sz="1200" dirty="0"/>
          </a:p>
        </p:txBody>
      </p:sp>
      <p:sp>
        <p:nvSpPr>
          <p:cNvPr id="10" name="Text 7"/>
          <p:cNvSpPr txBox="1"/>
          <p:nvPr/>
        </p:nvSpPr>
        <p:spPr>
          <a:xfrm>
            <a:off x="559613" y="1892808"/>
            <a:ext cx="1645920" cy="566928"/>
          </a:xfrm>
          <a:prstGeom prst="rect">
            <a:avLst/>
          </a:prstGeom>
          <a:noFill/>
          <a:ln/>
        </p:spPr>
        <p:txBody>
          <a:bodyPr wrap="square" lIns="0" tIns="0" rIns="0" bIns="0" rtlCol="0" anchor="t"/>
          <a:lstStyle/>
          <a:p>
            <a:pPr marL="0" indent="0" algn="ctr">
              <a:lnSpc>
                <a:spcPct val="105000"/>
              </a:lnSpc>
              <a:buNone/>
            </a:pPr>
            <a:r>
              <a:rPr lang="en-US" sz="1250" b="1" dirty="0">
                <a:solidFill>
                  <a:srgbClr val="004C97"/>
                </a:solidFill>
                <a:latin typeface="Poppins SemiBold" pitchFamily="34" charset="0"/>
                <a:ea typeface="Poppins SemiBold" pitchFamily="34" charset="-122"/>
                <a:cs typeface="Poppins SemiBold" pitchFamily="34" charset="-120"/>
              </a:rPr>
              <a:t>What an Agent Actually Is</a:t>
            </a:r>
            <a:endParaRPr lang="en-US" sz="1250" dirty="0"/>
          </a:p>
        </p:txBody>
      </p:sp>
      <p:sp>
        <p:nvSpPr>
          <p:cNvPr id="11" name="Text 8"/>
          <p:cNvSpPr txBox="1"/>
          <p:nvPr/>
        </p:nvSpPr>
        <p:spPr>
          <a:xfrm>
            <a:off x="577901" y="2468880"/>
            <a:ext cx="1609344" cy="960120"/>
          </a:xfrm>
          <a:prstGeom prst="rect">
            <a:avLst/>
          </a:prstGeom>
          <a:noFill/>
          <a:ln/>
        </p:spPr>
        <p:txBody>
          <a:bodyPr wrap="square" lIns="0" tIns="0" rIns="0" bIns="0" rtlCol="0" anchor="t"/>
          <a:lstStyle/>
          <a:p>
            <a:pPr marL="0" indent="0" algn="ctr">
              <a:lnSpc>
                <a:spcPct val="118000"/>
              </a:lnSpc>
              <a:buNone/>
            </a:pPr>
            <a:r>
              <a:rPr lang="en-US" sz="870" dirty="0">
                <a:solidFill>
                  <a:srgbClr val="3B3D3E"/>
                </a:solidFill>
                <a:latin typeface="PT Sans" pitchFamily="34" charset="0"/>
                <a:ea typeface="PT Sans" pitchFamily="34" charset="-122"/>
                <a:cs typeface="PT Sans" pitchFamily="34" charset="-120"/>
              </a:rPr>
              <a:t>Brain, memory, tools; the plan-act-observe-reflect loop; single agent vs supervisor and specialists.</a:t>
            </a:r>
            <a:endParaRPr lang="en-US" sz="870" dirty="0"/>
          </a:p>
        </p:txBody>
      </p:sp>
      <p:sp>
        <p:nvSpPr>
          <p:cNvPr id="12" name="Text 9"/>
          <p:cNvSpPr txBox="1"/>
          <p:nvPr/>
        </p:nvSpPr>
        <p:spPr>
          <a:xfrm>
            <a:off x="577901" y="3273552"/>
            <a:ext cx="1609344" cy="502920"/>
          </a:xfrm>
          <a:prstGeom prst="rect">
            <a:avLst/>
          </a:prstGeom>
          <a:noFill/>
          <a:ln/>
        </p:spPr>
        <p:txBody>
          <a:bodyPr wrap="square" lIns="0" tIns="0" rIns="0" bIns="0" rtlCol="0" anchor="t"/>
          <a:lstStyle/>
          <a:p>
            <a:pPr marL="0" indent="0" algn="ctr">
              <a:lnSpc>
                <a:spcPct val="115000"/>
              </a:lnSpc>
              <a:buNone/>
            </a:pPr>
            <a:r>
              <a:rPr lang="en-US" sz="820" i="1" dirty="0">
                <a:solidFill>
                  <a:srgbClr val="64748B"/>
                </a:solidFill>
                <a:latin typeface="PT Sans" pitchFamily="34" charset="0"/>
                <a:ea typeface="PT Sans" pitchFamily="34" charset="-122"/>
                <a:cs typeface="PT Sans" pitchFamily="34" charset="-120"/>
              </a:rPr>
              <a:t>Watched live in n8n — one agent, two tools, one question.</a:t>
            </a:r>
            <a:endParaRPr lang="en-US" sz="820" dirty="0"/>
          </a:p>
        </p:txBody>
      </p:sp>
      <p:sp>
        <p:nvSpPr>
          <p:cNvPr id="13" name="Shape 10"/>
          <p:cNvSpPr/>
          <p:nvPr/>
        </p:nvSpPr>
        <p:spPr>
          <a:xfrm>
            <a:off x="2397557" y="1234440"/>
            <a:ext cx="1865376" cy="2606040"/>
          </a:xfrm>
          <a:prstGeom prst="roundRect">
            <a:avLst>
              <a:gd name="adj" fmla="val 2451"/>
            </a:avLst>
          </a:prstGeom>
          <a:solidFill>
            <a:srgbClr val="E6F4FA"/>
          </a:solidFill>
          <a:ln w="9525">
            <a:solidFill>
              <a:srgbClr val="00A3E0"/>
            </a:solidFill>
            <a:prstDash val="solid"/>
          </a:ln>
        </p:spPr>
        <p:txBody>
          <a:bodyPr/>
          <a:lstStyle/>
          <a:p>
            <a:endParaRPr lang="en-IN"/>
          </a:p>
        </p:txBody>
      </p:sp>
      <p:sp>
        <p:nvSpPr>
          <p:cNvPr id="14" name="Shape 11"/>
          <p:cNvSpPr/>
          <p:nvPr/>
        </p:nvSpPr>
        <p:spPr>
          <a:xfrm>
            <a:off x="3147365" y="1399032"/>
            <a:ext cx="365760" cy="365760"/>
          </a:xfrm>
          <a:prstGeom prst="ellipse">
            <a:avLst/>
          </a:prstGeom>
          <a:solidFill>
            <a:srgbClr val="004C97"/>
          </a:solidFill>
          <a:ln/>
        </p:spPr>
        <p:txBody>
          <a:bodyPr/>
          <a:lstStyle/>
          <a:p>
            <a:endParaRPr lang="en-IN"/>
          </a:p>
        </p:txBody>
      </p:sp>
      <p:sp>
        <p:nvSpPr>
          <p:cNvPr id="15" name="Text 12"/>
          <p:cNvSpPr txBox="1"/>
          <p:nvPr/>
        </p:nvSpPr>
        <p:spPr>
          <a:xfrm>
            <a:off x="3147365" y="1399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SemiBold" pitchFamily="34" charset="0"/>
                <a:ea typeface="Poppins SemiBold" pitchFamily="34" charset="-122"/>
                <a:cs typeface="Poppins SemiBold" pitchFamily="34" charset="-120"/>
              </a:rPr>
              <a:t>2</a:t>
            </a:r>
            <a:endParaRPr lang="en-US" sz="1200" dirty="0"/>
          </a:p>
        </p:txBody>
      </p:sp>
      <p:sp>
        <p:nvSpPr>
          <p:cNvPr id="16" name="Text 13"/>
          <p:cNvSpPr txBox="1"/>
          <p:nvPr/>
        </p:nvSpPr>
        <p:spPr>
          <a:xfrm>
            <a:off x="2507285" y="1892808"/>
            <a:ext cx="1645920" cy="566928"/>
          </a:xfrm>
          <a:prstGeom prst="rect">
            <a:avLst/>
          </a:prstGeom>
          <a:noFill/>
          <a:ln/>
        </p:spPr>
        <p:txBody>
          <a:bodyPr wrap="square" lIns="0" tIns="0" rIns="0" bIns="0" rtlCol="0" anchor="t"/>
          <a:lstStyle/>
          <a:p>
            <a:pPr marL="0" indent="0" algn="ctr">
              <a:lnSpc>
                <a:spcPct val="105000"/>
              </a:lnSpc>
              <a:buNone/>
            </a:pPr>
            <a:r>
              <a:rPr lang="en-US" sz="1250" b="1" dirty="0">
                <a:solidFill>
                  <a:srgbClr val="004C97"/>
                </a:solidFill>
                <a:latin typeface="Poppins SemiBold" pitchFamily="34" charset="0"/>
                <a:ea typeface="Poppins SemiBold" pitchFamily="34" charset="-122"/>
                <a:cs typeface="Poppins SemiBold" pitchFamily="34" charset="-120"/>
              </a:rPr>
              <a:t>MCP: Giving It Hands</a:t>
            </a:r>
            <a:endParaRPr lang="en-US" sz="1250" dirty="0"/>
          </a:p>
        </p:txBody>
      </p:sp>
      <p:sp>
        <p:nvSpPr>
          <p:cNvPr id="17" name="Text 14"/>
          <p:cNvSpPr txBox="1"/>
          <p:nvPr/>
        </p:nvSpPr>
        <p:spPr>
          <a:xfrm>
            <a:off x="2525573" y="2468880"/>
            <a:ext cx="1609344" cy="960120"/>
          </a:xfrm>
          <a:prstGeom prst="rect">
            <a:avLst/>
          </a:prstGeom>
          <a:noFill/>
          <a:ln/>
        </p:spPr>
        <p:txBody>
          <a:bodyPr wrap="square" lIns="0" tIns="0" rIns="0" bIns="0" rtlCol="0" anchor="t"/>
          <a:lstStyle/>
          <a:p>
            <a:pPr marL="0" indent="0" algn="ctr">
              <a:lnSpc>
                <a:spcPct val="118000"/>
              </a:lnSpc>
              <a:buNone/>
            </a:pPr>
            <a:r>
              <a:rPr lang="en-US" sz="870" dirty="0">
                <a:solidFill>
                  <a:srgbClr val="3B3D3E"/>
                </a:solidFill>
                <a:latin typeface="PT Sans" pitchFamily="34" charset="0"/>
                <a:ea typeface="PT Sans" pitchFamily="34" charset="-122"/>
                <a:cs typeface="PT Sans" pitchFamily="34" charset="-120"/>
              </a:rPr>
              <a:t>From hardcoded tools to standardized discovery; capability discovery, resource fetch, tool invocation, the ReAct loop.</a:t>
            </a:r>
            <a:endParaRPr lang="en-US" sz="870" dirty="0"/>
          </a:p>
        </p:txBody>
      </p:sp>
      <p:sp>
        <p:nvSpPr>
          <p:cNvPr id="18" name="Text 15"/>
          <p:cNvSpPr txBox="1"/>
          <p:nvPr/>
        </p:nvSpPr>
        <p:spPr>
          <a:xfrm>
            <a:off x="2525573" y="3273552"/>
            <a:ext cx="1609344" cy="502920"/>
          </a:xfrm>
          <a:prstGeom prst="rect">
            <a:avLst/>
          </a:prstGeom>
          <a:noFill/>
          <a:ln/>
        </p:spPr>
        <p:txBody>
          <a:bodyPr wrap="square" lIns="0" tIns="0" rIns="0" bIns="0" rtlCol="0" anchor="t"/>
          <a:lstStyle/>
          <a:p>
            <a:pPr marL="0" indent="0" algn="ctr">
              <a:lnSpc>
                <a:spcPct val="115000"/>
              </a:lnSpc>
              <a:buNone/>
            </a:pPr>
            <a:r>
              <a:rPr lang="en-US" sz="820" i="1" dirty="0">
                <a:solidFill>
                  <a:srgbClr val="00A3E0"/>
                </a:solidFill>
                <a:latin typeface="PT Sans" pitchFamily="34" charset="0"/>
                <a:ea typeface="PT Sans" pitchFamily="34" charset="-122"/>
                <a:cs typeface="PT Sans" pitchFamily="34" charset="-120"/>
              </a:rPr>
              <a:t>The mechanism your afternoon lab implements.</a:t>
            </a:r>
            <a:endParaRPr lang="en-US" sz="820" dirty="0"/>
          </a:p>
        </p:txBody>
      </p:sp>
      <p:sp>
        <p:nvSpPr>
          <p:cNvPr id="19" name="Shape 16"/>
          <p:cNvSpPr/>
          <p:nvPr/>
        </p:nvSpPr>
        <p:spPr>
          <a:xfrm>
            <a:off x="4345229" y="1234440"/>
            <a:ext cx="1865376" cy="2606040"/>
          </a:xfrm>
          <a:prstGeom prst="roundRect">
            <a:avLst>
              <a:gd name="adj" fmla="val 2451"/>
            </a:avLst>
          </a:prstGeom>
          <a:solidFill>
            <a:srgbClr val="FFFFFF"/>
          </a:solidFill>
          <a:ln w="9525">
            <a:solidFill>
              <a:srgbClr val="E2E8F0"/>
            </a:solidFill>
            <a:prstDash val="solid"/>
          </a:ln>
        </p:spPr>
        <p:txBody>
          <a:bodyPr/>
          <a:lstStyle/>
          <a:p>
            <a:endParaRPr lang="en-IN"/>
          </a:p>
        </p:txBody>
      </p:sp>
      <p:sp>
        <p:nvSpPr>
          <p:cNvPr id="20" name="Shape 17"/>
          <p:cNvSpPr/>
          <p:nvPr/>
        </p:nvSpPr>
        <p:spPr>
          <a:xfrm>
            <a:off x="5095037" y="1399032"/>
            <a:ext cx="365760" cy="365760"/>
          </a:xfrm>
          <a:prstGeom prst="ellipse">
            <a:avLst/>
          </a:prstGeom>
          <a:solidFill>
            <a:srgbClr val="004C97"/>
          </a:solidFill>
          <a:ln/>
        </p:spPr>
        <p:txBody>
          <a:bodyPr/>
          <a:lstStyle/>
          <a:p>
            <a:endParaRPr lang="en-IN"/>
          </a:p>
        </p:txBody>
      </p:sp>
      <p:sp>
        <p:nvSpPr>
          <p:cNvPr id="21" name="Text 18"/>
          <p:cNvSpPr txBox="1"/>
          <p:nvPr/>
        </p:nvSpPr>
        <p:spPr>
          <a:xfrm>
            <a:off x="5095037" y="1399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SemiBold" pitchFamily="34" charset="0"/>
                <a:ea typeface="Poppins SemiBold" pitchFamily="34" charset="-122"/>
                <a:cs typeface="Poppins SemiBold" pitchFamily="34" charset="-120"/>
              </a:rPr>
              <a:t>3</a:t>
            </a:r>
            <a:endParaRPr lang="en-US" sz="1200" dirty="0"/>
          </a:p>
        </p:txBody>
      </p:sp>
      <p:sp>
        <p:nvSpPr>
          <p:cNvPr id="22" name="Text 19"/>
          <p:cNvSpPr txBox="1"/>
          <p:nvPr/>
        </p:nvSpPr>
        <p:spPr>
          <a:xfrm>
            <a:off x="4454957" y="1892808"/>
            <a:ext cx="1645920" cy="566928"/>
          </a:xfrm>
          <a:prstGeom prst="rect">
            <a:avLst/>
          </a:prstGeom>
          <a:noFill/>
          <a:ln/>
        </p:spPr>
        <p:txBody>
          <a:bodyPr wrap="square" lIns="0" tIns="0" rIns="0" bIns="0" rtlCol="0" anchor="t"/>
          <a:lstStyle/>
          <a:p>
            <a:pPr marL="0" indent="0" algn="ctr">
              <a:lnSpc>
                <a:spcPct val="105000"/>
              </a:lnSpc>
              <a:buNone/>
            </a:pPr>
            <a:r>
              <a:rPr lang="en-US" sz="1250" b="1" dirty="0">
                <a:solidFill>
                  <a:srgbClr val="004C97"/>
                </a:solidFill>
                <a:latin typeface="Poppins SemiBold" pitchFamily="34" charset="0"/>
                <a:ea typeface="Poppins SemiBold" pitchFamily="34" charset="-122"/>
                <a:cs typeface="Poppins SemiBold" pitchFamily="34" charset="-120"/>
              </a:rPr>
              <a:t>A2A: Giving It Colleagues</a:t>
            </a:r>
            <a:endParaRPr lang="en-US" sz="1250" dirty="0"/>
          </a:p>
        </p:txBody>
      </p:sp>
      <p:sp>
        <p:nvSpPr>
          <p:cNvPr id="23" name="Text 20"/>
          <p:cNvSpPr txBox="1"/>
          <p:nvPr/>
        </p:nvSpPr>
        <p:spPr>
          <a:xfrm>
            <a:off x="4473245" y="2468880"/>
            <a:ext cx="1609344" cy="960120"/>
          </a:xfrm>
          <a:prstGeom prst="rect">
            <a:avLst/>
          </a:prstGeom>
          <a:noFill/>
          <a:ln/>
        </p:spPr>
        <p:txBody>
          <a:bodyPr wrap="square" lIns="0" tIns="0" rIns="0" bIns="0" rtlCol="0" anchor="t"/>
          <a:lstStyle/>
          <a:p>
            <a:pPr marL="0" indent="0" algn="ctr">
              <a:lnSpc>
                <a:spcPct val="118000"/>
              </a:lnSpc>
              <a:buNone/>
            </a:pPr>
            <a:r>
              <a:rPr lang="en-US" sz="870" dirty="0">
                <a:solidFill>
                  <a:srgbClr val="3B3D3E"/>
                </a:solidFill>
                <a:latin typeface="PT Sans" pitchFamily="34" charset="0"/>
                <a:ea typeface="PT Sans" pitchFamily="34" charset="-122"/>
                <a:cs typeface="PT Sans" pitchFamily="34" charset="-120"/>
              </a:rPr>
              <a:t>When one agent's context runs out; supervisor and specialist agents; MCP vs A2A as one clean mental model.</a:t>
            </a:r>
            <a:endParaRPr lang="en-US" sz="870" dirty="0"/>
          </a:p>
        </p:txBody>
      </p:sp>
      <p:sp>
        <p:nvSpPr>
          <p:cNvPr id="24" name="Text 21"/>
          <p:cNvSpPr txBox="1"/>
          <p:nvPr/>
        </p:nvSpPr>
        <p:spPr>
          <a:xfrm>
            <a:off x="4473245" y="3273552"/>
            <a:ext cx="1609344" cy="502920"/>
          </a:xfrm>
          <a:prstGeom prst="rect">
            <a:avLst/>
          </a:prstGeom>
          <a:noFill/>
          <a:ln/>
        </p:spPr>
        <p:txBody>
          <a:bodyPr wrap="square" lIns="0" tIns="0" rIns="0" bIns="0" rtlCol="0" anchor="t"/>
          <a:lstStyle/>
          <a:p>
            <a:pPr marL="0" indent="0" algn="ctr">
              <a:lnSpc>
                <a:spcPct val="115000"/>
              </a:lnSpc>
              <a:buNone/>
            </a:pPr>
            <a:r>
              <a:rPr lang="en-US" sz="820" i="1" dirty="0">
                <a:solidFill>
                  <a:srgbClr val="64748B"/>
                </a:solidFill>
                <a:latin typeface="PT Sans" pitchFamily="34" charset="0"/>
                <a:ea typeface="PT Sans" pitchFamily="34" charset="-122"/>
                <a:cs typeface="PT Sans" pitchFamily="34" charset="-120"/>
              </a:rPr>
              <a:t>Watched live in n8n — three specialists, one report.</a:t>
            </a:r>
            <a:endParaRPr lang="en-US" sz="820" dirty="0"/>
          </a:p>
        </p:txBody>
      </p:sp>
      <p:sp>
        <p:nvSpPr>
          <p:cNvPr id="25" name="Shape 22"/>
          <p:cNvSpPr/>
          <p:nvPr/>
        </p:nvSpPr>
        <p:spPr>
          <a:xfrm>
            <a:off x="6292901" y="1234440"/>
            <a:ext cx="1865376" cy="2606040"/>
          </a:xfrm>
          <a:prstGeom prst="roundRect">
            <a:avLst>
              <a:gd name="adj" fmla="val 2451"/>
            </a:avLst>
          </a:prstGeom>
          <a:solidFill>
            <a:srgbClr val="FFFFFF"/>
          </a:solidFill>
          <a:ln w="9525">
            <a:solidFill>
              <a:srgbClr val="E2E8F0"/>
            </a:solidFill>
            <a:prstDash val="solid"/>
          </a:ln>
        </p:spPr>
        <p:txBody>
          <a:bodyPr/>
          <a:lstStyle/>
          <a:p>
            <a:endParaRPr lang="en-IN"/>
          </a:p>
        </p:txBody>
      </p:sp>
      <p:sp>
        <p:nvSpPr>
          <p:cNvPr id="26" name="Shape 23"/>
          <p:cNvSpPr/>
          <p:nvPr/>
        </p:nvSpPr>
        <p:spPr>
          <a:xfrm>
            <a:off x="7042709" y="1399032"/>
            <a:ext cx="365760" cy="365760"/>
          </a:xfrm>
          <a:prstGeom prst="ellipse">
            <a:avLst/>
          </a:prstGeom>
          <a:solidFill>
            <a:srgbClr val="004C97"/>
          </a:solidFill>
          <a:ln/>
        </p:spPr>
        <p:txBody>
          <a:bodyPr/>
          <a:lstStyle/>
          <a:p>
            <a:endParaRPr lang="en-IN"/>
          </a:p>
        </p:txBody>
      </p:sp>
      <p:sp>
        <p:nvSpPr>
          <p:cNvPr id="27" name="Text 24"/>
          <p:cNvSpPr txBox="1"/>
          <p:nvPr/>
        </p:nvSpPr>
        <p:spPr>
          <a:xfrm>
            <a:off x="7042709" y="1399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SemiBold" pitchFamily="34" charset="0"/>
                <a:ea typeface="Poppins SemiBold" pitchFamily="34" charset="-122"/>
                <a:cs typeface="Poppins SemiBold" pitchFamily="34" charset="-120"/>
              </a:rPr>
              <a:t>4</a:t>
            </a:r>
            <a:endParaRPr lang="en-US" sz="1200" dirty="0"/>
          </a:p>
        </p:txBody>
      </p:sp>
      <p:sp>
        <p:nvSpPr>
          <p:cNvPr id="28" name="Text 25"/>
          <p:cNvSpPr txBox="1"/>
          <p:nvPr/>
        </p:nvSpPr>
        <p:spPr>
          <a:xfrm>
            <a:off x="6402629" y="1892808"/>
            <a:ext cx="1645920" cy="566928"/>
          </a:xfrm>
          <a:prstGeom prst="rect">
            <a:avLst/>
          </a:prstGeom>
          <a:noFill/>
          <a:ln/>
        </p:spPr>
        <p:txBody>
          <a:bodyPr wrap="square" lIns="0" tIns="0" rIns="0" bIns="0" rtlCol="0" anchor="t"/>
          <a:lstStyle/>
          <a:p>
            <a:pPr marL="0" indent="0" algn="ctr">
              <a:lnSpc>
                <a:spcPct val="105000"/>
              </a:lnSpc>
              <a:buNone/>
            </a:pPr>
            <a:r>
              <a:rPr lang="en-US" sz="1050" b="1" dirty="0">
                <a:solidFill>
                  <a:srgbClr val="004C97"/>
                </a:solidFill>
                <a:latin typeface="Poppins SemiBold" pitchFamily="34" charset="0"/>
                <a:ea typeface="Poppins SemiBold" pitchFamily="34" charset="-122"/>
                <a:cs typeface="Poppins SemiBold" pitchFamily="34" charset="-120"/>
              </a:rPr>
              <a:t>Governance: The Line It Can't Cross</a:t>
            </a:r>
            <a:endParaRPr lang="en-US" sz="1050" dirty="0"/>
          </a:p>
        </p:txBody>
      </p:sp>
      <p:sp>
        <p:nvSpPr>
          <p:cNvPr id="29" name="Text 26"/>
          <p:cNvSpPr txBox="1"/>
          <p:nvPr/>
        </p:nvSpPr>
        <p:spPr>
          <a:xfrm>
            <a:off x="6420917" y="2468880"/>
            <a:ext cx="1609344" cy="960120"/>
          </a:xfrm>
          <a:prstGeom prst="rect">
            <a:avLst/>
          </a:prstGeom>
          <a:noFill/>
          <a:ln/>
        </p:spPr>
        <p:txBody>
          <a:bodyPr wrap="square" lIns="0" tIns="0" rIns="0" bIns="0" rtlCol="0" anchor="t"/>
          <a:lstStyle/>
          <a:p>
            <a:pPr marL="0" indent="0" algn="ctr">
              <a:lnSpc>
                <a:spcPct val="118000"/>
              </a:lnSpc>
              <a:buNone/>
            </a:pPr>
            <a:r>
              <a:rPr lang="en-US" sz="870" dirty="0">
                <a:solidFill>
                  <a:srgbClr val="3B3D3E"/>
                </a:solidFill>
                <a:latin typeface="PT Sans" pitchFamily="34" charset="0"/>
                <a:ea typeface="PT Sans" pitchFamily="34" charset="-122"/>
                <a:cs typeface="PT Sans" pitchFamily="34" charset="-120"/>
              </a:rPr>
              <a:t>Real exploits, real prompt injection, observability, and the human-approval boundary that holds anyway.</a:t>
            </a:r>
            <a:endParaRPr lang="en-US" sz="870" dirty="0"/>
          </a:p>
        </p:txBody>
      </p:sp>
      <p:sp>
        <p:nvSpPr>
          <p:cNvPr id="30" name="Text 27"/>
          <p:cNvSpPr txBox="1"/>
          <p:nvPr/>
        </p:nvSpPr>
        <p:spPr>
          <a:xfrm>
            <a:off x="6420917" y="3273552"/>
            <a:ext cx="1609344" cy="502920"/>
          </a:xfrm>
          <a:prstGeom prst="rect">
            <a:avLst/>
          </a:prstGeom>
          <a:noFill/>
          <a:ln/>
        </p:spPr>
        <p:txBody>
          <a:bodyPr wrap="square" lIns="0" tIns="0" rIns="0" bIns="0" rtlCol="0" anchor="t"/>
          <a:lstStyle/>
          <a:p>
            <a:pPr marL="0" indent="0" algn="ctr">
              <a:lnSpc>
                <a:spcPct val="115000"/>
              </a:lnSpc>
              <a:buNone/>
            </a:pPr>
            <a:r>
              <a:rPr lang="en-US" sz="820" i="1" dirty="0">
                <a:solidFill>
                  <a:srgbClr val="64748B"/>
                </a:solidFill>
                <a:latin typeface="PT Sans" pitchFamily="34" charset="0"/>
                <a:ea typeface="PT Sans" pitchFamily="34" charset="-122"/>
                <a:cs typeface="PT Sans" pitchFamily="34" charset="-120"/>
              </a:rPr>
              <a:t>The part this afternoon's lab is built entirely around.</a:t>
            </a:r>
            <a:endParaRPr lang="en-US" sz="820" dirty="0"/>
          </a:p>
        </p:txBody>
      </p:sp>
      <p:sp>
        <p:nvSpPr>
          <p:cNvPr id="31" name="Text 28"/>
          <p:cNvSpPr txBox="1"/>
          <p:nvPr/>
        </p:nvSpPr>
        <p:spPr>
          <a:xfrm>
            <a:off x="449885" y="3986784"/>
            <a:ext cx="8244230" cy="457200"/>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One thread runs through all four: an agent may reason about anything, but it may only act on what it's been given hands for — and never on what only a human may authorize.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THE QUESTION THAT CHANGES THE DAY</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2000" b="1" dirty="0">
                <a:solidFill>
                  <a:srgbClr val="004C97"/>
                </a:solidFill>
                <a:latin typeface="Poppins SemiBold" pitchFamily="34" charset="0"/>
                <a:ea typeface="Poppins SemiBold" pitchFamily="34" charset="-122"/>
                <a:cs typeface="Poppins SemiBold" pitchFamily="34" charset="-120"/>
              </a:rPr>
              <a:t>"The Policy Says Yes. Now What?"</a:t>
            </a:r>
            <a:endParaRPr lang="en-US" sz="20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234440"/>
            <a:ext cx="8244230" cy="685800"/>
          </a:xfrm>
          <a:prstGeom prst="rect">
            <a:avLst/>
          </a:prstGeom>
          <a:noFill/>
          <a:ln/>
        </p:spPr>
        <p:txBody>
          <a:bodyPr wrap="square" lIns="0" tIns="0" rIns="0" bIns="0" rtlCol="0" anchor="ctr"/>
          <a:lstStyle/>
          <a:p>
            <a:pPr marL="0" indent="0">
              <a:lnSpc>
                <a:spcPct val="130000"/>
              </a:lnSpc>
              <a:buNone/>
            </a:pPr>
            <a:r>
              <a:rPr lang="en-US" sz="1250" dirty="0">
                <a:solidFill>
                  <a:srgbClr val="3B3D3E"/>
                </a:solidFill>
                <a:latin typeface="PT Sans" pitchFamily="34" charset="0"/>
                <a:ea typeface="PT Sans" pitchFamily="34" charset="-122"/>
                <a:cs typeface="PT Sans" pitchFamily="34" charset="-120"/>
              </a:rPr>
              <a:t>Yesterday's tools got you to an answer. The policy engine read the vendor-funding clause, cited it, and told the category manager the promotion is compliant. That was the whole job — read, ground, cite, stop.</a:t>
            </a:r>
            <a:endParaRPr lang="en-US" sz="1250" dirty="0"/>
          </a:p>
        </p:txBody>
      </p:sp>
      <p:sp>
        <p:nvSpPr>
          <p:cNvPr id="8" name="Shape 5"/>
          <p:cNvSpPr/>
          <p:nvPr/>
        </p:nvSpPr>
        <p:spPr>
          <a:xfrm>
            <a:off x="449885" y="2103120"/>
            <a:ext cx="2656637" cy="1600200"/>
          </a:xfrm>
          <a:prstGeom prst="roundRect">
            <a:avLst>
              <a:gd name="adj" fmla="val 3429"/>
            </a:avLst>
          </a:prstGeom>
          <a:solidFill>
            <a:srgbClr val="FFFFFF"/>
          </a:solidFill>
          <a:ln w="9525">
            <a:solidFill>
              <a:srgbClr val="E2E8F0"/>
            </a:solidFill>
            <a:prstDash val="solid"/>
          </a:ln>
        </p:spPr>
        <p:txBody>
          <a:bodyPr/>
          <a:lstStyle/>
          <a:p>
            <a:endParaRPr lang="en-IN"/>
          </a:p>
        </p:txBody>
      </p:sp>
      <p:sp>
        <p:nvSpPr>
          <p:cNvPr id="9" name="Text 6"/>
          <p:cNvSpPr txBox="1"/>
          <p:nvPr/>
        </p:nvSpPr>
        <p:spPr>
          <a:xfrm>
            <a:off x="614477" y="2267712"/>
            <a:ext cx="2327453" cy="502920"/>
          </a:xfrm>
          <a:prstGeom prst="rect">
            <a:avLst/>
          </a:prstGeom>
          <a:noFill/>
          <a:ln/>
        </p:spPr>
        <p:txBody>
          <a:bodyPr wrap="square" lIns="0" tIns="0" rIns="0" bIns="0" rtlCol="0" anchor="t"/>
          <a:lstStyle/>
          <a:p>
            <a:pPr marL="0" indent="0">
              <a:lnSpc>
                <a:spcPct val="105000"/>
              </a:lnSpc>
              <a:buNone/>
            </a:pPr>
            <a:r>
              <a:rPr lang="en-US" sz="1200" b="1" dirty="0">
                <a:solidFill>
                  <a:srgbClr val="004C97"/>
                </a:solidFill>
                <a:latin typeface="Poppins SemiBold" pitchFamily="34" charset="0"/>
                <a:ea typeface="Poppins SemiBold" pitchFamily="34" charset="-122"/>
                <a:cs typeface="Poppins SemiBold" pitchFamily="34" charset="-120"/>
              </a:rPr>
              <a:t>An answer isn't an action</a:t>
            </a:r>
            <a:endParaRPr lang="en-US" sz="1200" dirty="0"/>
          </a:p>
        </p:txBody>
      </p:sp>
      <p:sp>
        <p:nvSpPr>
          <p:cNvPr id="10" name="Text 7"/>
          <p:cNvSpPr txBox="1"/>
          <p:nvPr/>
        </p:nvSpPr>
        <p:spPr>
          <a:xfrm>
            <a:off x="614477" y="2788920"/>
            <a:ext cx="2327453" cy="822960"/>
          </a:xfrm>
          <a:prstGeom prst="rect">
            <a:avLst/>
          </a:prstGeom>
          <a:noFill/>
          <a:ln/>
        </p:spPr>
        <p:txBody>
          <a:bodyPr wrap="square" lIns="0" tIns="0" rIns="0" bIns="0" rtlCol="0" anchor="t"/>
          <a:lstStyle/>
          <a:p>
            <a:pPr marL="0" indent="0">
              <a:lnSpc>
                <a:spcPct val="122000"/>
              </a:lnSpc>
              <a:buNone/>
            </a:pPr>
            <a:r>
              <a:rPr lang="en-US" sz="980" dirty="0">
                <a:solidFill>
                  <a:srgbClr val="3B3D3E"/>
                </a:solidFill>
                <a:latin typeface="PT Sans" pitchFamily="34" charset="0"/>
                <a:ea typeface="PT Sans" pitchFamily="34" charset="-122"/>
                <a:cs typeface="PT Sans" pitchFamily="34" charset="-120"/>
              </a:rPr>
              <a:t>Store 184 still needs the replenishment order placed, the promotion flag updated, the ops manager notified — none of that is “generate text.”</a:t>
            </a:r>
            <a:endParaRPr lang="en-US" sz="980" dirty="0"/>
          </a:p>
        </p:txBody>
      </p:sp>
      <p:sp>
        <p:nvSpPr>
          <p:cNvPr id="11" name="Shape 8"/>
          <p:cNvSpPr/>
          <p:nvPr/>
        </p:nvSpPr>
        <p:spPr>
          <a:xfrm>
            <a:off x="3243682" y="2103120"/>
            <a:ext cx="2656637" cy="1600200"/>
          </a:xfrm>
          <a:prstGeom prst="roundRect">
            <a:avLst>
              <a:gd name="adj" fmla="val 3429"/>
            </a:avLst>
          </a:prstGeom>
          <a:solidFill>
            <a:srgbClr val="FFFFFF"/>
          </a:solidFill>
          <a:ln w="9525">
            <a:solidFill>
              <a:srgbClr val="E2E8F0"/>
            </a:solidFill>
            <a:prstDash val="solid"/>
          </a:ln>
        </p:spPr>
        <p:txBody>
          <a:bodyPr/>
          <a:lstStyle/>
          <a:p>
            <a:endParaRPr lang="en-IN"/>
          </a:p>
        </p:txBody>
      </p:sp>
      <p:sp>
        <p:nvSpPr>
          <p:cNvPr id="12" name="Text 9"/>
          <p:cNvSpPr txBox="1"/>
          <p:nvPr/>
        </p:nvSpPr>
        <p:spPr>
          <a:xfrm>
            <a:off x="3408274" y="2267712"/>
            <a:ext cx="2327453" cy="502920"/>
          </a:xfrm>
          <a:prstGeom prst="rect">
            <a:avLst/>
          </a:prstGeom>
          <a:noFill/>
          <a:ln/>
        </p:spPr>
        <p:txBody>
          <a:bodyPr wrap="square" lIns="0" tIns="0" rIns="0" bIns="0" rtlCol="0" anchor="t"/>
          <a:lstStyle/>
          <a:p>
            <a:pPr marL="0" indent="0">
              <a:lnSpc>
                <a:spcPct val="105000"/>
              </a:lnSpc>
              <a:buNone/>
            </a:pPr>
            <a:r>
              <a:rPr lang="en-US" sz="1200" b="1" dirty="0">
                <a:solidFill>
                  <a:srgbClr val="004C97"/>
                </a:solidFill>
                <a:latin typeface="Poppins SemiBold" pitchFamily="34" charset="0"/>
                <a:ea typeface="Poppins SemiBold" pitchFamily="34" charset="-122"/>
                <a:cs typeface="Poppins SemiBold" pitchFamily="34" charset="-120"/>
              </a:rPr>
              <a:t>One tool is never enough</a:t>
            </a:r>
            <a:endParaRPr lang="en-US" sz="1200" dirty="0"/>
          </a:p>
        </p:txBody>
      </p:sp>
      <p:sp>
        <p:nvSpPr>
          <p:cNvPr id="13" name="Text 10"/>
          <p:cNvSpPr txBox="1"/>
          <p:nvPr/>
        </p:nvSpPr>
        <p:spPr>
          <a:xfrm>
            <a:off x="3408274" y="2788920"/>
            <a:ext cx="2327453" cy="822960"/>
          </a:xfrm>
          <a:prstGeom prst="rect">
            <a:avLst/>
          </a:prstGeom>
          <a:noFill/>
          <a:ln/>
        </p:spPr>
        <p:txBody>
          <a:bodyPr wrap="square" lIns="0" tIns="0" rIns="0" bIns="0" rtlCol="0" anchor="t"/>
          <a:lstStyle/>
          <a:p>
            <a:pPr marL="0" indent="0">
              <a:lnSpc>
                <a:spcPct val="122000"/>
              </a:lnSpc>
              <a:buNone/>
            </a:pPr>
            <a:r>
              <a:rPr lang="en-US" sz="980" dirty="0">
                <a:solidFill>
                  <a:srgbClr val="3B3D3E"/>
                </a:solidFill>
                <a:latin typeface="PT Sans" pitchFamily="34" charset="0"/>
                <a:ea typeface="PT Sans" pitchFamily="34" charset="-122"/>
                <a:cs typeface="PT Sans" pitchFamily="34" charset="-120"/>
              </a:rPr>
              <a:t>Placing that order needs the forecast, the substitute ranking, the policy citation, and a designated human's sign-off — four capabilities, one decision.</a:t>
            </a:r>
            <a:endParaRPr lang="en-US" sz="980" dirty="0"/>
          </a:p>
        </p:txBody>
      </p:sp>
      <p:sp>
        <p:nvSpPr>
          <p:cNvPr id="14" name="Shape 11"/>
          <p:cNvSpPr/>
          <p:nvPr/>
        </p:nvSpPr>
        <p:spPr>
          <a:xfrm>
            <a:off x="6037478" y="2103120"/>
            <a:ext cx="2656637" cy="1600200"/>
          </a:xfrm>
          <a:prstGeom prst="roundRect">
            <a:avLst>
              <a:gd name="adj" fmla="val 3429"/>
            </a:avLst>
          </a:prstGeom>
          <a:solidFill>
            <a:srgbClr val="FFFFFF"/>
          </a:solidFill>
          <a:ln w="9525">
            <a:solidFill>
              <a:srgbClr val="E2E8F0"/>
            </a:solidFill>
            <a:prstDash val="solid"/>
          </a:ln>
        </p:spPr>
        <p:txBody>
          <a:bodyPr/>
          <a:lstStyle/>
          <a:p>
            <a:endParaRPr lang="en-IN"/>
          </a:p>
        </p:txBody>
      </p:sp>
      <p:sp>
        <p:nvSpPr>
          <p:cNvPr id="15" name="Text 12"/>
          <p:cNvSpPr txBox="1"/>
          <p:nvPr/>
        </p:nvSpPr>
        <p:spPr>
          <a:xfrm>
            <a:off x="6202070" y="2267712"/>
            <a:ext cx="2327453" cy="502920"/>
          </a:xfrm>
          <a:prstGeom prst="rect">
            <a:avLst/>
          </a:prstGeom>
          <a:noFill/>
          <a:ln/>
        </p:spPr>
        <p:txBody>
          <a:bodyPr wrap="square" lIns="0" tIns="0" rIns="0" bIns="0" rtlCol="0" anchor="t"/>
          <a:lstStyle/>
          <a:p>
            <a:pPr marL="0" indent="0">
              <a:lnSpc>
                <a:spcPct val="105000"/>
              </a:lnSpc>
              <a:buNone/>
            </a:pPr>
            <a:r>
              <a:rPr lang="en-US" sz="1200" b="1" dirty="0">
                <a:solidFill>
                  <a:srgbClr val="004C97"/>
                </a:solidFill>
                <a:latin typeface="Poppins SemiBold" pitchFamily="34" charset="0"/>
                <a:ea typeface="Poppins SemiBold" pitchFamily="34" charset="-122"/>
                <a:cs typeface="Poppins SemiBold" pitchFamily="34" charset="-120"/>
              </a:rPr>
              <a:t>The system is closed</a:t>
            </a:r>
            <a:endParaRPr lang="en-US" sz="1200" dirty="0"/>
          </a:p>
        </p:txBody>
      </p:sp>
      <p:sp>
        <p:nvSpPr>
          <p:cNvPr id="16" name="Text 13"/>
          <p:cNvSpPr txBox="1"/>
          <p:nvPr/>
        </p:nvSpPr>
        <p:spPr>
          <a:xfrm>
            <a:off x="6202070" y="2788920"/>
            <a:ext cx="2327453" cy="822960"/>
          </a:xfrm>
          <a:prstGeom prst="rect">
            <a:avLst/>
          </a:prstGeom>
          <a:noFill/>
          <a:ln/>
        </p:spPr>
        <p:txBody>
          <a:bodyPr wrap="square" lIns="0" tIns="0" rIns="0" bIns="0" rtlCol="0" anchor="t"/>
          <a:lstStyle/>
          <a:p>
            <a:pPr marL="0" indent="0">
              <a:lnSpc>
                <a:spcPct val="122000"/>
              </a:lnSpc>
              <a:buNone/>
            </a:pPr>
            <a:r>
              <a:rPr lang="en-US" sz="980" dirty="0">
                <a:solidFill>
                  <a:srgbClr val="3B3D3E"/>
                </a:solidFill>
                <a:latin typeface="PT Sans" pitchFamily="34" charset="0"/>
                <a:ea typeface="PT Sans" pitchFamily="34" charset="-122"/>
                <a:cs typeface="PT Sans" pitchFamily="34" charset="-120"/>
              </a:rPr>
              <a:t>Your inventory API, your promotion engine, your approval workflow don't know an LLM exists, and shouldn't have to.</a:t>
            </a:r>
            <a:endParaRPr lang="en-US" sz="980" dirty="0"/>
          </a:p>
        </p:txBody>
      </p:sp>
      <p:sp>
        <p:nvSpPr>
          <p:cNvPr id="17" name="Text 14"/>
          <p:cNvSpPr txBox="1"/>
          <p:nvPr/>
        </p:nvSpPr>
        <p:spPr>
          <a:xfrm>
            <a:off x="449885" y="4329684"/>
            <a:ext cx="8244230" cy="340157"/>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None of yesterday's tools can chain themselves together, choose the right order, or know when to stop and ask a human. That's the shape of today's problem — not a bigger model, a different kind of system: an agent.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1  •  WHAT AN AGENT ACTUALLY IS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Workflow Automation Isn't Enough</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207008"/>
            <a:ext cx="8244230" cy="777240"/>
          </a:xfrm>
          <a:prstGeom prst="rect">
            <a:avLst/>
          </a:prstGeom>
          <a:noFill/>
          <a:ln/>
        </p:spPr>
        <p:txBody>
          <a:bodyPr wrap="square" lIns="0" tIns="0" rIns="0" bIns="0" rtlCol="0" anchor="ctr"/>
          <a:lstStyle/>
          <a:p>
            <a:pPr marL="0" indent="0">
              <a:lnSpc>
                <a:spcPct val="130000"/>
              </a:lnSpc>
              <a:buNone/>
            </a:pPr>
            <a:r>
              <a:rPr lang="en-US" sz="1250" dirty="0">
                <a:solidFill>
                  <a:srgbClr val="3B3D3E"/>
                </a:solidFill>
                <a:latin typeface="PT Sans" pitchFamily="34" charset="0"/>
                <a:ea typeface="PT Sans" pitchFamily="34" charset="-122"/>
                <a:cs typeface="PT Sans" pitchFamily="34" charset="-120"/>
              </a:rPr>
              <a:t>A traditional workflow can send the alert, or generate the report. It cannot reason about context: whether this recall policy applies, whether the inventory number is stale, what tone the customer email needs.</a:t>
            </a:r>
            <a:endParaRPr lang="en-US" sz="1250" dirty="0"/>
          </a:p>
        </p:txBody>
      </p:sp>
      <p:sp>
        <p:nvSpPr>
          <p:cNvPr id="8" name="Shape 5"/>
          <p:cNvSpPr/>
          <p:nvPr/>
        </p:nvSpPr>
        <p:spPr>
          <a:xfrm>
            <a:off x="449885" y="2148840"/>
            <a:ext cx="1554480" cy="822960"/>
          </a:xfrm>
          <a:prstGeom prst="roundRect">
            <a:avLst>
              <a:gd name="adj" fmla="val 6667"/>
            </a:avLst>
          </a:prstGeom>
          <a:solidFill>
            <a:srgbClr val="FFFFFF"/>
          </a:solidFill>
          <a:ln w="9525">
            <a:solidFill>
              <a:srgbClr val="E2E8F0"/>
            </a:solidFill>
            <a:prstDash val="solid"/>
          </a:ln>
        </p:spPr>
        <p:txBody>
          <a:bodyPr/>
          <a:lstStyle/>
          <a:p>
            <a:endParaRPr lang="en-IN"/>
          </a:p>
        </p:txBody>
      </p:sp>
      <p:sp>
        <p:nvSpPr>
          <p:cNvPr id="9" name="Text 6"/>
          <p:cNvSpPr txBox="1"/>
          <p:nvPr/>
        </p:nvSpPr>
        <p:spPr>
          <a:xfrm>
            <a:off x="449885" y="2148840"/>
            <a:ext cx="1554480" cy="822960"/>
          </a:xfrm>
          <a:prstGeom prst="rect">
            <a:avLst/>
          </a:prstGeom>
          <a:noFill/>
          <a:ln/>
        </p:spPr>
        <p:txBody>
          <a:bodyPr wrap="square" lIns="0" tIns="0" rIns="0" bIns="0" rtlCol="0" anchor="ctr"/>
          <a:lstStyle/>
          <a:p>
            <a:pPr marL="0" indent="0" algn="ctr">
              <a:lnSpc>
                <a:spcPct val="110000"/>
              </a:lnSpc>
              <a:buNone/>
            </a:pPr>
            <a:r>
              <a:rPr lang="en-US" sz="1100" b="1" dirty="0">
                <a:solidFill>
                  <a:srgbClr val="004C97"/>
                </a:solidFill>
                <a:latin typeface="Poppins SemiBold" pitchFamily="34" charset="0"/>
                <a:ea typeface="Poppins SemiBold" pitchFamily="34" charset="-122"/>
                <a:cs typeface="Poppins SemiBold" pitchFamily="34" charset="-120"/>
              </a:rPr>
              <a:t>Inventory</a:t>
            </a:r>
            <a:endParaRPr lang="en-US" sz="1100" dirty="0"/>
          </a:p>
          <a:p>
            <a:pPr marL="0" indent="0" algn="ctr">
              <a:lnSpc>
                <a:spcPct val="110000"/>
              </a:lnSpc>
              <a:buNone/>
            </a:pPr>
            <a:r>
              <a:rPr lang="en-US" sz="1100" b="1" dirty="0">
                <a:solidFill>
                  <a:srgbClr val="004C97"/>
                </a:solidFill>
                <a:latin typeface="Poppins SemiBold" pitchFamily="34" charset="0"/>
                <a:ea typeface="Poppins SemiBold" pitchFamily="34" charset="-122"/>
                <a:cs typeface="Poppins SemiBold" pitchFamily="34" charset="-120"/>
              </a:rPr>
              <a:t>System</a:t>
            </a:r>
            <a:endParaRPr lang="en-US" sz="1100" dirty="0"/>
          </a:p>
        </p:txBody>
      </p:sp>
      <p:sp>
        <p:nvSpPr>
          <p:cNvPr id="10" name="Shape 7"/>
          <p:cNvSpPr/>
          <p:nvPr/>
        </p:nvSpPr>
        <p:spPr>
          <a:xfrm>
            <a:off x="2004365" y="2560320"/>
            <a:ext cx="292608" cy="0"/>
          </a:xfrm>
          <a:prstGeom prst="line">
            <a:avLst/>
          </a:prstGeom>
          <a:noFill/>
          <a:ln w="22225">
            <a:solidFill>
              <a:srgbClr val="00A3E0"/>
            </a:solidFill>
            <a:prstDash val="solid"/>
            <a:tailEnd type="triangle"/>
          </a:ln>
        </p:spPr>
        <p:txBody>
          <a:bodyPr/>
          <a:lstStyle/>
          <a:p>
            <a:endParaRPr lang="en-IN"/>
          </a:p>
        </p:txBody>
      </p:sp>
      <p:sp>
        <p:nvSpPr>
          <p:cNvPr id="11" name="Shape 8"/>
          <p:cNvSpPr/>
          <p:nvPr/>
        </p:nvSpPr>
        <p:spPr>
          <a:xfrm>
            <a:off x="2324405" y="2148840"/>
            <a:ext cx="1554480" cy="822960"/>
          </a:xfrm>
          <a:prstGeom prst="roundRect">
            <a:avLst>
              <a:gd name="adj" fmla="val 6667"/>
            </a:avLst>
          </a:prstGeom>
          <a:solidFill>
            <a:srgbClr val="FFFFFF"/>
          </a:solidFill>
          <a:ln w="9525">
            <a:solidFill>
              <a:srgbClr val="E2E8F0"/>
            </a:solidFill>
            <a:prstDash val="solid"/>
          </a:ln>
        </p:spPr>
        <p:txBody>
          <a:bodyPr/>
          <a:lstStyle/>
          <a:p>
            <a:endParaRPr lang="en-IN"/>
          </a:p>
        </p:txBody>
      </p:sp>
      <p:sp>
        <p:nvSpPr>
          <p:cNvPr id="12" name="Text 9"/>
          <p:cNvSpPr txBox="1"/>
          <p:nvPr/>
        </p:nvSpPr>
        <p:spPr>
          <a:xfrm>
            <a:off x="2324405" y="2148840"/>
            <a:ext cx="1554480" cy="822960"/>
          </a:xfrm>
          <a:prstGeom prst="rect">
            <a:avLst/>
          </a:prstGeom>
          <a:noFill/>
          <a:ln/>
        </p:spPr>
        <p:txBody>
          <a:bodyPr wrap="square" lIns="0" tIns="0" rIns="0" bIns="0" rtlCol="0" anchor="ctr"/>
          <a:lstStyle/>
          <a:p>
            <a:pPr marL="0" indent="0" algn="ctr">
              <a:lnSpc>
                <a:spcPct val="110000"/>
              </a:lnSpc>
              <a:buNone/>
            </a:pPr>
            <a:r>
              <a:rPr lang="en-US" sz="1100" b="1" dirty="0">
                <a:solidFill>
                  <a:srgbClr val="004C97"/>
                </a:solidFill>
                <a:latin typeface="Poppins SemiBold" pitchFamily="34" charset="0"/>
                <a:ea typeface="Poppins SemiBold" pitchFamily="34" charset="-122"/>
                <a:cs typeface="Poppins SemiBold" pitchFamily="34" charset="-120"/>
              </a:rPr>
              <a:t>Customer</a:t>
            </a:r>
            <a:endParaRPr lang="en-US" sz="1100" dirty="0"/>
          </a:p>
          <a:p>
            <a:pPr marL="0" indent="0" algn="ctr">
              <a:lnSpc>
                <a:spcPct val="110000"/>
              </a:lnSpc>
              <a:buNone/>
            </a:pPr>
            <a:r>
              <a:rPr lang="en-US" sz="1100" b="1" dirty="0">
                <a:solidFill>
                  <a:srgbClr val="004C97"/>
                </a:solidFill>
                <a:latin typeface="Poppins SemiBold" pitchFamily="34" charset="0"/>
                <a:ea typeface="Poppins SemiBold" pitchFamily="34" charset="-122"/>
                <a:cs typeface="Poppins SemiBold" pitchFamily="34" charset="-120"/>
              </a:rPr>
              <a:t>Support</a:t>
            </a:r>
            <a:endParaRPr lang="en-US" sz="1100" dirty="0"/>
          </a:p>
        </p:txBody>
      </p:sp>
      <p:sp>
        <p:nvSpPr>
          <p:cNvPr id="13" name="Shape 10"/>
          <p:cNvSpPr/>
          <p:nvPr/>
        </p:nvSpPr>
        <p:spPr>
          <a:xfrm>
            <a:off x="3878885" y="2560320"/>
            <a:ext cx="292608" cy="0"/>
          </a:xfrm>
          <a:prstGeom prst="line">
            <a:avLst/>
          </a:prstGeom>
          <a:noFill/>
          <a:ln w="22225">
            <a:solidFill>
              <a:srgbClr val="00A3E0"/>
            </a:solidFill>
            <a:prstDash val="solid"/>
            <a:tailEnd type="triangle"/>
          </a:ln>
        </p:spPr>
        <p:txBody>
          <a:bodyPr/>
          <a:lstStyle/>
          <a:p>
            <a:endParaRPr lang="en-IN"/>
          </a:p>
        </p:txBody>
      </p:sp>
      <p:sp>
        <p:nvSpPr>
          <p:cNvPr id="14" name="Shape 11"/>
          <p:cNvSpPr/>
          <p:nvPr/>
        </p:nvSpPr>
        <p:spPr>
          <a:xfrm>
            <a:off x="4198925" y="2148840"/>
            <a:ext cx="1554480" cy="822960"/>
          </a:xfrm>
          <a:prstGeom prst="roundRect">
            <a:avLst>
              <a:gd name="adj" fmla="val 6667"/>
            </a:avLst>
          </a:prstGeom>
          <a:solidFill>
            <a:srgbClr val="FFFFFF"/>
          </a:solidFill>
          <a:ln w="9525">
            <a:solidFill>
              <a:srgbClr val="E2E8F0"/>
            </a:solidFill>
            <a:prstDash val="solid"/>
          </a:ln>
        </p:spPr>
        <p:txBody>
          <a:bodyPr/>
          <a:lstStyle/>
          <a:p>
            <a:endParaRPr lang="en-IN"/>
          </a:p>
        </p:txBody>
      </p:sp>
      <p:sp>
        <p:nvSpPr>
          <p:cNvPr id="15" name="Text 12"/>
          <p:cNvSpPr txBox="1"/>
          <p:nvPr/>
        </p:nvSpPr>
        <p:spPr>
          <a:xfrm>
            <a:off x="4198925" y="2148840"/>
            <a:ext cx="1554480" cy="822960"/>
          </a:xfrm>
          <a:prstGeom prst="rect">
            <a:avLst/>
          </a:prstGeom>
          <a:noFill/>
          <a:ln/>
        </p:spPr>
        <p:txBody>
          <a:bodyPr wrap="square" lIns="0" tIns="0" rIns="0" bIns="0" rtlCol="0" anchor="ctr"/>
          <a:lstStyle/>
          <a:p>
            <a:pPr marL="0" indent="0" algn="ctr">
              <a:lnSpc>
                <a:spcPct val="110000"/>
              </a:lnSpc>
              <a:buNone/>
            </a:pPr>
            <a:r>
              <a:rPr lang="en-US" sz="1100" b="1" dirty="0">
                <a:solidFill>
                  <a:srgbClr val="004C97"/>
                </a:solidFill>
                <a:latin typeface="Poppins SemiBold" pitchFamily="34" charset="0"/>
                <a:ea typeface="Poppins SemiBold" pitchFamily="34" charset="-122"/>
                <a:cs typeface="Poppins SemiBold" pitchFamily="34" charset="-120"/>
              </a:rPr>
              <a:t>Policy</a:t>
            </a:r>
            <a:endParaRPr lang="en-US" sz="1100" dirty="0"/>
          </a:p>
          <a:p>
            <a:pPr marL="0" indent="0" algn="ctr">
              <a:lnSpc>
                <a:spcPct val="110000"/>
              </a:lnSpc>
              <a:buNone/>
            </a:pPr>
            <a:r>
              <a:rPr lang="en-US" sz="1100" b="1" dirty="0">
                <a:solidFill>
                  <a:srgbClr val="004C97"/>
                </a:solidFill>
                <a:latin typeface="Poppins SemiBold" pitchFamily="34" charset="0"/>
                <a:ea typeface="Poppins SemiBold" pitchFamily="34" charset="-122"/>
                <a:cs typeface="Poppins SemiBold" pitchFamily="34" charset="-120"/>
              </a:rPr>
              <a:t>Docs</a:t>
            </a:r>
            <a:endParaRPr lang="en-US" sz="1100" dirty="0"/>
          </a:p>
        </p:txBody>
      </p:sp>
      <p:sp>
        <p:nvSpPr>
          <p:cNvPr id="16" name="Shape 13"/>
          <p:cNvSpPr/>
          <p:nvPr/>
        </p:nvSpPr>
        <p:spPr>
          <a:xfrm>
            <a:off x="5753405" y="2560320"/>
            <a:ext cx="292608" cy="0"/>
          </a:xfrm>
          <a:prstGeom prst="line">
            <a:avLst/>
          </a:prstGeom>
          <a:noFill/>
          <a:ln w="22225">
            <a:solidFill>
              <a:srgbClr val="00A3E0"/>
            </a:solidFill>
            <a:prstDash val="solid"/>
            <a:tailEnd type="triangle"/>
          </a:ln>
        </p:spPr>
        <p:txBody>
          <a:bodyPr/>
          <a:lstStyle/>
          <a:p>
            <a:endParaRPr lang="en-IN"/>
          </a:p>
        </p:txBody>
      </p:sp>
      <p:sp>
        <p:nvSpPr>
          <p:cNvPr id="17" name="Shape 14"/>
          <p:cNvSpPr/>
          <p:nvPr/>
        </p:nvSpPr>
        <p:spPr>
          <a:xfrm>
            <a:off x="6046013" y="2011680"/>
            <a:ext cx="2648102" cy="1097280"/>
          </a:xfrm>
          <a:prstGeom prst="roundRect">
            <a:avLst>
              <a:gd name="adj" fmla="val 5000"/>
            </a:avLst>
          </a:prstGeom>
          <a:solidFill>
            <a:srgbClr val="004C97"/>
          </a:solidFill>
          <a:ln w="9525">
            <a:solidFill>
              <a:srgbClr val="004C97"/>
            </a:solidFill>
            <a:prstDash val="solid"/>
          </a:ln>
        </p:spPr>
        <p:txBody>
          <a:bodyPr/>
          <a:lstStyle/>
          <a:p>
            <a:endParaRPr lang="en-IN"/>
          </a:p>
        </p:txBody>
      </p:sp>
      <p:sp>
        <p:nvSpPr>
          <p:cNvPr id="18" name="Text 15"/>
          <p:cNvSpPr txBox="1"/>
          <p:nvPr/>
        </p:nvSpPr>
        <p:spPr>
          <a:xfrm>
            <a:off x="6046013" y="2011680"/>
            <a:ext cx="2648102" cy="1097280"/>
          </a:xfrm>
          <a:prstGeom prst="rect">
            <a:avLst/>
          </a:prstGeom>
          <a:noFill/>
          <a:ln/>
        </p:spPr>
        <p:txBody>
          <a:bodyPr wrap="square" lIns="0" tIns="0" rIns="0" bIns="0" rtlCol="0" anchor="ctr"/>
          <a:lstStyle/>
          <a:p>
            <a:pPr marL="0" indent="0" algn="ctr">
              <a:lnSpc>
                <a:spcPct val="115000"/>
              </a:lnSpc>
              <a:buNone/>
            </a:pPr>
            <a:r>
              <a:rPr lang="en-US" sz="1200" b="1" dirty="0">
                <a:solidFill>
                  <a:srgbClr val="FFFFFF"/>
                </a:solidFill>
                <a:latin typeface="Poppins SemiBold" pitchFamily="34" charset="0"/>
                <a:ea typeface="Poppins SemiBold" pitchFamily="34" charset="-122"/>
                <a:cs typeface="Poppins SemiBold" pitchFamily="34" charset="-120"/>
              </a:rPr>
              <a:t>Workflow Automation</a:t>
            </a:r>
            <a:endParaRPr lang="en-US" sz="1200" dirty="0"/>
          </a:p>
          <a:p>
            <a:pPr marL="0" indent="0" algn="ctr">
              <a:lnSpc>
                <a:spcPct val="115000"/>
              </a:lnSpc>
              <a:buNone/>
            </a:pPr>
            <a:r>
              <a:rPr lang="en-US" sz="1200" b="1" dirty="0">
                <a:solidFill>
                  <a:srgbClr val="FFFFFF"/>
                </a:solidFill>
                <a:latin typeface="Poppins SemiBold" pitchFamily="34" charset="0"/>
                <a:ea typeface="Poppins SemiBold" pitchFamily="34" charset="-122"/>
                <a:cs typeface="Poppins SemiBold" pitchFamily="34" charset="-120"/>
              </a:rPr>
              <a:t>(fixed rules, fixed order)</a:t>
            </a:r>
            <a:endParaRPr lang="en-US" sz="1200" dirty="0"/>
          </a:p>
        </p:txBody>
      </p:sp>
      <p:sp>
        <p:nvSpPr>
          <p:cNvPr id="19" name="Shape 16"/>
          <p:cNvSpPr/>
          <p:nvPr/>
        </p:nvSpPr>
        <p:spPr>
          <a:xfrm>
            <a:off x="449885" y="3337560"/>
            <a:ext cx="8244230" cy="777240"/>
          </a:xfrm>
          <a:prstGeom prst="roundRect">
            <a:avLst>
              <a:gd name="adj" fmla="val 7059"/>
            </a:avLst>
          </a:prstGeom>
          <a:solidFill>
            <a:srgbClr val="EAF3FA"/>
          </a:solidFill>
          <a:ln w="9525">
            <a:solidFill>
              <a:srgbClr val="E2E8F0"/>
            </a:solidFill>
            <a:prstDash val="solid"/>
          </a:ln>
        </p:spPr>
        <p:txBody>
          <a:bodyPr/>
          <a:lstStyle/>
          <a:p>
            <a:endParaRPr lang="en-IN"/>
          </a:p>
        </p:txBody>
      </p:sp>
      <p:sp>
        <p:nvSpPr>
          <p:cNvPr id="20" name="Text 17"/>
          <p:cNvSpPr txBox="1"/>
          <p:nvPr/>
        </p:nvSpPr>
        <p:spPr>
          <a:xfrm>
            <a:off x="632765" y="3337560"/>
            <a:ext cx="7878470" cy="777240"/>
          </a:xfrm>
          <a:prstGeom prst="rect">
            <a:avLst/>
          </a:prstGeom>
          <a:noFill/>
          <a:ln/>
        </p:spPr>
        <p:txBody>
          <a:bodyPr wrap="square" lIns="0" tIns="0" rIns="0" bIns="0" rtlCol="0" anchor="ctr"/>
          <a:lstStyle/>
          <a:p>
            <a:pPr marL="0" indent="0">
              <a:lnSpc>
                <a:spcPct val="125000"/>
              </a:lnSpc>
              <a:buNone/>
            </a:pPr>
            <a:r>
              <a:rPr lang="en-US" sz="1150" b="1" dirty="0">
                <a:solidFill>
                  <a:srgbClr val="004C97"/>
                </a:solidFill>
                <a:latin typeface="PT Sans" pitchFamily="34" charset="0"/>
                <a:ea typeface="PT Sans" pitchFamily="34" charset="-122"/>
                <a:cs typeface="PT Sans" pitchFamily="34" charset="-120"/>
              </a:rPr>
              <a:t>Agentic AI is the next step. </a:t>
            </a:r>
            <a:r>
              <a:rPr lang="en-US" sz="1150" dirty="0">
                <a:solidFill>
                  <a:srgbClr val="3B3D3E"/>
                </a:solidFill>
                <a:latin typeface="PT Sans" pitchFamily="34" charset="0"/>
                <a:ea typeface="PT Sans" pitchFamily="34" charset="-122"/>
                <a:cs typeface="PT Sans" pitchFamily="34" charset="-120"/>
              </a:rPr>
              <a:t>Agents don't just follow instructions — they think, decide, and adapt, like a digital colleague rather than a digital form.</a:t>
            </a:r>
            <a:endParaRPr lang="en-US" sz="1150" dirty="0"/>
          </a:p>
        </p:txBody>
      </p:sp>
      <p:sp>
        <p:nvSpPr>
          <p:cNvPr id="21" name="Text 18"/>
          <p:cNvSpPr txBox="1"/>
          <p:nvPr/>
        </p:nvSpPr>
        <p:spPr>
          <a:xfrm>
            <a:off x="449885" y="4329684"/>
            <a:ext cx="8244230" cy="340157"/>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Workflow automation checks the weather and e-mails it every morning. An agent answers “should I bring an umbrella today?” — it understands why you asked, and decides whether to check the weather at all.</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1  •  WHAT AN AGENT ACTUALLY IS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Workflow vs. Agentic Flow</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449885" y="1234440"/>
            <a:ext cx="3984955" cy="2331720"/>
          </a:xfrm>
          <a:prstGeom prst="roundRect">
            <a:avLst>
              <a:gd name="adj" fmla="val 2353"/>
            </a:avLst>
          </a:prstGeom>
          <a:solidFill>
            <a:srgbClr val="FFFFFF"/>
          </a:solidFill>
          <a:ln w="9525">
            <a:solidFill>
              <a:srgbClr val="E2E8F0"/>
            </a:solidFill>
            <a:prstDash val="solid"/>
          </a:ln>
        </p:spPr>
        <p:txBody>
          <a:bodyPr/>
          <a:lstStyle/>
          <a:p>
            <a:endParaRPr lang="en-IN"/>
          </a:p>
        </p:txBody>
      </p:sp>
      <p:sp>
        <p:nvSpPr>
          <p:cNvPr id="8" name="Text 5"/>
          <p:cNvSpPr txBox="1"/>
          <p:nvPr/>
        </p:nvSpPr>
        <p:spPr>
          <a:xfrm>
            <a:off x="651053" y="1417320"/>
            <a:ext cx="3582619" cy="274320"/>
          </a:xfrm>
          <a:prstGeom prst="rect">
            <a:avLst/>
          </a:prstGeom>
          <a:noFill/>
          <a:ln/>
        </p:spPr>
        <p:txBody>
          <a:bodyPr wrap="square" lIns="0" tIns="0" rIns="0" bIns="0" rtlCol="0" anchor="ctr"/>
          <a:lstStyle/>
          <a:p>
            <a:pPr marL="0" indent="0">
              <a:buNone/>
            </a:pPr>
            <a:r>
              <a:rPr lang="en-US" sz="1200" b="1" dirty="0">
                <a:solidFill>
                  <a:srgbClr val="9AA39D"/>
                </a:solidFill>
                <a:latin typeface="Poppins SemiBold" pitchFamily="34" charset="0"/>
                <a:ea typeface="Poppins SemiBold" pitchFamily="34" charset="-122"/>
                <a:cs typeface="Poppins SemiBold" pitchFamily="34" charset="-120"/>
              </a:rPr>
              <a:t>WORKFLOW</a:t>
            </a:r>
            <a:endParaRPr lang="en-US" sz="1200" dirty="0"/>
          </a:p>
        </p:txBody>
      </p:sp>
      <p:sp>
        <p:nvSpPr>
          <p:cNvPr id="9" name="Text 6"/>
          <p:cNvSpPr txBox="1"/>
          <p:nvPr/>
        </p:nvSpPr>
        <p:spPr>
          <a:xfrm>
            <a:off x="651053" y="1737360"/>
            <a:ext cx="3582619" cy="640080"/>
          </a:xfrm>
          <a:prstGeom prst="rect">
            <a:avLst/>
          </a:prstGeom>
          <a:noFill/>
          <a:ln/>
        </p:spPr>
        <p:txBody>
          <a:bodyPr wrap="square" lIns="0" tIns="0" rIns="0" bIns="0" rtlCol="0" anchor="ctr"/>
          <a:lstStyle/>
          <a:p>
            <a:pPr marL="0" indent="0">
              <a:lnSpc>
                <a:spcPct val="125000"/>
              </a:lnSpc>
              <a:buNone/>
            </a:pPr>
            <a:r>
              <a:rPr lang="en-US" sz="1100" dirty="0">
                <a:solidFill>
                  <a:srgbClr val="3B3D3E"/>
                </a:solidFill>
                <a:latin typeface="PT Sans" pitchFamily="34" charset="0"/>
                <a:ea typeface="PT Sans" pitchFamily="34" charset="-122"/>
                <a:cs typeface="PT Sans" pitchFamily="34" charset="-120"/>
              </a:rPr>
              <a:t>Follows instructions. Predictable. Fixed sequence, every time.</a:t>
            </a:r>
            <a:endParaRPr lang="en-US" sz="1100" dirty="0"/>
          </a:p>
        </p:txBody>
      </p:sp>
      <p:sp>
        <p:nvSpPr>
          <p:cNvPr id="10" name="Shape 7"/>
          <p:cNvSpPr/>
          <p:nvPr/>
        </p:nvSpPr>
        <p:spPr>
          <a:xfrm>
            <a:off x="907085" y="2514600"/>
            <a:ext cx="457200" cy="457200"/>
          </a:xfrm>
          <a:prstGeom prst="ellipse">
            <a:avLst/>
          </a:prstGeom>
          <a:solidFill>
            <a:srgbClr val="9AA39D"/>
          </a:solidFill>
          <a:ln/>
        </p:spPr>
        <p:txBody>
          <a:bodyPr/>
          <a:lstStyle/>
          <a:p>
            <a:endParaRPr lang="en-IN"/>
          </a:p>
        </p:txBody>
      </p:sp>
      <p:sp>
        <p:nvSpPr>
          <p:cNvPr id="11" name="Text 8"/>
          <p:cNvSpPr txBox="1"/>
          <p:nvPr/>
        </p:nvSpPr>
        <p:spPr>
          <a:xfrm>
            <a:off x="907085" y="251460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SemiBold" pitchFamily="34" charset="0"/>
                <a:ea typeface="Poppins SemiBold" pitchFamily="34" charset="-122"/>
                <a:cs typeface="Poppins SemiBold" pitchFamily="34" charset="-120"/>
              </a:rPr>
              <a:t>A</a:t>
            </a:r>
            <a:endParaRPr lang="en-US" sz="1200" dirty="0"/>
          </a:p>
        </p:txBody>
      </p:sp>
      <p:sp>
        <p:nvSpPr>
          <p:cNvPr id="12" name="Shape 9"/>
          <p:cNvSpPr/>
          <p:nvPr/>
        </p:nvSpPr>
        <p:spPr>
          <a:xfrm>
            <a:off x="1364285" y="2743200"/>
            <a:ext cx="320040" cy="0"/>
          </a:xfrm>
          <a:prstGeom prst="line">
            <a:avLst/>
          </a:prstGeom>
          <a:noFill/>
          <a:ln w="19050">
            <a:solidFill>
              <a:srgbClr val="9AA39D"/>
            </a:solidFill>
            <a:prstDash val="solid"/>
            <a:tailEnd type="triangle"/>
          </a:ln>
        </p:spPr>
        <p:txBody>
          <a:bodyPr/>
          <a:lstStyle/>
          <a:p>
            <a:endParaRPr lang="en-IN"/>
          </a:p>
        </p:txBody>
      </p:sp>
      <p:sp>
        <p:nvSpPr>
          <p:cNvPr id="13" name="Shape 10"/>
          <p:cNvSpPr/>
          <p:nvPr/>
        </p:nvSpPr>
        <p:spPr>
          <a:xfrm>
            <a:off x="1684325" y="2514600"/>
            <a:ext cx="457200" cy="457200"/>
          </a:xfrm>
          <a:prstGeom prst="ellipse">
            <a:avLst/>
          </a:prstGeom>
          <a:solidFill>
            <a:srgbClr val="9AA39D"/>
          </a:solidFill>
          <a:ln/>
        </p:spPr>
        <p:txBody>
          <a:bodyPr/>
          <a:lstStyle/>
          <a:p>
            <a:endParaRPr lang="en-IN"/>
          </a:p>
        </p:txBody>
      </p:sp>
      <p:sp>
        <p:nvSpPr>
          <p:cNvPr id="14" name="Text 11"/>
          <p:cNvSpPr txBox="1"/>
          <p:nvPr/>
        </p:nvSpPr>
        <p:spPr>
          <a:xfrm>
            <a:off x="1684325" y="251460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SemiBold" pitchFamily="34" charset="0"/>
                <a:ea typeface="Poppins SemiBold" pitchFamily="34" charset="-122"/>
                <a:cs typeface="Poppins SemiBold" pitchFamily="34" charset="-120"/>
              </a:rPr>
              <a:t>B</a:t>
            </a:r>
            <a:endParaRPr lang="en-US" sz="1200" dirty="0"/>
          </a:p>
        </p:txBody>
      </p:sp>
      <p:sp>
        <p:nvSpPr>
          <p:cNvPr id="15" name="Shape 12"/>
          <p:cNvSpPr/>
          <p:nvPr/>
        </p:nvSpPr>
        <p:spPr>
          <a:xfrm>
            <a:off x="2141525" y="2743200"/>
            <a:ext cx="320040" cy="0"/>
          </a:xfrm>
          <a:prstGeom prst="line">
            <a:avLst/>
          </a:prstGeom>
          <a:noFill/>
          <a:ln w="19050">
            <a:solidFill>
              <a:srgbClr val="9AA39D"/>
            </a:solidFill>
            <a:prstDash val="solid"/>
            <a:tailEnd type="triangle"/>
          </a:ln>
        </p:spPr>
        <p:txBody>
          <a:bodyPr/>
          <a:lstStyle/>
          <a:p>
            <a:endParaRPr lang="en-IN"/>
          </a:p>
        </p:txBody>
      </p:sp>
      <p:sp>
        <p:nvSpPr>
          <p:cNvPr id="16" name="Shape 13"/>
          <p:cNvSpPr/>
          <p:nvPr/>
        </p:nvSpPr>
        <p:spPr>
          <a:xfrm>
            <a:off x="2461565" y="2514600"/>
            <a:ext cx="457200" cy="457200"/>
          </a:xfrm>
          <a:prstGeom prst="ellipse">
            <a:avLst/>
          </a:prstGeom>
          <a:solidFill>
            <a:srgbClr val="9AA39D"/>
          </a:solidFill>
          <a:ln/>
        </p:spPr>
        <p:txBody>
          <a:bodyPr/>
          <a:lstStyle/>
          <a:p>
            <a:endParaRPr lang="en-IN"/>
          </a:p>
        </p:txBody>
      </p:sp>
      <p:sp>
        <p:nvSpPr>
          <p:cNvPr id="17" name="Text 14"/>
          <p:cNvSpPr txBox="1"/>
          <p:nvPr/>
        </p:nvSpPr>
        <p:spPr>
          <a:xfrm>
            <a:off x="2461565" y="251460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SemiBold" pitchFamily="34" charset="0"/>
                <a:ea typeface="Poppins SemiBold" pitchFamily="34" charset="-122"/>
                <a:cs typeface="Poppins SemiBold" pitchFamily="34" charset="-120"/>
              </a:rPr>
              <a:t>C</a:t>
            </a:r>
            <a:endParaRPr lang="en-US" sz="1200" dirty="0"/>
          </a:p>
        </p:txBody>
      </p:sp>
      <p:sp>
        <p:nvSpPr>
          <p:cNvPr id="18" name="Text 15"/>
          <p:cNvSpPr txBox="1"/>
          <p:nvPr/>
        </p:nvSpPr>
        <p:spPr>
          <a:xfrm>
            <a:off x="651053" y="3200400"/>
            <a:ext cx="3582619" cy="320040"/>
          </a:xfrm>
          <a:prstGeom prst="rect">
            <a:avLst/>
          </a:prstGeom>
          <a:noFill/>
          <a:ln/>
        </p:spPr>
        <p:txBody>
          <a:bodyPr wrap="square" lIns="0" tIns="0" rIns="0" bIns="0" rtlCol="0" anchor="t"/>
          <a:lstStyle/>
          <a:p>
            <a:pPr marL="0" indent="0">
              <a:buNone/>
            </a:pPr>
            <a:r>
              <a:rPr lang="en-US" sz="950" i="1" dirty="0">
                <a:solidFill>
                  <a:srgbClr val="3B3D3E"/>
                </a:solidFill>
                <a:latin typeface="PT Sans" pitchFamily="34" charset="0"/>
                <a:ea typeface="PT Sans" pitchFamily="34" charset="-122"/>
                <a:cs typeface="PT Sans" pitchFamily="34" charset="-120"/>
              </a:rPr>
              <a:t>Same three steps, same order, every single run.</a:t>
            </a:r>
            <a:endParaRPr lang="en-US" sz="950" dirty="0"/>
          </a:p>
        </p:txBody>
      </p:sp>
      <p:sp>
        <p:nvSpPr>
          <p:cNvPr id="19" name="Shape 16"/>
          <p:cNvSpPr/>
          <p:nvPr/>
        </p:nvSpPr>
        <p:spPr>
          <a:xfrm>
            <a:off x="4709160" y="1234440"/>
            <a:ext cx="3984955" cy="2331720"/>
          </a:xfrm>
          <a:prstGeom prst="roundRect">
            <a:avLst>
              <a:gd name="adj" fmla="val 2353"/>
            </a:avLst>
          </a:prstGeom>
          <a:solidFill>
            <a:srgbClr val="E6F4FA"/>
          </a:solidFill>
          <a:ln w="9525">
            <a:solidFill>
              <a:srgbClr val="00A3E0"/>
            </a:solidFill>
            <a:prstDash val="solid"/>
          </a:ln>
        </p:spPr>
        <p:txBody>
          <a:bodyPr/>
          <a:lstStyle/>
          <a:p>
            <a:endParaRPr lang="en-IN"/>
          </a:p>
        </p:txBody>
      </p:sp>
      <p:sp>
        <p:nvSpPr>
          <p:cNvPr id="20" name="Text 17"/>
          <p:cNvSpPr txBox="1"/>
          <p:nvPr/>
        </p:nvSpPr>
        <p:spPr>
          <a:xfrm>
            <a:off x="4910328" y="1417320"/>
            <a:ext cx="3582619" cy="274320"/>
          </a:xfrm>
          <a:prstGeom prst="rect">
            <a:avLst/>
          </a:prstGeom>
          <a:noFill/>
          <a:ln/>
        </p:spPr>
        <p:txBody>
          <a:bodyPr wrap="square" lIns="0" tIns="0" rIns="0" bIns="0" rtlCol="0" anchor="ctr"/>
          <a:lstStyle/>
          <a:p>
            <a:pPr marL="0" indent="0">
              <a:buNone/>
            </a:pPr>
            <a:r>
              <a:rPr lang="en-US" sz="1200" b="1" dirty="0">
                <a:solidFill>
                  <a:srgbClr val="004C97"/>
                </a:solidFill>
                <a:latin typeface="Poppins SemiBold" pitchFamily="34" charset="0"/>
                <a:ea typeface="Poppins SemiBold" pitchFamily="34" charset="-122"/>
                <a:cs typeface="Poppins SemiBold" pitchFamily="34" charset="-120"/>
              </a:rPr>
              <a:t>AGENT</a:t>
            </a:r>
            <a:endParaRPr lang="en-US" sz="1200" dirty="0"/>
          </a:p>
        </p:txBody>
      </p:sp>
      <p:sp>
        <p:nvSpPr>
          <p:cNvPr id="21" name="Text 18"/>
          <p:cNvSpPr txBox="1"/>
          <p:nvPr/>
        </p:nvSpPr>
        <p:spPr>
          <a:xfrm>
            <a:off x="4910328" y="1737360"/>
            <a:ext cx="3582619" cy="640080"/>
          </a:xfrm>
          <a:prstGeom prst="rect">
            <a:avLst/>
          </a:prstGeom>
          <a:noFill/>
          <a:ln/>
        </p:spPr>
        <p:txBody>
          <a:bodyPr wrap="square" lIns="0" tIns="0" rIns="0" bIns="0" rtlCol="0" anchor="ctr"/>
          <a:lstStyle/>
          <a:p>
            <a:pPr marL="0" indent="0">
              <a:lnSpc>
                <a:spcPct val="125000"/>
              </a:lnSpc>
              <a:buNone/>
            </a:pPr>
            <a:r>
              <a:rPr lang="en-US" sz="1100" dirty="0">
                <a:solidFill>
                  <a:srgbClr val="3B3D3E"/>
                </a:solidFill>
                <a:latin typeface="PT Sans" pitchFamily="34" charset="0"/>
                <a:ea typeface="PT Sans" pitchFamily="34" charset="-122"/>
                <a:cs typeface="PT Sans" pitchFamily="34" charset="-120"/>
              </a:rPr>
              <a:t>Reasons and adapts. Flexible. Decides its own next step.</a:t>
            </a:r>
            <a:endParaRPr lang="en-US" sz="1100" dirty="0"/>
          </a:p>
        </p:txBody>
      </p:sp>
      <p:sp>
        <p:nvSpPr>
          <p:cNvPr id="22" name="Shape 19"/>
          <p:cNvSpPr/>
          <p:nvPr/>
        </p:nvSpPr>
        <p:spPr>
          <a:xfrm>
            <a:off x="5166360" y="2514600"/>
            <a:ext cx="457200" cy="457200"/>
          </a:xfrm>
          <a:prstGeom prst="ellipse">
            <a:avLst/>
          </a:prstGeom>
          <a:solidFill>
            <a:srgbClr val="00A3E0"/>
          </a:solidFill>
          <a:ln/>
        </p:spPr>
        <p:txBody>
          <a:bodyPr/>
          <a:lstStyle/>
          <a:p>
            <a:endParaRPr lang="en-IN"/>
          </a:p>
        </p:txBody>
      </p:sp>
      <p:sp>
        <p:nvSpPr>
          <p:cNvPr id="23" name="Text 20"/>
          <p:cNvSpPr txBox="1"/>
          <p:nvPr/>
        </p:nvSpPr>
        <p:spPr>
          <a:xfrm>
            <a:off x="5166360" y="251460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SemiBold" pitchFamily="34" charset="0"/>
                <a:ea typeface="Poppins SemiBold" pitchFamily="34" charset="-122"/>
                <a:cs typeface="Poppins SemiBold" pitchFamily="34" charset="-120"/>
              </a:rPr>
              <a:t>P</a:t>
            </a:r>
            <a:endParaRPr lang="en-US" sz="1200" dirty="0"/>
          </a:p>
        </p:txBody>
      </p:sp>
      <p:sp>
        <p:nvSpPr>
          <p:cNvPr id="24" name="Text 21"/>
          <p:cNvSpPr txBox="1"/>
          <p:nvPr/>
        </p:nvSpPr>
        <p:spPr>
          <a:xfrm>
            <a:off x="5029200" y="2999232"/>
            <a:ext cx="731520" cy="219456"/>
          </a:xfrm>
          <a:prstGeom prst="rect">
            <a:avLst/>
          </a:prstGeom>
          <a:noFill/>
          <a:ln/>
        </p:spPr>
        <p:txBody>
          <a:bodyPr wrap="square" lIns="0" tIns="0" rIns="0" bIns="0" rtlCol="0" anchor="ctr"/>
          <a:lstStyle/>
          <a:p>
            <a:pPr marL="0" indent="0" algn="ctr">
              <a:buNone/>
            </a:pPr>
            <a:r>
              <a:rPr lang="en-US" sz="850" dirty="0">
                <a:solidFill>
                  <a:srgbClr val="3B3D3E"/>
                </a:solidFill>
                <a:latin typeface="PT Sans" pitchFamily="34" charset="0"/>
                <a:ea typeface="PT Sans" pitchFamily="34" charset="-122"/>
                <a:cs typeface="PT Sans" pitchFamily="34" charset="-120"/>
              </a:rPr>
              <a:t>Plan</a:t>
            </a:r>
            <a:endParaRPr lang="en-US" sz="850" dirty="0"/>
          </a:p>
        </p:txBody>
      </p:sp>
      <p:sp>
        <p:nvSpPr>
          <p:cNvPr id="25" name="Shape 22"/>
          <p:cNvSpPr/>
          <p:nvPr/>
        </p:nvSpPr>
        <p:spPr>
          <a:xfrm>
            <a:off x="5623560" y="2743200"/>
            <a:ext cx="320040" cy="0"/>
          </a:xfrm>
          <a:prstGeom prst="line">
            <a:avLst/>
          </a:prstGeom>
          <a:noFill/>
          <a:ln w="19050">
            <a:solidFill>
              <a:srgbClr val="00A3E0"/>
            </a:solidFill>
            <a:prstDash val="solid"/>
            <a:tailEnd type="triangle"/>
          </a:ln>
        </p:spPr>
        <p:txBody>
          <a:bodyPr/>
          <a:lstStyle/>
          <a:p>
            <a:endParaRPr lang="en-IN"/>
          </a:p>
        </p:txBody>
      </p:sp>
      <p:sp>
        <p:nvSpPr>
          <p:cNvPr id="26" name="Shape 23"/>
          <p:cNvSpPr/>
          <p:nvPr/>
        </p:nvSpPr>
        <p:spPr>
          <a:xfrm>
            <a:off x="5943600" y="2514600"/>
            <a:ext cx="457200" cy="457200"/>
          </a:xfrm>
          <a:prstGeom prst="ellipse">
            <a:avLst/>
          </a:prstGeom>
          <a:solidFill>
            <a:srgbClr val="00A3E0"/>
          </a:solidFill>
          <a:ln/>
        </p:spPr>
        <p:txBody>
          <a:bodyPr/>
          <a:lstStyle/>
          <a:p>
            <a:endParaRPr lang="en-IN"/>
          </a:p>
        </p:txBody>
      </p:sp>
      <p:sp>
        <p:nvSpPr>
          <p:cNvPr id="27" name="Text 24"/>
          <p:cNvSpPr txBox="1"/>
          <p:nvPr/>
        </p:nvSpPr>
        <p:spPr>
          <a:xfrm>
            <a:off x="5943600" y="251460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SemiBold" pitchFamily="34" charset="0"/>
                <a:ea typeface="Poppins SemiBold" pitchFamily="34" charset="-122"/>
                <a:cs typeface="Poppins SemiBold" pitchFamily="34" charset="-120"/>
              </a:rPr>
              <a:t>A</a:t>
            </a:r>
            <a:endParaRPr lang="en-US" sz="1200" dirty="0"/>
          </a:p>
        </p:txBody>
      </p:sp>
      <p:sp>
        <p:nvSpPr>
          <p:cNvPr id="28" name="Text 25"/>
          <p:cNvSpPr txBox="1"/>
          <p:nvPr/>
        </p:nvSpPr>
        <p:spPr>
          <a:xfrm>
            <a:off x="5806440" y="2999232"/>
            <a:ext cx="731520" cy="219456"/>
          </a:xfrm>
          <a:prstGeom prst="rect">
            <a:avLst/>
          </a:prstGeom>
          <a:noFill/>
          <a:ln/>
        </p:spPr>
        <p:txBody>
          <a:bodyPr wrap="square" lIns="0" tIns="0" rIns="0" bIns="0" rtlCol="0" anchor="ctr"/>
          <a:lstStyle/>
          <a:p>
            <a:pPr marL="0" indent="0" algn="ctr">
              <a:buNone/>
            </a:pPr>
            <a:r>
              <a:rPr lang="en-US" sz="850" dirty="0">
                <a:solidFill>
                  <a:srgbClr val="3B3D3E"/>
                </a:solidFill>
                <a:latin typeface="PT Sans" pitchFamily="34" charset="0"/>
                <a:ea typeface="PT Sans" pitchFamily="34" charset="-122"/>
                <a:cs typeface="PT Sans" pitchFamily="34" charset="-120"/>
              </a:rPr>
              <a:t>Act</a:t>
            </a:r>
            <a:endParaRPr lang="en-US" sz="850" dirty="0"/>
          </a:p>
        </p:txBody>
      </p:sp>
      <p:sp>
        <p:nvSpPr>
          <p:cNvPr id="29" name="Shape 26"/>
          <p:cNvSpPr/>
          <p:nvPr/>
        </p:nvSpPr>
        <p:spPr>
          <a:xfrm>
            <a:off x="6400800" y="2743200"/>
            <a:ext cx="320040" cy="0"/>
          </a:xfrm>
          <a:prstGeom prst="line">
            <a:avLst/>
          </a:prstGeom>
          <a:noFill/>
          <a:ln w="19050">
            <a:solidFill>
              <a:srgbClr val="00A3E0"/>
            </a:solidFill>
            <a:prstDash val="solid"/>
            <a:tailEnd type="triangle"/>
          </a:ln>
        </p:spPr>
        <p:txBody>
          <a:bodyPr/>
          <a:lstStyle/>
          <a:p>
            <a:endParaRPr lang="en-IN"/>
          </a:p>
        </p:txBody>
      </p:sp>
      <p:sp>
        <p:nvSpPr>
          <p:cNvPr id="30" name="Shape 27"/>
          <p:cNvSpPr/>
          <p:nvPr/>
        </p:nvSpPr>
        <p:spPr>
          <a:xfrm>
            <a:off x="6720840" y="2514600"/>
            <a:ext cx="457200" cy="457200"/>
          </a:xfrm>
          <a:prstGeom prst="ellipse">
            <a:avLst/>
          </a:prstGeom>
          <a:solidFill>
            <a:srgbClr val="00A3E0"/>
          </a:solidFill>
          <a:ln/>
        </p:spPr>
        <p:txBody>
          <a:bodyPr/>
          <a:lstStyle/>
          <a:p>
            <a:endParaRPr lang="en-IN"/>
          </a:p>
        </p:txBody>
      </p:sp>
      <p:sp>
        <p:nvSpPr>
          <p:cNvPr id="31" name="Text 28"/>
          <p:cNvSpPr txBox="1"/>
          <p:nvPr/>
        </p:nvSpPr>
        <p:spPr>
          <a:xfrm>
            <a:off x="6720840" y="251460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SemiBold" pitchFamily="34" charset="0"/>
                <a:ea typeface="Poppins SemiBold" pitchFamily="34" charset="-122"/>
                <a:cs typeface="Poppins SemiBold" pitchFamily="34" charset="-120"/>
              </a:rPr>
              <a:t>R</a:t>
            </a:r>
            <a:endParaRPr lang="en-US" sz="1200" dirty="0"/>
          </a:p>
        </p:txBody>
      </p:sp>
      <p:sp>
        <p:nvSpPr>
          <p:cNvPr id="32" name="Text 29"/>
          <p:cNvSpPr txBox="1"/>
          <p:nvPr/>
        </p:nvSpPr>
        <p:spPr>
          <a:xfrm>
            <a:off x="6583680" y="2999232"/>
            <a:ext cx="731520" cy="219456"/>
          </a:xfrm>
          <a:prstGeom prst="rect">
            <a:avLst/>
          </a:prstGeom>
          <a:noFill/>
          <a:ln/>
        </p:spPr>
        <p:txBody>
          <a:bodyPr wrap="square" lIns="0" tIns="0" rIns="0" bIns="0" rtlCol="0" anchor="ctr"/>
          <a:lstStyle/>
          <a:p>
            <a:pPr marL="0" indent="0" algn="ctr">
              <a:buNone/>
            </a:pPr>
            <a:r>
              <a:rPr lang="en-US" sz="850" dirty="0">
                <a:solidFill>
                  <a:srgbClr val="3B3D3E"/>
                </a:solidFill>
                <a:latin typeface="PT Sans" pitchFamily="34" charset="0"/>
                <a:ea typeface="PT Sans" pitchFamily="34" charset="-122"/>
                <a:cs typeface="PT Sans" pitchFamily="34" charset="-120"/>
              </a:rPr>
              <a:t>Reflect</a:t>
            </a:r>
            <a:endParaRPr lang="en-US" sz="850" dirty="0"/>
          </a:p>
        </p:txBody>
      </p:sp>
      <p:sp>
        <p:nvSpPr>
          <p:cNvPr id="33" name="Text 30"/>
          <p:cNvSpPr txBox="1"/>
          <p:nvPr/>
        </p:nvSpPr>
        <p:spPr>
          <a:xfrm>
            <a:off x="4910328" y="3291840"/>
            <a:ext cx="3582619" cy="274320"/>
          </a:xfrm>
          <a:prstGeom prst="rect">
            <a:avLst/>
          </a:prstGeom>
          <a:noFill/>
          <a:ln/>
        </p:spPr>
        <p:txBody>
          <a:bodyPr wrap="square" lIns="0" tIns="0" rIns="0" bIns="0" rtlCol="0" anchor="t"/>
          <a:lstStyle/>
          <a:p>
            <a:pPr marL="0" indent="0">
              <a:buNone/>
            </a:pPr>
            <a:r>
              <a:rPr lang="en-US" sz="950" i="1" dirty="0">
                <a:solidFill>
                  <a:srgbClr val="004C97"/>
                </a:solidFill>
                <a:latin typeface="PT Sans" pitchFamily="34" charset="0"/>
                <a:ea typeface="PT Sans" pitchFamily="34" charset="-122"/>
                <a:cs typeface="PT Sans" pitchFamily="34" charset="-120"/>
              </a:rPr>
              <a:t>A dynamic loop — reflect can send it back to plan again.</a:t>
            </a:r>
            <a:endParaRPr lang="en-US" sz="950" dirty="0"/>
          </a:p>
        </p:txBody>
      </p:sp>
      <p:sp>
        <p:nvSpPr>
          <p:cNvPr id="34" name="Text 31"/>
          <p:cNvSpPr txBox="1"/>
          <p:nvPr/>
        </p:nvSpPr>
        <p:spPr>
          <a:xfrm>
            <a:off x="449885" y="4329684"/>
            <a:ext cx="8244230" cy="340157"/>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Workflow automation checks the weather and e-mails it every morning. An agent responds to “should I bring an umbrella today?” — it understands why you asked, and decides to check the weather.</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1  •  WHAT AN AGENT ACTUALLY IS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Agent: A Digital Employee</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449885" y="1371600"/>
            <a:ext cx="2656637" cy="2011680"/>
          </a:xfrm>
          <a:prstGeom prst="roundRect">
            <a:avLst>
              <a:gd name="adj" fmla="val 2727"/>
            </a:avLst>
          </a:prstGeom>
          <a:solidFill>
            <a:srgbClr val="FFFFFF"/>
          </a:solidFill>
          <a:ln w="9525">
            <a:solidFill>
              <a:srgbClr val="E2E8F0"/>
            </a:solidFill>
            <a:prstDash val="solid"/>
          </a:ln>
        </p:spPr>
        <p:txBody>
          <a:bodyPr/>
          <a:lstStyle/>
          <a:p>
            <a:endParaRPr lang="en-IN"/>
          </a:p>
        </p:txBody>
      </p:sp>
      <p:sp>
        <p:nvSpPr>
          <p:cNvPr id="8" name="Shape 5"/>
          <p:cNvSpPr/>
          <p:nvPr/>
        </p:nvSpPr>
        <p:spPr>
          <a:xfrm>
            <a:off x="1522171" y="1600200"/>
            <a:ext cx="512064" cy="512064"/>
          </a:xfrm>
          <a:prstGeom prst="ellipse">
            <a:avLst/>
          </a:prstGeom>
          <a:solidFill>
            <a:srgbClr val="004C97"/>
          </a:solidFill>
          <a:ln/>
        </p:spPr>
        <p:txBody>
          <a:bodyPr/>
          <a:lstStyle/>
          <a:p>
            <a:endParaRPr lang="en-IN"/>
          </a:p>
        </p:txBody>
      </p:sp>
      <p:sp>
        <p:nvSpPr>
          <p:cNvPr id="9" name="Text 6"/>
          <p:cNvSpPr txBox="1"/>
          <p:nvPr/>
        </p:nvSpPr>
        <p:spPr>
          <a:xfrm>
            <a:off x="1522171" y="1600200"/>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SemiBold" pitchFamily="34" charset="0"/>
                <a:ea typeface="Poppins SemiBold" pitchFamily="34" charset="-122"/>
                <a:cs typeface="Poppins SemiBold" pitchFamily="34" charset="-120"/>
              </a:rPr>
              <a:t>1</a:t>
            </a:r>
            <a:endParaRPr lang="en-US" sz="1200" dirty="0"/>
          </a:p>
        </p:txBody>
      </p:sp>
      <p:sp>
        <p:nvSpPr>
          <p:cNvPr id="10" name="Text 7"/>
          <p:cNvSpPr txBox="1"/>
          <p:nvPr/>
        </p:nvSpPr>
        <p:spPr>
          <a:xfrm>
            <a:off x="587045" y="2286000"/>
            <a:ext cx="2382317" cy="365760"/>
          </a:xfrm>
          <a:prstGeom prst="rect">
            <a:avLst/>
          </a:prstGeom>
          <a:noFill/>
          <a:ln/>
        </p:spPr>
        <p:txBody>
          <a:bodyPr wrap="square" lIns="0" tIns="0" rIns="0" bIns="0" rtlCol="0" anchor="ctr"/>
          <a:lstStyle/>
          <a:p>
            <a:pPr marL="0" indent="0" algn="ctr">
              <a:buNone/>
            </a:pPr>
            <a:r>
              <a:rPr lang="en-US" sz="1400" b="1" dirty="0">
                <a:solidFill>
                  <a:srgbClr val="004C97"/>
                </a:solidFill>
                <a:latin typeface="Poppins SemiBold" pitchFamily="34" charset="0"/>
                <a:ea typeface="Poppins SemiBold" pitchFamily="34" charset="-122"/>
                <a:cs typeface="Poppins SemiBold" pitchFamily="34" charset="-120"/>
              </a:rPr>
              <a:t>Brain</a:t>
            </a:r>
            <a:endParaRPr lang="en-US" sz="1400" dirty="0"/>
          </a:p>
        </p:txBody>
      </p:sp>
      <p:sp>
        <p:nvSpPr>
          <p:cNvPr id="11" name="Text 8"/>
          <p:cNvSpPr txBox="1"/>
          <p:nvPr/>
        </p:nvSpPr>
        <p:spPr>
          <a:xfrm>
            <a:off x="632765" y="2697480"/>
            <a:ext cx="2290877" cy="594360"/>
          </a:xfrm>
          <a:prstGeom prst="rect">
            <a:avLst/>
          </a:prstGeom>
          <a:noFill/>
          <a:ln/>
        </p:spPr>
        <p:txBody>
          <a:bodyPr wrap="square" lIns="0" tIns="0" rIns="0" bIns="0" rtlCol="0" anchor="t"/>
          <a:lstStyle/>
          <a:p>
            <a:pPr marL="0" indent="0" algn="ctr">
              <a:lnSpc>
                <a:spcPct val="122000"/>
              </a:lnSpc>
              <a:buNone/>
            </a:pPr>
            <a:r>
              <a:rPr lang="en-US" sz="1000" dirty="0">
                <a:solidFill>
                  <a:srgbClr val="3B3D3E"/>
                </a:solidFill>
                <a:latin typeface="PT Sans" pitchFamily="34" charset="0"/>
                <a:ea typeface="PT Sans" pitchFamily="34" charset="-122"/>
                <a:cs typeface="PT Sans" pitchFamily="34" charset="-120"/>
              </a:rPr>
              <a:t>Reasoning and language understanding — the LLM at the core, deciding what matters.</a:t>
            </a:r>
            <a:endParaRPr lang="en-US" sz="1000" dirty="0"/>
          </a:p>
        </p:txBody>
      </p:sp>
      <p:sp>
        <p:nvSpPr>
          <p:cNvPr id="12" name="Shape 9"/>
          <p:cNvSpPr/>
          <p:nvPr/>
        </p:nvSpPr>
        <p:spPr>
          <a:xfrm>
            <a:off x="3243682" y="1371600"/>
            <a:ext cx="2656637" cy="2011680"/>
          </a:xfrm>
          <a:prstGeom prst="roundRect">
            <a:avLst>
              <a:gd name="adj" fmla="val 2727"/>
            </a:avLst>
          </a:prstGeom>
          <a:solidFill>
            <a:srgbClr val="FFFFFF"/>
          </a:solidFill>
          <a:ln w="9525">
            <a:solidFill>
              <a:srgbClr val="E2E8F0"/>
            </a:solidFill>
            <a:prstDash val="solid"/>
          </a:ln>
        </p:spPr>
        <p:txBody>
          <a:bodyPr/>
          <a:lstStyle/>
          <a:p>
            <a:endParaRPr lang="en-IN"/>
          </a:p>
        </p:txBody>
      </p:sp>
      <p:sp>
        <p:nvSpPr>
          <p:cNvPr id="13" name="Shape 10"/>
          <p:cNvSpPr/>
          <p:nvPr/>
        </p:nvSpPr>
        <p:spPr>
          <a:xfrm>
            <a:off x="4315968" y="1600200"/>
            <a:ext cx="512064" cy="512064"/>
          </a:xfrm>
          <a:prstGeom prst="ellipse">
            <a:avLst/>
          </a:prstGeom>
          <a:solidFill>
            <a:srgbClr val="004C97"/>
          </a:solidFill>
          <a:ln/>
        </p:spPr>
        <p:txBody>
          <a:bodyPr/>
          <a:lstStyle/>
          <a:p>
            <a:endParaRPr lang="en-IN"/>
          </a:p>
        </p:txBody>
      </p:sp>
      <p:sp>
        <p:nvSpPr>
          <p:cNvPr id="14" name="Text 11"/>
          <p:cNvSpPr txBox="1"/>
          <p:nvPr/>
        </p:nvSpPr>
        <p:spPr>
          <a:xfrm>
            <a:off x="4315968" y="1600200"/>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SemiBold" pitchFamily="34" charset="0"/>
                <a:ea typeface="Poppins SemiBold" pitchFamily="34" charset="-122"/>
                <a:cs typeface="Poppins SemiBold" pitchFamily="34" charset="-120"/>
              </a:rPr>
              <a:t>2</a:t>
            </a:r>
            <a:endParaRPr lang="en-US" sz="1200" dirty="0"/>
          </a:p>
        </p:txBody>
      </p:sp>
      <p:sp>
        <p:nvSpPr>
          <p:cNvPr id="15" name="Text 12"/>
          <p:cNvSpPr txBox="1"/>
          <p:nvPr/>
        </p:nvSpPr>
        <p:spPr>
          <a:xfrm>
            <a:off x="3380842" y="2286000"/>
            <a:ext cx="2382317" cy="365760"/>
          </a:xfrm>
          <a:prstGeom prst="rect">
            <a:avLst/>
          </a:prstGeom>
          <a:noFill/>
          <a:ln/>
        </p:spPr>
        <p:txBody>
          <a:bodyPr wrap="square" lIns="0" tIns="0" rIns="0" bIns="0" rtlCol="0" anchor="ctr"/>
          <a:lstStyle/>
          <a:p>
            <a:pPr marL="0" indent="0" algn="ctr">
              <a:buNone/>
            </a:pPr>
            <a:r>
              <a:rPr lang="en-US" sz="1400" b="1" dirty="0">
                <a:solidFill>
                  <a:srgbClr val="004C97"/>
                </a:solidFill>
                <a:latin typeface="Poppins SemiBold" pitchFamily="34" charset="0"/>
                <a:ea typeface="Poppins SemiBold" pitchFamily="34" charset="-122"/>
                <a:cs typeface="Poppins SemiBold" pitchFamily="34" charset="-120"/>
              </a:rPr>
              <a:t>Memory</a:t>
            </a:r>
            <a:endParaRPr lang="en-US" sz="1400" dirty="0"/>
          </a:p>
        </p:txBody>
      </p:sp>
      <p:sp>
        <p:nvSpPr>
          <p:cNvPr id="16" name="Text 13"/>
          <p:cNvSpPr txBox="1"/>
          <p:nvPr/>
        </p:nvSpPr>
        <p:spPr>
          <a:xfrm>
            <a:off x="3426562" y="2697480"/>
            <a:ext cx="2290877" cy="594360"/>
          </a:xfrm>
          <a:prstGeom prst="rect">
            <a:avLst/>
          </a:prstGeom>
          <a:noFill/>
          <a:ln/>
        </p:spPr>
        <p:txBody>
          <a:bodyPr wrap="square" lIns="0" tIns="0" rIns="0" bIns="0" rtlCol="0" anchor="t"/>
          <a:lstStyle/>
          <a:p>
            <a:pPr marL="0" indent="0" algn="ctr">
              <a:lnSpc>
                <a:spcPct val="122000"/>
              </a:lnSpc>
              <a:buNone/>
            </a:pPr>
            <a:r>
              <a:rPr lang="en-US" sz="1000" dirty="0">
                <a:solidFill>
                  <a:srgbClr val="3B3D3E"/>
                </a:solidFill>
                <a:latin typeface="PT Sans" pitchFamily="34" charset="0"/>
                <a:ea typeface="PT Sans" pitchFamily="34" charset="-122"/>
                <a:cs typeface="PT Sans" pitchFamily="34" charset="-120"/>
              </a:rPr>
              <a:t>Context and history — what's been asked, what's been tried, what's already known.</a:t>
            </a:r>
            <a:endParaRPr lang="en-US" sz="1000" dirty="0"/>
          </a:p>
        </p:txBody>
      </p:sp>
      <p:sp>
        <p:nvSpPr>
          <p:cNvPr id="17" name="Shape 14"/>
          <p:cNvSpPr/>
          <p:nvPr/>
        </p:nvSpPr>
        <p:spPr>
          <a:xfrm>
            <a:off x="6037478" y="1371600"/>
            <a:ext cx="2656637" cy="2011680"/>
          </a:xfrm>
          <a:prstGeom prst="roundRect">
            <a:avLst>
              <a:gd name="adj" fmla="val 2727"/>
            </a:avLst>
          </a:prstGeom>
          <a:solidFill>
            <a:srgbClr val="FFFFFF"/>
          </a:solidFill>
          <a:ln w="9525">
            <a:solidFill>
              <a:srgbClr val="E2E8F0"/>
            </a:solidFill>
            <a:prstDash val="solid"/>
          </a:ln>
        </p:spPr>
        <p:txBody>
          <a:bodyPr/>
          <a:lstStyle/>
          <a:p>
            <a:endParaRPr lang="en-IN"/>
          </a:p>
        </p:txBody>
      </p:sp>
      <p:sp>
        <p:nvSpPr>
          <p:cNvPr id="18" name="Shape 15"/>
          <p:cNvSpPr/>
          <p:nvPr/>
        </p:nvSpPr>
        <p:spPr>
          <a:xfrm>
            <a:off x="7109765" y="1600200"/>
            <a:ext cx="512064" cy="512064"/>
          </a:xfrm>
          <a:prstGeom prst="ellipse">
            <a:avLst/>
          </a:prstGeom>
          <a:solidFill>
            <a:srgbClr val="004C97"/>
          </a:solidFill>
          <a:ln/>
        </p:spPr>
        <p:txBody>
          <a:bodyPr/>
          <a:lstStyle/>
          <a:p>
            <a:endParaRPr lang="en-IN"/>
          </a:p>
        </p:txBody>
      </p:sp>
      <p:sp>
        <p:nvSpPr>
          <p:cNvPr id="19" name="Text 16"/>
          <p:cNvSpPr txBox="1"/>
          <p:nvPr/>
        </p:nvSpPr>
        <p:spPr>
          <a:xfrm>
            <a:off x="7109765" y="1600200"/>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SemiBold" pitchFamily="34" charset="0"/>
                <a:ea typeface="Poppins SemiBold" pitchFamily="34" charset="-122"/>
                <a:cs typeface="Poppins SemiBold" pitchFamily="34" charset="-120"/>
              </a:rPr>
              <a:t>3</a:t>
            </a:r>
            <a:endParaRPr lang="en-US" sz="1200" dirty="0"/>
          </a:p>
        </p:txBody>
      </p:sp>
      <p:sp>
        <p:nvSpPr>
          <p:cNvPr id="20" name="Text 17"/>
          <p:cNvSpPr txBox="1"/>
          <p:nvPr/>
        </p:nvSpPr>
        <p:spPr>
          <a:xfrm>
            <a:off x="6174638" y="2286000"/>
            <a:ext cx="2382317" cy="365760"/>
          </a:xfrm>
          <a:prstGeom prst="rect">
            <a:avLst/>
          </a:prstGeom>
          <a:noFill/>
          <a:ln/>
        </p:spPr>
        <p:txBody>
          <a:bodyPr wrap="square" lIns="0" tIns="0" rIns="0" bIns="0" rtlCol="0" anchor="ctr"/>
          <a:lstStyle/>
          <a:p>
            <a:pPr marL="0" indent="0" algn="ctr">
              <a:buNone/>
            </a:pPr>
            <a:r>
              <a:rPr lang="en-US" sz="1400" b="1" dirty="0">
                <a:solidFill>
                  <a:srgbClr val="004C97"/>
                </a:solidFill>
                <a:latin typeface="Poppins SemiBold" pitchFamily="34" charset="0"/>
                <a:ea typeface="Poppins SemiBold" pitchFamily="34" charset="-122"/>
                <a:cs typeface="Poppins SemiBold" pitchFamily="34" charset="-120"/>
              </a:rPr>
              <a:t>Tools</a:t>
            </a:r>
            <a:endParaRPr lang="en-US" sz="1400" dirty="0"/>
          </a:p>
        </p:txBody>
      </p:sp>
      <p:sp>
        <p:nvSpPr>
          <p:cNvPr id="21" name="Text 18"/>
          <p:cNvSpPr txBox="1"/>
          <p:nvPr/>
        </p:nvSpPr>
        <p:spPr>
          <a:xfrm>
            <a:off x="6220358" y="2697480"/>
            <a:ext cx="2290877" cy="594360"/>
          </a:xfrm>
          <a:prstGeom prst="rect">
            <a:avLst/>
          </a:prstGeom>
          <a:noFill/>
          <a:ln/>
        </p:spPr>
        <p:txBody>
          <a:bodyPr wrap="square" lIns="0" tIns="0" rIns="0" bIns="0" rtlCol="0" anchor="t"/>
          <a:lstStyle/>
          <a:p>
            <a:pPr marL="0" indent="0" algn="ctr">
              <a:lnSpc>
                <a:spcPct val="122000"/>
              </a:lnSpc>
              <a:buNone/>
            </a:pPr>
            <a:r>
              <a:rPr lang="en-US" sz="1000" dirty="0">
                <a:solidFill>
                  <a:srgbClr val="3B3D3E"/>
                </a:solidFill>
                <a:latin typeface="PT Sans" pitchFamily="34" charset="0"/>
                <a:ea typeface="PT Sans" pitchFamily="34" charset="-122"/>
                <a:cs typeface="PT Sans" pitchFamily="34" charset="-120"/>
              </a:rPr>
              <a:t>APIs, apps, data sources — the hands it uses to actually find things out and act.</a:t>
            </a:r>
            <a:endParaRPr lang="en-US" sz="1000" dirty="0"/>
          </a:p>
        </p:txBody>
      </p:sp>
      <p:sp>
        <p:nvSpPr>
          <p:cNvPr id="22" name="Text 19"/>
          <p:cNvSpPr txBox="1"/>
          <p:nvPr/>
        </p:nvSpPr>
        <p:spPr>
          <a:xfrm>
            <a:off x="449885" y="4329684"/>
            <a:ext cx="8244230" cy="340157"/>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Same three ingredients as any employee you'd hire: something to think with, something to remember with, and something to act with. An agent is what happens when those three run in a loop, unattended.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1  •  WHAT AN AGENT ACTUALLY IS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How Intelligent Systems Reason</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886968" y="1691640"/>
            <a:ext cx="1554480" cy="868680"/>
          </a:xfrm>
          <a:prstGeom prst="roundRect">
            <a:avLst>
              <a:gd name="adj" fmla="val 6316"/>
            </a:avLst>
          </a:prstGeom>
          <a:solidFill>
            <a:srgbClr val="F8FAFC"/>
          </a:solidFill>
          <a:ln w="9525">
            <a:solidFill>
              <a:srgbClr val="E2E8F0"/>
            </a:solidFill>
            <a:prstDash val="solid"/>
          </a:ln>
        </p:spPr>
        <p:txBody>
          <a:bodyPr/>
          <a:lstStyle/>
          <a:p>
            <a:endParaRPr lang="en-IN"/>
          </a:p>
        </p:txBody>
      </p:sp>
      <p:sp>
        <p:nvSpPr>
          <p:cNvPr id="8" name="Shape 5"/>
          <p:cNvSpPr/>
          <p:nvPr/>
        </p:nvSpPr>
        <p:spPr>
          <a:xfrm>
            <a:off x="1014984" y="1837944"/>
            <a:ext cx="384048" cy="384048"/>
          </a:xfrm>
          <a:prstGeom prst="ellipse">
            <a:avLst/>
          </a:prstGeom>
          <a:solidFill>
            <a:srgbClr val="004C97"/>
          </a:solidFill>
          <a:ln/>
        </p:spPr>
        <p:txBody>
          <a:bodyPr/>
          <a:lstStyle/>
          <a:p>
            <a:endParaRPr lang="en-IN"/>
          </a:p>
        </p:txBody>
      </p:sp>
      <p:sp>
        <p:nvSpPr>
          <p:cNvPr id="9" name="Text 6"/>
          <p:cNvSpPr txBox="1"/>
          <p:nvPr/>
        </p:nvSpPr>
        <p:spPr>
          <a:xfrm>
            <a:off x="1014984" y="183794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SemiBold" pitchFamily="34" charset="0"/>
                <a:ea typeface="Poppins SemiBold" pitchFamily="34" charset="-122"/>
                <a:cs typeface="Poppins SemiBold" pitchFamily="34" charset="-120"/>
              </a:rPr>
              <a:t>1</a:t>
            </a:r>
            <a:endParaRPr lang="en-US" sz="1100" dirty="0"/>
          </a:p>
        </p:txBody>
      </p:sp>
      <p:sp>
        <p:nvSpPr>
          <p:cNvPr id="10" name="Text 7"/>
          <p:cNvSpPr txBox="1"/>
          <p:nvPr/>
        </p:nvSpPr>
        <p:spPr>
          <a:xfrm>
            <a:off x="1490472" y="1819656"/>
            <a:ext cx="859536" cy="320040"/>
          </a:xfrm>
          <a:prstGeom prst="rect">
            <a:avLst/>
          </a:prstGeom>
          <a:noFill/>
          <a:ln/>
        </p:spPr>
        <p:txBody>
          <a:bodyPr wrap="square" lIns="0" tIns="0" rIns="0" bIns="0" rtlCol="0" anchor="ctr"/>
          <a:lstStyle/>
          <a:p>
            <a:pPr marL="0" indent="0">
              <a:buNone/>
            </a:pPr>
            <a:r>
              <a:rPr lang="en-US" sz="1300" b="1" dirty="0">
                <a:solidFill>
                  <a:srgbClr val="004C97"/>
                </a:solidFill>
                <a:latin typeface="Poppins SemiBold" pitchFamily="34" charset="0"/>
                <a:ea typeface="Poppins SemiBold" pitchFamily="34" charset="-122"/>
                <a:cs typeface="Poppins SemiBold" pitchFamily="34" charset="-120"/>
              </a:rPr>
              <a:t>Plan</a:t>
            </a:r>
            <a:endParaRPr lang="en-US" sz="1300" dirty="0"/>
          </a:p>
        </p:txBody>
      </p:sp>
      <p:sp>
        <p:nvSpPr>
          <p:cNvPr id="11" name="Text 8"/>
          <p:cNvSpPr txBox="1"/>
          <p:nvPr/>
        </p:nvSpPr>
        <p:spPr>
          <a:xfrm>
            <a:off x="1014984" y="2221992"/>
            <a:ext cx="1298448" cy="310896"/>
          </a:xfrm>
          <a:prstGeom prst="rect">
            <a:avLst/>
          </a:prstGeom>
          <a:noFill/>
          <a:ln/>
        </p:spPr>
        <p:txBody>
          <a:bodyPr wrap="square" lIns="0" tIns="0" rIns="0" bIns="0" rtlCol="0" anchor="t"/>
          <a:lstStyle/>
          <a:p>
            <a:pPr marL="0" indent="0">
              <a:lnSpc>
                <a:spcPct val="112000"/>
              </a:lnSpc>
              <a:buNone/>
            </a:pPr>
            <a:r>
              <a:rPr lang="en-US" sz="830" dirty="0">
                <a:solidFill>
                  <a:srgbClr val="3B3D3E"/>
                </a:solidFill>
                <a:latin typeface="PT Sans" pitchFamily="34" charset="0"/>
                <a:ea typeface="PT Sans" pitchFamily="34" charset="-122"/>
                <a:cs typeface="PT Sans" pitchFamily="34" charset="-120"/>
              </a:rPr>
              <a:t>Form a strategy using context and memory.</a:t>
            </a:r>
            <a:endParaRPr lang="en-US" sz="830" dirty="0"/>
          </a:p>
        </p:txBody>
      </p:sp>
      <p:sp>
        <p:nvSpPr>
          <p:cNvPr id="12" name="Shape 9"/>
          <p:cNvSpPr/>
          <p:nvPr/>
        </p:nvSpPr>
        <p:spPr>
          <a:xfrm>
            <a:off x="2441448" y="2125980"/>
            <a:ext cx="384048" cy="0"/>
          </a:xfrm>
          <a:prstGeom prst="line">
            <a:avLst/>
          </a:prstGeom>
          <a:noFill/>
          <a:ln w="25400">
            <a:solidFill>
              <a:srgbClr val="00A3E0"/>
            </a:solidFill>
            <a:prstDash val="solid"/>
            <a:tailEnd type="triangle"/>
          </a:ln>
        </p:spPr>
        <p:txBody>
          <a:bodyPr/>
          <a:lstStyle/>
          <a:p>
            <a:endParaRPr lang="en-IN"/>
          </a:p>
        </p:txBody>
      </p:sp>
      <p:sp>
        <p:nvSpPr>
          <p:cNvPr id="13" name="Shape 10"/>
          <p:cNvSpPr/>
          <p:nvPr/>
        </p:nvSpPr>
        <p:spPr>
          <a:xfrm>
            <a:off x="2825496" y="1691640"/>
            <a:ext cx="1554480" cy="868680"/>
          </a:xfrm>
          <a:prstGeom prst="roundRect">
            <a:avLst>
              <a:gd name="adj" fmla="val 6316"/>
            </a:avLst>
          </a:prstGeom>
          <a:solidFill>
            <a:srgbClr val="F8FAFC"/>
          </a:solidFill>
          <a:ln w="9525">
            <a:solidFill>
              <a:srgbClr val="E2E8F0"/>
            </a:solidFill>
            <a:prstDash val="solid"/>
          </a:ln>
        </p:spPr>
        <p:txBody>
          <a:bodyPr/>
          <a:lstStyle/>
          <a:p>
            <a:endParaRPr lang="en-IN"/>
          </a:p>
        </p:txBody>
      </p:sp>
      <p:sp>
        <p:nvSpPr>
          <p:cNvPr id="14" name="Shape 11"/>
          <p:cNvSpPr/>
          <p:nvPr/>
        </p:nvSpPr>
        <p:spPr>
          <a:xfrm>
            <a:off x="2953512" y="1837944"/>
            <a:ext cx="384048" cy="384048"/>
          </a:xfrm>
          <a:prstGeom prst="ellipse">
            <a:avLst/>
          </a:prstGeom>
          <a:solidFill>
            <a:srgbClr val="004C97"/>
          </a:solidFill>
          <a:ln/>
        </p:spPr>
        <p:txBody>
          <a:bodyPr/>
          <a:lstStyle/>
          <a:p>
            <a:endParaRPr lang="en-IN"/>
          </a:p>
        </p:txBody>
      </p:sp>
      <p:sp>
        <p:nvSpPr>
          <p:cNvPr id="15" name="Text 12"/>
          <p:cNvSpPr txBox="1"/>
          <p:nvPr/>
        </p:nvSpPr>
        <p:spPr>
          <a:xfrm>
            <a:off x="2953512" y="183794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SemiBold" pitchFamily="34" charset="0"/>
                <a:ea typeface="Poppins SemiBold" pitchFamily="34" charset="-122"/>
                <a:cs typeface="Poppins SemiBold" pitchFamily="34" charset="-120"/>
              </a:rPr>
              <a:t>2</a:t>
            </a:r>
            <a:endParaRPr lang="en-US" sz="1100" dirty="0"/>
          </a:p>
        </p:txBody>
      </p:sp>
      <p:sp>
        <p:nvSpPr>
          <p:cNvPr id="16" name="Text 13"/>
          <p:cNvSpPr txBox="1"/>
          <p:nvPr/>
        </p:nvSpPr>
        <p:spPr>
          <a:xfrm>
            <a:off x="3429000" y="1819656"/>
            <a:ext cx="859536" cy="320040"/>
          </a:xfrm>
          <a:prstGeom prst="rect">
            <a:avLst/>
          </a:prstGeom>
          <a:noFill/>
          <a:ln/>
        </p:spPr>
        <p:txBody>
          <a:bodyPr wrap="square" lIns="0" tIns="0" rIns="0" bIns="0" rtlCol="0" anchor="ctr"/>
          <a:lstStyle/>
          <a:p>
            <a:pPr marL="0" indent="0">
              <a:buNone/>
            </a:pPr>
            <a:r>
              <a:rPr lang="en-US" sz="1300" b="1" dirty="0">
                <a:solidFill>
                  <a:srgbClr val="004C97"/>
                </a:solidFill>
                <a:latin typeface="Poppins SemiBold" pitchFamily="34" charset="0"/>
                <a:ea typeface="Poppins SemiBold" pitchFamily="34" charset="-122"/>
                <a:cs typeface="Poppins SemiBold" pitchFamily="34" charset="-120"/>
              </a:rPr>
              <a:t>Act</a:t>
            </a:r>
            <a:endParaRPr lang="en-US" sz="1300" dirty="0"/>
          </a:p>
        </p:txBody>
      </p:sp>
      <p:sp>
        <p:nvSpPr>
          <p:cNvPr id="17" name="Text 14"/>
          <p:cNvSpPr txBox="1"/>
          <p:nvPr/>
        </p:nvSpPr>
        <p:spPr>
          <a:xfrm>
            <a:off x="2953512" y="2221992"/>
            <a:ext cx="1298448" cy="310896"/>
          </a:xfrm>
          <a:prstGeom prst="rect">
            <a:avLst/>
          </a:prstGeom>
          <a:noFill/>
          <a:ln/>
        </p:spPr>
        <p:txBody>
          <a:bodyPr wrap="square" lIns="0" tIns="0" rIns="0" bIns="0" rtlCol="0" anchor="t"/>
          <a:lstStyle/>
          <a:p>
            <a:pPr marL="0" indent="0">
              <a:lnSpc>
                <a:spcPct val="112000"/>
              </a:lnSpc>
              <a:buNone/>
            </a:pPr>
            <a:r>
              <a:rPr lang="en-US" sz="830" dirty="0">
                <a:solidFill>
                  <a:srgbClr val="3B3D3E"/>
                </a:solidFill>
                <a:latin typeface="PT Sans" pitchFamily="34" charset="0"/>
                <a:ea typeface="PT Sans" pitchFamily="34" charset="-122"/>
                <a:cs typeface="PT Sans" pitchFamily="34" charset="-120"/>
              </a:rPr>
              <a:t>Use tools and APIs to execute the plan.</a:t>
            </a:r>
            <a:endParaRPr lang="en-US" sz="830" dirty="0"/>
          </a:p>
        </p:txBody>
      </p:sp>
      <p:sp>
        <p:nvSpPr>
          <p:cNvPr id="18" name="Shape 15"/>
          <p:cNvSpPr/>
          <p:nvPr/>
        </p:nvSpPr>
        <p:spPr>
          <a:xfrm>
            <a:off x="4379976" y="2125980"/>
            <a:ext cx="384048" cy="0"/>
          </a:xfrm>
          <a:prstGeom prst="line">
            <a:avLst/>
          </a:prstGeom>
          <a:noFill/>
          <a:ln w="25400">
            <a:solidFill>
              <a:srgbClr val="00A3E0"/>
            </a:solidFill>
            <a:prstDash val="solid"/>
            <a:tailEnd type="triangle"/>
          </a:ln>
        </p:spPr>
        <p:txBody>
          <a:bodyPr/>
          <a:lstStyle/>
          <a:p>
            <a:endParaRPr lang="en-IN"/>
          </a:p>
        </p:txBody>
      </p:sp>
      <p:sp>
        <p:nvSpPr>
          <p:cNvPr id="19" name="Shape 16"/>
          <p:cNvSpPr/>
          <p:nvPr/>
        </p:nvSpPr>
        <p:spPr>
          <a:xfrm>
            <a:off x="4764024" y="1691640"/>
            <a:ext cx="1554480" cy="868680"/>
          </a:xfrm>
          <a:prstGeom prst="roundRect">
            <a:avLst>
              <a:gd name="adj" fmla="val 6316"/>
            </a:avLst>
          </a:prstGeom>
          <a:solidFill>
            <a:srgbClr val="F8FAFC"/>
          </a:solidFill>
          <a:ln w="9525">
            <a:solidFill>
              <a:srgbClr val="E2E8F0"/>
            </a:solidFill>
            <a:prstDash val="solid"/>
          </a:ln>
        </p:spPr>
        <p:txBody>
          <a:bodyPr/>
          <a:lstStyle/>
          <a:p>
            <a:endParaRPr lang="en-IN"/>
          </a:p>
        </p:txBody>
      </p:sp>
      <p:sp>
        <p:nvSpPr>
          <p:cNvPr id="20" name="Shape 17"/>
          <p:cNvSpPr/>
          <p:nvPr/>
        </p:nvSpPr>
        <p:spPr>
          <a:xfrm>
            <a:off x="4892040" y="1837944"/>
            <a:ext cx="384048" cy="384048"/>
          </a:xfrm>
          <a:prstGeom prst="ellipse">
            <a:avLst/>
          </a:prstGeom>
          <a:solidFill>
            <a:srgbClr val="004C97"/>
          </a:solidFill>
          <a:ln/>
        </p:spPr>
        <p:txBody>
          <a:bodyPr/>
          <a:lstStyle/>
          <a:p>
            <a:endParaRPr lang="en-IN"/>
          </a:p>
        </p:txBody>
      </p:sp>
      <p:sp>
        <p:nvSpPr>
          <p:cNvPr id="21" name="Text 18"/>
          <p:cNvSpPr txBox="1"/>
          <p:nvPr/>
        </p:nvSpPr>
        <p:spPr>
          <a:xfrm>
            <a:off x="4892040" y="183794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SemiBold" pitchFamily="34" charset="0"/>
                <a:ea typeface="Poppins SemiBold" pitchFamily="34" charset="-122"/>
                <a:cs typeface="Poppins SemiBold" pitchFamily="34" charset="-120"/>
              </a:rPr>
              <a:t>3</a:t>
            </a:r>
            <a:endParaRPr lang="en-US" sz="1100" dirty="0"/>
          </a:p>
        </p:txBody>
      </p:sp>
      <p:sp>
        <p:nvSpPr>
          <p:cNvPr id="22" name="Text 19"/>
          <p:cNvSpPr txBox="1"/>
          <p:nvPr/>
        </p:nvSpPr>
        <p:spPr>
          <a:xfrm>
            <a:off x="5367528" y="1819656"/>
            <a:ext cx="859536" cy="320040"/>
          </a:xfrm>
          <a:prstGeom prst="rect">
            <a:avLst/>
          </a:prstGeom>
          <a:noFill/>
          <a:ln/>
        </p:spPr>
        <p:txBody>
          <a:bodyPr wrap="square" lIns="0" tIns="0" rIns="0" bIns="0" rtlCol="0" anchor="ctr"/>
          <a:lstStyle/>
          <a:p>
            <a:pPr marL="0" indent="0">
              <a:buNone/>
            </a:pPr>
            <a:r>
              <a:rPr lang="en-US" sz="1300" b="1" dirty="0">
                <a:solidFill>
                  <a:srgbClr val="004C97"/>
                </a:solidFill>
                <a:latin typeface="Poppins SemiBold" pitchFamily="34" charset="0"/>
                <a:ea typeface="Poppins SemiBold" pitchFamily="34" charset="-122"/>
                <a:cs typeface="Poppins SemiBold" pitchFamily="34" charset="-120"/>
              </a:rPr>
              <a:t>Observe</a:t>
            </a:r>
            <a:endParaRPr lang="en-US" sz="1300" dirty="0"/>
          </a:p>
        </p:txBody>
      </p:sp>
      <p:sp>
        <p:nvSpPr>
          <p:cNvPr id="23" name="Text 20"/>
          <p:cNvSpPr txBox="1"/>
          <p:nvPr/>
        </p:nvSpPr>
        <p:spPr>
          <a:xfrm>
            <a:off x="4892040" y="2221992"/>
            <a:ext cx="1298448" cy="310896"/>
          </a:xfrm>
          <a:prstGeom prst="rect">
            <a:avLst/>
          </a:prstGeom>
          <a:noFill/>
          <a:ln/>
        </p:spPr>
        <p:txBody>
          <a:bodyPr wrap="square" lIns="0" tIns="0" rIns="0" bIns="0" rtlCol="0" anchor="t"/>
          <a:lstStyle/>
          <a:p>
            <a:pPr marL="0" indent="0">
              <a:lnSpc>
                <a:spcPct val="112000"/>
              </a:lnSpc>
              <a:buNone/>
            </a:pPr>
            <a:r>
              <a:rPr lang="en-US" sz="830" dirty="0">
                <a:solidFill>
                  <a:srgbClr val="3B3D3E"/>
                </a:solidFill>
                <a:latin typeface="PT Sans" pitchFamily="34" charset="0"/>
                <a:ea typeface="PT Sans" pitchFamily="34" charset="-122"/>
                <a:cs typeface="PT Sans" pitchFamily="34" charset="-120"/>
              </a:rPr>
              <a:t>Collect the results and feedback.</a:t>
            </a:r>
            <a:endParaRPr lang="en-US" sz="830" dirty="0"/>
          </a:p>
        </p:txBody>
      </p:sp>
      <p:sp>
        <p:nvSpPr>
          <p:cNvPr id="24" name="Shape 21"/>
          <p:cNvSpPr/>
          <p:nvPr/>
        </p:nvSpPr>
        <p:spPr>
          <a:xfrm>
            <a:off x="6318504" y="2125980"/>
            <a:ext cx="384048" cy="0"/>
          </a:xfrm>
          <a:prstGeom prst="line">
            <a:avLst/>
          </a:prstGeom>
          <a:noFill/>
          <a:ln w="25400">
            <a:solidFill>
              <a:srgbClr val="00A3E0"/>
            </a:solidFill>
            <a:prstDash val="solid"/>
            <a:tailEnd type="triangle"/>
          </a:ln>
        </p:spPr>
        <p:txBody>
          <a:bodyPr/>
          <a:lstStyle/>
          <a:p>
            <a:endParaRPr lang="en-IN"/>
          </a:p>
        </p:txBody>
      </p:sp>
      <p:sp>
        <p:nvSpPr>
          <p:cNvPr id="25" name="Shape 22"/>
          <p:cNvSpPr/>
          <p:nvPr/>
        </p:nvSpPr>
        <p:spPr>
          <a:xfrm>
            <a:off x="6702552" y="1691640"/>
            <a:ext cx="1554480" cy="868680"/>
          </a:xfrm>
          <a:prstGeom prst="roundRect">
            <a:avLst>
              <a:gd name="adj" fmla="val 6316"/>
            </a:avLst>
          </a:prstGeom>
          <a:solidFill>
            <a:srgbClr val="F8FAFC"/>
          </a:solidFill>
          <a:ln w="9525">
            <a:solidFill>
              <a:srgbClr val="E2E8F0"/>
            </a:solidFill>
            <a:prstDash val="solid"/>
          </a:ln>
        </p:spPr>
        <p:txBody>
          <a:bodyPr/>
          <a:lstStyle/>
          <a:p>
            <a:endParaRPr lang="en-IN"/>
          </a:p>
        </p:txBody>
      </p:sp>
      <p:sp>
        <p:nvSpPr>
          <p:cNvPr id="26" name="Shape 23"/>
          <p:cNvSpPr/>
          <p:nvPr/>
        </p:nvSpPr>
        <p:spPr>
          <a:xfrm>
            <a:off x="6830568" y="1837944"/>
            <a:ext cx="384048" cy="384048"/>
          </a:xfrm>
          <a:prstGeom prst="ellipse">
            <a:avLst/>
          </a:prstGeom>
          <a:solidFill>
            <a:srgbClr val="004C97"/>
          </a:solidFill>
          <a:ln/>
        </p:spPr>
        <p:txBody>
          <a:bodyPr/>
          <a:lstStyle/>
          <a:p>
            <a:endParaRPr lang="en-IN"/>
          </a:p>
        </p:txBody>
      </p:sp>
      <p:sp>
        <p:nvSpPr>
          <p:cNvPr id="27" name="Text 24"/>
          <p:cNvSpPr txBox="1"/>
          <p:nvPr/>
        </p:nvSpPr>
        <p:spPr>
          <a:xfrm>
            <a:off x="6830568" y="183794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SemiBold" pitchFamily="34" charset="0"/>
                <a:ea typeface="Poppins SemiBold" pitchFamily="34" charset="-122"/>
                <a:cs typeface="Poppins SemiBold" pitchFamily="34" charset="-120"/>
              </a:rPr>
              <a:t>4</a:t>
            </a:r>
            <a:endParaRPr lang="en-US" sz="1100" dirty="0"/>
          </a:p>
        </p:txBody>
      </p:sp>
      <p:sp>
        <p:nvSpPr>
          <p:cNvPr id="28" name="Text 25"/>
          <p:cNvSpPr txBox="1"/>
          <p:nvPr/>
        </p:nvSpPr>
        <p:spPr>
          <a:xfrm>
            <a:off x="7306056" y="1819656"/>
            <a:ext cx="859536" cy="320040"/>
          </a:xfrm>
          <a:prstGeom prst="rect">
            <a:avLst/>
          </a:prstGeom>
          <a:noFill/>
          <a:ln/>
        </p:spPr>
        <p:txBody>
          <a:bodyPr wrap="square" lIns="0" tIns="0" rIns="0" bIns="0" rtlCol="0" anchor="ctr"/>
          <a:lstStyle/>
          <a:p>
            <a:pPr marL="0" indent="0">
              <a:buNone/>
            </a:pPr>
            <a:r>
              <a:rPr lang="en-US" sz="1300" b="1" dirty="0">
                <a:solidFill>
                  <a:srgbClr val="004C97"/>
                </a:solidFill>
                <a:latin typeface="Poppins SemiBold" pitchFamily="34" charset="0"/>
                <a:ea typeface="Poppins SemiBold" pitchFamily="34" charset="-122"/>
                <a:cs typeface="Poppins SemiBold" pitchFamily="34" charset="-120"/>
              </a:rPr>
              <a:t>Reflect</a:t>
            </a:r>
            <a:endParaRPr lang="en-US" sz="1300" dirty="0"/>
          </a:p>
        </p:txBody>
      </p:sp>
      <p:sp>
        <p:nvSpPr>
          <p:cNvPr id="29" name="Text 26"/>
          <p:cNvSpPr txBox="1"/>
          <p:nvPr/>
        </p:nvSpPr>
        <p:spPr>
          <a:xfrm>
            <a:off x="6830568" y="2221992"/>
            <a:ext cx="1298448" cy="310896"/>
          </a:xfrm>
          <a:prstGeom prst="rect">
            <a:avLst/>
          </a:prstGeom>
          <a:noFill/>
          <a:ln/>
        </p:spPr>
        <p:txBody>
          <a:bodyPr wrap="square" lIns="0" tIns="0" rIns="0" bIns="0" rtlCol="0" anchor="t"/>
          <a:lstStyle/>
          <a:p>
            <a:pPr marL="0" indent="0">
              <a:lnSpc>
                <a:spcPct val="112000"/>
              </a:lnSpc>
              <a:buNone/>
            </a:pPr>
            <a:r>
              <a:rPr lang="en-US" sz="830" dirty="0">
                <a:solidFill>
                  <a:srgbClr val="3B3D3E"/>
                </a:solidFill>
                <a:latin typeface="PT Sans" pitchFamily="34" charset="0"/>
                <a:ea typeface="PT Sans" pitchFamily="34" charset="-122"/>
                <a:cs typeface="PT Sans" pitchFamily="34" charset="-120"/>
              </a:rPr>
              <a:t>Assess the outcome, re-plan if needed.</a:t>
            </a:r>
            <a:endParaRPr lang="en-US" sz="830" dirty="0"/>
          </a:p>
        </p:txBody>
      </p:sp>
      <p:sp>
        <p:nvSpPr>
          <p:cNvPr id="30" name="Shape 27"/>
          <p:cNvSpPr/>
          <p:nvPr/>
        </p:nvSpPr>
        <p:spPr>
          <a:xfrm>
            <a:off x="7479792" y="2560320"/>
            <a:ext cx="0" cy="502920"/>
          </a:xfrm>
          <a:prstGeom prst="line">
            <a:avLst/>
          </a:prstGeom>
          <a:noFill/>
          <a:ln w="19050">
            <a:solidFill>
              <a:srgbClr val="9AA39D"/>
            </a:solidFill>
            <a:prstDash val="solid"/>
          </a:ln>
        </p:spPr>
        <p:txBody>
          <a:bodyPr/>
          <a:lstStyle/>
          <a:p>
            <a:endParaRPr lang="en-IN"/>
          </a:p>
        </p:txBody>
      </p:sp>
      <p:sp>
        <p:nvSpPr>
          <p:cNvPr id="31" name="Shape 28"/>
          <p:cNvSpPr/>
          <p:nvPr/>
        </p:nvSpPr>
        <p:spPr>
          <a:xfrm>
            <a:off x="1664208" y="3063240"/>
            <a:ext cx="5815584" cy="0"/>
          </a:xfrm>
          <a:prstGeom prst="line">
            <a:avLst/>
          </a:prstGeom>
          <a:noFill/>
          <a:ln w="19050">
            <a:solidFill>
              <a:srgbClr val="9AA39D"/>
            </a:solidFill>
            <a:prstDash val="solid"/>
          </a:ln>
        </p:spPr>
        <p:txBody>
          <a:bodyPr/>
          <a:lstStyle/>
          <a:p>
            <a:endParaRPr lang="en-IN"/>
          </a:p>
        </p:txBody>
      </p:sp>
      <p:sp>
        <p:nvSpPr>
          <p:cNvPr id="32" name="Shape 29"/>
          <p:cNvSpPr/>
          <p:nvPr/>
        </p:nvSpPr>
        <p:spPr>
          <a:xfrm flipV="1">
            <a:off x="1664208" y="2560320"/>
            <a:ext cx="0" cy="502920"/>
          </a:xfrm>
          <a:prstGeom prst="line">
            <a:avLst/>
          </a:prstGeom>
          <a:noFill/>
          <a:ln w="19050">
            <a:solidFill>
              <a:srgbClr val="9AA39D"/>
            </a:solidFill>
            <a:prstDash val="solid"/>
            <a:tailEnd type="triangle"/>
          </a:ln>
        </p:spPr>
        <p:txBody>
          <a:bodyPr/>
          <a:lstStyle/>
          <a:p>
            <a:endParaRPr lang="en-IN"/>
          </a:p>
        </p:txBody>
      </p:sp>
      <p:sp>
        <p:nvSpPr>
          <p:cNvPr id="33" name="Text 30"/>
          <p:cNvSpPr txBox="1"/>
          <p:nvPr/>
        </p:nvSpPr>
        <p:spPr>
          <a:xfrm>
            <a:off x="886968" y="3118104"/>
            <a:ext cx="7370064" cy="237744"/>
          </a:xfrm>
          <a:prstGeom prst="rect">
            <a:avLst/>
          </a:prstGeom>
          <a:noFill/>
          <a:ln/>
        </p:spPr>
        <p:txBody>
          <a:bodyPr wrap="square" lIns="0" tIns="0" rIns="0" bIns="0" rtlCol="0" anchor="ctr"/>
          <a:lstStyle/>
          <a:p>
            <a:pPr marL="0" indent="0" algn="ctr">
              <a:buNone/>
            </a:pPr>
            <a:r>
              <a:rPr lang="en-US" sz="850" i="1" dirty="0">
                <a:solidFill>
                  <a:srgbClr val="9AA39D"/>
                </a:solidFill>
                <a:latin typeface="PT Sans" pitchFamily="34" charset="0"/>
                <a:ea typeface="PT Sans" pitchFamily="34" charset="-122"/>
                <a:cs typeface="PT Sans" pitchFamily="34" charset="-120"/>
              </a:rPr>
              <a:t>re-plan if the outcome isn't good enough</a:t>
            </a:r>
            <a:endParaRPr lang="en-US" sz="850" dirty="0"/>
          </a:p>
        </p:txBody>
      </p:sp>
      <p:sp>
        <p:nvSpPr>
          <p:cNvPr id="34" name="Text 31"/>
          <p:cNvSpPr txBox="1"/>
          <p:nvPr/>
        </p:nvSpPr>
        <p:spPr>
          <a:xfrm>
            <a:off x="449885" y="4329684"/>
            <a:ext cx="8244230" cy="340157"/>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This loop runs underneath every agentic framework you'll meet today — n8n included. What differs between frameworks is only how much of it they expose to you, and how much you have to wire yourself.</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1  •  LIVE IN N8N</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Watch It Decide</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449885" y="1234440"/>
            <a:ext cx="8244230" cy="914400"/>
          </a:xfrm>
          <a:prstGeom prst="roundRect">
            <a:avLst>
              <a:gd name="adj" fmla="val 6000"/>
            </a:avLst>
          </a:prstGeom>
          <a:solidFill>
            <a:srgbClr val="004C97"/>
          </a:solidFill>
          <a:ln w="9525">
            <a:solidFill>
              <a:srgbClr val="004C97"/>
            </a:solidFill>
            <a:prstDash val="solid"/>
          </a:ln>
        </p:spPr>
        <p:txBody>
          <a:bodyPr/>
          <a:lstStyle/>
          <a:p>
            <a:endParaRPr lang="en-IN"/>
          </a:p>
        </p:txBody>
      </p:sp>
      <p:sp>
        <p:nvSpPr>
          <p:cNvPr id="8" name="Text 5"/>
          <p:cNvSpPr txBox="1"/>
          <p:nvPr/>
        </p:nvSpPr>
        <p:spPr>
          <a:xfrm>
            <a:off x="724205" y="1234440"/>
            <a:ext cx="7695590" cy="914400"/>
          </a:xfrm>
          <a:prstGeom prst="rect">
            <a:avLst/>
          </a:prstGeom>
          <a:noFill/>
          <a:ln/>
        </p:spPr>
        <p:txBody>
          <a:bodyPr wrap="square" lIns="0" tIns="0" rIns="0" bIns="0" rtlCol="0" anchor="ctr"/>
          <a:lstStyle/>
          <a:p>
            <a:pPr marL="0" indent="0" algn="ctr">
              <a:buNone/>
            </a:pPr>
            <a:r>
              <a:rPr lang="en-US" sz="1500" b="1" i="1" dirty="0">
                <a:solidFill>
                  <a:srgbClr val="FFFFFF"/>
                </a:solidFill>
                <a:latin typeface="Poppins SemiBold" pitchFamily="34" charset="0"/>
                <a:ea typeface="Poppins SemiBold" pitchFamily="34" charset="-122"/>
                <a:cs typeface="Poppins SemiBold" pitchFamily="34" charset="-120"/>
              </a:rPr>
              <a:t>“What is the price of 13 grams of 22-carat gold in Bangalore?”</a:t>
            </a:r>
            <a:endParaRPr lang="en-US" sz="1500" dirty="0"/>
          </a:p>
        </p:txBody>
      </p:sp>
      <p:sp>
        <p:nvSpPr>
          <p:cNvPr id="9" name="Text 6"/>
          <p:cNvSpPr txBox="1"/>
          <p:nvPr/>
        </p:nvSpPr>
        <p:spPr>
          <a:xfrm>
            <a:off x="449885" y="2331720"/>
            <a:ext cx="8244230" cy="457200"/>
          </a:xfrm>
          <a:prstGeom prst="rect">
            <a:avLst/>
          </a:prstGeom>
          <a:noFill/>
          <a:ln/>
        </p:spPr>
        <p:txBody>
          <a:bodyPr wrap="square" lIns="0" tIns="0" rIns="0" bIns="0" rtlCol="0" anchor="ctr"/>
          <a:lstStyle/>
          <a:p>
            <a:pPr marL="0" indent="0">
              <a:lnSpc>
                <a:spcPct val="125000"/>
              </a:lnSpc>
              <a:buNone/>
            </a:pPr>
            <a:r>
              <a:rPr lang="en-US" sz="1200" dirty="0">
                <a:solidFill>
                  <a:srgbClr val="3B3D3E"/>
                </a:solidFill>
                <a:latin typeface="PT Sans" pitchFamily="34" charset="0"/>
                <a:ea typeface="PT Sans" pitchFamily="34" charset="-122"/>
                <a:cs typeface="PT Sans" pitchFamily="34" charset="-120"/>
              </a:rPr>
              <a:t>One chat node. One agent node. Two tools — a calculator and Tavily search. Nothing tells it which one to use, or how many times.</a:t>
            </a:r>
            <a:endParaRPr lang="en-US" sz="1200" dirty="0"/>
          </a:p>
        </p:txBody>
      </p:sp>
      <p:sp>
        <p:nvSpPr>
          <p:cNvPr id="10" name="Shape 7"/>
          <p:cNvSpPr/>
          <p:nvPr/>
        </p:nvSpPr>
        <p:spPr>
          <a:xfrm>
            <a:off x="449885" y="2971800"/>
            <a:ext cx="2656637" cy="1234440"/>
          </a:xfrm>
          <a:prstGeom prst="roundRect">
            <a:avLst>
              <a:gd name="adj" fmla="val 4444"/>
            </a:avLst>
          </a:prstGeom>
          <a:solidFill>
            <a:srgbClr val="FFFFFF"/>
          </a:solidFill>
          <a:ln w="9525">
            <a:solidFill>
              <a:srgbClr val="E2E8F0"/>
            </a:solidFill>
            <a:prstDash val="solid"/>
          </a:ln>
        </p:spPr>
        <p:txBody>
          <a:bodyPr/>
          <a:lstStyle/>
          <a:p>
            <a:endParaRPr lang="en-IN"/>
          </a:p>
        </p:txBody>
      </p:sp>
      <p:sp>
        <p:nvSpPr>
          <p:cNvPr id="11" name="Text 8"/>
          <p:cNvSpPr txBox="1"/>
          <p:nvPr/>
        </p:nvSpPr>
        <p:spPr>
          <a:xfrm>
            <a:off x="596189" y="3108960"/>
            <a:ext cx="2364029" cy="274320"/>
          </a:xfrm>
          <a:prstGeom prst="rect">
            <a:avLst/>
          </a:prstGeom>
          <a:noFill/>
          <a:ln/>
        </p:spPr>
        <p:txBody>
          <a:bodyPr wrap="square" lIns="0" tIns="0" rIns="0" bIns="0" rtlCol="0" anchor="ctr"/>
          <a:lstStyle/>
          <a:p>
            <a:pPr marL="0" indent="0">
              <a:buNone/>
            </a:pPr>
            <a:r>
              <a:rPr lang="en-US" sz="1150" b="1" dirty="0">
                <a:solidFill>
                  <a:srgbClr val="004C97"/>
                </a:solidFill>
                <a:latin typeface="Poppins SemiBold" pitchFamily="34" charset="0"/>
                <a:ea typeface="Poppins SemiBold" pitchFamily="34" charset="-122"/>
                <a:cs typeface="Poppins SemiBold" pitchFamily="34" charset="-120"/>
              </a:rPr>
              <a:t>Watch the choice</a:t>
            </a:r>
            <a:endParaRPr lang="en-US" sz="1150" dirty="0"/>
          </a:p>
        </p:txBody>
      </p:sp>
      <p:sp>
        <p:nvSpPr>
          <p:cNvPr id="12" name="Text 9"/>
          <p:cNvSpPr txBox="1"/>
          <p:nvPr/>
        </p:nvSpPr>
        <p:spPr>
          <a:xfrm>
            <a:off x="596189" y="3401568"/>
            <a:ext cx="2364029" cy="777240"/>
          </a:xfrm>
          <a:prstGeom prst="rect">
            <a:avLst/>
          </a:prstGeom>
          <a:noFill/>
          <a:ln/>
        </p:spPr>
        <p:txBody>
          <a:bodyPr wrap="square" lIns="0" tIns="0" rIns="0" bIns="0" rtlCol="0" anchor="t"/>
          <a:lstStyle/>
          <a:p>
            <a:pPr marL="0" indent="0">
              <a:lnSpc>
                <a:spcPct val="120000"/>
              </a:lnSpc>
              <a:buNone/>
            </a:pPr>
            <a:r>
              <a:rPr lang="en-US" sz="930" dirty="0">
                <a:solidFill>
                  <a:srgbClr val="3B3D3E"/>
                </a:solidFill>
                <a:latin typeface="PT Sans" pitchFamily="34" charset="0"/>
                <a:ea typeface="PT Sans" pitchFamily="34" charset="-122"/>
                <a:cs typeface="PT Sans" pitchFamily="34" charset="-120"/>
              </a:rPr>
              <a:t>Does it search first, or calculate first? It has to find today's gold rate before the arithmetic means anything.</a:t>
            </a:r>
            <a:endParaRPr lang="en-US" sz="930" dirty="0"/>
          </a:p>
        </p:txBody>
      </p:sp>
      <p:sp>
        <p:nvSpPr>
          <p:cNvPr id="13" name="Shape 10"/>
          <p:cNvSpPr/>
          <p:nvPr/>
        </p:nvSpPr>
        <p:spPr>
          <a:xfrm>
            <a:off x="3243682" y="2971800"/>
            <a:ext cx="2656637" cy="1234440"/>
          </a:xfrm>
          <a:prstGeom prst="roundRect">
            <a:avLst>
              <a:gd name="adj" fmla="val 4444"/>
            </a:avLst>
          </a:prstGeom>
          <a:solidFill>
            <a:srgbClr val="FFFFFF"/>
          </a:solidFill>
          <a:ln w="9525">
            <a:solidFill>
              <a:srgbClr val="E2E8F0"/>
            </a:solidFill>
            <a:prstDash val="solid"/>
          </a:ln>
        </p:spPr>
        <p:txBody>
          <a:bodyPr/>
          <a:lstStyle/>
          <a:p>
            <a:endParaRPr lang="en-IN"/>
          </a:p>
        </p:txBody>
      </p:sp>
      <p:sp>
        <p:nvSpPr>
          <p:cNvPr id="14" name="Text 11"/>
          <p:cNvSpPr txBox="1"/>
          <p:nvPr/>
        </p:nvSpPr>
        <p:spPr>
          <a:xfrm>
            <a:off x="3389986" y="3108960"/>
            <a:ext cx="2364029" cy="274320"/>
          </a:xfrm>
          <a:prstGeom prst="rect">
            <a:avLst/>
          </a:prstGeom>
          <a:noFill/>
          <a:ln/>
        </p:spPr>
        <p:txBody>
          <a:bodyPr wrap="square" lIns="0" tIns="0" rIns="0" bIns="0" rtlCol="0" anchor="ctr"/>
          <a:lstStyle/>
          <a:p>
            <a:pPr marL="0" indent="0">
              <a:buNone/>
            </a:pPr>
            <a:r>
              <a:rPr lang="en-US" sz="1150" b="1" dirty="0">
                <a:solidFill>
                  <a:srgbClr val="004C97"/>
                </a:solidFill>
                <a:latin typeface="Poppins SemiBold" pitchFamily="34" charset="0"/>
                <a:ea typeface="Poppins SemiBold" pitchFamily="34" charset="-122"/>
                <a:cs typeface="Poppins SemiBold" pitchFamily="34" charset="-120"/>
              </a:rPr>
              <a:t>Watch the count</a:t>
            </a:r>
            <a:endParaRPr lang="en-US" sz="1150" dirty="0"/>
          </a:p>
        </p:txBody>
      </p:sp>
      <p:sp>
        <p:nvSpPr>
          <p:cNvPr id="15" name="Text 12"/>
          <p:cNvSpPr txBox="1"/>
          <p:nvPr/>
        </p:nvSpPr>
        <p:spPr>
          <a:xfrm>
            <a:off x="3389986" y="3401568"/>
            <a:ext cx="2364029" cy="777240"/>
          </a:xfrm>
          <a:prstGeom prst="rect">
            <a:avLst/>
          </a:prstGeom>
          <a:noFill/>
          <a:ln/>
        </p:spPr>
        <p:txBody>
          <a:bodyPr wrap="square" lIns="0" tIns="0" rIns="0" bIns="0" rtlCol="0" anchor="t"/>
          <a:lstStyle/>
          <a:p>
            <a:pPr marL="0" indent="0">
              <a:lnSpc>
                <a:spcPct val="120000"/>
              </a:lnSpc>
              <a:buNone/>
            </a:pPr>
            <a:r>
              <a:rPr lang="en-US" sz="930" dirty="0">
                <a:solidFill>
                  <a:srgbClr val="3B3D3E"/>
                </a:solidFill>
                <a:latin typeface="PT Sans" pitchFamily="34" charset="0"/>
                <a:ea typeface="PT Sans" pitchFamily="34" charset="-122"/>
                <a:cs typeface="PT Sans" pitchFamily="34" charset="-120"/>
              </a:rPr>
              <a:t>How many times does it call a tool before it answers? That number is the plan, made visible.</a:t>
            </a:r>
            <a:endParaRPr lang="en-US" sz="930" dirty="0"/>
          </a:p>
        </p:txBody>
      </p:sp>
      <p:sp>
        <p:nvSpPr>
          <p:cNvPr id="16" name="Shape 13"/>
          <p:cNvSpPr/>
          <p:nvPr/>
        </p:nvSpPr>
        <p:spPr>
          <a:xfrm>
            <a:off x="6037478" y="2971800"/>
            <a:ext cx="2656637" cy="1234440"/>
          </a:xfrm>
          <a:prstGeom prst="roundRect">
            <a:avLst>
              <a:gd name="adj" fmla="val 4444"/>
            </a:avLst>
          </a:prstGeom>
          <a:solidFill>
            <a:srgbClr val="FFFFFF"/>
          </a:solidFill>
          <a:ln w="9525">
            <a:solidFill>
              <a:srgbClr val="E2E8F0"/>
            </a:solidFill>
            <a:prstDash val="solid"/>
          </a:ln>
        </p:spPr>
        <p:txBody>
          <a:bodyPr/>
          <a:lstStyle/>
          <a:p>
            <a:endParaRPr lang="en-IN"/>
          </a:p>
        </p:txBody>
      </p:sp>
      <p:sp>
        <p:nvSpPr>
          <p:cNvPr id="17" name="Text 14"/>
          <p:cNvSpPr txBox="1"/>
          <p:nvPr/>
        </p:nvSpPr>
        <p:spPr>
          <a:xfrm>
            <a:off x="6183782" y="3108960"/>
            <a:ext cx="2364029" cy="274320"/>
          </a:xfrm>
          <a:prstGeom prst="rect">
            <a:avLst/>
          </a:prstGeom>
          <a:noFill/>
          <a:ln/>
        </p:spPr>
        <p:txBody>
          <a:bodyPr wrap="square" lIns="0" tIns="0" rIns="0" bIns="0" rtlCol="0" anchor="ctr"/>
          <a:lstStyle/>
          <a:p>
            <a:pPr marL="0" indent="0">
              <a:buNone/>
            </a:pPr>
            <a:r>
              <a:rPr lang="en-US" sz="1150" b="1" dirty="0">
                <a:solidFill>
                  <a:srgbClr val="004C97"/>
                </a:solidFill>
                <a:latin typeface="Poppins SemiBold" pitchFamily="34" charset="0"/>
                <a:ea typeface="Poppins SemiBold" pitchFamily="34" charset="-122"/>
                <a:cs typeface="Poppins SemiBold" pitchFamily="34" charset="-120"/>
              </a:rPr>
              <a:t>Watch it stop</a:t>
            </a:r>
            <a:endParaRPr lang="en-US" sz="1150" dirty="0"/>
          </a:p>
        </p:txBody>
      </p:sp>
      <p:sp>
        <p:nvSpPr>
          <p:cNvPr id="18" name="Text 15"/>
          <p:cNvSpPr txBox="1"/>
          <p:nvPr/>
        </p:nvSpPr>
        <p:spPr>
          <a:xfrm>
            <a:off x="6183782" y="3401568"/>
            <a:ext cx="2364029" cy="777240"/>
          </a:xfrm>
          <a:prstGeom prst="rect">
            <a:avLst/>
          </a:prstGeom>
          <a:noFill/>
          <a:ln/>
        </p:spPr>
        <p:txBody>
          <a:bodyPr wrap="square" lIns="0" tIns="0" rIns="0" bIns="0" rtlCol="0" anchor="t"/>
          <a:lstStyle/>
          <a:p>
            <a:pPr marL="0" indent="0">
              <a:lnSpc>
                <a:spcPct val="120000"/>
              </a:lnSpc>
              <a:buNone/>
            </a:pPr>
            <a:r>
              <a:rPr lang="en-US" sz="930" dirty="0">
                <a:solidFill>
                  <a:srgbClr val="3B3D3E"/>
                </a:solidFill>
                <a:latin typeface="PT Sans" pitchFamily="34" charset="0"/>
                <a:ea typeface="PT Sans" pitchFamily="34" charset="-122"/>
                <a:cs typeface="PT Sans" pitchFamily="34" charset="-120"/>
              </a:rPr>
              <a:t>It decides for itself when it has enough to answer — nobody hardcoded a stopping point.</a:t>
            </a:r>
            <a:endParaRPr lang="en-US" sz="9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1  •  WHAT AN AGENT ACTUALLY IS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Single vs. Multi-Agent Systems</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449885" y="1371600"/>
            <a:ext cx="2656637" cy="1737360"/>
          </a:xfrm>
          <a:prstGeom prst="roundRect">
            <a:avLst>
              <a:gd name="adj" fmla="val 3158"/>
            </a:avLst>
          </a:prstGeom>
          <a:solidFill>
            <a:srgbClr val="FFFFFF"/>
          </a:solidFill>
          <a:ln w="9525">
            <a:solidFill>
              <a:srgbClr val="E2E8F0"/>
            </a:solidFill>
            <a:prstDash val="solid"/>
          </a:ln>
        </p:spPr>
        <p:txBody>
          <a:bodyPr/>
          <a:lstStyle/>
          <a:p>
            <a:endParaRPr lang="en-IN"/>
          </a:p>
        </p:txBody>
      </p:sp>
      <p:sp>
        <p:nvSpPr>
          <p:cNvPr id="8" name="Text 5"/>
          <p:cNvSpPr txBox="1"/>
          <p:nvPr/>
        </p:nvSpPr>
        <p:spPr>
          <a:xfrm>
            <a:off x="614477" y="1536192"/>
            <a:ext cx="2327453" cy="365760"/>
          </a:xfrm>
          <a:prstGeom prst="rect">
            <a:avLst/>
          </a:prstGeom>
          <a:noFill/>
          <a:ln/>
        </p:spPr>
        <p:txBody>
          <a:bodyPr wrap="square" lIns="0" tIns="0" rIns="0" bIns="0" rtlCol="0" anchor="ctr"/>
          <a:lstStyle/>
          <a:p>
            <a:pPr marL="0" indent="0">
              <a:buNone/>
            </a:pPr>
            <a:r>
              <a:rPr lang="en-US" sz="1350" b="1" dirty="0">
                <a:solidFill>
                  <a:srgbClr val="004C97"/>
                </a:solidFill>
                <a:latin typeface="Poppins SemiBold" pitchFamily="34" charset="0"/>
                <a:ea typeface="Poppins SemiBold" pitchFamily="34" charset="-122"/>
                <a:cs typeface="Poppins SemiBold" pitchFamily="34" charset="-120"/>
              </a:rPr>
              <a:t>Single Agent</a:t>
            </a:r>
            <a:endParaRPr lang="en-US" sz="1350" dirty="0"/>
          </a:p>
        </p:txBody>
      </p:sp>
      <p:sp>
        <p:nvSpPr>
          <p:cNvPr id="9" name="Text 6"/>
          <p:cNvSpPr txBox="1"/>
          <p:nvPr/>
        </p:nvSpPr>
        <p:spPr>
          <a:xfrm>
            <a:off x="614477" y="1965960"/>
            <a:ext cx="2327453" cy="1051560"/>
          </a:xfrm>
          <a:prstGeom prst="rect">
            <a:avLst/>
          </a:prstGeom>
          <a:noFill/>
          <a:ln/>
        </p:spPr>
        <p:txBody>
          <a:bodyPr wrap="square" lIns="0" tIns="0" rIns="0" bIns="0" rtlCol="0" anchor="t"/>
          <a:lstStyle/>
          <a:p>
            <a:pPr marL="0" indent="0">
              <a:lnSpc>
                <a:spcPct val="125000"/>
              </a:lnSpc>
              <a:buNone/>
            </a:pPr>
            <a:r>
              <a:rPr lang="en-US" sz="1000" dirty="0">
                <a:solidFill>
                  <a:srgbClr val="3B3D3E"/>
                </a:solidFill>
                <a:latin typeface="PT Sans" pitchFamily="34" charset="0"/>
                <a:ea typeface="PT Sans" pitchFamily="34" charset="-122"/>
                <a:cs typeface="PT Sans" pitchFamily="34" charset="-120"/>
              </a:rPr>
              <a:t>Best for a focused, bounded task — one brain, one loop, one clear job.</a:t>
            </a:r>
            <a:endParaRPr lang="en-US" sz="1000" dirty="0"/>
          </a:p>
        </p:txBody>
      </p:sp>
      <p:sp>
        <p:nvSpPr>
          <p:cNvPr id="10" name="Shape 7"/>
          <p:cNvSpPr/>
          <p:nvPr/>
        </p:nvSpPr>
        <p:spPr>
          <a:xfrm>
            <a:off x="3243682" y="1371600"/>
            <a:ext cx="2656637" cy="1737360"/>
          </a:xfrm>
          <a:prstGeom prst="roundRect">
            <a:avLst>
              <a:gd name="adj" fmla="val 3158"/>
            </a:avLst>
          </a:prstGeom>
          <a:solidFill>
            <a:srgbClr val="FFFFFF"/>
          </a:solidFill>
          <a:ln w="9525">
            <a:solidFill>
              <a:srgbClr val="E2E8F0"/>
            </a:solidFill>
            <a:prstDash val="solid"/>
          </a:ln>
        </p:spPr>
        <p:txBody>
          <a:bodyPr/>
          <a:lstStyle/>
          <a:p>
            <a:endParaRPr lang="en-IN"/>
          </a:p>
        </p:txBody>
      </p:sp>
      <p:sp>
        <p:nvSpPr>
          <p:cNvPr id="11" name="Text 8"/>
          <p:cNvSpPr txBox="1"/>
          <p:nvPr/>
        </p:nvSpPr>
        <p:spPr>
          <a:xfrm>
            <a:off x="3408274" y="1536192"/>
            <a:ext cx="2327453" cy="365760"/>
          </a:xfrm>
          <a:prstGeom prst="rect">
            <a:avLst/>
          </a:prstGeom>
          <a:noFill/>
          <a:ln/>
        </p:spPr>
        <p:txBody>
          <a:bodyPr wrap="square" lIns="0" tIns="0" rIns="0" bIns="0" rtlCol="0" anchor="ctr"/>
          <a:lstStyle/>
          <a:p>
            <a:pPr marL="0" indent="0">
              <a:buNone/>
            </a:pPr>
            <a:r>
              <a:rPr lang="en-US" sz="1350" b="1" dirty="0">
                <a:solidFill>
                  <a:srgbClr val="004C97"/>
                </a:solidFill>
                <a:latin typeface="Poppins SemiBold" pitchFamily="34" charset="0"/>
                <a:ea typeface="Poppins SemiBold" pitchFamily="34" charset="-122"/>
                <a:cs typeface="Poppins SemiBold" pitchFamily="34" charset="-120"/>
              </a:rPr>
              <a:t>Multi-Agent</a:t>
            </a:r>
            <a:endParaRPr lang="en-US" sz="1350" dirty="0"/>
          </a:p>
        </p:txBody>
      </p:sp>
      <p:sp>
        <p:nvSpPr>
          <p:cNvPr id="12" name="Text 9"/>
          <p:cNvSpPr txBox="1"/>
          <p:nvPr/>
        </p:nvSpPr>
        <p:spPr>
          <a:xfrm>
            <a:off x="3408274" y="1965960"/>
            <a:ext cx="2327453" cy="1051560"/>
          </a:xfrm>
          <a:prstGeom prst="rect">
            <a:avLst/>
          </a:prstGeom>
          <a:noFill/>
          <a:ln/>
        </p:spPr>
        <p:txBody>
          <a:bodyPr wrap="square" lIns="0" tIns="0" rIns="0" bIns="0" rtlCol="0" anchor="t"/>
          <a:lstStyle/>
          <a:p>
            <a:pPr marL="0" indent="0">
              <a:lnSpc>
                <a:spcPct val="125000"/>
              </a:lnSpc>
              <a:buNone/>
            </a:pPr>
            <a:r>
              <a:rPr lang="en-US" sz="1000" dirty="0">
                <a:solidFill>
                  <a:srgbClr val="3B3D3E"/>
                </a:solidFill>
                <a:latin typeface="PT Sans" pitchFamily="34" charset="0"/>
                <a:ea typeface="PT Sans" pitchFamily="34" charset="-122"/>
                <a:cs typeface="PT Sans" pitchFamily="34" charset="-120"/>
              </a:rPr>
              <a:t>When tasks need specialization and coordination across different kinds of expertise.</a:t>
            </a:r>
            <a:endParaRPr lang="en-US" sz="1000" dirty="0"/>
          </a:p>
        </p:txBody>
      </p:sp>
      <p:sp>
        <p:nvSpPr>
          <p:cNvPr id="13" name="Shape 10"/>
          <p:cNvSpPr/>
          <p:nvPr/>
        </p:nvSpPr>
        <p:spPr>
          <a:xfrm>
            <a:off x="6037478" y="1371600"/>
            <a:ext cx="2656637" cy="1737360"/>
          </a:xfrm>
          <a:prstGeom prst="roundRect">
            <a:avLst>
              <a:gd name="adj" fmla="val 3158"/>
            </a:avLst>
          </a:prstGeom>
          <a:solidFill>
            <a:srgbClr val="E6F4FA"/>
          </a:solidFill>
          <a:ln w="9525">
            <a:solidFill>
              <a:srgbClr val="00A3E0"/>
            </a:solidFill>
            <a:prstDash val="solid"/>
          </a:ln>
        </p:spPr>
        <p:txBody>
          <a:bodyPr/>
          <a:lstStyle/>
          <a:p>
            <a:endParaRPr lang="en-IN"/>
          </a:p>
        </p:txBody>
      </p:sp>
      <p:sp>
        <p:nvSpPr>
          <p:cNvPr id="14" name="Text 11"/>
          <p:cNvSpPr txBox="1"/>
          <p:nvPr/>
        </p:nvSpPr>
        <p:spPr>
          <a:xfrm>
            <a:off x="6202070" y="1536192"/>
            <a:ext cx="2327453" cy="365760"/>
          </a:xfrm>
          <a:prstGeom prst="rect">
            <a:avLst/>
          </a:prstGeom>
          <a:noFill/>
          <a:ln/>
        </p:spPr>
        <p:txBody>
          <a:bodyPr wrap="square" lIns="0" tIns="0" rIns="0" bIns="0" rtlCol="0" anchor="ctr"/>
          <a:lstStyle/>
          <a:p>
            <a:pPr marL="0" indent="0">
              <a:buNone/>
            </a:pPr>
            <a:r>
              <a:rPr lang="en-US" sz="1350" b="1" dirty="0">
                <a:solidFill>
                  <a:srgbClr val="004C97"/>
                </a:solidFill>
                <a:latin typeface="Poppins SemiBold" pitchFamily="34" charset="0"/>
                <a:ea typeface="Poppins SemiBold" pitchFamily="34" charset="-122"/>
                <a:cs typeface="Poppins SemiBold" pitchFamily="34" charset="-120"/>
              </a:rPr>
              <a:t>Supervisor Agent</a:t>
            </a:r>
            <a:endParaRPr lang="en-US" sz="1350" dirty="0"/>
          </a:p>
        </p:txBody>
      </p:sp>
      <p:sp>
        <p:nvSpPr>
          <p:cNvPr id="15" name="Text 12"/>
          <p:cNvSpPr txBox="1"/>
          <p:nvPr/>
        </p:nvSpPr>
        <p:spPr>
          <a:xfrm>
            <a:off x="6202070" y="1965960"/>
            <a:ext cx="2327453" cy="1051560"/>
          </a:xfrm>
          <a:prstGeom prst="rect">
            <a:avLst/>
          </a:prstGeom>
          <a:noFill/>
          <a:ln/>
        </p:spPr>
        <p:txBody>
          <a:bodyPr wrap="square" lIns="0" tIns="0" rIns="0" bIns="0" rtlCol="0" anchor="t"/>
          <a:lstStyle/>
          <a:p>
            <a:pPr marL="0" indent="0">
              <a:lnSpc>
                <a:spcPct val="125000"/>
              </a:lnSpc>
              <a:buNone/>
            </a:pPr>
            <a:r>
              <a:rPr lang="en-US" sz="1000" dirty="0">
                <a:solidFill>
                  <a:srgbClr val="3B3D3E"/>
                </a:solidFill>
                <a:latin typeface="PT Sans" pitchFamily="34" charset="0"/>
                <a:ea typeface="PT Sans" pitchFamily="34" charset="-122"/>
                <a:cs typeface="PT Sans" pitchFamily="34" charset="-120"/>
              </a:rPr>
              <a:t>Plans and delegates; specialist agents execute and report back to it.</a:t>
            </a:r>
            <a:endParaRPr lang="en-US" sz="1000" dirty="0"/>
          </a:p>
        </p:txBody>
      </p:sp>
      <p:sp>
        <p:nvSpPr>
          <p:cNvPr id="16" name="Shape 13"/>
          <p:cNvSpPr/>
          <p:nvPr/>
        </p:nvSpPr>
        <p:spPr>
          <a:xfrm>
            <a:off x="4379976" y="3273552"/>
            <a:ext cx="384048" cy="384048"/>
          </a:xfrm>
          <a:prstGeom prst="ellipse">
            <a:avLst/>
          </a:prstGeom>
          <a:solidFill>
            <a:srgbClr val="004C97"/>
          </a:solidFill>
          <a:ln/>
        </p:spPr>
        <p:txBody>
          <a:bodyPr/>
          <a:lstStyle/>
          <a:p>
            <a:endParaRPr lang="en-IN"/>
          </a:p>
        </p:txBody>
      </p:sp>
      <p:sp>
        <p:nvSpPr>
          <p:cNvPr id="17" name="Text 14"/>
          <p:cNvSpPr txBox="1"/>
          <p:nvPr/>
        </p:nvSpPr>
        <p:spPr>
          <a:xfrm>
            <a:off x="4379976" y="3273552"/>
            <a:ext cx="38404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Poppins SemiBold" pitchFamily="34" charset="0"/>
                <a:ea typeface="Poppins SemiBold" pitchFamily="34" charset="-122"/>
                <a:cs typeface="Poppins SemiBold" pitchFamily="34" charset="-120"/>
              </a:rPr>
              <a:t>S</a:t>
            </a:r>
            <a:endParaRPr lang="en-US" sz="1000" dirty="0"/>
          </a:p>
        </p:txBody>
      </p:sp>
      <p:sp>
        <p:nvSpPr>
          <p:cNvPr id="18" name="Shape 15"/>
          <p:cNvSpPr/>
          <p:nvPr/>
        </p:nvSpPr>
        <p:spPr>
          <a:xfrm>
            <a:off x="4572000" y="3657600"/>
            <a:ext cx="0" cy="73152"/>
          </a:xfrm>
          <a:prstGeom prst="line">
            <a:avLst/>
          </a:prstGeom>
          <a:noFill/>
          <a:ln w="15875">
            <a:solidFill>
              <a:srgbClr val="9AA39D"/>
            </a:solidFill>
            <a:prstDash val="solid"/>
          </a:ln>
        </p:spPr>
        <p:txBody>
          <a:bodyPr/>
          <a:lstStyle/>
          <a:p>
            <a:endParaRPr lang="en-IN"/>
          </a:p>
        </p:txBody>
      </p:sp>
      <p:sp>
        <p:nvSpPr>
          <p:cNvPr id="19" name="Shape 16"/>
          <p:cNvSpPr/>
          <p:nvPr/>
        </p:nvSpPr>
        <p:spPr>
          <a:xfrm>
            <a:off x="3063240" y="3730752"/>
            <a:ext cx="3017520" cy="0"/>
          </a:xfrm>
          <a:prstGeom prst="line">
            <a:avLst/>
          </a:prstGeom>
          <a:noFill/>
          <a:ln w="15875">
            <a:solidFill>
              <a:srgbClr val="9AA39D"/>
            </a:solidFill>
            <a:prstDash val="solid"/>
          </a:ln>
        </p:spPr>
        <p:txBody>
          <a:bodyPr/>
          <a:lstStyle/>
          <a:p>
            <a:endParaRPr lang="en-IN"/>
          </a:p>
        </p:txBody>
      </p:sp>
      <p:sp>
        <p:nvSpPr>
          <p:cNvPr id="20" name="Shape 17"/>
          <p:cNvSpPr/>
          <p:nvPr/>
        </p:nvSpPr>
        <p:spPr>
          <a:xfrm>
            <a:off x="3063240" y="3730752"/>
            <a:ext cx="0" cy="73152"/>
          </a:xfrm>
          <a:prstGeom prst="line">
            <a:avLst/>
          </a:prstGeom>
          <a:noFill/>
          <a:ln w="15875">
            <a:solidFill>
              <a:srgbClr val="9AA39D"/>
            </a:solidFill>
            <a:prstDash val="solid"/>
          </a:ln>
        </p:spPr>
        <p:txBody>
          <a:bodyPr/>
          <a:lstStyle/>
          <a:p>
            <a:endParaRPr lang="en-IN"/>
          </a:p>
        </p:txBody>
      </p:sp>
      <p:sp>
        <p:nvSpPr>
          <p:cNvPr id="21" name="Shape 18"/>
          <p:cNvSpPr/>
          <p:nvPr/>
        </p:nvSpPr>
        <p:spPr>
          <a:xfrm>
            <a:off x="4572000" y="3730752"/>
            <a:ext cx="0" cy="73152"/>
          </a:xfrm>
          <a:prstGeom prst="line">
            <a:avLst/>
          </a:prstGeom>
          <a:noFill/>
          <a:ln w="15875">
            <a:solidFill>
              <a:srgbClr val="9AA39D"/>
            </a:solidFill>
            <a:prstDash val="solid"/>
          </a:ln>
        </p:spPr>
        <p:txBody>
          <a:bodyPr/>
          <a:lstStyle/>
          <a:p>
            <a:endParaRPr lang="en-IN"/>
          </a:p>
        </p:txBody>
      </p:sp>
      <p:sp>
        <p:nvSpPr>
          <p:cNvPr id="22" name="Shape 19"/>
          <p:cNvSpPr/>
          <p:nvPr/>
        </p:nvSpPr>
        <p:spPr>
          <a:xfrm>
            <a:off x="6080760" y="3730752"/>
            <a:ext cx="0" cy="73152"/>
          </a:xfrm>
          <a:prstGeom prst="line">
            <a:avLst/>
          </a:prstGeom>
          <a:noFill/>
          <a:ln w="15875">
            <a:solidFill>
              <a:srgbClr val="9AA39D"/>
            </a:solidFill>
            <a:prstDash val="solid"/>
          </a:ln>
        </p:spPr>
        <p:txBody>
          <a:bodyPr/>
          <a:lstStyle/>
          <a:p>
            <a:endParaRPr lang="en-IN"/>
          </a:p>
        </p:txBody>
      </p:sp>
      <p:sp>
        <p:nvSpPr>
          <p:cNvPr id="23" name="Shape 20"/>
          <p:cNvSpPr/>
          <p:nvPr/>
        </p:nvSpPr>
        <p:spPr>
          <a:xfrm>
            <a:off x="2468880" y="3803904"/>
            <a:ext cx="1188720" cy="310896"/>
          </a:xfrm>
          <a:prstGeom prst="roundRect">
            <a:avLst>
              <a:gd name="adj" fmla="val 17647"/>
            </a:avLst>
          </a:prstGeom>
          <a:solidFill>
            <a:srgbClr val="FFFFFF"/>
          </a:solidFill>
          <a:ln w="9525">
            <a:solidFill>
              <a:srgbClr val="E2E8F0"/>
            </a:solidFill>
            <a:prstDash val="solid"/>
          </a:ln>
        </p:spPr>
        <p:txBody>
          <a:bodyPr/>
          <a:lstStyle/>
          <a:p>
            <a:endParaRPr lang="en-IN"/>
          </a:p>
        </p:txBody>
      </p:sp>
      <p:sp>
        <p:nvSpPr>
          <p:cNvPr id="24" name="Text 21"/>
          <p:cNvSpPr txBox="1"/>
          <p:nvPr/>
        </p:nvSpPr>
        <p:spPr>
          <a:xfrm>
            <a:off x="2468880" y="3803904"/>
            <a:ext cx="1188720" cy="310896"/>
          </a:xfrm>
          <a:prstGeom prst="rect">
            <a:avLst/>
          </a:prstGeom>
          <a:noFill/>
          <a:ln/>
        </p:spPr>
        <p:txBody>
          <a:bodyPr wrap="square" lIns="0" tIns="0" rIns="0" bIns="0" rtlCol="0" anchor="ctr"/>
          <a:lstStyle/>
          <a:p>
            <a:pPr marL="0" indent="0" algn="ctr">
              <a:buNone/>
            </a:pPr>
            <a:r>
              <a:rPr lang="en-US" sz="950" b="1" dirty="0">
                <a:solidFill>
                  <a:srgbClr val="004C97"/>
                </a:solidFill>
                <a:latin typeface="Poppins SemiBold" pitchFamily="34" charset="0"/>
                <a:ea typeface="Poppins SemiBold" pitchFamily="34" charset="-122"/>
                <a:cs typeface="Poppins SemiBold" pitchFamily="34" charset="-120"/>
              </a:rPr>
              <a:t>Researcher</a:t>
            </a:r>
            <a:endParaRPr lang="en-US" sz="950" dirty="0"/>
          </a:p>
        </p:txBody>
      </p:sp>
      <p:sp>
        <p:nvSpPr>
          <p:cNvPr id="25" name="Shape 22"/>
          <p:cNvSpPr/>
          <p:nvPr/>
        </p:nvSpPr>
        <p:spPr>
          <a:xfrm>
            <a:off x="3977640" y="3803904"/>
            <a:ext cx="1188720" cy="310896"/>
          </a:xfrm>
          <a:prstGeom prst="roundRect">
            <a:avLst>
              <a:gd name="adj" fmla="val 17647"/>
            </a:avLst>
          </a:prstGeom>
          <a:solidFill>
            <a:srgbClr val="FFFFFF"/>
          </a:solidFill>
          <a:ln w="9525">
            <a:solidFill>
              <a:srgbClr val="E2E8F0"/>
            </a:solidFill>
            <a:prstDash val="solid"/>
          </a:ln>
        </p:spPr>
        <p:txBody>
          <a:bodyPr/>
          <a:lstStyle/>
          <a:p>
            <a:endParaRPr lang="en-IN"/>
          </a:p>
        </p:txBody>
      </p:sp>
      <p:sp>
        <p:nvSpPr>
          <p:cNvPr id="26" name="Text 23"/>
          <p:cNvSpPr txBox="1"/>
          <p:nvPr/>
        </p:nvSpPr>
        <p:spPr>
          <a:xfrm>
            <a:off x="3977640" y="3803904"/>
            <a:ext cx="1188720" cy="310896"/>
          </a:xfrm>
          <a:prstGeom prst="rect">
            <a:avLst/>
          </a:prstGeom>
          <a:noFill/>
          <a:ln/>
        </p:spPr>
        <p:txBody>
          <a:bodyPr wrap="square" lIns="0" tIns="0" rIns="0" bIns="0" rtlCol="0" anchor="ctr"/>
          <a:lstStyle/>
          <a:p>
            <a:pPr marL="0" indent="0" algn="ctr">
              <a:buNone/>
            </a:pPr>
            <a:r>
              <a:rPr lang="en-US" sz="950" b="1" dirty="0">
                <a:solidFill>
                  <a:srgbClr val="004C97"/>
                </a:solidFill>
                <a:latin typeface="Poppins SemiBold" pitchFamily="34" charset="0"/>
                <a:ea typeface="Poppins SemiBold" pitchFamily="34" charset="-122"/>
                <a:cs typeface="Poppins SemiBold" pitchFamily="34" charset="-120"/>
              </a:rPr>
              <a:t>Analyst</a:t>
            </a:r>
            <a:endParaRPr lang="en-US" sz="950" dirty="0"/>
          </a:p>
        </p:txBody>
      </p:sp>
      <p:sp>
        <p:nvSpPr>
          <p:cNvPr id="27" name="Shape 24"/>
          <p:cNvSpPr/>
          <p:nvPr/>
        </p:nvSpPr>
        <p:spPr>
          <a:xfrm>
            <a:off x="5486400" y="3803904"/>
            <a:ext cx="1188720" cy="310896"/>
          </a:xfrm>
          <a:prstGeom prst="roundRect">
            <a:avLst>
              <a:gd name="adj" fmla="val 17647"/>
            </a:avLst>
          </a:prstGeom>
          <a:solidFill>
            <a:srgbClr val="FFFFFF"/>
          </a:solidFill>
          <a:ln w="9525">
            <a:solidFill>
              <a:srgbClr val="E2E8F0"/>
            </a:solidFill>
            <a:prstDash val="solid"/>
          </a:ln>
        </p:spPr>
        <p:txBody>
          <a:bodyPr/>
          <a:lstStyle/>
          <a:p>
            <a:endParaRPr lang="en-IN"/>
          </a:p>
        </p:txBody>
      </p:sp>
      <p:sp>
        <p:nvSpPr>
          <p:cNvPr id="28" name="Text 25"/>
          <p:cNvSpPr txBox="1"/>
          <p:nvPr/>
        </p:nvSpPr>
        <p:spPr>
          <a:xfrm>
            <a:off x="5486400" y="3803904"/>
            <a:ext cx="1188720" cy="310896"/>
          </a:xfrm>
          <a:prstGeom prst="rect">
            <a:avLst/>
          </a:prstGeom>
          <a:noFill/>
          <a:ln/>
        </p:spPr>
        <p:txBody>
          <a:bodyPr wrap="square" lIns="0" tIns="0" rIns="0" bIns="0" rtlCol="0" anchor="ctr"/>
          <a:lstStyle/>
          <a:p>
            <a:pPr marL="0" indent="0" algn="ctr">
              <a:buNone/>
            </a:pPr>
            <a:r>
              <a:rPr lang="en-US" sz="950" b="1" dirty="0">
                <a:solidFill>
                  <a:srgbClr val="004C97"/>
                </a:solidFill>
                <a:latin typeface="Poppins SemiBold" pitchFamily="34" charset="0"/>
                <a:ea typeface="Poppins SemiBold" pitchFamily="34" charset="-122"/>
                <a:cs typeface="Poppins SemiBold" pitchFamily="34" charset="-120"/>
              </a:rPr>
              <a:t>Reviewer</a:t>
            </a:r>
            <a:endParaRPr lang="en-US" sz="950" dirty="0"/>
          </a:p>
        </p:txBody>
      </p:sp>
      <p:sp>
        <p:nvSpPr>
          <p:cNvPr id="29" name="Text 26"/>
          <p:cNvSpPr txBox="1"/>
          <p:nvPr/>
        </p:nvSpPr>
        <p:spPr>
          <a:xfrm>
            <a:off x="449885" y="4169664"/>
            <a:ext cx="8244230" cy="502920"/>
          </a:xfrm>
          <a:prstGeom prst="rect">
            <a:avLst/>
          </a:prstGeom>
          <a:noFill/>
          <a:ln/>
        </p:spPr>
        <p:txBody>
          <a:bodyPr wrap="square" lIns="0" tIns="0" rIns="0" bIns="0" rtlCol="0" anchor="t"/>
          <a:lstStyle/>
          <a:p>
            <a:pPr marL="0" indent="0">
              <a:lnSpc>
                <a:spcPct val="112000"/>
              </a:lnSpc>
              <a:buNone/>
            </a:pPr>
            <a:r>
              <a:rPr lang="en-US" sz="900" i="1" dirty="0">
                <a:solidFill>
                  <a:srgbClr val="3B3D3E"/>
                </a:solidFill>
                <a:latin typeface="PT Sans" pitchFamily="34" charset="0"/>
                <a:ea typeface="PT Sans" pitchFamily="34" charset="-122"/>
                <a:cs typeface="PT Sans" pitchFamily="34" charset="-120"/>
              </a:rPr>
              <a:t>Supervisor plans and delegates; specialists execute and report back — that hand-off pattern is exactly what today's second demo, and this afternoon's lab, both build.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1  •  WHAT AN AGENT ACTUALLY IS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The Integration Problem</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280160"/>
            <a:ext cx="8244230" cy="822960"/>
          </a:xfrm>
          <a:prstGeom prst="rect">
            <a:avLst/>
          </a:prstGeom>
          <a:noFill/>
          <a:ln/>
        </p:spPr>
        <p:txBody>
          <a:bodyPr wrap="square" lIns="0" tIns="0" rIns="0" bIns="0" rtlCol="0" anchor="ctr"/>
          <a:lstStyle/>
          <a:p>
            <a:pPr marL="0" indent="0">
              <a:lnSpc>
                <a:spcPct val="130000"/>
              </a:lnSpc>
              <a:buNone/>
            </a:pPr>
            <a:r>
              <a:rPr lang="en-US" sz="1300" dirty="0">
                <a:solidFill>
                  <a:srgbClr val="3B3D3E"/>
                </a:solidFill>
                <a:latin typeface="PT Sans" pitchFamily="34" charset="0"/>
                <a:ea typeface="PT Sans" pitchFamily="34" charset="-122"/>
                <a:cs typeface="PT Sans" pitchFamily="34" charset="-120"/>
              </a:rPr>
              <a:t>An agent is powerful only if it can act — but enterprise systems are closed, authenticated, and siloed. Your inventory API, your promotion engine, your approval workflow were never built to be called by a language model.</a:t>
            </a:r>
            <a:endParaRPr lang="en-US" sz="1300" dirty="0"/>
          </a:p>
        </p:txBody>
      </p:sp>
      <p:sp>
        <p:nvSpPr>
          <p:cNvPr id="8" name="Shape 5"/>
          <p:cNvSpPr/>
          <p:nvPr/>
        </p:nvSpPr>
        <p:spPr>
          <a:xfrm>
            <a:off x="449885" y="2286000"/>
            <a:ext cx="1958188" cy="777240"/>
          </a:xfrm>
          <a:prstGeom prst="roundRect">
            <a:avLst>
              <a:gd name="adj" fmla="val 7059"/>
            </a:avLst>
          </a:prstGeom>
          <a:solidFill>
            <a:srgbClr val="FFFFFF"/>
          </a:solidFill>
          <a:ln w="9525">
            <a:solidFill>
              <a:srgbClr val="E2E8F0"/>
            </a:solidFill>
            <a:prstDash val="solid"/>
          </a:ln>
        </p:spPr>
        <p:txBody>
          <a:bodyPr/>
          <a:lstStyle/>
          <a:p>
            <a:endParaRPr lang="en-IN"/>
          </a:p>
        </p:txBody>
      </p:sp>
      <p:sp>
        <p:nvSpPr>
          <p:cNvPr id="9" name="Text 6"/>
          <p:cNvSpPr txBox="1"/>
          <p:nvPr/>
        </p:nvSpPr>
        <p:spPr>
          <a:xfrm>
            <a:off x="449885" y="2377440"/>
            <a:ext cx="1958188" cy="29260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0" name="Text 7"/>
          <p:cNvSpPr txBox="1"/>
          <p:nvPr/>
        </p:nvSpPr>
        <p:spPr>
          <a:xfrm>
            <a:off x="449885" y="2688336"/>
            <a:ext cx="1958188" cy="274320"/>
          </a:xfrm>
          <a:prstGeom prst="rect">
            <a:avLst/>
          </a:prstGeom>
          <a:noFill/>
          <a:ln/>
        </p:spPr>
        <p:txBody>
          <a:bodyPr wrap="square" lIns="0" tIns="0" rIns="0" bIns="0" rtlCol="0" anchor="ctr"/>
          <a:lstStyle/>
          <a:p>
            <a:pPr marL="0" indent="0" algn="ctr">
              <a:buNone/>
            </a:pPr>
            <a:r>
              <a:rPr lang="en-US" sz="1050" b="1" dirty="0">
                <a:solidFill>
                  <a:srgbClr val="004C97"/>
                </a:solidFill>
                <a:latin typeface="Poppins SemiBold" pitchFamily="34" charset="0"/>
                <a:ea typeface="Poppins SemiBold" pitchFamily="34" charset="-122"/>
                <a:cs typeface="Poppins SemiBold" pitchFamily="34" charset="-120"/>
              </a:rPr>
              <a:t>ERP</a:t>
            </a:r>
            <a:endParaRPr lang="en-US" sz="1050" dirty="0"/>
          </a:p>
        </p:txBody>
      </p:sp>
      <p:sp>
        <p:nvSpPr>
          <p:cNvPr id="11" name="Shape 8"/>
          <p:cNvSpPr/>
          <p:nvPr/>
        </p:nvSpPr>
        <p:spPr>
          <a:xfrm>
            <a:off x="2545232" y="2286000"/>
            <a:ext cx="1958188" cy="777240"/>
          </a:xfrm>
          <a:prstGeom prst="roundRect">
            <a:avLst>
              <a:gd name="adj" fmla="val 7059"/>
            </a:avLst>
          </a:prstGeom>
          <a:solidFill>
            <a:srgbClr val="FFFFFF"/>
          </a:solidFill>
          <a:ln w="9525">
            <a:solidFill>
              <a:srgbClr val="E2E8F0"/>
            </a:solidFill>
            <a:prstDash val="solid"/>
          </a:ln>
        </p:spPr>
        <p:txBody>
          <a:bodyPr/>
          <a:lstStyle/>
          <a:p>
            <a:endParaRPr lang="en-IN"/>
          </a:p>
        </p:txBody>
      </p:sp>
      <p:sp>
        <p:nvSpPr>
          <p:cNvPr id="12" name="Text 9"/>
          <p:cNvSpPr txBox="1"/>
          <p:nvPr/>
        </p:nvSpPr>
        <p:spPr>
          <a:xfrm>
            <a:off x="2545232" y="2377440"/>
            <a:ext cx="1958188" cy="29260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3" name="Text 10"/>
          <p:cNvSpPr txBox="1"/>
          <p:nvPr/>
        </p:nvSpPr>
        <p:spPr>
          <a:xfrm>
            <a:off x="2545232" y="2688336"/>
            <a:ext cx="1958188" cy="274320"/>
          </a:xfrm>
          <a:prstGeom prst="rect">
            <a:avLst/>
          </a:prstGeom>
          <a:noFill/>
          <a:ln/>
        </p:spPr>
        <p:txBody>
          <a:bodyPr wrap="square" lIns="0" tIns="0" rIns="0" bIns="0" rtlCol="0" anchor="ctr"/>
          <a:lstStyle/>
          <a:p>
            <a:pPr marL="0" indent="0" algn="ctr">
              <a:buNone/>
            </a:pPr>
            <a:r>
              <a:rPr lang="en-US" sz="1050" b="1" dirty="0">
                <a:solidFill>
                  <a:srgbClr val="004C97"/>
                </a:solidFill>
                <a:latin typeface="Poppins SemiBold" pitchFamily="34" charset="0"/>
                <a:ea typeface="Poppins SemiBold" pitchFamily="34" charset="-122"/>
                <a:cs typeface="Poppins SemiBold" pitchFamily="34" charset="-120"/>
              </a:rPr>
              <a:t>CRM</a:t>
            </a:r>
            <a:endParaRPr lang="en-US" sz="1050" dirty="0"/>
          </a:p>
        </p:txBody>
      </p:sp>
      <p:sp>
        <p:nvSpPr>
          <p:cNvPr id="14" name="Shape 11"/>
          <p:cNvSpPr/>
          <p:nvPr/>
        </p:nvSpPr>
        <p:spPr>
          <a:xfrm>
            <a:off x="4640580" y="2286000"/>
            <a:ext cx="1958188" cy="777240"/>
          </a:xfrm>
          <a:prstGeom prst="roundRect">
            <a:avLst>
              <a:gd name="adj" fmla="val 7059"/>
            </a:avLst>
          </a:prstGeom>
          <a:solidFill>
            <a:srgbClr val="FFFFFF"/>
          </a:solidFill>
          <a:ln w="9525">
            <a:solidFill>
              <a:srgbClr val="E2E8F0"/>
            </a:solidFill>
            <a:prstDash val="solid"/>
          </a:ln>
        </p:spPr>
        <p:txBody>
          <a:bodyPr/>
          <a:lstStyle/>
          <a:p>
            <a:endParaRPr lang="en-IN"/>
          </a:p>
        </p:txBody>
      </p:sp>
      <p:sp>
        <p:nvSpPr>
          <p:cNvPr id="15" name="Text 12"/>
          <p:cNvSpPr txBox="1"/>
          <p:nvPr/>
        </p:nvSpPr>
        <p:spPr>
          <a:xfrm>
            <a:off x="4640580" y="2377440"/>
            <a:ext cx="1958188" cy="29260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6" name="Text 13"/>
          <p:cNvSpPr txBox="1"/>
          <p:nvPr/>
        </p:nvSpPr>
        <p:spPr>
          <a:xfrm>
            <a:off x="4640580" y="2688336"/>
            <a:ext cx="1958188" cy="274320"/>
          </a:xfrm>
          <a:prstGeom prst="rect">
            <a:avLst/>
          </a:prstGeom>
          <a:noFill/>
          <a:ln/>
        </p:spPr>
        <p:txBody>
          <a:bodyPr wrap="square" lIns="0" tIns="0" rIns="0" bIns="0" rtlCol="0" anchor="ctr"/>
          <a:lstStyle/>
          <a:p>
            <a:pPr marL="0" indent="0" algn="ctr">
              <a:buNone/>
            </a:pPr>
            <a:r>
              <a:rPr lang="en-US" sz="1050" b="1" dirty="0">
                <a:solidFill>
                  <a:srgbClr val="004C97"/>
                </a:solidFill>
                <a:latin typeface="Poppins SemiBold" pitchFamily="34" charset="0"/>
                <a:ea typeface="Poppins SemiBold" pitchFamily="34" charset="-122"/>
                <a:cs typeface="Poppins SemiBold" pitchFamily="34" charset="-120"/>
              </a:rPr>
              <a:t>SharePoint</a:t>
            </a:r>
            <a:endParaRPr lang="en-US" sz="1050" dirty="0"/>
          </a:p>
        </p:txBody>
      </p:sp>
      <p:sp>
        <p:nvSpPr>
          <p:cNvPr id="17" name="Shape 14"/>
          <p:cNvSpPr/>
          <p:nvPr/>
        </p:nvSpPr>
        <p:spPr>
          <a:xfrm>
            <a:off x="6735928" y="2286000"/>
            <a:ext cx="1958188" cy="777240"/>
          </a:xfrm>
          <a:prstGeom prst="roundRect">
            <a:avLst>
              <a:gd name="adj" fmla="val 7059"/>
            </a:avLst>
          </a:prstGeom>
          <a:solidFill>
            <a:srgbClr val="FFFFFF"/>
          </a:solidFill>
          <a:ln w="9525">
            <a:solidFill>
              <a:srgbClr val="E2E8F0"/>
            </a:solidFill>
            <a:prstDash val="solid"/>
          </a:ln>
        </p:spPr>
        <p:txBody>
          <a:bodyPr/>
          <a:lstStyle/>
          <a:p>
            <a:endParaRPr lang="en-IN"/>
          </a:p>
        </p:txBody>
      </p:sp>
      <p:sp>
        <p:nvSpPr>
          <p:cNvPr id="18" name="Text 15"/>
          <p:cNvSpPr txBox="1"/>
          <p:nvPr/>
        </p:nvSpPr>
        <p:spPr>
          <a:xfrm>
            <a:off x="6735928" y="2377440"/>
            <a:ext cx="1958188" cy="29260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9" name="Text 16"/>
          <p:cNvSpPr txBox="1"/>
          <p:nvPr/>
        </p:nvSpPr>
        <p:spPr>
          <a:xfrm>
            <a:off x="6735928" y="2688336"/>
            <a:ext cx="1958188" cy="274320"/>
          </a:xfrm>
          <a:prstGeom prst="rect">
            <a:avLst/>
          </a:prstGeom>
          <a:noFill/>
          <a:ln/>
        </p:spPr>
        <p:txBody>
          <a:bodyPr wrap="square" lIns="0" tIns="0" rIns="0" bIns="0" rtlCol="0" anchor="ctr"/>
          <a:lstStyle/>
          <a:p>
            <a:pPr marL="0" indent="0" algn="ctr">
              <a:buNone/>
            </a:pPr>
            <a:r>
              <a:rPr lang="en-US" sz="1050" b="1" dirty="0">
                <a:solidFill>
                  <a:srgbClr val="004C97"/>
                </a:solidFill>
                <a:latin typeface="Poppins SemiBold" pitchFamily="34" charset="0"/>
                <a:ea typeface="Poppins SemiBold" pitchFamily="34" charset="-122"/>
                <a:cs typeface="Poppins SemiBold" pitchFamily="34" charset="-120"/>
              </a:rPr>
              <a:t>REST APIs</a:t>
            </a:r>
            <a:endParaRPr lang="en-US" sz="1050" dirty="0"/>
          </a:p>
        </p:txBody>
      </p:sp>
      <p:sp>
        <p:nvSpPr>
          <p:cNvPr id="20" name="Shape 17"/>
          <p:cNvSpPr/>
          <p:nvPr/>
        </p:nvSpPr>
        <p:spPr>
          <a:xfrm>
            <a:off x="449885" y="3429000"/>
            <a:ext cx="8244230" cy="731520"/>
          </a:xfrm>
          <a:prstGeom prst="roundRect">
            <a:avLst>
              <a:gd name="adj" fmla="val 7500"/>
            </a:avLst>
          </a:prstGeom>
          <a:solidFill>
            <a:srgbClr val="004C97"/>
          </a:solidFill>
          <a:ln w="9525">
            <a:solidFill>
              <a:srgbClr val="004C97"/>
            </a:solidFill>
            <a:prstDash val="solid"/>
          </a:ln>
        </p:spPr>
        <p:txBody>
          <a:bodyPr/>
          <a:lstStyle/>
          <a:p>
            <a:endParaRPr lang="en-IN"/>
          </a:p>
        </p:txBody>
      </p:sp>
      <p:sp>
        <p:nvSpPr>
          <p:cNvPr id="21" name="Text 18"/>
          <p:cNvSpPr txBox="1"/>
          <p:nvPr/>
        </p:nvSpPr>
        <p:spPr>
          <a:xfrm>
            <a:off x="678485" y="3429000"/>
            <a:ext cx="7787030" cy="731520"/>
          </a:xfrm>
          <a:prstGeom prst="rect">
            <a:avLst/>
          </a:prstGeom>
          <a:noFill/>
          <a:ln/>
        </p:spPr>
        <p:txBody>
          <a:bodyPr wrap="square" lIns="0" tIns="0" rIns="0" bIns="0" rtlCol="0" anchor="ctr"/>
          <a:lstStyle/>
          <a:p>
            <a:pPr marL="0" indent="0" algn="ctr">
              <a:buNone/>
            </a:pPr>
            <a:r>
              <a:rPr lang="en-US" sz="1300" b="1" dirty="0">
                <a:solidFill>
                  <a:srgbClr val="FFFFFF"/>
                </a:solidFill>
                <a:latin typeface="Poppins SemiBold" pitchFamily="34" charset="0"/>
                <a:ea typeface="Poppins SemiBold" pitchFamily="34" charset="-122"/>
                <a:cs typeface="Poppins SemiBold" pitchFamily="34" charset="-120"/>
              </a:rPr>
              <a:t>Need: a secure, standardized way for LLMs to discover and call tools &amp; data.</a:t>
            </a:r>
            <a:endParaRPr lang="en-US" sz="1300" dirty="0"/>
          </a:p>
        </p:txBody>
      </p:sp>
      <p:sp>
        <p:nvSpPr>
          <p:cNvPr id="22" name="Text 19"/>
          <p:cNvSpPr txBox="1"/>
          <p:nvPr/>
        </p:nvSpPr>
        <p:spPr>
          <a:xfrm>
            <a:off x="449885" y="4329684"/>
            <a:ext cx="8244230" cy="340157"/>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That standard already exists. It's called MCP.</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2  •  MCP: GIVING IT HANDS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From APIs to MCP</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234440"/>
            <a:ext cx="8244230" cy="868680"/>
          </a:xfrm>
          <a:prstGeom prst="rect">
            <a:avLst/>
          </a:prstGeom>
          <a:noFill/>
          <a:ln/>
        </p:spPr>
        <p:txBody>
          <a:bodyPr wrap="square" lIns="0" tIns="0" rIns="0" bIns="0" rtlCol="0" anchor="ctr"/>
          <a:lstStyle/>
          <a:p>
            <a:pPr marL="0" indent="0">
              <a:lnSpc>
                <a:spcPct val="132000"/>
              </a:lnSpc>
              <a:buNone/>
            </a:pPr>
            <a:r>
              <a:rPr lang="en-US" sz="1300" dirty="0">
                <a:solidFill>
                  <a:srgbClr val="3B3D3E"/>
                </a:solidFill>
                <a:latin typeface="PT Sans" pitchFamily="34" charset="0"/>
                <a:ea typeface="PT Sans" pitchFamily="34" charset="-122"/>
                <a:cs typeface="PT Sans" pitchFamily="34" charset="-120"/>
              </a:rPr>
              <a:t>APIs expose functions. MCP standardizes how agents discover and call them. Introduced by Anthropic, now an open ecosystem standard — it defines tool capabilities, authentication, and data format in one shared contract.</a:t>
            </a:r>
            <a:endParaRPr lang="en-US" sz="1300" dirty="0"/>
          </a:p>
        </p:txBody>
      </p:sp>
      <p:sp>
        <p:nvSpPr>
          <p:cNvPr id="8" name="Shape 5"/>
          <p:cNvSpPr/>
          <p:nvPr/>
        </p:nvSpPr>
        <p:spPr>
          <a:xfrm>
            <a:off x="449885" y="2286000"/>
            <a:ext cx="3939235" cy="1737360"/>
          </a:xfrm>
          <a:prstGeom prst="roundRect">
            <a:avLst>
              <a:gd name="adj" fmla="val 3158"/>
            </a:avLst>
          </a:prstGeom>
          <a:solidFill>
            <a:srgbClr val="FFFFFF"/>
          </a:solidFill>
          <a:ln w="9525">
            <a:solidFill>
              <a:srgbClr val="E2E8F0"/>
            </a:solidFill>
            <a:prstDash val="solid"/>
          </a:ln>
        </p:spPr>
        <p:txBody>
          <a:bodyPr/>
          <a:lstStyle/>
          <a:p>
            <a:endParaRPr lang="en-IN"/>
          </a:p>
        </p:txBody>
      </p:sp>
      <p:sp>
        <p:nvSpPr>
          <p:cNvPr id="9" name="Text 6"/>
          <p:cNvSpPr txBox="1"/>
          <p:nvPr/>
        </p:nvSpPr>
        <p:spPr>
          <a:xfrm>
            <a:off x="632765" y="2450592"/>
            <a:ext cx="3573475" cy="320040"/>
          </a:xfrm>
          <a:prstGeom prst="rect">
            <a:avLst/>
          </a:prstGeom>
          <a:noFill/>
          <a:ln/>
        </p:spPr>
        <p:txBody>
          <a:bodyPr wrap="square" lIns="0" tIns="0" rIns="0" bIns="0" rtlCol="0" anchor="ctr"/>
          <a:lstStyle/>
          <a:p>
            <a:pPr marL="0" indent="0">
              <a:buNone/>
            </a:pPr>
            <a:r>
              <a:rPr lang="en-US" sz="1300" b="1" dirty="0">
                <a:solidFill>
                  <a:srgbClr val="004C97"/>
                </a:solidFill>
                <a:latin typeface="Poppins SemiBold" pitchFamily="34" charset="0"/>
                <a:ea typeface="Poppins SemiBold" pitchFamily="34" charset="-122"/>
                <a:cs typeface="Poppins SemiBold" pitchFamily="34" charset="-120"/>
              </a:rPr>
              <a:t>API = Plug-Type Chaos</a:t>
            </a:r>
            <a:endParaRPr lang="en-US" sz="1300" dirty="0"/>
          </a:p>
        </p:txBody>
      </p:sp>
      <p:sp>
        <p:nvSpPr>
          <p:cNvPr id="10" name="Text 7"/>
          <p:cNvSpPr txBox="1"/>
          <p:nvPr/>
        </p:nvSpPr>
        <p:spPr>
          <a:xfrm>
            <a:off x="632765" y="2834640"/>
            <a:ext cx="3573475" cy="1005840"/>
          </a:xfrm>
          <a:prstGeom prst="rect">
            <a:avLst/>
          </a:prstGeom>
          <a:noFill/>
          <a:ln/>
        </p:spPr>
        <p:txBody>
          <a:bodyPr wrap="square" lIns="0" tIns="0" rIns="0" bIns="0" rtlCol="0" anchor="t"/>
          <a:lstStyle/>
          <a:p>
            <a:pPr marL="0" indent="0">
              <a:lnSpc>
                <a:spcPct val="125000"/>
              </a:lnSpc>
              <a:buNone/>
            </a:pPr>
            <a:r>
              <a:rPr lang="en-US" sz="1050" dirty="0">
                <a:solidFill>
                  <a:srgbClr val="3B3D3E"/>
                </a:solidFill>
                <a:latin typeface="PT Sans" pitchFamily="34" charset="0"/>
                <a:ea typeface="PT Sans" pitchFamily="34" charset="-122"/>
                <a:cs typeface="PT Sans" pitchFamily="34" charset="-120"/>
              </a:rPr>
              <a:t>Different shapes, different auth, different data formats — every integration hand-built, every time.</a:t>
            </a:r>
            <a:endParaRPr lang="en-US" sz="1050" dirty="0"/>
          </a:p>
        </p:txBody>
      </p:sp>
      <p:sp>
        <p:nvSpPr>
          <p:cNvPr id="11" name="Shape 8"/>
          <p:cNvSpPr/>
          <p:nvPr/>
        </p:nvSpPr>
        <p:spPr>
          <a:xfrm>
            <a:off x="4754880" y="2286000"/>
            <a:ext cx="3939235" cy="1737360"/>
          </a:xfrm>
          <a:prstGeom prst="roundRect">
            <a:avLst>
              <a:gd name="adj" fmla="val 3158"/>
            </a:avLst>
          </a:prstGeom>
          <a:solidFill>
            <a:srgbClr val="E6F4FA"/>
          </a:solidFill>
          <a:ln w="9525">
            <a:solidFill>
              <a:srgbClr val="00A3E0"/>
            </a:solidFill>
            <a:prstDash val="solid"/>
          </a:ln>
        </p:spPr>
        <p:txBody>
          <a:bodyPr/>
          <a:lstStyle/>
          <a:p>
            <a:endParaRPr lang="en-IN"/>
          </a:p>
        </p:txBody>
      </p:sp>
      <p:sp>
        <p:nvSpPr>
          <p:cNvPr id="12" name="Text 9"/>
          <p:cNvSpPr txBox="1"/>
          <p:nvPr/>
        </p:nvSpPr>
        <p:spPr>
          <a:xfrm>
            <a:off x="4937760" y="2450592"/>
            <a:ext cx="3573475" cy="320040"/>
          </a:xfrm>
          <a:prstGeom prst="rect">
            <a:avLst/>
          </a:prstGeom>
          <a:noFill/>
          <a:ln/>
        </p:spPr>
        <p:txBody>
          <a:bodyPr wrap="square" lIns="0" tIns="0" rIns="0" bIns="0" rtlCol="0" anchor="ctr"/>
          <a:lstStyle/>
          <a:p>
            <a:pPr marL="0" indent="0">
              <a:buNone/>
            </a:pPr>
            <a:r>
              <a:rPr lang="en-US" sz="1300" b="1" dirty="0">
                <a:solidFill>
                  <a:srgbClr val="004C97"/>
                </a:solidFill>
                <a:latin typeface="Poppins SemiBold" pitchFamily="34" charset="0"/>
                <a:ea typeface="Poppins SemiBold" pitchFamily="34" charset="-122"/>
                <a:cs typeface="Poppins SemiBold" pitchFamily="34" charset="-120"/>
              </a:rPr>
              <a:t>MCP = Universal Connector</a:t>
            </a:r>
            <a:endParaRPr lang="en-US" sz="1300" dirty="0"/>
          </a:p>
        </p:txBody>
      </p:sp>
      <p:sp>
        <p:nvSpPr>
          <p:cNvPr id="13" name="Text 10"/>
          <p:cNvSpPr txBox="1"/>
          <p:nvPr/>
        </p:nvSpPr>
        <p:spPr>
          <a:xfrm>
            <a:off x="4937760" y="2834640"/>
            <a:ext cx="3573475" cy="1005840"/>
          </a:xfrm>
          <a:prstGeom prst="rect">
            <a:avLst/>
          </a:prstGeom>
          <a:noFill/>
          <a:ln/>
        </p:spPr>
        <p:txBody>
          <a:bodyPr wrap="square" lIns="0" tIns="0" rIns="0" bIns="0" rtlCol="0" anchor="t"/>
          <a:lstStyle/>
          <a:p>
            <a:pPr marL="0" indent="0">
              <a:lnSpc>
                <a:spcPct val="125000"/>
              </a:lnSpc>
              <a:buNone/>
            </a:pPr>
            <a:r>
              <a:rPr lang="en-US" sz="1050" dirty="0">
                <a:solidFill>
                  <a:srgbClr val="3B3D3E"/>
                </a:solidFill>
                <a:latin typeface="PT Sans" pitchFamily="34" charset="0"/>
                <a:ea typeface="PT Sans" pitchFamily="34" charset="-122"/>
                <a:cs typeface="PT Sans" pitchFamily="34" charset="-120"/>
              </a:rPr>
              <a:t>One shape, one discovery mechanism, one way in — like USB-C for AI agents.</a:t>
            </a:r>
            <a:endParaRPr lang="en-US" sz="1050" dirty="0"/>
          </a:p>
        </p:txBody>
      </p:sp>
      <p:sp>
        <p:nvSpPr>
          <p:cNvPr id="14" name="Text 11"/>
          <p:cNvSpPr txBox="1"/>
          <p:nvPr/>
        </p:nvSpPr>
        <p:spPr>
          <a:xfrm>
            <a:off x="449885" y="4329684"/>
            <a:ext cx="8244230" cy="340157"/>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You'll build exactly this in the afternoon lab — six enterprise capabilities, one MCP server, discovered and invoked the same way regardless of what sits behind each one.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2  •  MCP: GIVING IT HANDS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The Old World — Tools Baked In</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449885" y="1234440"/>
            <a:ext cx="4206240" cy="2331720"/>
          </a:xfrm>
          <a:prstGeom prst="roundRect">
            <a:avLst>
              <a:gd name="adj" fmla="val 1569"/>
            </a:avLst>
          </a:prstGeom>
          <a:solidFill>
            <a:srgbClr val="0A2647"/>
          </a:solidFill>
          <a:ln/>
        </p:spPr>
        <p:txBody>
          <a:bodyPr/>
          <a:lstStyle/>
          <a:p>
            <a:endParaRPr lang="en-IN"/>
          </a:p>
        </p:txBody>
      </p:sp>
      <p:sp>
        <p:nvSpPr>
          <p:cNvPr id="8" name="Text 5"/>
          <p:cNvSpPr txBox="1"/>
          <p:nvPr/>
        </p:nvSpPr>
        <p:spPr>
          <a:xfrm>
            <a:off x="596189" y="1344168"/>
            <a:ext cx="3913632" cy="2112264"/>
          </a:xfrm>
          <a:prstGeom prst="rect">
            <a:avLst/>
          </a:prstGeom>
          <a:noFill/>
          <a:ln/>
        </p:spPr>
        <p:txBody>
          <a:bodyPr wrap="square" lIns="0" tIns="0" rIns="0" bIns="0" rtlCol="0" anchor="t"/>
          <a:lstStyle/>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 main.py — tools hardcoded &amp; imported</a:t>
            </a:r>
            <a:endParaRPr lang="en-US" sz="950" dirty="0"/>
          </a:p>
          <a:p>
            <a:pPr marL="0" indent="0" algn="l">
              <a:lnSpc>
                <a:spcPct val="128000"/>
              </a:lnSpc>
              <a:buNone/>
            </a:pP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search_tool    = get_tavily_tool()</a:t>
            </a: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financial_tool = get_financial_tool()</a:t>
            </a: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news_tool      = get_news_tool()</a:t>
            </a:r>
            <a:endParaRPr lang="en-US" sz="950" dirty="0"/>
          </a:p>
          <a:p>
            <a:pPr marL="0" indent="0" algn="l">
              <a:lnSpc>
                <a:spcPct val="128000"/>
              </a:lnSpc>
              <a:buNone/>
            </a:pP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researcher = get_researcher(</a:t>
            </a: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    search_tool, llm=default_llm)</a:t>
            </a:r>
            <a:endParaRPr lang="en-US" sz="950" dirty="0"/>
          </a:p>
          <a:p>
            <a:pPr marL="0" indent="0" algn="l">
              <a:lnSpc>
                <a:spcPct val="128000"/>
              </a:lnSpc>
              <a:buNone/>
            </a:pP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finance_agent = get_finance_agent(</a:t>
            </a: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    financial_tool, news_tool,</a:t>
            </a: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    llm=default_llm)</a:t>
            </a:r>
            <a:endParaRPr lang="en-US" sz="950" dirty="0"/>
          </a:p>
        </p:txBody>
      </p:sp>
      <p:sp>
        <p:nvSpPr>
          <p:cNvPr id="9" name="Text 6"/>
          <p:cNvSpPr txBox="1"/>
          <p:nvPr/>
        </p:nvSpPr>
        <p:spPr>
          <a:xfrm>
            <a:off x="4884725" y="1234440"/>
            <a:ext cx="3809390" cy="219456"/>
          </a:xfrm>
          <a:prstGeom prst="rect">
            <a:avLst/>
          </a:prstGeom>
          <a:noFill/>
          <a:ln/>
        </p:spPr>
        <p:txBody>
          <a:bodyPr wrap="square" lIns="0" tIns="0" rIns="0" bIns="0" rtlCol="0" anchor="ctr"/>
          <a:lstStyle/>
          <a:p>
            <a:pPr marL="0" indent="0">
              <a:buNone/>
            </a:pPr>
            <a:r>
              <a:rPr lang="en-US" sz="1050" b="1" dirty="0">
                <a:solidFill>
                  <a:srgbClr val="C0504D"/>
                </a:solidFill>
                <a:latin typeface="Poppins SemiBold" pitchFamily="34" charset="0"/>
                <a:ea typeface="Poppins SemiBold" pitchFamily="34" charset="-122"/>
                <a:cs typeface="Poppins SemiBold" pitchFamily="34" charset="-120"/>
              </a:rPr>
              <a:t>Locked in</a:t>
            </a:r>
            <a:endParaRPr lang="en-US" sz="1050" dirty="0"/>
          </a:p>
        </p:txBody>
      </p:sp>
      <p:sp>
        <p:nvSpPr>
          <p:cNvPr id="10" name="Text 7"/>
          <p:cNvSpPr txBox="1"/>
          <p:nvPr/>
        </p:nvSpPr>
        <p:spPr>
          <a:xfrm>
            <a:off x="4884725" y="1453896"/>
            <a:ext cx="3809390" cy="365760"/>
          </a:xfrm>
          <a:prstGeom prst="rect">
            <a:avLst/>
          </a:prstGeom>
          <a:noFill/>
          <a:ln/>
        </p:spPr>
        <p:txBody>
          <a:bodyPr wrap="square" lIns="0" tIns="0" rIns="0" bIns="0" rtlCol="0" anchor="t"/>
          <a:lstStyle/>
          <a:p>
            <a:pPr marL="0" indent="0">
              <a:lnSpc>
                <a:spcPct val="112000"/>
              </a:lnSpc>
              <a:buNone/>
            </a:pPr>
            <a:r>
              <a:rPr lang="en-US" sz="880" dirty="0">
                <a:solidFill>
                  <a:srgbClr val="3B3D3E"/>
                </a:solidFill>
                <a:latin typeface="PT Sans" pitchFamily="34" charset="0"/>
                <a:ea typeface="PT Sans" pitchFamily="34" charset="-122"/>
                <a:cs typeface="PT Sans" pitchFamily="34" charset="-120"/>
              </a:rPr>
              <a:t>Tools exist only inside this project. No other agent can find or reuse them.</a:t>
            </a:r>
            <a:endParaRPr lang="en-US" sz="880" dirty="0"/>
          </a:p>
        </p:txBody>
      </p:sp>
      <p:sp>
        <p:nvSpPr>
          <p:cNvPr id="11" name="Text 8"/>
          <p:cNvSpPr txBox="1"/>
          <p:nvPr/>
        </p:nvSpPr>
        <p:spPr>
          <a:xfrm>
            <a:off x="4884725" y="1837944"/>
            <a:ext cx="3809390" cy="219456"/>
          </a:xfrm>
          <a:prstGeom prst="rect">
            <a:avLst/>
          </a:prstGeom>
          <a:noFill/>
          <a:ln/>
        </p:spPr>
        <p:txBody>
          <a:bodyPr wrap="square" lIns="0" tIns="0" rIns="0" bIns="0" rtlCol="0" anchor="ctr"/>
          <a:lstStyle/>
          <a:p>
            <a:pPr marL="0" indent="0">
              <a:buNone/>
            </a:pPr>
            <a:r>
              <a:rPr lang="en-US" sz="1050" b="1" dirty="0">
                <a:solidFill>
                  <a:srgbClr val="C0504D"/>
                </a:solidFill>
                <a:latin typeface="Poppins SemiBold" pitchFamily="34" charset="0"/>
                <a:ea typeface="Poppins SemiBold" pitchFamily="34" charset="-122"/>
                <a:cs typeface="Poppins SemiBold" pitchFamily="34" charset="-120"/>
              </a:rPr>
              <a:t>Copy-paste trap</a:t>
            </a:r>
            <a:endParaRPr lang="en-US" sz="1050" dirty="0"/>
          </a:p>
        </p:txBody>
      </p:sp>
      <p:sp>
        <p:nvSpPr>
          <p:cNvPr id="12" name="Text 9"/>
          <p:cNvSpPr txBox="1"/>
          <p:nvPr/>
        </p:nvSpPr>
        <p:spPr>
          <a:xfrm>
            <a:off x="4884725" y="2057400"/>
            <a:ext cx="3809390" cy="365760"/>
          </a:xfrm>
          <a:prstGeom prst="rect">
            <a:avLst/>
          </a:prstGeom>
          <a:noFill/>
          <a:ln/>
        </p:spPr>
        <p:txBody>
          <a:bodyPr wrap="square" lIns="0" tIns="0" rIns="0" bIns="0" rtlCol="0" anchor="t"/>
          <a:lstStyle/>
          <a:p>
            <a:pPr marL="0" indent="0">
              <a:lnSpc>
                <a:spcPct val="112000"/>
              </a:lnSpc>
              <a:buNone/>
            </a:pPr>
            <a:r>
              <a:rPr lang="en-US" sz="880" dirty="0">
                <a:solidFill>
                  <a:srgbClr val="3B3D3E"/>
                </a:solidFill>
                <a:latin typeface="PT Sans" pitchFamily="34" charset="0"/>
                <a:ea typeface="PT Sans" pitchFamily="34" charset="-122"/>
                <a:cs typeface="PT Sans" pitchFamily="34" charset="-120"/>
              </a:rPr>
              <a:t>Every new agent reimplements the same integrations from scratch.</a:t>
            </a:r>
            <a:endParaRPr lang="en-US" sz="880" dirty="0"/>
          </a:p>
        </p:txBody>
      </p:sp>
      <p:sp>
        <p:nvSpPr>
          <p:cNvPr id="13" name="Text 10"/>
          <p:cNvSpPr txBox="1"/>
          <p:nvPr/>
        </p:nvSpPr>
        <p:spPr>
          <a:xfrm>
            <a:off x="4884725" y="2441448"/>
            <a:ext cx="3809390" cy="219456"/>
          </a:xfrm>
          <a:prstGeom prst="rect">
            <a:avLst/>
          </a:prstGeom>
          <a:noFill/>
          <a:ln/>
        </p:spPr>
        <p:txBody>
          <a:bodyPr wrap="square" lIns="0" tIns="0" rIns="0" bIns="0" rtlCol="0" anchor="ctr"/>
          <a:lstStyle/>
          <a:p>
            <a:pPr marL="0" indent="0">
              <a:buNone/>
            </a:pPr>
            <a:r>
              <a:rPr lang="en-US" sz="1050" b="1" dirty="0">
                <a:solidFill>
                  <a:srgbClr val="C0504D"/>
                </a:solidFill>
                <a:latin typeface="Poppins SemiBold" pitchFamily="34" charset="0"/>
                <a:ea typeface="Poppins SemiBold" pitchFamily="34" charset="-122"/>
                <a:cs typeface="Poppins SemiBold" pitchFamily="34" charset="-120"/>
              </a:rPr>
              <a:t>Plug chaos</a:t>
            </a:r>
            <a:endParaRPr lang="en-US" sz="1050" dirty="0"/>
          </a:p>
        </p:txBody>
      </p:sp>
      <p:sp>
        <p:nvSpPr>
          <p:cNvPr id="14" name="Text 11"/>
          <p:cNvSpPr txBox="1"/>
          <p:nvPr/>
        </p:nvSpPr>
        <p:spPr>
          <a:xfrm>
            <a:off x="4884725" y="2660904"/>
            <a:ext cx="3809390" cy="365760"/>
          </a:xfrm>
          <a:prstGeom prst="rect">
            <a:avLst/>
          </a:prstGeom>
          <a:noFill/>
          <a:ln/>
        </p:spPr>
        <p:txBody>
          <a:bodyPr wrap="square" lIns="0" tIns="0" rIns="0" bIns="0" rtlCol="0" anchor="t"/>
          <a:lstStyle/>
          <a:p>
            <a:pPr marL="0" indent="0">
              <a:lnSpc>
                <a:spcPct val="112000"/>
              </a:lnSpc>
              <a:buNone/>
            </a:pPr>
            <a:r>
              <a:rPr lang="en-US" sz="880" dirty="0">
                <a:solidFill>
                  <a:srgbClr val="3B3D3E"/>
                </a:solidFill>
                <a:latin typeface="PT Sans" pitchFamily="34" charset="0"/>
                <a:ea typeface="PT Sans" pitchFamily="34" charset="-122"/>
                <a:cs typeface="PT Sans" pitchFamily="34" charset="-120"/>
              </a:rPr>
              <a:t>Each tool has its own auth, format, error handling — custom glue code everywhere.</a:t>
            </a:r>
            <a:endParaRPr lang="en-US" sz="880" dirty="0"/>
          </a:p>
        </p:txBody>
      </p:sp>
      <p:sp>
        <p:nvSpPr>
          <p:cNvPr id="15" name="Text 12"/>
          <p:cNvSpPr txBox="1"/>
          <p:nvPr/>
        </p:nvSpPr>
        <p:spPr>
          <a:xfrm>
            <a:off x="4884725" y="3044952"/>
            <a:ext cx="3809390" cy="219456"/>
          </a:xfrm>
          <a:prstGeom prst="rect">
            <a:avLst/>
          </a:prstGeom>
          <a:noFill/>
          <a:ln/>
        </p:spPr>
        <p:txBody>
          <a:bodyPr wrap="square" lIns="0" tIns="0" rIns="0" bIns="0" rtlCol="0" anchor="ctr"/>
          <a:lstStyle/>
          <a:p>
            <a:pPr marL="0" indent="0">
              <a:buNone/>
            </a:pPr>
            <a:r>
              <a:rPr lang="en-US" sz="1050" b="1" dirty="0">
                <a:solidFill>
                  <a:srgbClr val="C0504D"/>
                </a:solidFill>
                <a:latin typeface="Poppins SemiBold" pitchFamily="34" charset="0"/>
                <a:ea typeface="Poppins SemiBold" pitchFamily="34" charset="-122"/>
                <a:cs typeface="Poppins SemiBold" pitchFamily="34" charset="-120"/>
              </a:rPr>
              <a:t>No discoverability</a:t>
            </a:r>
            <a:endParaRPr lang="en-US" sz="1050" dirty="0"/>
          </a:p>
        </p:txBody>
      </p:sp>
      <p:sp>
        <p:nvSpPr>
          <p:cNvPr id="16" name="Text 13"/>
          <p:cNvSpPr txBox="1"/>
          <p:nvPr/>
        </p:nvSpPr>
        <p:spPr>
          <a:xfrm>
            <a:off x="4884725" y="3264408"/>
            <a:ext cx="3809390" cy="365760"/>
          </a:xfrm>
          <a:prstGeom prst="rect">
            <a:avLst/>
          </a:prstGeom>
          <a:noFill/>
          <a:ln/>
        </p:spPr>
        <p:txBody>
          <a:bodyPr wrap="square" lIns="0" tIns="0" rIns="0" bIns="0" rtlCol="0" anchor="t"/>
          <a:lstStyle/>
          <a:p>
            <a:pPr marL="0" indent="0">
              <a:lnSpc>
                <a:spcPct val="112000"/>
              </a:lnSpc>
              <a:buNone/>
            </a:pPr>
            <a:r>
              <a:rPr lang="en-US" sz="880" dirty="0">
                <a:solidFill>
                  <a:srgbClr val="3B3D3E"/>
                </a:solidFill>
                <a:latin typeface="PT Sans" pitchFamily="34" charset="0"/>
                <a:ea typeface="PT Sans" pitchFamily="34" charset="-122"/>
                <a:cs typeface="PT Sans" pitchFamily="34" charset="-120"/>
              </a:rPr>
              <a:t>The agent must know exactly which tools exist at build time. No runtime flexibility.</a:t>
            </a:r>
            <a:endParaRPr lang="en-US" sz="880" dirty="0"/>
          </a:p>
        </p:txBody>
      </p:sp>
      <p:sp>
        <p:nvSpPr>
          <p:cNvPr id="17" name="Text 14"/>
          <p:cNvSpPr txBox="1"/>
          <p:nvPr/>
        </p:nvSpPr>
        <p:spPr>
          <a:xfrm>
            <a:off x="449885" y="4329684"/>
            <a:ext cx="8244230" cy="340157"/>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Real code from a CrewAI financial agent. This works — until the quant team ships a better tool tomorrow, and your agent has no way of ever finding out.</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2  •  MCP: GIVING IT HANDS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What MCP Is — The Architecture</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621792" y="1417320"/>
            <a:ext cx="1783080" cy="1051560"/>
          </a:xfrm>
          <a:prstGeom prst="roundRect">
            <a:avLst>
              <a:gd name="adj" fmla="val 5217"/>
            </a:avLst>
          </a:prstGeom>
          <a:solidFill>
            <a:srgbClr val="FFFFFF"/>
          </a:solidFill>
          <a:ln w="9525">
            <a:solidFill>
              <a:srgbClr val="E2E8F0"/>
            </a:solidFill>
            <a:prstDash val="solid"/>
          </a:ln>
        </p:spPr>
        <p:txBody>
          <a:bodyPr/>
          <a:lstStyle/>
          <a:p>
            <a:endParaRPr lang="en-IN"/>
          </a:p>
        </p:txBody>
      </p:sp>
      <p:sp>
        <p:nvSpPr>
          <p:cNvPr id="8" name="Text 5"/>
          <p:cNvSpPr txBox="1"/>
          <p:nvPr/>
        </p:nvSpPr>
        <p:spPr>
          <a:xfrm>
            <a:off x="731520" y="1527048"/>
            <a:ext cx="1563624" cy="274320"/>
          </a:xfrm>
          <a:prstGeom prst="rect">
            <a:avLst/>
          </a:prstGeom>
          <a:noFill/>
          <a:ln/>
        </p:spPr>
        <p:txBody>
          <a:bodyPr wrap="square" lIns="0" tIns="0" rIns="0" bIns="0" rtlCol="0" anchor="ctr"/>
          <a:lstStyle/>
          <a:p>
            <a:pPr marL="0" indent="0">
              <a:buNone/>
            </a:pPr>
            <a:r>
              <a:rPr lang="en-US" sz="1200" b="1" dirty="0">
                <a:solidFill>
                  <a:srgbClr val="004C97"/>
                </a:solidFill>
                <a:latin typeface="Poppins SemiBold" pitchFamily="34" charset="0"/>
                <a:ea typeface="Poppins SemiBold" pitchFamily="34" charset="-122"/>
                <a:cs typeface="Poppins SemiBold" pitchFamily="34" charset="-120"/>
              </a:rPr>
              <a:t>LLM</a:t>
            </a:r>
            <a:endParaRPr lang="en-US" sz="1200" dirty="0"/>
          </a:p>
        </p:txBody>
      </p:sp>
      <p:sp>
        <p:nvSpPr>
          <p:cNvPr id="9" name="Text 6"/>
          <p:cNvSpPr txBox="1"/>
          <p:nvPr/>
        </p:nvSpPr>
        <p:spPr>
          <a:xfrm>
            <a:off x="731520" y="1837944"/>
            <a:ext cx="1563624" cy="548640"/>
          </a:xfrm>
          <a:prstGeom prst="rect">
            <a:avLst/>
          </a:prstGeom>
          <a:noFill/>
          <a:ln/>
        </p:spPr>
        <p:txBody>
          <a:bodyPr wrap="square" lIns="0" tIns="0" rIns="0" bIns="0" rtlCol="0" anchor="t"/>
          <a:lstStyle/>
          <a:p>
            <a:pPr marL="0" indent="0">
              <a:lnSpc>
                <a:spcPct val="118000"/>
              </a:lnSpc>
              <a:buNone/>
            </a:pPr>
            <a:r>
              <a:rPr lang="en-US" sz="860" dirty="0">
                <a:solidFill>
                  <a:srgbClr val="3B3D3E"/>
                </a:solidFill>
                <a:latin typeface="PT Sans" pitchFamily="34" charset="0"/>
                <a:ea typeface="PT Sans" pitchFamily="34" charset="-122"/>
                <a:cs typeface="PT Sans" pitchFamily="34" charset="-120"/>
              </a:rPr>
              <a:t>Text in, text out.</a:t>
            </a:r>
            <a:endParaRPr lang="en-US" sz="860" dirty="0"/>
          </a:p>
          <a:p>
            <a:pPr marL="0" indent="0">
              <a:lnSpc>
                <a:spcPct val="118000"/>
              </a:lnSpc>
              <a:buNone/>
            </a:pPr>
            <a:r>
              <a:rPr lang="en-US" sz="860" dirty="0">
                <a:solidFill>
                  <a:srgbClr val="3B3D3E"/>
                </a:solidFill>
                <a:latin typeface="PT Sans" pitchFamily="34" charset="0"/>
                <a:ea typeface="PT Sans" pitchFamily="34" charset="-122"/>
                <a:cs typeface="PT Sans" pitchFamily="34" charset="-120"/>
              </a:rPr>
              <a:t>Stateless.</a:t>
            </a:r>
            <a:endParaRPr lang="en-US" sz="860" dirty="0"/>
          </a:p>
        </p:txBody>
      </p:sp>
      <p:sp>
        <p:nvSpPr>
          <p:cNvPr id="10" name="Shape 7"/>
          <p:cNvSpPr/>
          <p:nvPr/>
        </p:nvSpPr>
        <p:spPr>
          <a:xfrm>
            <a:off x="2404872" y="1943100"/>
            <a:ext cx="256032" cy="0"/>
          </a:xfrm>
          <a:prstGeom prst="line">
            <a:avLst/>
          </a:prstGeom>
          <a:noFill/>
          <a:ln w="22225">
            <a:solidFill>
              <a:srgbClr val="00A3E0"/>
            </a:solidFill>
            <a:prstDash val="solid"/>
            <a:headEnd type="triangle"/>
            <a:tailEnd type="triangle"/>
          </a:ln>
        </p:spPr>
        <p:txBody>
          <a:bodyPr/>
          <a:lstStyle/>
          <a:p>
            <a:endParaRPr lang="en-IN"/>
          </a:p>
        </p:txBody>
      </p:sp>
      <p:sp>
        <p:nvSpPr>
          <p:cNvPr id="11" name="Shape 8"/>
          <p:cNvSpPr/>
          <p:nvPr/>
        </p:nvSpPr>
        <p:spPr>
          <a:xfrm>
            <a:off x="2660904" y="1417320"/>
            <a:ext cx="1783080" cy="1051560"/>
          </a:xfrm>
          <a:prstGeom prst="roundRect">
            <a:avLst>
              <a:gd name="adj" fmla="val 5217"/>
            </a:avLst>
          </a:prstGeom>
          <a:solidFill>
            <a:srgbClr val="FFFFFF"/>
          </a:solidFill>
          <a:ln w="9525">
            <a:solidFill>
              <a:srgbClr val="E2E8F0"/>
            </a:solidFill>
            <a:prstDash val="solid"/>
          </a:ln>
        </p:spPr>
        <p:txBody>
          <a:bodyPr/>
          <a:lstStyle/>
          <a:p>
            <a:endParaRPr lang="en-IN"/>
          </a:p>
        </p:txBody>
      </p:sp>
      <p:sp>
        <p:nvSpPr>
          <p:cNvPr id="12" name="Text 9"/>
          <p:cNvSpPr txBox="1"/>
          <p:nvPr/>
        </p:nvSpPr>
        <p:spPr>
          <a:xfrm>
            <a:off x="2770632" y="1527048"/>
            <a:ext cx="1563624" cy="274320"/>
          </a:xfrm>
          <a:prstGeom prst="rect">
            <a:avLst/>
          </a:prstGeom>
          <a:noFill/>
          <a:ln/>
        </p:spPr>
        <p:txBody>
          <a:bodyPr wrap="square" lIns="0" tIns="0" rIns="0" bIns="0" rtlCol="0" anchor="ctr"/>
          <a:lstStyle/>
          <a:p>
            <a:pPr marL="0" indent="0">
              <a:buNone/>
            </a:pPr>
            <a:r>
              <a:rPr lang="en-US" sz="1200" b="1" dirty="0">
                <a:solidFill>
                  <a:srgbClr val="004C97"/>
                </a:solidFill>
                <a:latin typeface="Poppins SemiBold" pitchFamily="34" charset="0"/>
                <a:ea typeface="Poppins SemiBold" pitchFamily="34" charset="-122"/>
                <a:cs typeface="Poppins SemiBold" pitchFamily="34" charset="-120"/>
              </a:rPr>
              <a:t>Agent Code</a:t>
            </a:r>
            <a:endParaRPr lang="en-US" sz="1200" dirty="0"/>
          </a:p>
        </p:txBody>
      </p:sp>
      <p:sp>
        <p:nvSpPr>
          <p:cNvPr id="13" name="Text 10"/>
          <p:cNvSpPr txBox="1"/>
          <p:nvPr/>
        </p:nvSpPr>
        <p:spPr>
          <a:xfrm>
            <a:off x="2770632" y="1837944"/>
            <a:ext cx="1563624" cy="548640"/>
          </a:xfrm>
          <a:prstGeom prst="rect">
            <a:avLst/>
          </a:prstGeom>
          <a:noFill/>
          <a:ln/>
        </p:spPr>
        <p:txBody>
          <a:bodyPr wrap="square" lIns="0" tIns="0" rIns="0" bIns="0" rtlCol="0" anchor="t"/>
          <a:lstStyle/>
          <a:p>
            <a:pPr marL="0" indent="0">
              <a:lnSpc>
                <a:spcPct val="118000"/>
              </a:lnSpc>
              <a:buNone/>
            </a:pPr>
            <a:r>
              <a:rPr lang="en-US" sz="860" dirty="0">
                <a:solidFill>
                  <a:srgbClr val="3B3D3E"/>
                </a:solidFill>
                <a:latin typeface="PT Sans" pitchFamily="34" charset="0"/>
                <a:ea typeface="PT Sans" pitchFamily="34" charset="-122"/>
                <a:cs typeface="PT Sans" pitchFamily="34" charset="-120"/>
              </a:rPr>
              <a:t>Orchestration loop.</a:t>
            </a:r>
            <a:endParaRPr lang="en-US" sz="860" dirty="0"/>
          </a:p>
          <a:p>
            <a:pPr marL="0" indent="0">
              <a:lnSpc>
                <a:spcPct val="118000"/>
              </a:lnSpc>
              <a:buNone/>
            </a:pPr>
            <a:r>
              <a:rPr lang="en-US" sz="860" dirty="0">
                <a:solidFill>
                  <a:srgbClr val="3B3D3E"/>
                </a:solidFill>
                <a:latin typeface="PT Sans" pitchFamily="34" charset="0"/>
                <a:ea typeface="PT Sans" pitchFamily="34" charset="-122"/>
                <a:cs typeface="PT Sans" pitchFamily="34" charset="-120"/>
              </a:rPr>
              <a:t>Reads output, calls MCP.</a:t>
            </a:r>
            <a:endParaRPr lang="en-US" sz="860" dirty="0"/>
          </a:p>
        </p:txBody>
      </p:sp>
      <p:sp>
        <p:nvSpPr>
          <p:cNvPr id="14" name="Shape 11"/>
          <p:cNvSpPr/>
          <p:nvPr/>
        </p:nvSpPr>
        <p:spPr>
          <a:xfrm>
            <a:off x="4443984" y="1943100"/>
            <a:ext cx="256032" cy="0"/>
          </a:xfrm>
          <a:prstGeom prst="line">
            <a:avLst/>
          </a:prstGeom>
          <a:noFill/>
          <a:ln w="22225">
            <a:solidFill>
              <a:srgbClr val="00A3E0"/>
            </a:solidFill>
            <a:prstDash val="solid"/>
            <a:headEnd type="triangle"/>
            <a:tailEnd type="triangle"/>
          </a:ln>
        </p:spPr>
        <p:txBody>
          <a:bodyPr/>
          <a:lstStyle/>
          <a:p>
            <a:endParaRPr lang="en-IN"/>
          </a:p>
        </p:txBody>
      </p:sp>
      <p:sp>
        <p:nvSpPr>
          <p:cNvPr id="15" name="Shape 12"/>
          <p:cNvSpPr/>
          <p:nvPr/>
        </p:nvSpPr>
        <p:spPr>
          <a:xfrm>
            <a:off x="4700016" y="1417320"/>
            <a:ext cx="1783080" cy="1051560"/>
          </a:xfrm>
          <a:prstGeom prst="roundRect">
            <a:avLst>
              <a:gd name="adj" fmla="val 5217"/>
            </a:avLst>
          </a:prstGeom>
          <a:solidFill>
            <a:srgbClr val="E6F4FA"/>
          </a:solidFill>
          <a:ln w="9525">
            <a:solidFill>
              <a:srgbClr val="00A3E0"/>
            </a:solidFill>
            <a:prstDash val="solid"/>
          </a:ln>
        </p:spPr>
        <p:txBody>
          <a:bodyPr/>
          <a:lstStyle/>
          <a:p>
            <a:endParaRPr lang="en-IN"/>
          </a:p>
        </p:txBody>
      </p:sp>
      <p:sp>
        <p:nvSpPr>
          <p:cNvPr id="16" name="Text 13"/>
          <p:cNvSpPr txBox="1"/>
          <p:nvPr/>
        </p:nvSpPr>
        <p:spPr>
          <a:xfrm>
            <a:off x="4809744" y="1527048"/>
            <a:ext cx="1563624" cy="274320"/>
          </a:xfrm>
          <a:prstGeom prst="rect">
            <a:avLst/>
          </a:prstGeom>
          <a:noFill/>
          <a:ln/>
        </p:spPr>
        <p:txBody>
          <a:bodyPr wrap="square" lIns="0" tIns="0" rIns="0" bIns="0" rtlCol="0" anchor="ctr"/>
          <a:lstStyle/>
          <a:p>
            <a:pPr marL="0" indent="0">
              <a:buNone/>
            </a:pPr>
            <a:r>
              <a:rPr lang="en-US" sz="1200" b="1" dirty="0">
                <a:solidFill>
                  <a:srgbClr val="004C97"/>
                </a:solidFill>
                <a:latin typeface="Poppins SemiBold" pitchFamily="34" charset="0"/>
                <a:ea typeface="Poppins SemiBold" pitchFamily="34" charset="-122"/>
                <a:cs typeface="Poppins SemiBold" pitchFamily="34" charset="-120"/>
              </a:rPr>
              <a:t>MCP Client</a:t>
            </a:r>
            <a:endParaRPr lang="en-US" sz="1200" dirty="0"/>
          </a:p>
        </p:txBody>
      </p:sp>
      <p:sp>
        <p:nvSpPr>
          <p:cNvPr id="17" name="Text 14"/>
          <p:cNvSpPr txBox="1"/>
          <p:nvPr/>
        </p:nvSpPr>
        <p:spPr>
          <a:xfrm>
            <a:off x="4809744" y="1837944"/>
            <a:ext cx="1563624" cy="548640"/>
          </a:xfrm>
          <a:prstGeom prst="rect">
            <a:avLst/>
          </a:prstGeom>
          <a:noFill/>
          <a:ln/>
        </p:spPr>
        <p:txBody>
          <a:bodyPr wrap="square" lIns="0" tIns="0" rIns="0" bIns="0" rtlCol="0" anchor="t"/>
          <a:lstStyle/>
          <a:p>
            <a:pPr marL="0" indent="0">
              <a:lnSpc>
                <a:spcPct val="118000"/>
              </a:lnSpc>
              <a:buNone/>
            </a:pPr>
            <a:r>
              <a:rPr lang="en-US" sz="860" dirty="0">
                <a:solidFill>
                  <a:srgbClr val="3B3D3E"/>
                </a:solidFill>
                <a:latin typeface="PT Sans" pitchFamily="34" charset="0"/>
                <a:ea typeface="PT Sans" pitchFamily="34" charset="-122"/>
                <a:cs typeface="PT Sans" pitchFamily="34" charset="-120"/>
              </a:rPr>
              <a:t>Library inside</a:t>
            </a:r>
            <a:endParaRPr lang="en-US" sz="860" dirty="0"/>
          </a:p>
          <a:p>
            <a:pPr marL="0" indent="0">
              <a:lnSpc>
                <a:spcPct val="118000"/>
              </a:lnSpc>
              <a:buNone/>
            </a:pPr>
            <a:r>
              <a:rPr lang="en-US" sz="860" dirty="0">
                <a:solidFill>
                  <a:srgbClr val="3B3D3E"/>
                </a:solidFill>
                <a:latin typeface="PT Sans" pitchFamily="34" charset="0"/>
                <a:ea typeface="PT Sans" pitchFamily="34" charset="-122"/>
                <a:cs typeface="PT Sans" pitchFamily="34" charset="-120"/>
              </a:rPr>
              <a:t>your agent.</a:t>
            </a:r>
            <a:endParaRPr lang="en-US" sz="860" dirty="0"/>
          </a:p>
        </p:txBody>
      </p:sp>
      <p:sp>
        <p:nvSpPr>
          <p:cNvPr id="18" name="Shape 15"/>
          <p:cNvSpPr/>
          <p:nvPr/>
        </p:nvSpPr>
        <p:spPr>
          <a:xfrm>
            <a:off x="6483096" y="1943100"/>
            <a:ext cx="256032" cy="0"/>
          </a:xfrm>
          <a:prstGeom prst="line">
            <a:avLst/>
          </a:prstGeom>
          <a:noFill/>
          <a:ln w="22225">
            <a:solidFill>
              <a:srgbClr val="00A3E0"/>
            </a:solidFill>
            <a:prstDash val="solid"/>
            <a:headEnd type="triangle"/>
            <a:tailEnd type="triangle"/>
          </a:ln>
        </p:spPr>
        <p:txBody>
          <a:bodyPr/>
          <a:lstStyle/>
          <a:p>
            <a:endParaRPr lang="en-IN"/>
          </a:p>
        </p:txBody>
      </p:sp>
      <p:sp>
        <p:nvSpPr>
          <p:cNvPr id="19" name="Shape 16"/>
          <p:cNvSpPr/>
          <p:nvPr/>
        </p:nvSpPr>
        <p:spPr>
          <a:xfrm>
            <a:off x="6739128" y="1417320"/>
            <a:ext cx="1783080" cy="1051560"/>
          </a:xfrm>
          <a:prstGeom prst="roundRect">
            <a:avLst>
              <a:gd name="adj" fmla="val 5217"/>
            </a:avLst>
          </a:prstGeom>
          <a:solidFill>
            <a:srgbClr val="E6F4FA"/>
          </a:solidFill>
          <a:ln w="9525">
            <a:solidFill>
              <a:srgbClr val="00A3E0"/>
            </a:solidFill>
            <a:prstDash val="solid"/>
          </a:ln>
        </p:spPr>
        <p:txBody>
          <a:bodyPr/>
          <a:lstStyle/>
          <a:p>
            <a:endParaRPr lang="en-IN"/>
          </a:p>
        </p:txBody>
      </p:sp>
      <p:sp>
        <p:nvSpPr>
          <p:cNvPr id="20" name="Text 17"/>
          <p:cNvSpPr txBox="1"/>
          <p:nvPr/>
        </p:nvSpPr>
        <p:spPr>
          <a:xfrm>
            <a:off x="6848856" y="1527048"/>
            <a:ext cx="1563624" cy="274320"/>
          </a:xfrm>
          <a:prstGeom prst="rect">
            <a:avLst/>
          </a:prstGeom>
          <a:noFill/>
          <a:ln/>
        </p:spPr>
        <p:txBody>
          <a:bodyPr wrap="square" lIns="0" tIns="0" rIns="0" bIns="0" rtlCol="0" anchor="ctr"/>
          <a:lstStyle/>
          <a:p>
            <a:pPr marL="0" indent="0">
              <a:buNone/>
            </a:pPr>
            <a:r>
              <a:rPr lang="en-US" sz="1200" b="1" dirty="0">
                <a:solidFill>
                  <a:srgbClr val="004C97"/>
                </a:solidFill>
                <a:latin typeface="Poppins SemiBold" pitchFamily="34" charset="0"/>
                <a:ea typeface="Poppins SemiBold" pitchFamily="34" charset="-122"/>
                <a:cs typeface="Poppins SemiBold" pitchFamily="34" charset="-120"/>
              </a:rPr>
              <a:t>MCP Server</a:t>
            </a:r>
            <a:endParaRPr lang="en-US" sz="1200" dirty="0"/>
          </a:p>
        </p:txBody>
      </p:sp>
      <p:sp>
        <p:nvSpPr>
          <p:cNvPr id="21" name="Text 18"/>
          <p:cNvSpPr txBox="1"/>
          <p:nvPr/>
        </p:nvSpPr>
        <p:spPr>
          <a:xfrm>
            <a:off x="6848856" y="1837944"/>
            <a:ext cx="1563624" cy="548640"/>
          </a:xfrm>
          <a:prstGeom prst="rect">
            <a:avLst/>
          </a:prstGeom>
          <a:noFill/>
          <a:ln/>
        </p:spPr>
        <p:txBody>
          <a:bodyPr wrap="square" lIns="0" tIns="0" rIns="0" bIns="0" rtlCol="0" anchor="t"/>
          <a:lstStyle/>
          <a:p>
            <a:pPr marL="0" indent="0">
              <a:lnSpc>
                <a:spcPct val="118000"/>
              </a:lnSpc>
              <a:buNone/>
            </a:pPr>
            <a:r>
              <a:rPr lang="en-US" sz="860" dirty="0">
                <a:solidFill>
                  <a:srgbClr val="3B3D3E"/>
                </a:solidFill>
                <a:latin typeface="PT Sans" pitchFamily="34" charset="0"/>
                <a:ea typeface="PT Sans" pitchFamily="34" charset="-122"/>
                <a:cs typeface="PT Sans" pitchFamily="34" charset="-120"/>
              </a:rPr>
              <a:t>Tools · Resources</a:t>
            </a:r>
            <a:endParaRPr lang="en-US" sz="860" dirty="0"/>
          </a:p>
          <a:p>
            <a:pPr marL="0" indent="0">
              <a:lnSpc>
                <a:spcPct val="118000"/>
              </a:lnSpc>
              <a:buNone/>
            </a:pPr>
            <a:r>
              <a:rPr lang="en-US" sz="860" dirty="0">
                <a:solidFill>
                  <a:srgbClr val="3B3D3E"/>
                </a:solidFill>
                <a:latin typeface="PT Sans" pitchFamily="34" charset="0"/>
                <a:ea typeface="PT Sans" pitchFamily="34" charset="-122"/>
                <a:cs typeface="PT Sans" pitchFamily="34" charset="-120"/>
              </a:rPr>
              <a:t>Prompts · Auth</a:t>
            </a:r>
            <a:endParaRPr lang="en-US" sz="860" dirty="0"/>
          </a:p>
        </p:txBody>
      </p:sp>
      <p:sp>
        <p:nvSpPr>
          <p:cNvPr id="22" name="Shape 19"/>
          <p:cNvSpPr/>
          <p:nvPr/>
        </p:nvSpPr>
        <p:spPr>
          <a:xfrm>
            <a:off x="449885" y="2788920"/>
            <a:ext cx="3984955" cy="1051560"/>
          </a:xfrm>
          <a:prstGeom prst="roundRect">
            <a:avLst>
              <a:gd name="adj" fmla="val 5217"/>
            </a:avLst>
          </a:prstGeom>
          <a:solidFill>
            <a:srgbClr val="FBEFEF"/>
          </a:solidFill>
          <a:ln w="9525">
            <a:solidFill>
              <a:srgbClr val="E3B8B6"/>
            </a:solidFill>
            <a:prstDash val="solid"/>
          </a:ln>
        </p:spPr>
        <p:txBody>
          <a:bodyPr/>
          <a:lstStyle/>
          <a:p>
            <a:endParaRPr lang="en-IN"/>
          </a:p>
        </p:txBody>
      </p:sp>
      <p:sp>
        <p:nvSpPr>
          <p:cNvPr id="23" name="Text 20"/>
          <p:cNvSpPr txBox="1"/>
          <p:nvPr/>
        </p:nvSpPr>
        <p:spPr>
          <a:xfrm>
            <a:off x="614477" y="2916936"/>
            <a:ext cx="3655771" cy="320040"/>
          </a:xfrm>
          <a:prstGeom prst="rect">
            <a:avLst/>
          </a:prstGeom>
          <a:noFill/>
          <a:ln/>
        </p:spPr>
        <p:txBody>
          <a:bodyPr wrap="square" lIns="0" tIns="0" rIns="0" bIns="0" rtlCol="0" anchor="ctr"/>
          <a:lstStyle/>
          <a:p>
            <a:pPr marL="0" indent="0">
              <a:lnSpc>
                <a:spcPct val="105000"/>
              </a:lnSpc>
              <a:buNone/>
            </a:pPr>
            <a:r>
              <a:rPr lang="en-US" sz="1050" b="1" dirty="0">
                <a:solidFill>
                  <a:srgbClr val="C0504D"/>
                </a:solidFill>
                <a:latin typeface="Poppins SemiBold" pitchFamily="34" charset="0"/>
                <a:ea typeface="Poppins SemiBold" pitchFamily="34" charset="-122"/>
                <a:cs typeface="Poppins SemiBold" pitchFamily="34" charset="-120"/>
              </a:rPr>
              <a:t>MCP never talks to the LLM directly</a:t>
            </a:r>
            <a:endParaRPr lang="en-US" sz="1050" dirty="0"/>
          </a:p>
        </p:txBody>
      </p:sp>
      <p:sp>
        <p:nvSpPr>
          <p:cNvPr id="24" name="Text 21"/>
          <p:cNvSpPr txBox="1"/>
          <p:nvPr/>
        </p:nvSpPr>
        <p:spPr>
          <a:xfrm>
            <a:off x="614477" y="3264408"/>
            <a:ext cx="3655771" cy="530352"/>
          </a:xfrm>
          <a:prstGeom prst="rect">
            <a:avLst/>
          </a:prstGeom>
          <a:noFill/>
          <a:ln/>
        </p:spPr>
        <p:txBody>
          <a:bodyPr wrap="square" lIns="0" tIns="0" rIns="0" bIns="0" rtlCol="0" anchor="t"/>
          <a:lstStyle/>
          <a:p>
            <a:pPr marL="0" indent="0">
              <a:lnSpc>
                <a:spcPct val="120000"/>
              </a:lnSpc>
              <a:buNone/>
            </a:pPr>
            <a:r>
              <a:rPr lang="en-US" sz="900" dirty="0">
                <a:solidFill>
                  <a:srgbClr val="3B3D3E"/>
                </a:solidFill>
                <a:latin typeface="PT Sans" pitchFamily="34" charset="0"/>
                <a:ea typeface="PT Sans" pitchFamily="34" charset="-122"/>
                <a:cs typeface="PT Sans" pitchFamily="34" charset="-120"/>
              </a:rPr>
              <a:t>Agent code fetches capabilities and injects them into the prompt before every call. The LLM only ever sees text.</a:t>
            </a:r>
            <a:endParaRPr lang="en-US" sz="900" dirty="0"/>
          </a:p>
        </p:txBody>
      </p:sp>
      <p:sp>
        <p:nvSpPr>
          <p:cNvPr id="25" name="Shape 22"/>
          <p:cNvSpPr/>
          <p:nvPr/>
        </p:nvSpPr>
        <p:spPr>
          <a:xfrm>
            <a:off x="4709160" y="2788920"/>
            <a:ext cx="3984955" cy="1051560"/>
          </a:xfrm>
          <a:prstGeom prst="roundRect">
            <a:avLst>
              <a:gd name="adj" fmla="val 5217"/>
            </a:avLst>
          </a:prstGeom>
          <a:solidFill>
            <a:srgbClr val="E6F4FA"/>
          </a:solidFill>
          <a:ln w="9525">
            <a:solidFill>
              <a:srgbClr val="00A3E0"/>
            </a:solidFill>
            <a:prstDash val="solid"/>
          </a:ln>
        </p:spPr>
        <p:txBody>
          <a:bodyPr/>
          <a:lstStyle/>
          <a:p>
            <a:endParaRPr lang="en-IN"/>
          </a:p>
        </p:txBody>
      </p:sp>
      <p:sp>
        <p:nvSpPr>
          <p:cNvPr id="26" name="Text 23"/>
          <p:cNvSpPr txBox="1"/>
          <p:nvPr/>
        </p:nvSpPr>
        <p:spPr>
          <a:xfrm>
            <a:off x="4873752" y="2916936"/>
            <a:ext cx="3655771" cy="320040"/>
          </a:xfrm>
          <a:prstGeom prst="rect">
            <a:avLst/>
          </a:prstGeom>
          <a:noFill/>
          <a:ln/>
        </p:spPr>
        <p:txBody>
          <a:bodyPr wrap="square" lIns="0" tIns="0" rIns="0" bIns="0" rtlCol="0" anchor="ctr"/>
          <a:lstStyle/>
          <a:p>
            <a:pPr marL="0" indent="0">
              <a:lnSpc>
                <a:spcPct val="105000"/>
              </a:lnSpc>
              <a:buNone/>
            </a:pPr>
            <a:r>
              <a:rPr lang="en-US" sz="1050" b="1" dirty="0">
                <a:solidFill>
                  <a:srgbClr val="004C97"/>
                </a:solidFill>
                <a:latin typeface="Poppins SemiBold" pitchFamily="34" charset="0"/>
                <a:ea typeface="Poppins SemiBold" pitchFamily="34" charset="-122"/>
                <a:cs typeface="Poppins SemiBold" pitchFamily="34" charset="-120"/>
              </a:rPr>
              <a:t>The MCP connection IS stateful</a:t>
            </a:r>
            <a:endParaRPr lang="en-US" sz="1050" dirty="0"/>
          </a:p>
        </p:txBody>
      </p:sp>
      <p:sp>
        <p:nvSpPr>
          <p:cNvPr id="27" name="Text 24"/>
          <p:cNvSpPr txBox="1"/>
          <p:nvPr/>
        </p:nvSpPr>
        <p:spPr>
          <a:xfrm>
            <a:off x="4873752" y="3264408"/>
            <a:ext cx="3655771" cy="530352"/>
          </a:xfrm>
          <a:prstGeom prst="rect">
            <a:avLst/>
          </a:prstGeom>
          <a:noFill/>
          <a:ln/>
        </p:spPr>
        <p:txBody>
          <a:bodyPr wrap="square" lIns="0" tIns="0" rIns="0" bIns="0" rtlCol="0" anchor="t"/>
          <a:lstStyle/>
          <a:p>
            <a:pPr marL="0" indent="0">
              <a:lnSpc>
                <a:spcPct val="120000"/>
              </a:lnSpc>
              <a:buNone/>
            </a:pPr>
            <a:r>
              <a:rPr lang="en-US" sz="900" dirty="0">
                <a:solidFill>
                  <a:srgbClr val="3B3D3E"/>
                </a:solidFill>
                <a:latin typeface="PT Sans" pitchFamily="34" charset="0"/>
                <a:ea typeface="PT Sans" pitchFamily="34" charset="-122"/>
                <a:cs typeface="PT Sans" pitchFamily="34" charset="-120"/>
              </a:rPr>
              <a:t>The server holds session context between calls — fetch portfolio, check margin, place order, all one session.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2  •  MCP: GIVING IT HANDS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Meet the Example</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449885" y="1234440"/>
            <a:ext cx="8244230" cy="566928"/>
          </a:xfrm>
          <a:prstGeom prst="roundRect">
            <a:avLst>
              <a:gd name="adj" fmla="val 9677"/>
            </a:avLst>
          </a:prstGeom>
          <a:solidFill>
            <a:srgbClr val="004C97"/>
          </a:solidFill>
          <a:ln w="9525">
            <a:solidFill>
              <a:srgbClr val="004C97"/>
            </a:solidFill>
            <a:prstDash val="solid"/>
          </a:ln>
        </p:spPr>
        <p:txBody>
          <a:bodyPr/>
          <a:lstStyle/>
          <a:p>
            <a:endParaRPr lang="en-IN"/>
          </a:p>
        </p:txBody>
      </p:sp>
      <p:sp>
        <p:nvSpPr>
          <p:cNvPr id="8" name="Text 5"/>
          <p:cNvSpPr txBox="1"/>
          <p:nvPr/>
        </p:nvSpPr>
        <p:spPr>
          <a:xfrm>
            <a:off x="678485" y="1234440"/>
            <a:ext cx="7787030" cy="566928"/>
          </a:xfrm>
          <a:prstGeom prst="rect">
            <a:avLst/>
          </a:prstGeom>
          <a:noFill/>
          <a:ln/>
        </p:spPr>
        <p:txBody>
          <a:bodyPr wrap="square" lIns="0" tIns="0" rIns="0" bIns="0" rtlCol="0" anchor="ctr"/>
          <a:lstStyle/>
          <a:p>
            <a:pPr marL="0" indent="0">
              <a:buNone/>
            </a:pPr>
            <a:r>
              <a:rPr lang="en-US" sz="1300" b="1" i="1" dirty="0">
                <a:solidFill>
                  <a:srgbClr val="FFFFFF"/>
                </a:solidFill>
                <a:latin typeface="Poppins SemiBold" pitchFamily="34" charset="0"/>
                <a:ea typeface="Poppins SemiBold" pitchFamily="34" charset="-122"/>
                <a:cs typeface="Poppins SemiBold" pitchFamily="34" charset="-120"/>
              </a:rPr>
              <a:t>"Should I buy more HDFC Bank today?" — our Zerodha trading agent needs:</a:t>
            </a:r>
            <a:endParaRPr lang="en-US" sz="1300" dirty="0"/>
          </a:p>
        </p:txBody>
      </p:sp>
      <p:sp>
        <p:nvSpPr>
          <p:cNvPr id="9" name="Shape 6"/>
          <p:cNvSpPr/>
          <p:nvPr/>
        </p:nvSpPr>
        <p:spPr>
          <a:xfrm>
            <a:off x="449885" y="2011680"/>
            <a:ext cx="3984955" cy="1965960"/>
          </a:xfrm>
          <a:prstGeom prst="roundRect">
            <a:avLst>
              <a:gd name="adj" fmla="val 2791"/>
            </a:avLst>
          </a:prstGeom>
          <a:solidFill>
            <a:srgbClr val="FFFFFF"/>
          </a:solidFill>
          <a:ln w="9525">
            <a:solidFill>
              <a:srgbClr val="E2E8F0"/>
            </a:solidFill>
            <a:prstDash val="solid"/>
          </a:ln>
        </p:spPr>
        <p:txBody>
          <a:bodyPr/>
          <a:lstStyle/>
          <a:p>
            <a:endParaRPr lang="en-IN"/>
          </a:p>
        </p:txBody>
      </p:sp>
      <p:sp>
        <p:nvSpPr>
          <p:cNvPr id="10" name="Text 7"/>
          <p:cNvSpPr txBox="1"/>
          <p:nvPr/>
        </p:nvSpPr>
        <p:spPr>
          <a:xfrm>
            <a:off x="632765" y="2157984"/>
            <a:ext cx="3619195" cy="274320"/>
          </a:xfrm>
          <a:prstGeom prst="rect">
            <a:avLst/>
          </a:prstGeom>
          <a:noFill/>
          <a:ln/>
        </p:spPr>
        <p:txBody>
          <a:bodyPr wrap="square" lIns="0" tIns="0" rIns="0" bIns="0" rtlCol="0" anchor="ctr"/>
          <a:lstStyle/>
          <a:p>
            <a:pPr marL="0" indent="0">
              <a:buNone/>
            </a:pPr>
            <a:r>
              <a:rPr lang="en-US" sz="1100" b="1" dirty="0">
                <a:solidFill>
                  <a:srgbClr val="004C97"/>
                </a:solidFill>
                <a:latin typeface="Poppins SemiBold" pitchFamily="34" charset="0"/>
                <a:ea typeface="Poppins SemiBold" pitchFamily="34" charset="-122"/>
                <a:cs typeface="Poppins SemiBold" pitchFamily="34" charset="-120"/>
              </a:rPr>
              <a:t>📂  RESOURCES  (data to read)</a:t>
            </a:r>
            <a:endParaRPr lang="en-US" sz="1100" dirty="0"/>
          </a:p>
        </p:txBody>
      </p:sp>
      <p:sp>
        <p:nvSpPr>
          <p:cNvPr id="11" name="Text 8"/>
          <p:cNvSpPr txBox="1"/>
          <p:nvPr/>
        </p:nvSpPr>
        <p:spPr>
          <a:xfrm>
            <a:off x="632765" y="2487168"/>
            <a:ext cx="3619195" cy="329184"/>
          </a:xfrm>
          <a:prstGeom prst="rect">
            <a:avLst/>
          </a:prstGeom>
          <a:noFill/>
          <a:ln/>
        </p:spPr>
        <p:txBody>
          <a:bodyPr wrap="square" lIns="0" tIns="0" rIns="0" bIns="0" rtlCol="0" anchor="ctr"/>
          <a:lstStyle/>
          <a:p>
            <a:pPr marL="0" indent="0">
              <a:buNone/>
            </a:pPr>
            <a:r>
              <a:rPr lang="en-US" sz="950" dirty="0">
                <a:solidFill>
                  <a:srgbClr val="3B3D3E"/>
                </a:solidFill>
                <a:latin typeface="PT Sans" pitchFamily="34" charset="0"/>
                <a:ea typeface="PT Sans" pitchFamily="34" charset="-122"/>
                <a:cs typeface="PT Sans" pitchFamily="34" charset="-120"/>
              </a:rPr>
              <a:t>R1  Live HDFC Bank price &amp; order book</a:t>
            </a:r>
            <a:endParaRPr lang="en-US" sz="950" dirty="0"/>
          </a:p>
        </p:txBody>
      </p:sp>
      <p:sp>
        <p:nvSpPr>
          <p:cNvPr id="12" name="Text 9"/>
          <p:cNvSpPr txBox="1"/>
          <p:nvPr/>
        </p:nvSpPr>
        <p:spPr>
          <a:xfrm>
            <a:off x="632765" y="2852928"/>
            <a:ext cx="3619195" cy="329184"/>
          </a:xfrm>
          <a:prstGeom prst="rect">
            <a:avLst/>
          </a:prstGeom>
          <a:noFill/>
          <a:ln/>
        </p:spPr>
        <p:txBody>
          <a:bodyPr wrap="square" lIns="0" tIns="0" rIns="0" bIns="0" rtlCol="0" anchor="ctr"/>
          <a:lstStyle/>
          <a:p>
            <a:pPr marL="0" indent="0">
              <a:buNone/>
            </a:pPr>
            <a:r>
              <a:rPr lang="en-US" sz="950" dirty="0">
                <a:solidFill>
                  <a:srgbClr val="3B3D3E"/>
                </a:solidFill>
                <a:latin typeface="PT Sans" pitchFamily="34" charset="0"/>
                <a:ea typeface="PT Sans" pitchFamily="34" charset="-122"/>
                <a:cs typeface="PT Sans" pitchFamily="34" charset="-120"/>
              </a:rPr>
              <a:t>R2  Your portfolio holdings &amp; avg. buy price</a:t>
            </a:r>
            <a:endParaRPr lang="en-US" sz="950" dirty="0"/>
          </a:p>
        </p:txBody>
      </p:sp>
      <p:sp>
        <p:nvSpPr>
          <p:cNvPr id="13" name="Text 10"/>
          <p:cNvSpPr txBox="1"/>
          <p:nvPr/>
        </p:nvSpPr>
        <p:spPr>
          <a:xfrm>
            <a:off x="632765" y="3218688"/>
            <a:ext cx="3619195" cy="329184"/>
          </a:xfrm>
          <a:prstGeom prst="rect">
            <a:avLst/>
          </a:prstGeom>
          <a:noFill/>
          <a:ln/>
        </p:spPr>
        <p:txBody>
          <a:bodyPr wrap="square" lIns="0" tIns="0" rIns="0" bIns="0" rtlCol="0" anchor="ctr"/>
          <a:lstStyle/>
          <a:p>
            <a:pPr marL="0" indent="0">
              <a:buNone/>
            </a:pPr>
            <a:r>
              <a:rPr lang="en-US" sz="950" dirty="0">
                <a:solidFill>
                  <a:srgbClr val="3B3D3E"/>
                </a:solidFill>
                <a:latin typeface="PT Sans" pitchFamily="34" charset="0"/>
                <a:ea typeface="PT Sans" pitchFamily="34" charset="-122"/>
                <a:cs typeface="PT Sans" pitchFamily="34" charset="-120"/>
              </a:rPr>
              <a:t>R3  Latest analyst ratings &amp; target prices</a:t>
            </a:r>
            <a:endParaRPr lang="en-US" sz="950" dirty="0"/>
          </a:p>
        </p:txBody>
      </p:sp>
      <p:sp>
        <p:nvSpPr>
          <p:cNvPr id="14" name="Text 11"/>
          <p:cNvSpPr txBox="1"/>
          <p:nvPr/>
        </p:nvSpPr>
        <p:spPr>
          <a:xfrm>
            <a:off x="632765" y="3584448"/>
            <a:ext cx="3619195" cy="329184"/>
          </a:xfrm>
          <a:prstGeom prst="rect">
            <a:avLst/>
          </a:prstGeom>
          <a:noFill/>
          <a:ln/>
        </p:spPr>
        <p:txBody>
          <a:bodyPr wrap="square" lIns="0" tIns="0" rIns="0" bIns="0" rtlCol="0" anchor="ctr"/>
          <a:lstStyle/>
          <a:p>
            <a:pPr marL="0" indent="0">
              <a:buNone/>
            </a:pPr>
            <a:r>
              <a:rPr lang="en-US" sz="950" dirty="0">
                <a:solidFill>
                  <a:srgbClr val="3B3D3E"/>
                </a:solidFill>
                <a:latin typeface="PT Sans" pitchFamily="34" charset="0"/>
                <a:ea typeface="PT Sans" pitchFamily="34" charset="-122"/>
                <a:cs typeface="PT Sans" pitchFamily="34" charset="-120"/>
              </a:rPr>
              <a:t>R4  Available cash / margin balance</a:t>
            </a:r>
            <a:endParaRPr lang="en-US" sz="950" dirty="0"/>
          </a:p>
        </p:txBody>
      </p:sp>
      <p:sp>
        <p:nvSpPr>
          <p:cNvPr id="15" name="Shape 12"/>
          <p:cNvSpPr/>
          <p:nvPr/>
        </p:nvSpPr>
        <p:spPr>
          <a:xfrm>
            <a:off x="4709160" y="2011680"/>
            <a:ext cx="3984955" cy="1965960"/>
          </a:xfrm>
          <a:prstGeom prst="roundRect">
            <a:avLst>
              <a:gd name="adj" fmla="val 2791"/>
            </a:avLst>
          </a:prstGeom>
          <a:solidFill>
            <a:srgbClr val="FFFFFF"/>
          </a:solidFill>
          <a:ln w="9525">
            <a:solidFill>
              <a:srgbClr val="E2E8F0"/>
            </a:solidFill>
            <a:prstDash val="solid"/>
          </a:ln>
        </p:spPr>
        <p:txBody>
          <a:bodyPr/>
          <a:lstStyle/>
          <a:p>
            <a:endParaRPr lang="en-IN"/>
          </a:p>
        </p:txBody>
      </p:sp>
      <p:sp>
        <p:nvSpPr>
          <p:cNvPr id="16" name="Text 13"/>
          <p:cNvSpPr txBox="1"/>
          <p:nvPr/>
        </p:nvSpPr>
        <p:spPr>
          <a:xfrm>
            <a:off x="4892040" y="2157984"/>
            <a:ext cx="3619195" cy="274320"/>
          </a:xfrm>
          <a:prstGeom prst="rect">
            <a:avLst/>
          </a:prstGeom>
          <a:noFill/>
          <a:ln/>
        </p:spPr>
        <p:txBody>
          <a:bodyPr wrap="square" lIns="0" tIns="0" rIns="0" bIns="0" rtlCol="0" anchor="ctr"/>
          <a:lstStyle/>
          <a:p>
            <a:pPr marL="0" indent="0">
              <a:buNone/>
            </a:pPr>
            <a:r>
              <a:rPr lang="en-US" sz="1100" b="1" dirty="0">
                <a:solidFill>
                  <a:srgbClr val="004C97"/>
                </a:solidFill>
                <a:latin typeface="Poppins SemiBold" pitchFamily="34" charset="0"/>
                <a:ea typeface="Poppins SemiBold" pitchFamily="34" charset="-122"/>
                <a:cs typeface="Poppins SemiBold" pitchFamily="34" charset="-120"/>
              </a:rPr>
              <a:t>🔧  TOOLS  (actions to take)</a:t>
            </a:r>
            <a:endParaRPr lang="en-US" sz="1100" dirty="0"/>
          </a:p>
        </p:txBody>
      </p:sp>
      <p:sp>
        <p:nvSpPr>
          <p:cNvPr id="17" name="Text 14"/>
          <p:cNvSpPr txBox="1"/>
          <p:nvPr/>
        </p:nvSpPr>
        <p:spPr>
          <a:xfrm>
            <a:off x="4892040" y="2487168"/>
            <a:ext cx="3619195" cy="329184"/>
          </a:xfrm>
          <a:prstGeom prst="rect">
            <a:avLst/>
          </a:prstGeom>
          <a:noFill/>
          <a:ln/>
        </p:spPr>
        <p:txBody>
          <a:bodyPr wrap="square" lIns="0" tIns="0" rIns="0" bIns="0" rtlCol="0" anchor="ctr"/>
          <a:lstStyle/>
          <a:p>
            <a:pPr marL="0" indent="0">
              <a:buNone/>
            </a:pPr>
            <a:r>
              <a:rPr lang="en-US" sz="950" dirty="0">
                <a:solidFill>
                  <a:srgbClr val="3B3D3E"/>
                </a:solidFill>
                <a:latin typeface="Courier New" pitchFamily="34" charset="0"/>
                <a:ea typeface="Courier New" pitchFamily="34" charset="-122"/>
                <a:cs typeface="Courier New" pitchFamily="34" charset="-120"/>
              </a:rPr>
              <a:t>T1  place_order(ticker, qty, price)</a:t>
            </a:r>
            <a:endParaRPr lang="en-US" sz="950" dirty="0"/>
          </a:p>
        </p:txBody>
      </p:sp>
      <p:sp>
        <p:nvSpPr>
          <p:cNvPr id="18" name="Text 15"/>
          <p:cNvSpPr txBox="1"/>
          <p:nvPr/>
        </p:nvSpPr>
        <p:spPr>
          <a:xfrm>
            <a:off x="4892040" y="2852928"/>
            <a:ext cx="3619195" cy="329184"/>
          </a:xfrm>
          <a:prstGeom prst="rect">
            <a:avLst/>
          </a:prstGeom>
          <a:noFill/>
          <a:ln/>
        </p:spPr>
        <p:txBody>
          <a:bodyPr wrap="square" lIns="0" tIns="0" rIns="0" bIns="0" rtlCol="0" anchor="ctr"/>
          <a:lstStyle/>
          <a:p>
            <a:pPr marL="0" indent="0">
              <a:buNone/>
            </a:pPr>
            <a:r>
              <a:rPr lang="en-US" sz="950" dirty="0">
                <a:solidFill>
                  <a:srgbClr val="3B3D3E"/>
                </a:solidFill>
                <a:latin typeface="Courier New" pitchFamily="34" charset="0"/>
                <a:ea typeface="Courier New" pitchFamily="34" charset="-122"/>
                <a:cs typeface="Courier New" pitchFamily="34" charset="-120"/>
              </a:rPr>
              <a:t>T2  set_stop_loss(order_id, trigger)</a:t>
            </a:r>
            <a:endParaRPr lang="en-US" sz="950" dirty="0"/>
          </a:p>
        </p:txBody>
      </p:sp>
      <p:sp>
        <p:nvSpPr>
          <p:cNvPr id="19" name="Text 16"/>
          <p:cNvSpPr txBox="1"/>
          <p:nvPr/>
        </p:nvSpPr>
        <p:spPr>
          <a:xfrm>
            <a:off x="4892040" y="3218688"/>
            <a:ext cx="3619195" cy="329184"/>
          </a:xfrm>
          <a:prstGeom prst="rect">
            <a:avLst/>
          </a:prstGeom>
          <a:noFill/>
          <a:ln/>
        </p:spPr>
        <p:txBody>
          <a:bodyPr wrap="square" lIns="0" tIns="0" rIns="0" bIns="0" rtlCol="0" anchor="ctr"/>
          <a:lstStyle/>
          <a:p>
            <a:pPr marL="0" indent="0">
              <a:buNone/>
            </a:pPr>
            <a:r>
              <a:rPr lang="en-US" sz="950" dirty="0">
                <a:solidFill>
                  <a:srgbClr val="3B3D3E"/>
                </a:solidFill>
                <a:latin typeface="Courier New" pitchFamily="34" charset="0"/>
                <a:ea typeface="Courier New" pitchFamily="34" charset="-122"/>
                <a:cs typeface="Courier New" pitchFamily="34" charset="-120"/>
              </a:rPr>
              <a:t>T3  log_trade_rationale(text)</a:t>
            </a:r>
            <a:endParaRPr lang="en-US" sz="950" dirty="0"/>
          </a:p>
        </p:txBody>
      </p:sp>
      <p:sp>
        <p:nvSpPr>
          <p:cNvPr id="20" name="Text 17"/>
          <p:cNvSpPr txBox="1"/>
          <p:nvPr/>
        </p:nvSpPr>
        <p:spPr>
          <a:xfrm>
            <a:off x="4892040" y="3584448"/>
            <a:ext cx="3619195" cy="329184"/>
          </a:xfrm>
          <a:prstGeom prst="rect">
            <a:avLst/>
          </a:prstGeom>
          <a:noFill/>
          <a:ln/>
        </p:spPr>
        <p:txBody>
          <a:bodyPr wrap="square" lIns="0" tIns="0" rIns="0" bIns="0" rtlCol="0" anchor="ctr"/>
          <a:lstStyle/>
          <a:p>
            <a:pPr marL="0" indent="0">
              <a:buNone/>
            </a:pPr>
            <a:r>
              <a:rPr lang="en-US" sz="950" dirty="0">
                <a:solidFill>
                  <a:srgbClr val="3B3D3E"/>
                </a:solidFill>
                <a:latin typeface="Courier New" pitchFamily="34" charset="0"/>
                <a:ea typeface="Courier New" pitchFamily="34" charset="-122"/>
                <a:cs typeface="Courier New" pitchFamily="34" charset="-120"/>
              </a:rPr>
              <a:t>T4  send_notification(channel, msg)</a:t>
            </a:r>
            <a:endParaRPr lang="en-US" sz="950" dirty="0"/>
          </a:p>
        </p:txBody>
      </p:sp>
      <p:sp>
        <p:nvSpPr>
          <p:cNvPr id="21" name="Text 18"/>
          <p:cNvSpPr txBox="1"/>
          <p:nvPr/>
        </p:nvSpPr>
        <p:spPr>
          <a:xfrm>
            <a:off x="449885" y="4329684"/>
            <a:ext cx="8244230" cy="340157"/>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None of this lives in the LLM. The next few slides show exactly how the agent discovers these, fetches the data, and decides what to do.</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2  •  MCP: GIVING IT HANDS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800" b="1" dirty="0">
                <a:solidFill>
                  <a:srgbClr val="004C97"/>
                </a:solidFill>
                <a:latin typeface="Poppins SemiBold" pitchFamily="34" charset="0"/>
                <a:ea typeface="Poppins SemiBold" pitchFamily="34" charset="-122"/>
                <a:cs typeface="Poppins SemiBold" pitchFamily="34" charset="-120"/>
              </a:rPr>
              <a:t>Step 1 — Capability Discovery</a:t>
            </a:r>
            <a:endParaRPr lang="en-US" sz="18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188720"/>
            <a:ext cx="8244230" cy="502920"/>
          </a:xfrm>
          <a:prstGeom prst="rect">
            <a:avLst/>
          </a:prstGeom>
          <a:noFill/>
          <a:ln/>
        </p:spPr>
        <p:txBody>
          <a:bodyPr wrap="square" lIns="0" tIns="0" rIns="0" bIns="0" rtlCol="0" anchor="ctr"/>
          <a:lstStyle/>
          <a:p>
            <a:pPr marL="0" indent="0">
              <a:lnSpc>
                <a:spcPct val="125000"/>
              </a:lnSpc>
              <a:buNone/>
            </a:pPr>
            <a:r>
              <a:rPr lang="en-US" sz="1150" dirty="0">
                <a:solidFill>
                  <a:srgbClr val="3B3D3E"/>
                </a:solidFill>
                <a:latin typeface="PT Sans" pitchFamily="34" charset="0"/>
                <a:ea typeface="PT Sans" pitchFamily="34" charset="-122"/>
                <a:cs typeface="PT Sans" pitchFamily="34" charset="-120"/>
              </a:rPr>
              <a:t>The agent's first move: ask the MCP server what it can do. The JSON comes back to your agent code — not to the LLM.</a:t>
            </a:r>
            <a:endParaRPr lang="en-US" sz="1150" dirty="0"/>
          </a:p>
        </p:txBody>
      </p:sp>
      <p:sp>
        <p:nvSpPr>
          <p:cNvPr id="8" name="Shape 5"/>
          <p:cNvSpPr/>
          <p:nvPr/>
        </p:nvSpPr>
        <p:spPr>
          <a:xfrm>
            <a:off x="449885" y="1783080"/>
            <a:ext cx="4160520" cy="1783080"/>
          </a:xfrm>
          <a:prstGeom prst="roundRect">
            <a:avLst>
              <a:gd name="adj" fmla="val 2051"/>
            </a:avLst>
          </a:prstGeom>
          <a:solidFill>
            <a:srgbClr val="0A2647"/>
          </a:solidFill>
          <a:ln/>
        </p:spPr>
        <p:txBody>
          <a:bodyPr/>
          <a:lstStyle/>
          <a:p>
            <a:endParaRPr lang="en-IN"/>
          </a:p>
        </p:txBody>
      </p:sp>
      <p:sp>
        <p:nvSpPr>
          <p:cNvPr id="9" name="Text 6"/>
          <p:cNvSpPr txBox="1"/>
          <p:nvPr/>
        </p:nvSpPr>
        <p:spPr>
          <a:xfrm>
            <a:off x="596189" y="1892808"/>
            <a:ext cx="3867912" cy="1563624"/>
          </a:xfrm>
          <a:prstGeom prst="rect">
            <a:avLst/>
          </a:prstGeom>
          <a:noFill/>
          <a:ln/>
        </p:spPr>
        <p:txBody>
          <a:bodyPr wrap="square" lIns="0" tIns="0" rIns="0" bIns="0" rtlCol="0" anchor="t"/>
          <a:lstStyle/>
          <a:p>
            <a:pPr marL="0" indent="0" algn="l">
              <a:lnSpc>
                <a:spcPct val="128000"/>
              </a:lnSpc>
              <a:buNone/>
            </a:pPr>
            <a:r>
              <a:rPr lang="en-US" sz="900" dirty="0">
                <a:solidFill>
                  <a:srgbClr val="CFE8F5"/>
                </a:solidFill>
                <a:latin typeface="Courier New" pitchFamily="34" charset="0"/>
                <a:ea typeface="Courier New" pitchFamily="34" charset="-122"/>
                <a:cs typeface="Courier New" pitchFamily="34" charset="-120"/>
              </a:rPr>
              <a:t>GET /capabilities  ──────▶</a:t>
            </a:r>
            <a:endParaRPr lang="en-US" sz="900" dirty="0"/>
          </a:p>
          <a:p>
            <a:pPr marL="0" indent="0" algn="l">
              <a:lnSpc>
                <a:spcPct val="128000"/>
              </a:lnSpc>
              <a:buNone/>
            </a:pPr>
            <a:r>
              <a:rPr lang="en-US" sz="900" dirty="0">
                <a:solidFill>
                  <a:srgbClr val="CFE8F5"/>
                </a:solidFill>
                <a:latin typeface="Courier New" pitchFamily="34" charset="0"/>
                <a:ea typeface="Courier New" pitchFamily="34" charset="-122"/>
                <a:cs typeface="Courier New" pitchFamily="34" charset="-120"/>
              </a:rPr>
              <a:t>◀─────  capabilities JSON</a:t>
            </a:r>
            <a:endParaRPr lang="en-US" sz="900" dirty="0"/>
          </a:p>
          <a:p>
            <a:pPr marL="0" indent="0" algn="l">
              <a:lnSpc>
                <a:spcPct val="128000"/>
              </a:lnSpc>
              <a:buNone/>
            </a:pPr>
            <a:endParaRPr lang="en-US" sz="900" dirty="0"/>
          </a:p>
          <a:p>
            <a:pPr marL="0" indent="0" algn="l">
              <a:lnSpc>
                <a:spcPct val="128000"/>
              </a:lnSpc>
              <a:buNone/>
            </a:pPr>
            <a:r>
              <a:rPr lang="en-US" sz="900" dirty="0">
                <a:solidFill>
                  <a:srgbClr val="CFE8F5"/>
                </a:solidFill>
                <a:latin typeface="Courier New" pitchFamily="34" charset="0"/>
                <a:ea typeface="Courier New" pitchFamily="34" charset="-122"/>
                <a:cs typeface="Courier New" pitchFamily="34" charset="-120"/>
              </a:rPr>
              <a:t>{ "tools": [</a:t>
            </a:r>
            <a:endParaRPr lang="en-US" sz="900" dirty="0"/>
          </a:p>
          <a:p>
            <a:pPr marL="0" indent="0" algn="l">
              <a:lnSpc>
                <a:spcPct val="128000"/>
              </a:lnSpc>
              <a:buNone/>
            </a:pPr>
            <a:r>
              <a:rPr lang="en-US" sz="900" dirty="0">
                <a:solidFill>
                  <a:srgbClr val="CFE8F5"/>
                </a:solidFill>
                <a:latin typeface="Courier New" pitchFamily="34" charset="0"/>
                <a:ea typeface="Courier New" pitchFamily="34" charset="-122"/>
                <a:cs typeface="Courier New" pitchFamily="34" charset="-120"/>
              </a:rPr>
              <a:t>   {"name":"place_order",</a:t>
            </a:r>
            <a:endParaRPr lang="en-US" sz="900" dirty="0"/>
          </a:p>
          <a:p>
            <a:pPr marL="0" indent="0" algn="l">
              <a:lnSpc>
                <a:spcPct val="128000"/>
              </a:lnSpc>
              <a:buNone/>
            </a:pPr>
            <a:r>
              <a:rPr lang="en-US" sz="900" dirty="0">
                <a:solidFill>
                  <a:srgbClr val="CFE8F5"/>
                </a:solidFill>
                <a:latin typeface="Courier New" pitchFamily="34" charset="0"/>
                <a:ea typeface="Courier New" pitchFamily="34" charset="-122"/>
                <a:cs typeface="Courier New" pitchFamily="34" charset="-120"/>
              </a:rPr>
              <a:t>    "description":"Buy/sell</a:t>
            </a:r>
            <a:endParaRPr lang="en-US" sz="900" dirty="0"/>
          </a:p>
          <a:p>
            <a:pPr marL="0" indent="0" algn="l">
              <a:lnSpc>
                <a:spcPct val="128000"/>
              </a:lnSpc>
              <a:buNone/>
            </a:pPr>
            <a:r>
              <a:rPr lang="en-US" sz="900" dirty="0">
                <a:solidFill>
                  <a:srgbClr val="CFE8F5"/>
                </a:solidFill>
                <a:latin typeface="Courier New" pitchFamily="34" charset="0"/>
                <a:ea typeface="Courier New" pitchFamily="34" charset="-122"/>
                <a:cs typeface="Courier New" pitchFamily="34" charset="-120"/>
              </a:rPr>
              <a:t>     order on NSE/BSE"} ],</a:t>
            </a:r>
            <a:endParaRPr lang="en-US" sz="900" dirty="0"/>
          </a:p>
          <a:p>
            <a:pPr marL="0" indent="0" algn="l">
              <a:lnSpc>
                <a:spcPct val="128000"/>
              </a:lnSpc>
              <a:buNone/>
            </a:pPr>
            <a:r>
              <a:rPr lang="en-US" sz="900" dirty="0">
                <a:solidFill>
                  <a:srgbClr val="CFE8F5"/>
                </a:solidFill>
                <a:latin typeface="Courier New" pitchFamily="34" charset="0"/>
                <a:ea typeface="Courier New" pitchFamily="34" charset="-122"/>
                <a:cs typeface="Courier New" pitchFamily="34" charset="-120"/>
              </a:rPr>
              <a:t>  "resources": [</a:t>
            </a:r>
            <a:endParaRPr lang="en-US" sz="900" dirty="0"/>
          </a:p>
          <a:p>
            <a:pPr marL="0" indent="0" algn="l">
              <a:lnSpc>
                <a:spcPct val="128000"/>
              </a:lnSpc>
              <a:buNone/>
            </a:pPr>
            <a:r>
              <a:rPr lang="en-US" sz="900" dirty="0">
                <a:solidFill>
                  <a:srgbClr val="CFE8F5"/>
                </a:solidFill>
                <a:latin typeface="Courier New" pitchFamily="34" charset="0"/>
                <a:ea typeface="Courier New" pitchFamily="34" charset="-122"/>
                <a:cs typeface="Courier New" pitchFamily="34" charset="-120"/>
              </a:rPr>
              <a:t>   {"uri":"zerodha://margin"} ]}</a:t>
            </a:r>
            <a:endParaRPr lang="en-US" sz="900" dirty="0"/>
          </a:p>
        </p:txBody>
      </p:sp>
      <p:sp>
        <p:nvSpPr>
          <p:cNvPr id="10" name="Text 7"/>
          <p:cNvSpPr txBox="1"/>
          <p:nvPr/>
        </p:nvSpPr>
        <p:spPr>
          <a:xfrm>
            <a:off x="4884725" y="1783080"/>
            <a:ext cx="3809390" cy="237744"/>
          </a:xfrm>
          <a:prstGeom prst="rect">
            <a:avLst/>
          </a:prstGeom>
          <a:noFill/>
          <a:ln/>
        </p:spPr>
        <p:txBody>
          <a:bodyPr wrap="square" lIns="0" tIns="0" rIns="0" bIns="0" rtlCol="0" anchor="ctr"/>
          <a:lstStyle/>
          <a:p>
            <a:pPr marL="0" indent="0">
              <a:buNone/>
            </a:pPr>
            <a:r>
              <a:rPr lang="en-US" sz="1050" b="1" dirty="0">
                <a:solidFill>
                  <a:srgbClr val="004C97"/>
                </a:solidFill>
                <a:latin typeface="Poppins SemiBold" pitchFamily="34" charset="0"/>
                <a:ea typeface="Poppins SemiBold" pitchFamily="34" charset="-122"/>
                <a:cs typeface="Poppins SemiBold" pitchFamily="34" charset="-120"/>
              </a:rPr>
              <a:t>Runtime discovery, not build-time</a:t>
            </a:r>
            <a:endParaRPr lang="en-US" sz="1050" dirty="0"/>
          </a:p>
        </p:txBody>
      </p:sp>
      <p:sp>
        <p:nvSpPr>
          <p:cNvPr id="11" name="Text 8"/>
          <p:cNvSpPr txBox="1"/>
          <p:nvPr/>
        </p:nvSpPr>
        <p:spPr>
          <a:xfrm>
            <a:off x="4884725" y="2020824"/>
            <a:ext cx="3809390" cy="347472"/>
          </a:xfrm>
          <a:prstGeom prst="rect">
            <a:avLst/>
          </a:prstGeom>
          <a:noFill/>
          <a:ln/>
        </p:spPr>
        <p:txBody>
          <a:bodyPr wrap="square" lIns="0" tIns="0" rIns="0" bIns="0" rtlCol="0" anchor="t"/>
          <a:lstStyle/>
          <a:p>
            <a:pPr marL="0" indent="0">
              <a:lnSpc>
                <a:spcPct val="115000"/>
              </a:lnSpc>
              <a:buNone/>
            </a:pPr>
            <a:r>
              <a:rPr lang="en-US" sz="900" dirty="0">
                <a:solidFill>
                  <a:srgbClr val="3B3D3E"/>
                </a:solidFill>
                <a:latin typeface="PT Sans" pitchFamily="34" charset="0"/>
                <a:ea typeface="PT Sans" pitchFamily="34" charset="-122"/>
                <a:cs typeface="PT Sans" pitchFamily="34" charset="-120"/>
              </a:rPr>
              <a:t>Add a tool to the server tonight — every agent knows about it tomorrow. No redeploy.</a:t>
            </a:r>
            <a:endParaRPr lang="en-US" sz="900" dirty="0"/>
          </a:p>
        </p:txBody>
      </p:sp>
      <p:sp>
        <p:nvSpPr>
          <p:cNvPr id="12" name="Text 9"/>
          <p:cNvSpPr txBox="1"/>
          <p:nvPr/>
        </p:nvSpPr>
        <p:spPr>
          <a:xfrm>
            <a:off x="4884725" y="2386584"/>
            <a:ext cx="3809390" cy="237744"/>
          </a:xfrm>
          <a:prstGeom prst="rect">
            <a:avLst/>
          </a:prstGeom>
          <a:noFill/>
          <a:ln/>
        </p:spPr>
        <p:txBody>
          <a:bodyPr wrap="square" lIns="0" tIns="0" rIns="0" bIns="0" rtlCol="0" anchor="ctr"/>
          <a:lstStyle/>
          <a:p>
            <a:pPr marL="0" indent="0">
              <a:buNone/>
            </a:pPr>
            <a:r>
              <a:rPr lang="en-US" sz="1050" b="1" dirty="0">
                <a:solidFill>
                  <a:srgbClr val="004C97"/>
                </a:solidFill>
                <a:latin typeface="Poppins SemiBold" pitchFamily="34" charset="0"/>
                <a:ea typeface="Poppins SemiBold" pitchFamily="34" charset="-122"/>
                <a:cs typeface="Poppins SemiBold" pitchFamily="34" charset="-120"/>
              </a:rPr>
              <a:t>The LLM never sees this JSON</a:t>
            </a:r>
            <a:endParaRPr lang="en-US" sz="1050" dirty="0"/>
          </a:p>
        </p:txBody>
      </p:sp>
      <p:sp>
        <p:nvSpPr>
          <p:cNvPr id="13" name="Text 10"/>
          <p:cNvSpPr txBox="1"/>
          <p:nvPr/>
        </p:nvSpPr>
        <p:spPr>
          <a:xfrm>
            <a:off x="4884725" y="2624328"/>
            <a:ext cx="3809390" cy="347472"/>
          </a:xfrm>
          <a:prstGeom prst="rect">
            <a:avLst/>
          </a:prstGeom>
          <a:noFill/>
          <a:ln/>
        </p:spPr>
        <p:txBody>
          <a:bodyPr wrap="square" lIns="0" tIns="0" rIns="0" bIns="0" rtlCol="0" anchor="t"/>
          <a:lstStyle/>
          <a:p>
            <a:pPr marL="0" indent="0">
              <a:lnSpc>
                <a:spcPct val="115000"/>
              </a:lnSpc>
              <a:buNone/>
            </a:pPr>
            <a:r>
              <a:rPr lang="en-US" sz="900" dirty="0">
                <a:solidFill>
                  <a:srgbClr val="3B3D3E"/>
                </a:solidFill>
                <a:latin typeface="PT Sans" pitchFamily="34" charset="0"/>
                <a:ea typeface="PT Sans" pitchFamily="34" charset="-122"/>
                <a:cs typeface="PT Sans" pitchFamily="34" charset="-120"/>
              </a:rPr>
              <a:t>Agent code reformats it into plain text and injects it into the system prompt.</a:t>
            </a:r>
            <a:endParaRPr lang="en-US" sz="900" dirty="0"/>
          </a:p>
        </p:txBody>
      </p:sp>
      <p:sp>
        <p:nvSpPr>
          <p:cNvPr id="14" name="Text 11"/>
          <p:cNvSpPr txBox="1"/>
          <p:nvPr/>
        </p:nvSpPr>
        <p:spPr>
          <a:xfrm>
            <a:off x="4884725" y="2990088"/>
            <a:ext cx="3809390" cy="237744"/>
          </a:xfrm>
          <a:prstGeom prst="rect">
            <a:avLst/>
          </a:prstGeom>
          <a:noFill/>
          <a:ln/>
        </p:spPr>
        <p:txBody>
          <a:bodyPr wrap="square" lIns="0" tIns="0" rIns="0" bIns="0" rtlCol="0" anchor="ctr"/>
          <a:lstStyle/>
          <a:p>
            <a:pPr marL="0" indent="0">
              <a:buNone/>
            </a:pPr>
            <a:r>
              <a:rPr lang="en-US" sz="1050" b="1" dirty="0">
                <a:solidFill>
                  <a:srgbClr val="004C97"/>
                </a:solidFill>
                <a:latin typeface="Poppins SemiBold" pitchFamily="34" charset="0"/>
                <a:ea typeface="Poppins SemiBold" pitchFamily="34" charset="-122"/>
                <a:cs typeface="Poppins SemiBold" pitchFamily="34" charset="-120"/>
              </a:rPr>
              <a:t>Swap the server, agent adapts</a:t>
            </a:r>
            <a:endParaRPr lang="en-US" sz="1050" dirty="0"/>
          </a:p>
        </p:txBody>
      </p:sp>
      <p:sp>
        <p:nvSpPr>
          <p:cNvPr id="15" name="Text 12"/>
          <p:cNvSpPr txBox="1"/>
          <p:nvPr/>
        </p:nvSpPr>
        <p:spPr>
          <a:xfrm>
            <a:off x="4884725" y="3227832"/>
            <a:ext cx="3809390" cy="347472"/>
          </a:xfrm>
          <a:prstGeom prst="rect">
            <a:avLst/>
          </a:prstGeom>
          <a:noFill/>
          <a:ln/>
        </p:spPr>
        <p:txBody>
          <a:bodyPr wrap="square" lIns="0" tIns="0" rIns="0" bIns="0" rtlCol="0" anchor="t"/>
          <a:lstStyle/>
          <a:p>
            <a:pPr marL="0" indent="0">
              <a:lnSpc>
                <a:spcPct val="115000"/>
              </a:lnSpc>
              <a:buNone/>
            </a:pPr>
            <a:r>
              <a:rPr lang="en-US" sz="900" dirty="0">
                <a:solidFill>
                  <a:srgbClr val="3B3D3E"/>
                </a:solidFill>
                <a:latin typeface="PT Sans" pitchFamily="34" charset="0"/>
                <a:ea typeface="PT Sans" pitchFamily="34" charset="-122"/>
                <a:cs typeface="PT Sans" pitchFamily="34" charset="-120"/>
              </a:rPr>
              <a:t>Point the client at a new URL. The prompt rebuilds itself automatically.</a:t>
            </a:r>
            <a:endParaRPr lang="en-US" sz="900" dirty="0"/>
          </a:p>
        </p:txBody>
      </p:sp>
      <p:sp>
        <p:nvSpPr>
          <p:cNvPr id="16" name="Text 13"/>
          <p:cNvSpPr txBox="1"/>
          <p:nvPr/>
        </p:nvSpPr>
        <p:spPr>
          <a:xfrm>
            <a:off x="449885" y="4329684"/>
            <a:ext cx="8244230" cy="340157"/>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This is the most misunderstood thing about MCP: the JSON lands in your agent code, is reformatted into text, and only then reaches the model. The LLM has no idea MCP exists.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2  •  MCP: GIVING IT HANDS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Step 2 — Resource Fetch</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188720"/>
            <a:ext cx="8244230" cy="274320"/>
          </a:xfrm>
          <a:prstGeom prst="rect">
            <a:avLst/>
          </a:prstGeom>
          <a:noFill/>
          <a:ln/>
        </p:spPr>
        <p:txBody>
          <a:bodyPr wrap="square" lIns="0" tIns="0" rIns="0" bIns="0" rtlCol="0" anchor="ctr"/>
          <a:lstStyle/>
          <a:p>
            <a:pPr marL="0" indent="0">
              <a:buNone/>
            </a:pPr>
            <a:r>
              <a:rPr lang="en-US" sz="1200" dirty="0">
                <a:solidFill>
                  <a:srgbClr val="3B3D3E"/>
                </a:solidFill>
                <a:latin typeface="PT Sans" pitchFamily="34" charset="0"/>
                <a:ea typeface="PT Sans" pitchFamily="34" charset="-122"/>
                <a:cs typeface="PT Sans" pitchFamily="34" charset="-120"/>
              </a:rPr>
              <a:t>The LLM decides what data it needs — the agent goes and gets it.</a:t>
            </a:r>
            <a:endParaRPr lang="en-US" sz="1200" dirty="0"/>
          </a:p>
        </p:txBody>
      </p:sp>
      <p:sp>
        <p:nvSpPr>
          <p:cNvPr id="8" name="Shape 5"/>
          <p:cNvSpPr/>
          <p:nvPr/>
        </p:nvSpPr>
        <p:spPr>
          <a:xfrm>
            <a:off x="449885" y="1536192"/>
            <a:ext cx="8244230" cy="566928"/>
          </a:xfrm>
          <a:prstGeom prst="roundRect">
            <a:avLst>
              <a:gd name="adj" fmla="val 9677"/>
            </a:avLst>
          </a:prstGeom>
          <a:solidFill>
            <a:srgbClr val="FFF7E9"/>
          </a:solidFill>
          <a:ln w="9525">
            <a:solidFill>
              <a:srgbClr val="E9D9B0"/>
            </a:solidFill>
            <a:prstDash val="solid"/>
          </a:ln>
        </p:spPr>
        <p:txBody>
          <a:bodyPr/>
          <a:lstStyle/>
          <a:p>
            <a:endParaRPr lang="en-IN"/>
          </a:p>
        </p:txBody>
      </p:sp>
      <p:sp>
        <p:nvSpPr>
          <p:cNvPr id="9" name="Text 6"/>
          <p:cNvSpPr txBox="1"/>
          <p:nvPr/>
        </p:nvSpPr>
        <p:spPr>
          <a:xfrm>
            <a:off x="632765" y="1536192"/>
            <a:ext cx="7878470" cy="566928"/>
          </a:xfrm>
          <a:prstGeom prst="rect">
            <a:avLst/>
          </a:prstGeom>
          <a:noFill/>
          <a:ln/>
        </p:spPr>
        <p:txBody>
          <a:bodyPr wrap="square" lIns="0" tIns="0" rIns="0" bIns="0" rtlCol="0" anchor="ctr"/>
          <a:lstStyle/>
          <a:p>
            <a:pPr marL="0" indent="0">
              <a:lnSpc>
                <a:spcPct val="115000"/>
              </a:lnSpc>
              <a:buNone/>
            </a:pPr>
            <a:r>
              <a:rPr lang="en-US" sz="1000" i="1" dirty="0">
                <a:solidFill>
                  <a:srgbClr val="B7791F"/>
                </a:solidFill>
                <a:latin typeface="PT Sans" pitchFamily="34" charset="0"/>
                <a:ea typeface="PT Sans" pitchFamily="34" charset="-122"/>
                <a:cs typeface="PT Sans" pitchFamily="34" charset="-120"/>
              </a:rPr>
              <a:t>LLM reasoning: "User asks about HDFC Bank. I can see portfolio, marketdata, margin. I need all three before I recommend. Fetch them."</a:t>
            </a:r>
            <a:endParaRPr lang="en-US" sz="1000" dirty="0"/>
          </a:p>
        </p:txBody>
      </p:sp>
      <p:sp>
        <p:nvSpPr>
          <p:cNvPr id="10" name="Shape 7"/>
          <p:cNvSpPr/>
          <p:nvPr/>
        </p:nvSpPr>
        <p:spPr>
          <a:xfrm>
            <a:off x="449885" y="2286000"/>
            <a:ext cx="2656637" cy="1691640"/>
          </a:xfrm>
          <a:prstGeom prst="roundRect">
            <a:avLst>
              <a:gd name="adj" fmla="val 3243"/>
            </a:avLst>
          </a:prstGeom>
          <a:solidFill>
            <a:srgbClr val="FFFFFF"/>
          </a:solidFill>
          <a:ln w="9525">
            <a:solidFill>
              <a:srgbClr val="E2E8F0"/>
            </a:solidFill>
            <a:prstDash val="solid"/>
          </a:ln>
        </p:spPr>
        <p:txBody>
          <a:bodyPr/>
          <a:lstStyle/>
          <a:p>
            <a:endParaRPr lang="en-IN"/>
          </a:p>
        </p:txBody>
      </p:sp>
      <p:sp>
        <p:nvSpPr>
          <p:cNvPr id="11" name="Text 8"/>
          <p:cNvSpPr txBox="1"/>
          <p:nvPr/>
        </p:nvSpPr>
        <p:spPr>
          <a:xfrm>
            <a:off x="596189" y="2404872"/>
            <a:ext cx="2364029" cy="256032"/>
          </a:xfrm>
          <a:prstGeom prst="rect">
            <a:avLst/>
          </a:prstGeom>
          <a:noFill/>
          <a:ln/>
        </p:spPr>
        <p:txBody>
          <a:bodyPr wrap="square" lIns="0" tIns="0" rIns="0" bIns="0" rtlCol="0" anchor="ctr"/>
          <a:lstStyle/>
          <a:p>
            <a:pPr marL="0" indent="0">
              <a:buNone/>
            </a:pPr>
            <a:r>
              <a:rPr lang="en-US" sz="1050" b="1" dirty="0">
                <a:solidFill>
                  <a:srgbClr val="004C97"/>
                </a:solidFill>
                <a:latin typeface="Poppins SemiBold" pitchFamily="34" charset="0"/>
                <a:ea typeface="Poppins SemiBold" pitchFamily="34" charset="-122"/>
                <a:cs typeface="Poppins SemiBold" pitchFamily="34" charset="-120"/>
              </a:rPr>
              <a:t>R1: Portfolio</a:t>
            </a:r>
            <a:endParaRPr lang="en-US" sz="1050" dirty="0"/>
          </a:p>
        </p:txBody>
      </p:sp>
      <p:sp>
        <p:nvSpPr>
          <p:cNvPr id="12" name="Text 9"/>
          <p:cNvSpPr txBox="1"/>
          <p:nvPr/>
        </p:nvSpPr>
        <p:spPr>
          <a:xfrm>
            <a:off x="596189" y="2670048"/>
            <a:ext cx="2364029" cy="219456"/>
          </a:xfrm>
          <a:prstGeom prst="rect">
            <a:avLst/>
          </a:prstGeom>
          <a:noFill/>
          <a:ln/>
        </p:spPr>
        <p:txBody>
          <a:bodyPr wrap="square" lIns="0" tIns="0" rIns="0" bIns="0" rtlCol="0" anchor="ctr"/>
          <a:lstStyle/>
          <a:p>
            <a:pPr marL="0" indent="0">
              <a:buNone/>
            </a:pPr>
            <a:r>
              <a:rPr lang="en-US" sz="800" dirty="0">
                <a:solidFill>
                  <a:srgbClr val="004C97"/>
                </a:solidFill>
                <a:latin typeface="Courier New" pitchFamily="34" charset="0"/>
                <a:ea typeface="Courier New" pitchFamily="34" charset="-122"/>
                <a:cs typeface="Courier New" pitchFamily="34" charset="-120"/>
              </a:rPr>
              <a:t>GET zerodha://portfolio</a:t>
            </a:r>
            <a:endParaRPr lang="en-US" sz="800" dirty="0"/>
          </a:p>
        </p:txBody>
      </p:sp>
      <p:sp>
        <p:nvSpPr>
          <p:cNvPr id="13" name="Shape 10"/>
          <p:cNvSpPr/>
          <p:nvPr/>
        </p:nvSpPr>
        <p:spPr>
          <a:xfrm>
            <a:off x="1778203" y="2944368"/>
            <a:ext cx="0" cy="146304"/>
          </a:xfrm>
          <a:prstGeom prst="line">
            <a:avLst/>
          </a:prstGeom>
          <a:noFill/>
          <a:ln w="19050">
            <a:solidFill>
              <a:srgbClr val="00A3E0"/>
            </a:solidFill>
            <a:prstDash val="solid"/>
            <a:tailEnd type="triangle"/>
          </a:ln>
        </p:spPr>
        <p:txBody>
          <a:bodyPr/>
          <a:lstStyle/>
          <a:p>
            <a:endParaRPr lang="en-IN"/>
          </a:p>
        </p:txBody>
      </p:sp>
      <p:sp>
        <p:nvSpPr>
          <p:cNvPr id="14" name="Text 11"/>
          <p:cNvSpPr txBox="1"/>
          <p:nvPr/>
        </p:nvSpPr>
        <p:spPr>
          <a:xfrm>
            <a:off x="596189" y="3145536"/>
            <a:ext cx="2364029" cy="777240"/>
          </a:xfrm>
          <a:prstGeom prst="rect">
            <a:avLst/>
          </a:prstGeom>
          <a:noFill/>
          <a:ln/>
        </p:spPr>
        <p:txBody>
          <a:bodyPr wrap="square" lIns="0" tIns="0" rIns="0" bIns="0" rtlCol="0" anchor="t"/>
          <a:lstStyle/>
          <a:p>
            <a:pPr marL="0" indent="0">
              <a:lnSpc>
                <a:spcPct val="125000"/>
              </a:lnSpc>
              <a:buNone/>
            </a:pPr>
            <a:r>
              <a:rPr lang="en-US" sz="900" dirty="0">
                <a:solidFill>
                  <a:srgbClr val="3B3D3E"/>
                </a:solidFill>
                <a:latin typeface="PT Sans" pitchFamily="34" charset="0"/>
                <a:ea typeface="PT Sans" pitchFamily="34" charset="-122"/>
                <a:cs typeface="PT Sans" pitchFamily="34" charset="-120"/>
              </a:rPr>
              <a:t>HDFCBANK: 150 shares @ ₹1,580 avg</a:t>
            </a:r>
            <a:endParaRPr lang="en-US" sz="900" dirty="0"/>
          </a:p>
          <a:p>
            <a:pPr marL="0" indent="0">
              <a:lnSpc>
                <a:spcPct val="125000"/>
              </a:lnSpc>
              <a:buNone/>
            </a:pPr>
            <a:r>
              <a:rPr lang="en-US" sz="900" dirty="0">
                <a:solidFill>
                  <a:srgbClr val="3B3D3E"/>
                </a:solidFill>
                <a:latin typeface="PT Sans" pitchFamily="34" charset="0"/>
                <a:ea typeface="PT Sans" pitchFamily="34" charset="-122"/>
                <a:cs typeface="PT Sans" pitchFamily="34" charset="-120"/>
              </a:rPr>
              <a:t>Total invested: ₹2,37,000</a:t>
            </a:r>
            <a:endParaRPr lang="en-US" sz="900" dirty="0"/>
          </a:p>
        </p:txBody>
      </p:sp>
      <p:sp>
        <p:nvSpPr>
          <p:cNvPr id="15" name="Shape 12"/>
          <p:cNvSpPr/>
          <p:nvPr/>
        </p:nvSpPr>
        <p:spPr>
          <a:xfrm>
            <a:off x="3243682" y="2286000"/>
            <a:ext cx="2656637" cy="1691640"/>
          </a:xfrm>
          <a:prstGeom prst="roundRect">
            <a:avLst>
              <a:gd name="adj" fmla="val 3243"/>
            </a:avLst>
          </a:prstGeom>
          <a:solidFill>
            <a:srgbClr val="FFFFFF"/>
          </a:solidFill>
          <a:ln w="9525">
            <a:solidFill>
              <a:srgbClr val="E2E8F0"/>
            </a:solidFill>
            <a:prstDash val="solid"/>
          </a:ln>
        </p:spPr>
        <p:txBody>
          <a:bodyPr/>
          <a:lstStyle/>
          <a:p>
            <a:endParaRPr lang="en-IN"/>
          </a:p>
        </p:txBody>
      </p:sp>
      <p:sp>
        <p:nvSpPr>
          <p:cNvPr id="16" name="Text 13"/>
          <p:cNvSpPr txBox="1"/>
          <p:nvPr/>
        </p:nvSpPr>
        <p:spPr>
          <a:xfrm>
            <a:off x="3389986" y="2404872"/>
            <a:ext cx="2364029" cy="256032"/>
          </a:xfrm>
          <a:prstGeom prst="rect">
            <a:avLst/>
          </a:prstGeom>
          <a:noFill/>
          <a:ln/>
        </p:spPr>
        <p:txBody>
          <a:bodyPr wrap="square" lIns="0" tIns="0" rIns="0" bIns="0" rtlCol="0" anchor="ctr"/>
          <a:lstStyle/>
          <a:p>
            <a:pPr marL="0" indent="0">
              <a:buNone/>
            </a:pPr>
            <a:r>
              <a:rPr lang="en-US" sz="1050" b="1" dirty="0">
                <a:solidFill>
                  <a:srgbClr val="004C97"/>
                </a:solidFill>
                <a:latin typeface="Poppins SemiBold" pitchFamily="34" charset="0"/>
                <a:ea typeface="Poppins SemiBold" pitchFamily="34" charset="-122"/>
                <a:cs typeface="Poppins SemiBold" pitchFamily="34" charset="-120"/>
              </a:rPr>
              <a:t>R2: Market Data</a:t>
            </a:r>
            <a:endParaRPr lang="en-US" sz="1050" dirty="0"/>
          </a:p>
        </p:txBody>
      </p:sp>
      <p:sp>
        <p:nvSpPr>
          <p:cNvPr id="17" name="Text 14"/>
          <p:cNvSpPr txBox="1"/>
          <p:nvPr/>
        </p:nvSpPr>
        <p:spPr>
          <a:xfrm>
            <a:off x="3389986" y="2670048"/>
            <a:ext cx="2364029" cy="219456"/>
          </a:xfrm>
          <a:prstGeom prst="rect">
            <a:avLst/>
          </a:prstGeom>
          <a:noFill/>
          <a:ln/>
        </p:spPr>
        <p:txBody>
          <a:bodyPr wrap="square" lIns="0" tIns="0" rIns="0" bIns="0" rtlCol="0" anchor="ctr"/>
          <a:lstStyle/>
          <a:p>
            <a:pPr marL="0" indent="0">
              <a:buNone/>
            </a:pPr>
            <a:r>
              <a:rPr lang="en-US" sz="800" dirty="0">
                <a:solidFill>
                  <a:srgbClr val="004C97"/>
                </a:solidFill>
                <a:latin typeface="Courier New" pitchFamily="34" charset="0"/>
                <a:ea typeface="Courier New" pitchFamily="34" charset="-122"/>
                <a:cs typeface="Courier New" pitchFamily="34" charset="-120"/>
              </a:rPr>
              <a:t>GET zerodha://marketdata</a:t>
            </a:r>
            <a:endParaRPr lang="en-US" sz="800" dirty="0"/>
          </a:p>
        </p:txBody>
      </p:sp>
      <p:sp>
        <p:nvSpPr>
          <p:cNvPr id="18" name="Shape 15"/>
          <p:cNvSpPr/>
          <p:nvPr/>
        </p:nvSpPr>
        <p:spPr>
          <a:xfrm>
            <a:off x="4572000" y="2944368"/>
            <a:ext cx="0" cy="146304"/>
          </a:xfrm>
          <a:prstGeom prst="line">
            <a:avLst/>
          </a:prstGeom>
          <a:noFill/>
          <a:ln w="19050">
            <a:solidFill>
              <a:srgbClr val="00A3E0"/>
            </a:solidFill>
            <a:prstDash val="solid"/>
            <a:tailEnd type="triangle"/>
          </a:ln>
        </p:spPr>
        <p:txBody>
          <a:bodyPr/>
          <a:lstStyle/>
          <a:p>
            <a:endParaRPr lang="en-IN"/>
          </a:p>
        </p:txBody>
      </p:sp>
      <p:sp>
        <p:nvSpPr>
          <p:cNvPr id="19" name="Text 16"/>
          <p:cNvSpPr txBox="1"/>
          <p:nvPr/>
        </p:nvSpPr>
        <p:spPr>
          <a:xfrm>
            <a:off x="3389986" y="3145536"/>
            <a:ext cx="2364029" cy="777240"/>
          </a:xfrm>
          <a:prstGeom prst="rect">
            <a:avLst/>
          </a:prstGeom>
          <a:noFill/>
          <a:ln/>
        </p:spPr>
        <p:txBody>
          <a:bodyPr wrap="square" lIns="0" tIns="0" rIns="0" bIns="0" rtlCol="0" anchor="t"/>
          <a:lstStyle/>
          <a:p>
            <a:pPr marL="0" indent="0">
              <a:lnSpc>
                <a:spcPct val="125000"/>
              </a:lnSpc>
              <a:buNone/>
            </a:pPr>
            <a:r>
              <a:rPr lang="en-US" sz="900" dirty="0">
                <a:solidFill>
                  <a:srgbClr val="3B3D3E"/>
                </a:solidFill>
                <a:latin typeface="PT Sans" pitchFamily="34" charset="0"/>
                <a:ea typeface="PT Sans" pitchFamily="34" charset="-122"/>
                <a:cs typeface="PT Sans" pitchFamily="34" charset="-120"/>
              </a:rPr>
              <a:t>HDFCBANK CMP: ₹1,642 (+1.8%)</a:t>
            </a:r>
            <a:endParaRPr lang="en-US" sz="900" dirty="0"/>
          </a:p>
          <a:p>
            <a:pPr marL="0" indent="0">
              <a:lnSpc>
                <a:spcPct val="125000"/>
              </a:lnSpc>
              <a:buNone/>
            </a:pPr>
            <a:r>
              <a:rPr lang="en-US" sz="900" dirty="0">
                <a:solidFill>
                  <a:srgbClr val="3B3D3E"/>
                </a:solidFill>
                <a:latin typeface="PT Sans" pitchFamily="34" charset="0"/>
                <a:ea typeface="PT Sans" pitchFamily="34" charset="-122"/>
                <a:cs typeface="PT Sans" pitchFamily="34" charset="-120"/>
              </a:rPr>
              <a:t>52W High: ₹1,880 | P/E: 19.2</a:t>
            </a:r>
            <a:endParaRPr lang="en-US" sz="900" dirty="0"/>
          </a:p>
        </p:txBody>
      </p:sp>
      <p:sp>
        <p:nvSpPr>
          <p:cNvPr id="20" name="Shape 17"/>
          <p:cNvSpPr/>
          <p:nvPr/>
        </p:nvSpPr>
        <p:spPr>
          <a:xfrm>
            <a:off x="6037478" y="2286000"/>
            <a:ext cx="2656637" cy="1691640"/>
          </a:xfrm>
          <a:prstGeom prst="roundRect">
            <a:avLst>
              <a:gd name="adj" fmla="val 3243"/>
            </a:avLst>
          </a:prstGeom>
          <a:solidFill>
            <a:srgbClr val="FFFFFF"/>
          </a:solidFill>
          <a:ln w="9525">
            <a:solidFill>
              <a:srgbClr val="E2E8F0"/>
            </a:solidFill>
            <a:prstDash val="solid"/>
          </a:ln>
        </p:spPr>
        <p:txBody>
          <a:bodyPr/>
          <a:lstStyle/>
          <a:p>
            <a:endParaRPr lang="en-IN"/>
          </a:p>
        </p:txBody>
      </p:sp>
      <p:sp>
        <p:nvSpPr>
          <p:cNvPr id="21" name="Text 18"/>
          <p:cNvSpPr txBox="1"/>
          <p:nvPr/>
        </p:nvSpPr>
        <p:spPr>
          <a:xfrm>
            <a:off x="6183782" y="2404872"/>
            <a:ext cx="2364029" cy="256032"/>
          </a:xfrm>
          <a:prstGeom prst="rect">
            <a:avLst/>
          </a:prstGeom>
          <a:noFill/>
          <a:ln/>
        </p:spPr>
        <p:txBody>
          <a:bodyPr wrap="square" lIns="0" tIns="0" rIns="0" bIns="0" rtlCol="0" anchor="ctr"/>
          <a:lstStyle/>
          <a:p>
            <a:pPr marL="0" indent="0">
              <a:buNone/>
            </a:pPr>
            <a:r>
              <a:rPr lang="en-US" sz="1050" b="1" dirty="0">
                <a:solidFill>
                  <a:srgbClr val="004C97"/>
                </a:solidFill>
                <a:latin typeface="Poppins SemiBold" pitchFamily="34" charset="0"/>
                <a:ea typeface="Poppins SemiBold" pitchFamily="34" charset="-122"/>
                <a:cs typeface="Poppins SemiBold" pitchFamily="34" charset="-120"/>
              </a:rPr>
              <a:t>R3: Margin</a:t>
            </a:r>
            <a:endParaRPr lang="en-US" sz="1050" dirty="0"/>
          </a:p>
        </p:txBody>
      </p:sp>
      <p:sp>
        <p:nvSpPr>
          <p:cNvPr id="22" name="Text 19"/>
          <p:cNvSpPr txBox="1"/>
          <p:nvPr/>
        </p:nvSpPr>
        <p:spPr>
          <a:xfrm>
            <a:off x="6183782" y="2670048"/>
            <a:ext cx="2364029" cy="219456"/>
          </a:xfrm>
          <a:prstGeom prst="rect">
            <a:avLst/>
          </a:prstGeom>
          <a:noFill/>
          <a:ln/>
        </p:spPr>
        <p:txBody>
          <a:bodyPr wrap="square" lIns="0" tIns="0" rIns="0" bIns="0" rtlCol="0" anchor="ctr"/>
          <a:lstStyle/>
          <a:p>
            <a:pPr marL="0" indent="0">
              <a:buNone/>
            </a:pPr>
            <a:r>
              <a:rPr lang="en-US" sz="800" dirty="0">
                <a:solidFill>
                  <a:srgbClr val="004C97"/>
                </a:solidFill>
                <a:latin typeface="Courier New" pitchFamily="34" charset="0"/>
                <a:ea typeface="Courier New" pitchFamily="34" charset="-122"/>
                <a:cs typeface="Courier New" pitchFamily="34" charset="-120"/>
              </a:rPr>
              <a:t>GET zerodha://margin</a:t>
            </a:r>
            <a:endParaRPr lang="en-US" sz="800" dirty="0"/>
          </a:p>
        </p:txBody>
      </p:sp>
      <p:sp>
        <p:nvSpPr>
          <p:cNvPr id="23" name="Shape 20"/>
          <p:cNvSpPr/>
          <p:nvPr/>
        </p:nvSpPr>
        <p:spPr>
          <a:xfrm>
            <a:off x="7365797" y="2944368"/>
            <a:ext cx="0" cy="146304"/>
          </a:xfrm>
          <a:prstGeom prst="line">
            <a:avLst/>
          </a:prstGeom>
          <a:noFill/>
          <a:ln w="19050">
            <a:solidFill>
              <a:srgbClr val="00A3E0"/>
            </a:solidFill>
            <a:prstDash val="solid"/>
            <a:tailEnd type="triangle"/>
          </a:ln>
        </p:spPr>
        <p:txBody>
          <a:bodyPr/>
          <a:lstStyle/>
          <a:p>
            <a:endParaRPr lang="en-IN"/>
          </a:p>
        </p:txBody>
      </p:sp>
      <p:sp>
        <p:nvSpPr>
          <p:cNvPr id="24" name="Text 21"/>
          <p:cNvSpPr txBox="1"/>
          <p:nvPr/>
        </p:nvSpPr>
        <p:spPr>
          <a:xfrm>
            <a:off x="6183782" y="3145536"/>
            <a:ext cx="2364029" cy="777240"/>
          </a:xfrm>
          <a:prstGeom prst="rect">
            <a:avLst/>
          </a:prstGeom>
          <a:noFill/>
          <a:ln/>
        </p:spPr>
        <p:txBody>
          <a:bodyPr wrap="square" lIns="0" tIns="0" rIns="0" bIns="0" rtlCol="0" anchor="t"/>
          <a:lstStyle/>
          <a:p>
            <a:pPr marL="0" indent="0">
              <a:lnSpc>
                <a:spcPct val="125000"/>
              </a:lnSpc>
              <a:buNone/>
            </a:pPr>
            <a:r>
              <a:rPr lang="en-US" sz="900" dirty="0">
                <a:solidFill>
                  <a:srgbClr val="3B3D3E"/>
                </a:solidFill>
                <a:latin typeface="PT Sans" pitchFamily="34" charset="0"/>
                <a:ea typeface="PT Sans" pitchFamily="34" charset="-122"/>
                <a:cs typeface="PT Sans" pitchFamily="34" charset="-120"/>
              </a:rPr>
              <a:t>Available cash: ₹85,400</a:t>
            </a:r>
            <a:endParaRPr lang="en-US" sz="900" dirty="0"/>
          </a:p>
          <a:p>
            <a:pPr marL="0" indent="0">
              <a:lnSpc>
                <a:spcPct val="125000"/>
              </a:lnSpc>
              <a:buNone/>
            </a:pPr>
            <a:r>
              <a:rPr lang="en-US" sz="900" dirty="0">
                <a:solidFill>
                  <a:srgbClr val="3B3D3E"/>
                </a:solidFill>
                <a:latin typeface="PT Sans" pitchFamily="34" charset="0"/>
                <a:ea typeface="PT Sans" pitchFamily="34" charset="-122"/>
                <a:cs typeface="PT Sans" pitchFamily="34" charset="-120"/>
              </a:rPr>
              <a:t>Max buyable @ CMP: ~52 shares</a:t>
            </a:r>
            <a:endParaRPr lang="en-US" sz="900" dirty="0"/>
          </a:p>
        </p:txBody>
      </p:sp>
      <p:sp>
        <p:nvSpPr>
          <p:cNvPr id="25" name="Text 22"/>
          <p:cNvSpPr txBox="1"/>
          <p:nvPr/>
        </p:nvSpPr>
        <p:spPr>
          <a:xfrm>
            <a:off x="449885" y="4329684"/>
            <a:ext cx="8244230" cy="340157"/>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Three resource requests, one MCP server, three real answers. But how does the LLM remember what it already fetched across calls? That's the loop, next.</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2  •  MCP: GIVING IT HANDS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Step 3 — Tool Invocation</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188720"/>
            <a:ext cx="8244230" cy="274320"/>
          </a:xfrm>
          <a:prstGeom prst="rect">
            <a:avLst/>
          </a:prstGeom>
          <a:noFill/>
          <a:ln/>
        </p:spPr>
        <p:txBody>
          <a:bodyPr wrap="square" lIns="0" tIns="0" rIns="0" bIns="0" rtlCol="0" anchor="ctr"/>
          <a:lstStyle/>
          <a:p>
            <a:pPr marL="0" indent="0">
              <a:buNone/>
            </a:pPr>
            <a:r>
              <a:rPr lang="en-US" sz="1200" dirty="0">
                <a:solidFill>
                  <a:srgbClr val="3B3D3E"/>
                </a:solidFill>
                <a:latin typeface="PT Sans" pitchFamily="34" charset="0"/>
                <a:ea typeface="PT Sans" pitchFamily="34" charset="-122"/>
                <a:cs typeface="PT Sans" pitchFamily="34" charset="-120"/>
              </a:rPr>
              <a:t>The LLM recommends an action — the agent decides whether to execute.</a:t>
            </a:r>
            <a:endParaRPr lang="en-US" sz="1200" dirty="0"/>
          </a:p>
        </p:txBody>
      </p:sp>
      <p:sp>
        <p:nvSpPr>
          <p:cNvPr id="8" name="Shape 5"/>
          <p:cNvSpPr/>
          <p:nvPr/>
        </p:nvSpPr>
        <p:spPr>
          <a:xfrm>
            <a:off x="449885" y="1536192"/>
            <a:ext cx="4389120" cy="1965960"/>
          </a:xfrm>
          <a:prstGeom prst="roundRect">
            <a:avLst>
              <a:gd name="adj" fmla="val 1860"/>
            </a:avLst>
          </a:prstGeom>
          <a:solidFill>
            <a:srgbClr val="0A2647"/>
          </a:solidFill>
          <a:ln/>
        </p:spPr>
        <p:txBody>
          <a:bodyPr/>
          <a:lstStyle/>
          <a:p>
            <a:endParaRPr lang="en-IN"/>
          </a:p>
        </p:txBody>
      </p:sp>
      <p:sp>
        <p:nvSpPr>
          <p:cNvPr id="9" name="Text 6"/>
          <p:cNvSpPr txBox="1"/>
          <p:nvPr/>
        </p:nvSpPr>
        <p:spPr>
          <a:xfrm>
            <a:off x="596189" y="1645920"/>
            <a:ext cx="4096512" cy="1746504"/>
          </a:xfrm>
          <a:prstGeom prst="rect">
            <a:avLst/>
          </a:prstGeom>
          <a:noFill/>
          <a:ln/>
        </p:spPr>
        <p:txBody>
          <a:bodyPr wrap="square" lIns="0" tIns="0" rIns="0" bIns="0" rtlCol="0" anchor="t"/>
          <a:lstStyle/>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 "tool": "place_order",</a:t>
            </a: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  "parameters": {</a:t>
            </a: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   "ticker": "HDFCBANK",</a:t>
            </a: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   "qty": 25,</a:t>
            </a: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   "order_type": "LIMIT",</a:t>
            </a: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   "price": 1638.00,</a:t>
            </a: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   "rationale": "12.6% below</a:t>
            </a: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    52W high; improves DCA"</a:t>
            </a:r>
            <a:endParaRPr lang="en-US" sz="950" dirty="0"/>
          </a:p>
          <a:p>
            <a:pPr marL="0" indent="0" algn="l">
              <a:lnSpc>
                <a:spcPct val="128000"/>
              </a:lnSpc>
              <a:buNone/>
            </a:pPr>
            <a:r>
              <a:rPr lang="en-US" sz="950" dirty="0">
                <a:solidFill>
                  <a:srgbClr val="CFE8F5"/>
                </a:solidFill>
                <a:latin typeface="Courier New" pitchFamily="34" charset="0"/>
                <a:ea typeface="Courier New" pitchFamily="34" charset="-122"/>
                <a:cs typeface="Courier New" pitchFamily="34" charset="-120"/>
              </a:rPr>
              <a:t>  }}</a:t>
            </a:r>
            <a:endParaRPr lang="en-US" sz="950" dirty="0"/>
          </a:p>
        </p:txBody>
      </p:sp>
      <p:sp>
        <p:nvSpPr>
          <p:cNvPr id="10" name="Text 7"/>
          <p:cNvSpPr txBox="1"/>
          <p:nvPr/>
        </p:nvSpPr>
        <p:spPr>
          <a:xfrm>
            <a:off x="5067605" y="1536192"/>
            <a:ext cx="3626510" cy="237744"/>
          </a:xfrm>
          <a:prstGeom prst="rect">
            <a:avLst/>
          </a:prstGeom>
          <a:noFill/>
          <a:ln/>
        </p:spPr>
        <p:txBody>
          <a:bodyPr wrap="square" lIns="0" tIns="0" rIns="0" bIns="0" rtlCol="0" anchor="ctr"/>
          <a:lstStyle/>
          <a:p>
            <a:pPr marL="0" indent="0">
              <a:buNone/>
            </a:pPr>
            <a:r>
              <a:rPr lang="en-US" sz="1050" b="1" dirty="0">
                <a:solidFill>
                  <a:srgbClr val="004C97"/>
                </a:solidFill>
                <a:latin typeface="Poppins SemiBold" pitchFamily="34" charset="0"/>
                <a:ea typeface="Poppins SemiBold" pitchFamily="34" charset="-122"/>
                <a:cs typeface="Poppins SemiBold" pitchFamily="34" charset="-120"/>
              </a:rPr>
              <a:t>Agent executes:</a:t>
            </a:r>
            <a:endParaRPr lang="en-US" sz="1050" dirty="0"/>
          </a:p>
        </p:txBody>
      </p:sp>
      <p:sp>
        <p:nvSpPr>
          <p:cNvPr id="11" name="Text 8"/>
          <p:cNvSpPr txBox="1"/>
          <p:nvPr/>
        </p:nvSpPr>
        <p:spPr>
          <a:xfrm>
            <a:off x="5067605" y="1810512"/>
            <a:ext cx="3626510" cy="1371600"/>
          </a:xfrm>
          <a:prstGeom prst="rect">
            <a:avLst/>
          </a:prstGeom>
          <a:noFill/>
          <a:ln/>
        </p:spPr>
        <p:txBody>
          <a:bodyPr wrap="square" lIns="0" tIns="0" rIns="0" bIns="0" rtlCol="0" anchor="t"/>
          <a:lstStyle/>
          <a:p>
            <a:pPr marL="0" indent="0">
              <a:lnSpc>
                <a:spcPct val="130000"/>
              </a:lnSpc>
              <a:buNone/>
            </a:pPr>
            <a:r>
              <a:rPr lang="en-US" sz="930" dirty="0">
                <a:solidFill>
                  <a:srgbClr val="3B3D3E"/>
                </a:solidFill>
                <a:latin typeface="PT Sans" pitchFamily="34" charset="0"/>
                <a:ea typeface="PT Sans" pitchFamily="34" charset="-122"/>
                <a:cs typeface="PT Sans" pitchFamily="34" charset="-120"/>
              </a:rPr>
              <a:t>1. Validate parameters</a:t>
            </a:r>
            <a:endParaRPr lang="en-US" sz="930" dirty="0"/>
          </a:p>
          <a:p>
            <a:pPr marL="0" indent="0">
              <a:lnSpc>
                <a:spcPct val="130000"/>
              </a:lnSpc>
              <a:buNone/>
            </a:pPr>
            <a:r>
              <a:rPr lang="en-US" sz="930" dirty="0">
                <a:solidFill>
                  <a:srgbClr val="3B3D3E"/>
                </a:solidFill>
                <a:latin typeface="PT Sans" pitchFamily="34" charset="0"/>
                <a:ea typeface="PT Sans" pitchFamily="34" charset="-122"/>
                <a:cs typeface="PT Sans" pitchFamily="34" charset="-120"/>
              </a:rPr>
              <a:t>2. Check margin (again)</a:t>
            </a:r>
            <a:endParaRPr lang="en-US" sz="930" dirty="0"/>
          </a:p>
          <a:p>
            <a:pPr marL="0" indent="0">
              <a:lnSpc>
                <a:spcPct val="130000"/>
              </a:lnSpc>
              <a:buNone/>
            </a:pPr>
            <a:r>
              <a:rPr lang="en-US" sz="930" dirty="0">
                <a:solidFill>
                  <a:srgbClr val="3B3D3E"/>
                </a:solidFill>
                <a:latin typeface="PT Sans" pitchFamily="34" charset="0"/>
                <a:ea typeface="PT Sans" pitchFamily="34" charset="-122"/>
                <a:cs typeface="PT Sans" pitchFamily="34" charset="-120"/>
              </a:rPr>
              <a:t>3. POST to Zerodha API</a:t>
            </a:r>
            <a:endParaRPr lang="en-US" sz="930" dirty="0"/>
          </a:p>
          <a:p>
            <a:pPr marL="0" indent="0">
              <a:lnSpc>
                <a:spcPct val="130000"/>
              </a:lnSpc>
              <a:buNone/>
            </a:pPr>
            <a:r>
              <a:rPr lang="en-US" sz="930" dirty="0">
                <a:solidFill>
                  <a:srgbClr val="3B3D3E"/>
                </a:solidFill>
                <a:latin typeface="PT Sans" pitchFamily="34" charset="0"/>
                <a:ea typeface="PT Sans" pitchFamily="34" charset="-122"/>
                <a:cs typeface="PT Sans" pitchFamily="34" charset="-120"/>
              </a:rPr>
              <a:t>4. Receive order_id</a:t>
            </a:r>
            <a:endParaRPr lang="en-US" sz="930" dirty="0"/>
          </a:p>
          <a:p>
            <a:pPr marL="0" indent="0">
              <a:lnSpc>
                <a:spcPct val="130000"/>
              </a:lnSpc>
              <a:buNone/>
            </a:pPr>
            <a:r>
              <a:rPr lang="en-US" sz="930" dirty="0">
                <a:solidFill>
                  <a:srgbClr val="3B3D3E"/>
                </a:solidFill>
                <a:latin typeface="PT Sans" pitchFamily="34" charset="0"/>
                <a:ea typeface="PT Sans" pitchFamily="34" charset="-122"/>
                <a:cs typeface="PT Sans" pitchFamily="34" charset="-120"/>
              </a:rPr>
              <a:t>5. Call set_stop_loss()</a:t>
            </a:r>
            <a:endParaRPr lang="en-US" sz="930" dirty="0"/>
          </a:p>
          <a:p>
            <a:pPr marL="0" indent="0">
              <a:lnSpc>
                <a:spcPct val="130000"/>
              </a:lnSpc>
              <a:buNone/>
            </a:pPr>
            <a:r>
              <a:rPr lang="en-US" sz="930" dirty="0">
                <a:solidFill>
                  <a:srgbClr val="3B3D3E"/>
                </a:solidFill>
                <a:latin typeface="PT Sans" pitchFamily="34" charset="0"/>
                <a:ea typeface="PT Sans" pitchFamily="34" charset="-122"/>
                <a:cs typeface="PT Sans" pitchFamily="34" charset="-120"/>
              </a:rPr>
              <a:t>6. Call send_notification()</a:t>
            </a:r>
            <a:endParaRPr lang="en-US" sz="930" dirty="0"/>
          </a:p>
        </p:txBody>
      </p:sp>
      <p:sp>
        <p:nvSpPr>
          <p:cNvPr id="12" name="Shape 9"/>
          <p:cNvSpPr/>
          <p:nvPr/>
        </p:nvSpPr>
        <p:spPr>
          <a:xfrm>
            <a:off x="449885" y="3657600"/>
            <a:ext cx="8244230" cy="566928"/>
          </a:xfrm>
          <a:prstGeom prst="roundRect">
            <a:avLst>
              <a:gd name="adj" fmla="val 9677"/>
            </a:avLst>
          </a:prstGeom>
          <a:solidFill>
            <a:srgbClr val="FBEFEF"/>
          </a:solidFill>
          <a:ln w="9525">
            <a:solidFill>
              <a:srgbClr val="E3B8B6"/>
            </a:solidFill>
            <a:prstDash val="solid"/>
          </a:ln>
        </p:spPr>
        <p:txBody>
          <a:bodyPr/>
          <a:lstStyle/>
          <a:p>
            <a:endParaRPr lang="en-IN"/>
          </a:p>
        </p:txBody>
      </p:sp>
      <p:sp>
        <p:nvSpPr>
          <p:cNvPr id="13" name="Text 10"/>
          <p:cNvSpPr txBox="1"/>
          <p:nvPr/>
        </p:nvSpPr>
        <p:spPr>
          <a:xfrm>
            <a:off x="632765" y="3657600"/>
            <a:ext cx="7878470" cy="566928"/>
          </a:xfrm>
          <a:prstGeom prst="rect">
            <a:avLst/>
          </a:prstGeom>
          <a:noFill/>
          <a:ln/>
        </p:spPr>
        <p:txBody>
          <a:bodyPr wrap="square" lIns="0" tIns="0" rIns="0" bIns="0" rtlCol="0" anchor="ctr"/>
          <a:lstStyle/>
          <a:p>
            <a:pPr marL="0" indent="0">
              <a:lnSpc>
                <a:spcPct val="120000"/>
              </a:lnSpc>
              <a:buNone/>
            </a:pPr>
            <a:r>
              <a:rPr lang="en-US" sz="980" b="1" dirty="0">
                <a:solidFill>
                  <a:srgbClr val="C0504D"/>
                </a:solidFill>
                <a:latin typeface="PT Sans" pitchFamily="34" charset="0"/>
                <a:ea typeface="PT Sans" pitchFamily="34" charset="-122"/>
                <a:cs typeface="PT Sans" pitchFamily="34" charset="-120"/>
              </a:rPr>
              <a:t>The LLM never executes directly.  </a:t>
            </a:r>
            <a:r>
              <a:rPr lang="en-US" sz="980" dirty="0">
                <a:solidFill>
                  <a:srgbClr val="3B3D3E"/>
                </a:solidFill>
                <a:latin typeface="PT Sans" pitchFamily="34" charset="0"/>
                <a:ea typeface="PT Sans" pitchFamily="34" charset="-122"/>
                <a:cs typeface="PT Sans" pitchFamily="34" charset="-120"/>
              </a:rPr>
              <a:t>It returns a recommendation. Your code decides whether to fire — this is where human approval and spend limits live.</a:t>
            </a:r>
            <a:endParaRPr lang="en-US" sz="9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2  •  MCP: GIVING IT HANDS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The ReAct Loop — How the Agent Actually Thinks</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188720"/>
            <a:ext cx="8244230" cy="274320"/>
          </a:xfrm>
          <a:prstGeom prst="rect">
            <a:avLst/>
          </a:prstGeom>
          <a:noFill/>
          <a:ln/>
        </p:spPr>
        <p:txBody>
          <a:bodyPr wrap="square" lIns="0" tIns="0" rIns="0" bIns="0" rtlCol="0" anchor="ctr"/>
          <a:lstStyle/>
          <a:p>
            <a:pPr marL="0" indent="0">
              <a:buNone/>
            </a:pPr>
            <a:r>
              <a:rPr lang="en-US" sz="1150" dirty="0">
                <a:solidFill>
                  <a:srgbClr val="3B3D3E"/>
                </a:solidFill>
                <a:latin typeface="PT Sans" pitchFamily="34" charset="0"/>
                <a:ea typeface="PT Sans" pitchFamily="34" charset="-122"/>
                <a:cs typeface="PT Sans" pitchFamily="34" charset="-120"/>
              </a:rPr>
              <a:t>ReAct = Reasoning + Acting. Every agentic framework you'll touch today runs this pattern underneath.</a:t>
            </a:r>
            <a:endParaRPr lang="en-US" sz="1150" dirty="0"/>
          </a:p>
        </p:txBody>
      </p:sp>
      <p:sp>
        <p:nvSpPr>
          <p:cNvPr id="8" name="Shape 5"/>
          <p:cNvSpPr/>
          <p:nvPr/>
        </p:nvSpPr>
        <p:spPr>
          <a:xfrm>
            <a:off x="822960" y="1691640"/>
            <a:ext cx="2286000" cy="1051560"/>
          </a:xfrm>
          <a:prstGeom prst="roundRect">
            <a:avLst>
              <a:gd name="adj" fmla="val 5217"/>
            </a:avLst>
          </a:prstGeom>
          <a:solidFill>
            <a:srgbClr val="004C97"/>
          </a:solidFill>
          <a:ln w="9525">
            <a:solidFill>
              <a:srgbClr val="004C97"/>
            </a:solidFill>
            <a:prstDash val="solid"/>
          </a:ln>
        </p:spPr>
        <p:txBody>
          <a:bodyPr/>
          <a:lstStyle/>
          <a:p>
            <a:endParaRPr lang="en-IN"/>
          </a:p>
        </p:txBody>
      </p:sp>
      <p:sp>
        <p:nvSpPr>
          <p:cNvPr id="9" name="Text 6"/>
          <p:cNvSpPr txBox="1"/>
          <p:nvPr/>
        </p:nvSpPr>
        <p:spPr>
          <a:xfrm>
            <a:off x="969264" y="1801368"/>
            <a:ext cx="1993392" cy="274320"/>
          </a:xfrm>
          <a:prstGeom prst="rect">
            <a:avLst/>
          </a:prstGeom>
          <a:noFill/>
          <a:ln/>
        </p:spPr>
        <p:txBody>
          <a:bodyPr wrap="square" lIns="0" tIns="0" rIns="0" bIns="0" rtlCol="0" anchor="ctr"/>
          <a:lstStyle/>
          <a:p>
            <a:pPr marL="0" indent="0">
              <a:buNone/>
            </a:pPr>
            <a:r>
              <a:rPr lang="en-US" sz="1300" b="1" dirty="0">
                <a:solidFill>
                  <a:srgbClr val="FFFFFF"/>
                </a:solidFill>
                <a:latin typeface="Poppins SemiBold" pitchFamily="34" charset="0"/>
                <a:ea typeface="Poppins SemiBold" pitchFamily="34" charset="-122"/>
                <a:cs typeface="Poppins SemiBold" pitchFamily="34" charset="-120"/>
              </a:rPr>
              <a:t>THINK</a:t>
            </a:r>
            <a:endParaRPr lang="en-US" sz="1300" dirty="0"/>
          </a:p>
        </p:txBody>
      </p:sp>
      <p:sp>
        <p:nvSpPr>
          <p:cNvPr id="10" name="Text 7"/>
          <p:cNvSpPr txBox="1"/>
          <p:nvPr/>
        </p:nvSpPr>
        <p:spPr>
          <a:xfrm>
            <a:off x="969264" y="2093976"/>
            <a:ext cx="1993392" cy="457200"/>
          </a:xfrm>
          <a:prstGeom prst="rect">
            <a:avLst/>
          </a:prstGeom>
          <a:noFill/>
          <a:ln/>
        </p:spPr>
        <p:txBody>
          <a:bodyPr wrap="square" lIns="0" tIns="0" rIns="0" bIns="0" rtlCol="0" anchor="t"/>
          <a:lstStyle/>
          <a:p>
            <a:pPr marL="0" indent="0">
              <a:lnSpc>
                <a:spcPct val="120000"/>
              </a:lnSpc>
              <a:buNone/>
            </a:pPr>
            <a:r>
              <a:rPr lang="en-US" sz="900" dirty="0">
                <a:solidFill>
                  <a:srgbClr val="CBD5E1"/>
                </a:solidFill>
                <a:latin typeface="PT Sans" pitchFamily="34" charset="0"/>
                <a:ea typeface="PT Sans" pitchFamily="34" charset="-122"/>
                <a:cs typeface="PT Sans" pitchFamily="34" charset="-120"/>
              </a:rPr>
              <a:t>LLM is called. Reads history. Decides next action.</a:t>
            </a:r>
            <a:endParaRPr lang="en-US" sz="900" dirty="0"/>
          </a:p>
        </p:txBody>
      </p:sp>
      <p:sp>
        <p:nvSpPr>
          <p:cNvPr id="11" name="Text 8"/>
          <p:cNvSpPr txBox="1"/>
          <p:nvPr/>
        </p:nvSpPr>
        <p:spPr>
          <a:xfrm>
            <a:off x="969264" y="2505456"/>
            <a:ext cx="1993392" cy="201168"/>
          </a:xfrm>
          <a:prstGeom prst="rect">
            <a:avLst/>
          </a:prstGeom>
          <a:noFill/>
          <a:ln/>
        </p:spPr>
        <p:txBody>
          <a:bodyPr wrap="square" lIns="0" tIns="0" rIns="0" bIns="0" rtlCol="0" anchor="ctr"/>
          <a:lstStyle/>
          <a:p>
            <a:pPr marL="0" indent="0">
              <a:buNone/>
            </a:pPr>
            <a:r>
              <a:rPr lang="en-US" sz="800" i="1" dirty="0">
                <a:solidFill>
                  <a:srgbClr val="7FD4F0"/>
                </a:solidFill>
                <a:latin typeface="PT Sans" pitchFamily="34" charset="0"/>
                <a:ea typeface="PT Sans" pitchFamily="34" charset="-122"/>
                <a:cs typeface="PT Sans" pitchFamily="34" charset="-120"/>
              </a:rPr>
              <a:t>LLM's job</a:t>
            </a:r>
            <a:endParaRPr lang="en-US" sz="800" dirty="0"/>
          </a:p>
        </p:txBody>
      </p:sp>
      <p:sp>
        <p:nvSpPr>
          <p:cNvPr id="12" name="Shape 9"/>
          <p:cNvSpPr/>
          <p:nvPr/>
        </p:nvSpPr>
        <p:spPr>
          <a:xfrm>
            <a:off x="3108960" y="2217420"/>
            <a:ext cx="320040" cy="0"/>
          </a:xfrm>
          <a:prstGeom prst="line">
            <a:avLst/>
          </a:prstGeom>
          <a:noFill/>
          <a:ln w="25400">
            <a:solidFill>
              <a:srgbClr val="00A3E0"/>
            </a:solidFill>
            <a:prstDash val="solid"/>
            <a:tailEnd type="triangle"/>
          </a:ln>
        </p:spPr>
        <p:txBody>
          <a:bodyPr/>
          <a:lstStyle/>
          <a:p>
            <a:endParaRPr lang="en-IN"/>
          </a:p>
        </p:txBody>
      </p:sp>
      <p:sp>
        <p:nvSpPr>
          <p:cNvPr id="13" name="Shape 10"/>
          <p:cNvSpPr/>
          <p:nvPr/>
        </p:nvSpPr>
        <p:spPr>
          <a:xfrm>
            <a:off x="3429000" y="1691640"/>
            <a:ext cx="2286000" cy="1051560"/>
          </a:xfrm>
          <a:prstGeom prst="roundRect">
            <a:avLst>
              <a:gd name="adj" fmla="val 5217"/>
            </a:avLst>
          </a:prstGeom>
          <a:solidFill>
            <a:srgbClr val="FFFFFF"/>
          </a:solidFill>
          <a:ln w="9525">
            <a:solidFill>
              <a:srgbClr val="E2E8F0"/>
            </a:solidFill>
            <a:prstDash val="solid"/>
          </a:ln>
        </p:spPr>
        <p:txBody>
          <a:bodyPr/>
          <a:lstStyle/>
          <a:p>
            <a:endParaRPr lang="en-IN"/>
          </a:p>
        </p:txBody>
      </p:sp>
      <p:sp>
        <p:nvSpPr>
          <p:cNvPr id="14" name="Text 11"/>
          <p:cNvSpPr txBox="1"/>
          <p:nvPr/>
        </p:nvSpPr>
        <p:spPr>
          <a:xfrm>
            <a:off x="3575304" y="1801368"/>
            <a:ext cx="1993392" cy="274320"/>
          </a:xfrm>
          <a:prstGeom prst="rect">
            <a:avLst/>
          </a:prstGeom>
          <a:noFill/>
          <a:ln/>
        </p:spPr>
        <p:txBody>
          <a:bodyPr wrap="square" lIns="0" tIns="0" rIns="0" bIns="0" rtlCol="0" anchor="ctr"/>
          <a:lstStyle/>
          <a:p>
            <a:pPr marL="0" indent="0">
              <a:buNone/>
            </a:pPr>
            <a:r>
              <a:rPr lang="en-US" sz="1300" b="1" dirty="0">
                <a:solidFill>
                  <a:srgbClr val="004C97"/>
                </a:solidFill>
                <a:latin typeface="Poppins SemiBold" pitchFamily="34" charset="0"/>
                <a:ea typeface="Poppins SemiBold" pitchFamily="34" charset="-122"/>
                <a:cs typeface="Poppins SemiBold" pitchFamily="34" charset="-120"/>
              </a:rPr>
              <a:t>ACT</a:t>
            </a:r>
            <a:endParaRPr lang="en-US" sz="1300" dirty="0"/>
          </a:p>
        </p:txBody>
      </p:sp>
      <p:sp>
        <p:nvSpPr>
          <p:cNvPr id="15" name="Text 12"/>
          <p:cNvSpPr txBox="1"/>
          <p:nvPr/>
        </p:nvSpPr>
        <p:spPr>
          <a:xfrm>
            <a:off x="3575304" y="2093976"/>
            <a:ext cx="1993392" cy="457200"/>
          </a:xfrm>
          <a:prstGeom prst="rect">
            <a:avLst/>
          </a:prstGeom>
          <a:noFill/>
          <a:ln/>
        </p:spPr>
        <p:txBody>
          <a:bodyPr wrap="square" lIns="0" tIns="0" rIns="0" bIns="0" rtlCol="0" anchor="t"/>
          <a:lstStyle/>
          <a:p>
            <a:pPr marL="0" indent="0">
              <a:lnSpc>
                <a:spcPct val="120000"/>
              </a:lnSpc>
              <a:buNone/>
            </a:pPr>
            <a:r>
              <a:rPr lang="en-US" sz="900" dirty="0">
                <a:solidFill>
                  <a:srgbClr val="3B3D3E"/>
                </a:solidFill>
                <a:latin typeface="PT Sans" pitchFamily="34" charset="0"/>
                <a:ea typeface="PT Sans" pitchFamily="34" charset="-122"/>
                <a:cs typeface="PT Sans" pitchFamily="34" charset="-120"/>
              </a:rPr>
              <a:t>Agent code runs. Calls MCP server. Fetches or invokes.</a:t>
            </a:r>
            <a:endParaRPr lang="en-US" sz="900" dirty="0"/>
          </a:p>
        </p:txBody>
      </p:sp>
      <p:sp>
        <p:nvSpPr>
          <p:cNvPr id="16" name="Text 13"/>
          <p:cNvSpPr txBox="1"/>
          <p:nvPr/>
        </p:nvSpPr>
        <p:spPr>
          <a:xfrm>
            <a:off x="3575304" y="2505456"/>
            <a:ext cx="1993392" cy="201168"/>
          </a:xfrm>
          <a:prstGeom prst="rect">
            <a:avLst/>
          </a:prstGeom>
          <a:noFill/>
          <a:ln/>
        </p:spPr>
        <p:txBody>
          <a:bodyPr wrap="square" lIns="0" tIns="0" rIns="0" bIns="0" rtlCol="0" anchor="ctr"/>
          <a:lstStyle/>
          <a:p>
            <a:pPr marL="0" indent="0">
              <a:buNone/>
            </a:pPr>
            <a:r>
              <a:rPr lang="en-US" sz="800" i="1" dirty="0">
                <a:solidFill>
                  <a:srgbClr val="004C97"/>
                </a:solidFill>
                <a:latin typeface="PT Sans" pitchFamily="34" charset="0"/>
                <a:ea typeface="PT Sans" pitchFamily="34" charset="-122"/>
                <a:cs typeface="PT Sans" pitchFamily="34" charset="-120"/>
              </a:rPr>
              <a:t>Agent code's job</a:t>
            </a:r>
            <a:endParaRPr lang="en-US" sz="800" dirty="0"/>
          </a:p>
        </p:txBody>
      </p:sp>
      <p:sp>
        <p:nvSpPr>
          <p:cNvPr id="17" name="Shape 14"/>
          <p:cNvSpPr/>
          <p:nvPr/>
        </p:nvSpPr>
        <p:spPr>
          <a:xfrm>
            <a:off x="5715000" y="2217420"/>
            <a:ext cx="320040" cy="0"/>
          </a:xfrm>
          <a:prstGeom prst="line">
            <a:avLst/>
          </a:prstGeom>
          <a:noFill/>
          <a:ln w="25400">
            <a:solidFill>
              <a:srgbClr val="00A3E0"/>
            </a:solidFill>
            <a:prstDash val="solid"/>
            <a:tailEnd type="triangle"/>
          </a:ln>
        </p:spPr>
        <p:txBody>
          <a:bodyPr/>
          <a:lstStyle/>
          <a:p>
            <a:endParaRPr lang="en-IN"/>
          </a:p>
        </p:txBody>
      </p:sp>
      <p:sp>
        <p:nvSpPr>
          <p:cNvPr id="18" name="Shape 15"/>
          <p:cNvSpPr/>
          <p:nvPr/>
        </p:nvSpPr>
        <p:spPr>
          <a:xfrm>
            <a:off x="6035040" y="1691640"/>
            <a:ext cx="2286000" cy="1051560"/>
          </a:xfrm>
          <a:prstGeom prst="roundRect">
            <a:avLst>
              <a:gd name="adj" fmla="val 5217"/>
            </a:avLst>
          </a:prstGeom>
          <a:solidFill>
            <a:srgbClr val="FFFFFF"/>
          </a:solidFill>
          <a:ln w="9525">
            <a:solidFill>
              <a:srgbClr val="E2E8F0"/>
            </a:solidFill>
            <a:prstDash val="solid"/>
          </a:ln>
        </p:spPr>
        <p:txBody>
          <a:bodyPr/>
          <a:lstStyle/>
          <a:p>
            <a:endParaRPr lang="en-IN"/>
          </a:p>
        </p:txBody>
      </p:sp>
      <p:sp>
        <p:nvSpPr>
          <p:cNvPr id="19" name="Text 16"/>
          <p:cNvSpPr txBox="1"/>
          <p:nvPr/>
        </p:nvSpPr>
        <p:spPr>
          <a:xfrm>
            <a:off x="6181344" y="1801368"/>
            <a:ext cx="1993392" cy="274320"/>
          </a:xfrm>
          <a:prstGeom prst="rect">
            <a:avLst/>
          </a:prstGeom>
          <a:noFill/>
          <a:ln/>
        </p:spPr>
        <p:txBody>
          <a:bodyPr wrap="square" lIns="0" tIns="0" rIns="0" bIns="0" rtlCol="0" anchor="ctr"/>
          <a:lstStyle/>
          <a:p>
            <a:pPr marL="0" indent="0">
              <a:buNone/>
            </a:pPr>
            <a:r>
              <a:rPr lang="en-US" sz="1300" b="1" dirty="0">
                <a:solidFill>
                  <a:srgbClr val="004C97"/>
                </a:solidFill>
                <a:latin typeface="Poppins SemiBold" pitchFamily="34" charset="0"/>
                <a:ea typeface="Poppins SemiBold" pitchFamily="34" charset="-122"/>
                <a:cs typeface="Poppins SemiBold" pitchFamily="34" charset="-120"/>
              </a:rPr>
              <a:t>OBSERVE</a:t>
            </a:r>
            <a:endParaRPr lang="en-US" sz="1300" dirty="0"/>
          </a:p>
        </p:txBody>
      </p:sp>
      <p:sp>
        <p:nvSpPr>
          <p:cNvPr id="20" name="Text 17"/>
          <p:cNvSpPr txBox="1"/>
          <p:nvPr/>
        </p:nvSpPr>
        <p:spPr>
          <a:xfrm>
            <a:off x="6181344" y="2093976"/>
            <a:ext cx="1993392" cy="457200"/>
          </a:xfrm>
          <a:prstGeom prst="rect">
            <a:avLst/>
          </a:prstGeom>
          <a:noFill/>
          <a:ln/>
        </p:spPr>
        <p:txBody>
          <a:bodyPr wrap="square" lIns="0" tIns="0" rIns="0" bIns="0" rtlCol="0" anchor="t"/>
          <a:lstStyle/>
          <a:p>
            <a:pPr marL="0" indent="0">
              <a:lnSpc>
                <a:spcPct val="120000"/>
              </a:lnSpc>
              <a:buNone/>
            </a:pPr>
            <a:r>
              <a:rPr lang="en-US" sz="900" dirty="0">
                <a:solidFill>
                  <a:srgbClr val="3B3D3E"/>
                </a:solidFill>
                <a:latin typeface="PT Sans" pitchFamily="34" charset="0"/>
                <a:ea typeface="PT Sans" pitchFamily="34" charset="-122"/>
                <a:cs typeface="PT Sans" pitchFamily="34" charset="-120"/>
              </a:rPr>
              <a:t>Result appended to history. LLM sees this next call.</a:t>
            </a:r>
            <a:endParaRPr lang="en-US" sz="900" dirty="0"/>
          </a:p>
        </p:txBody>
      </p:sp>
      <p:sp>
        <p:nvSpPr>
          <p:cNvPr id="21" name="Text 18"/>
          <p:cNvSpPr txBox="1"/>
          <p:nvPr/>
        </p:nvSpPr>
        <p:spPr>
          <a:xfrm>
            <a:off x="6181344" y="2505456"/>
            <a:ext cx="1993392" cy="201168"/>
          </a:xfrm>
          <a:prstGeom prst="rect">
            <a:avLst/>
          </a:prstGeom>
          <a:noFill/>
          <a:ln/>
        </p:spPr>
        <p:txBody>
          <a:bodyPr wrap="square" lIns="0" tIns="0" rIns="0" bIns="0" rtlCol="0" anchor="ctr"/>
          <a:lstStyle/>
          <a:p>
            <a:pPr marL="0" indent="0">
              <a:buNone/>
            </a:pPr>
            <a:r>
              <a:rPr lang="en-US" sz="800" i="1" dirty="0">
                <a:solidFill>
                  <a:srgbClr val="004C97"/>
                </a:solidFill>
                <a:latin typeface="PT Sans" pitchFamily="34" charset="0"/>
                <a:ea typeface="PT Sans" pitchFamily="34" charset="-122"/>
                <a:cs typeface="PT Sans" pitchFamily="34" charset="-120"/>
              </a:rPr>
              <a:t>Memory mechanism</a:t>
            </a:r>
            <a:endParaRPr lang="en-US" sz="800" dirty="0"/>
          </a:p>
        </p:txBody>
      </p:sp>
      <p:sp>
        <p:nvSpPr>
          <p:cNvPr id="22" name="Shape 19"/>
          <p:cNvSpPr/>
          <p:nvPr/>
        </p:nvSpPr>
        <p:spPr>
          <a:xfrm>
            <a:off x="7178040" y="2743200"/>
            <a:ext cx="0" cy="365760"/>
          </a:xfrm>
          <a:prstGeom prst="line">
            <a:avLst/>
          </a:prstGeom>
          <a:noFill/>
          <a:ln w="19050">
            <a:solidFill>
              <a:srgbClr val="9AA39D"/>
            </a:solidFill>
            <a:prstDash val="solid"/>
          </a:ln>
        </p:spPr>
        <p:txBody>
          <a:bodyPr/>
          <a:lstStyle/>
          <a:p>
            <a:endParaRPr lang="en-IN"/>
          </a:p>
        </p:txBody>
      </p:sp>
      <p:sp>
        <p:nvSpPr>
          <p:cNvPr id="23" name="Shape 20"/>
          <p:cNvSpPr/>
          <p:nvPr/>
        </p:nvSpPr>
        <p:spPr>
          <a:xfrm>
            <a:off x="1965960" y="3108960"/>
            <a:ext cx="5212080" cy="0"/>
          </a:xfrm>
          <a:prstGeom prst="line">
            <a:avLst/>
          </a:prstGeom>
          <a:noFill/>
          <a:ln w="19050">
            <a:solidFill>
              <a:srgbClr val="9AA39D"/>
            </a:solidFill>
            <a:prstDash val="solid"/>
          </a:ln>
        </p:spPr>
        <p:txBody>
          <a:bodyPr/>
          <a:lstStyle/>
          <a:p>
            <a:endParaRPr lang="en-IN"/>
          </a:p>
        </p:txBody>
      </p:sp>
      <p:sp>
        <p:nvSpPr>
          <p:cNvPr id="24" name="Shape 21"/>
          <p:cNvSpPr/>
          <p:nvPr/>
        </p:nvSpPr>
        <p:spPr>
          <a:xfrm flipV="1">
            <a:off x="1965960" y="2743200"/>
            <a:ext cx="0" cy="365760"/>
          </a:xfrm>
          <a:prstGeom prst="line">
            <a:avLst/>
          </a:prstGeom>
          <a:noFill/>
          <a:ln w="19050">
            <a:solidFill>
              <a:srgbClr val="9AA39D"/>
            </a:solidFill>
            <a:prstDash val="solid"/>
            <a:tailEnd type="triangle"/>
          </a:ln>
        </p:spPr>
        <p:txBody>
          <a:bodyPr/>
          <a:lstStyle/>
          <a:p>
            <a:endParaRPr lang="en-IN"/>
          </a:p>
        </p:txBody>
      </p:sp>
      <p:sp>
        <p:nvSpPr>
          <p:cNvPr id="25" name="Text 22"/>
          <p:cNvSpPr txBox="1"/>
          <p:nvPr/>
        </p:nvSpPr>
        <p:spPr>
          <a:xfrm>
            <a:off x="822960" y="3182112"/>
            <a:ext cx="7498080" cy="219456"/>
          </a:xfrm>
          <a:prstGeom prst="rect">
            <a:avLst/>
          </a:prstGeom>
          <a:noFill/>
          <a:ln/>
        </p:spPr>
        <p:txBody>
          <a:bodyPr wrap="square" lIns="0" tIns="0" rIns="0" bIns="0" rtlCol="0" anchor="ctr"/>
          <a:lstStyle/>
          <a:p>
            <a:pPr marL="0" indent="0" algn="ctr">
              <a:buNone/>
            </a:pPr>
            <a:r>
              <a:rPr lang="en-US" sz="850" i="1" dirty="0">
                <a:solidFill>
                  <a:srgbClr val="9AA39D"/>
                </a:solidFill>
                <a:latin typeface="PT Sans" pitchFamily="34" charset="0"/>
                <a:ea typeface="PT Sans" pitchFamily="34" charset="-122"/>
                <a:cs typeface="PT Sans" pitchFamily="34" charset="-120"/>
              </a:rPr>
              <a:t>EXIT: when THINK produces a final answer instead of an action → return to user</a:t>
            </a:r>
            <a:endParaRPr lang="en-US" sz="850" dirty="0"/>
          </a:p>
        </p:txBody>
      </p:sp>
      <p:sp>
        <p:nvSpPr>
          <p:cNvPr id="26" name="Text 23"/>
          <p:cNvSpPr txBox="1"/>
          <p:nvPr/>
        </p:nvSpPr>
        <p:spPr>
          <a:xfrm>
            <a:off x="449885" y="4315968"/>
            <a:ext cx="8244230" cy="365760"/>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Zerodha trace: Think → fetch portfolio  |  Think → fetch market data  |  Think → fetch margin  |  Think → recommend order  |  Think → done. Roughly 4–5 LLM calls for one question.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2  •  MCP: GIVING IT HANDS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How Many LLM Calls? The Honest Accounting</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207008"/>
            <a:ext cx="8244230" cy="292608"/>
          </a:xfrm>
          <a:prstGeom prst="rect">
            <a:avLst/>
          </a:prstGeom>
          <a:noFill/>
          <a:ln/>
        </p:spPr>
        <p:txBody>
          <a:bodyPr wrap="square" lIns="0" tIns="0" rIns="0" bIns="0" rtlCol="0" anchor="ctr"/>
          <a:lstStyle/>
          <a:p>
            <a:pPr marL="0" indent="0">
              <a:buNone/>
            </a:pPr>
            <a:r>
              <a:rPr lang="en-US" sz="1200" dirty="0">
                <a:solidFill>
                  <a:srgbClr val="3B3D3E"/>
                </a:solidFill>
                <a:latin typeface="PT Sans" pitchFamily="34" charset="0"/>
                <a:ea typeface="PT Sans" pitchFamily="34" charset="-122"/>
                <a:cs typeface="PT Sans" pitchFamily="34" charset="-120"/>
              </a:rPr>
              <a:t>Every THINK step in the ReAct loop is one LLM call. Counted honestly, for our example:</a:t>
            </a:r>
            <a:endParaRPr lang="en-US" sz="1200" dirty="0"/>
          </a:p>
        </p:txBody>
      </p:sp>
      <p:sp>
        <p:nvSpPr>
          <p:cNvPr id="8" name="Shape 5"/>
          <p:cNvSpPr/>
          <p:nvPr/>
        </p:nvSpPr>
        <p:spPr>
          <a:xfrm>
            <a:off x="449885" y="1691640"/>
            <a:ext cx="8244230" cy="566928"/>
          </a:xfrm>
          <a:prstGeom prst="roundRect">
            <a:avLst>
              <a:gd name="adj" fmla="val 9677"/>
            </a:avLst>
          </a:prstGeom>
          <a:solidFill>
            <a:srgbClr val="FFFFFF"/>
          </a:solidFill>
          <a:ln w="9525">
            <a:solidFill>
              <a:srgbClr val="E2E8F0"/>
            </a:solidFill>
            <a:prstDash val="solid"/>
          </a:ln>
        </p:spPr>
        <p:txBody>
          <a:bodyPr/>
          <a:lstStyle/>
          <a:p>
            <a:endParaRPr lang="en-IN"/>
          </a:p>
        </p:txBody>
      </p:sp>
      <p:sp>
        <p:nvSpPr>
          <p:cNvPr id="9" name="Shape 6"/>
          <p:cNvSpPr/>
          <p:nvPr/>
        </p:nvSpPr>
        <p:spPr>
          <a:xfrm>
            <a:off x="587045" y="1792224"/>
            <a:ext cx="365760" cy="365760"/>
          </a:xfrm>
          <a:prstGeom prst="ellipse">
            <a:avLst/>
          </a:prstGeom>
          <a:solidFill>
            <a:srgbClr val="004C97"/>
          </a:solidFill>
          <a:ln/>
        </p:spPr>
        <p:txBody>
          <a:bodyPr/>
          <a:lstStyle/>
          <a:p>
            <a:endParaRPr lang="en-IN"/>
          </a:p>
        </p:txBody>
      </p:sp>
      <p:sp>
        <p:nvSpPr>
          <p:cNvPr id="10" name="Text 7"/>
          <p:cNvSpPr txBox="1"/>
          <p:nvPr/>
        </p:nvSpPr>
        <p:spPr>
          <a:xfrm>
            <a:off x="587045" y="1792224"/>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Poppins SemiBold" pitchFamily="34" charset="0"/>
                <a:ea typeface="Poppins SemiBold" pitchFamily="34" charset="-122"/>
                <a:cs typeface="Poppins SemiBold" pitchFamily="34" charset="-120"/>
              </a:rPr>
              <a:t>1</a:t>
            </a:r>
            <a:endParaRPr lang="en-US" sz="1000" dirty="0"/>
          </a:p>
        </p:txBody>
      </p:sp>
      <p:sp>
        <p:nvSpPr>
          <p:cNvPr id="11" name="Text 8"/>
          <p:cNvSpPr txBox="1"/>
          <p:nvPr/>
        </p:nvSpPr>
        <p:spPr>
          <a:xfrm>
            <a:off x="1071677" y="1764792"/>
            <a:ext cx="2103120" cy="420624"/>
          </a:xfrm>
          <a:prstGeom prst="rect">
            <a:avLst/>
          </a:prstGeom>
          <a:noFill/>
          <a:ln/>
        </p:spPr>
        <p:txBody>
          <a:bodyPr wrap="square" lIns="0" tIns="0" rIns="0" bIns="0" rtlCol="0" anchor="ctr"/>
          <a:lstStyle/>
          <a:p>
            <a:pPr marL="0" indent="0">
              <a:buNone/>
            </a:pPr>
            <a:r>
              <a:rPr lang="en-US" sz="1100" b="1" dirty="0">
                <a:solidFill>
                  <a:srgbClr val="004C97"/>
                </a:solidFill>
                <a:latin typeface="Poppins SemiBold" pitchFamily="34" charset="0"/>
                <a:ea typeface="Poppins SemiBold" pitchFamily="34" charset="-122"/>
                <a:cs typeface="Poppins SemiBold" pitchFamily="34" charset="-120"/>
              </a:rPr>
              <a:t>Planning call</a:t>
            </a:r>
            <a:endParaRPr lang="en-US" sz="1100" dirty="0"/>
          </a:p>
        </p:txBody>
      </p:sp>
      <p:sp>
        <p:nvSpPr>
          <p:cNvPr id="12" name="Text 9"/>
          <p:cNvSpPr txBox="1"/>
          <p:nvPr/>
        </p:nvSpPr>
        <p:spPr>
          <a:xfrm>
            <a:off x="3193085" y="1764792"/>
            <a:ext cx="5363870" cy="420624"/>
          </a:xfrm>
          <a:prstGeom prst="rect">
            <a:avLst/>
          </a:prstGeom>
          <a:noFill/>
          <a:ln/>
        </p:spPr>
        <p:txBody>
          <a:bodyPr wrap="square" lIns="0" tIns="0" rIns="0" bIns="0" rtlCol="0" anchor="ctr"/>
          <a:lstStyle/>
          <a:p>
            <a:pPr marL="0" indent="0">
              <a:lnSpc>
                <a:spcPct val="115000"/>
              </a:lnSpc>
              <a:buNone/>
            </a:pPr>
            <a:r>
              <a:rPr lang="en-US" sz="960" dirty="0">
                <a:solidFill>
                  <a:srgbClr val="3B3D3E"/>
                </a:solidFill>
                <a:latin typeface="PT Sans" pitchFamily="34" charset="0"/>
                <a:ea typeface="PT Sans" pitchFamily="34" charset="-122"/>
                <a:cs typeface="PT Sans" pitchFamily="34" charset="-120"/>
              </a:rPr>
              <a:t>Question + capabilities list → decide: fetch portfolio, market data, margin.</a:t>
            </a:r>
            <a:endParaRPr lang="en-US" sz="960" dirty="0"/>
          </a:p>
        </p:txBody>
      </p:sp>
      <p:sp>
        <p:nvSpPr>
          <p:cNvPr id="13" name="Shape 10"/>
          <p:cNvSpPr/>
          <p:nvPr/>
        </p:nvSpPr>
        <p:spPr>
          <a:xfrm>
            <a:off x="449885" y="2350008"/>
            <a:ext cx="8244230" cy="566928"/>
          </a:xfrm>
          <a:prstGeom prst="roundRect">
            <a:avLst>
              <a:gd name="adj" fmla="val 9677"/>
            </a:avLst>
          </a:prstGeom>
          <a:solidFill>
            <a:srgbClr val="FFFFFF"/>
          </a:solidFill>
          <a:ln w="9525">
            <a:solidFill>
              <a:srgbClr val="E2E8F0"/>
            </a:solidFill>
            <a:prstDash val="solid"/>
          </a:ln>
        </p:spPr>
        <p:txBody>
          <a:bodyPr/>
          <a:lstStyle/>
          <a:p>
            <a:endParaRPr lang="en-IN"/>
          </a:p>
        </p:txBody>
      </p:sp>
      <p:sp>
        <p:nvSpPr>
          <p:cNvPr id="14" name="Shape 11"/>
          <p:cNvSpPr/>
          <p:nvPr/>
        </p:nvSpPr>
        <p:spPr>
          <a:xfrm>
            <a:off x="587045" y="2450592"/>
            <a:ext cx="365760" cy="365760"/>
          </a:xfrm>
          <a:prstGeom prst="ellipse">
            <a:avLst/>
          </a:prstGeom>
          <a:solidFill>
            <a:srgbClr val="004C97"/>
          </a:solidFill>
          <a:ln/>
        </p:spPr>
        <p:txBody>
          <a:bodyPr/>
          <a:lstStyle/>
          <a:p>
            <a:endParaRPr lang="en-IN"/>
          </a:p>
        </p:txBody>
      </p:sp>
      <p:sp>
        <p:nvSpPr>
          <p:cNvPr id="15" name="Text 12"/>
          <p:cNvSpPr txBox="1"/>
          <p:nvPr/>
        </p:nvSpPr>
        <p:spPr>
          <a:xfrm>
            <a:off x="587045" y="245059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Poppins SemiBold" pitchFamily="34" charset="0"/>
                <a:ea typeface="Poppins SemiBold" pitchFamily="34" charset="-122"/>
                <a:cs typeface="Poppins SemiBold" pitchFamily="34" charset="-120"/>
              </a:rPr>
              <a:t>2–4</a:t>
            </a:r>
            <a:endParaRPr lang="en-US" sz="1000" dirty="0"/>
          </a:p>
        </p:txBody>
      </p:sp>
      <p:sp>
        <p:nvSpPr>
          <p:cNvPr id="16" name="Text 13"/>
          <p:cNvSpPr txBox="1"/>
          <p:nvPr/>
        </p:nvSpPr>
        <p:spPr>
          <a:xfrm>
            <a:off x="1071677" y="2423160"/>
            <a:ext cx="2103120" cy="420624"/>
          </a:xfrm>
          <a:prstGeom prst="rect">
            <a:avLst/>
          </a:prstGeom>
          <a:noFill/>
          <a:ln/>
        </p:spPr>
        <p:txBody>
          <a:bodyPr wrap="square" lIns="0" tIns="0" rIns="0" bIns="0" rtlCol="0" anchor="ctr"/>
          <a:lstStyle/>
          <a:p>
            <a:pPr marL="0" indent="0">
              <a:buNone/>
            </a:pPr>
            <a:r>
              <a:rPr lang="en-US" sz="1100" b="1" dirty="0">
                <a:solidFill>
                  <a:srgbClr val="004C97"/>
                </a:solidFill>
                <a:latin typeface="Poppins SemiBold" pitchFamily="34" charset="0"/>
                <a:ea typeface="Poppins SemiBold" pitchFamily="34" charset="-122"/>
                <a:cs typeface="Poppins SemiBold" pitchFamily="34" charset="-120"/>
              </a:rPr>
              <a:t>Dynamic resource calls</a:t>
            </a:r>
            <a:endParaRPr lang="en-US" sz="1100" dirty="0"/>
          </a:p>
        </p:txBody>
      </p:sp>
      <p:sp>
        <p:nvSpPr>
          <p:cNvPr id="17" name="Text 14"/>
          <p:cNvSpPr txBox="1"/>
          <p:nvPr/>
        </p:nvSpPr>
        <p:spPr>
          <a:xfrm>
            <a:off x="3193085" y="2423160"/>
            <a:ext cx="5363870" cy="420624"/>
          </a:xfrm>
          <a:prstGeom prst="rect">
            <a:avLst/>
          </a:prstGeom>
          <a:noFill/>
          <a:ln/>
        </p:spPr>
        <p:txBody>
          <a:bodyPr wrap="square" lIns="0" tIns="0" rIns="0" bIns="0" rtlCol="0" anchor="ctr"/>
          <a:lstStyle/>
          <a:p>
            <a:pPr marL="0" indent="0">
              <a:lnSpc>
                <a:spcPct val="115000"/>
              </a:lnSpc>
              <a:buNone/>
            </a:pPr>
            <a:r>
              <a:rPr lang="en-US" sz="960" dirty="0">
                <a:solidFill>
                  <a:srgbClr val="3B3D3E"/>
                </a:solidFill>
                <a:latin typeface="PT Sans" pitchFamily="34" charset="0"/>
                <a:ea typeface="PT Sans" pitchFamily="34" charset="-122"/>
                <a:cs typeface="PT Sans" pitchFamily="34" charset="-120"/>
              </a:rPr>
              <a:t>Fully dynamic ReAct: one LLM call per fetch, each time re-deciding what's still missing.</a:t>
            </a:r>
            <a:endParaRPr lang="en-US" sz="960" dirty="0"/>
          </a:p>
        </p:txBody>
      </p:sp>
      <p:sp>
        <p:nvSpPr>
          <p:cNvPr id="18" name="Shape 15"/>
          <p:cNvSpPr/>
          <p:nvPr/>
        </p:nvSpPr>
        <p:spPr>
          <a:xfrm>
            <a:off x="449885" y="3008376"/>
            <a:ext cx="8244230" cy="566928"/>
          </a:xfrm>
          <a:prstGeom prst="roundRect">
            <a:avLst>
              <a:gd name="adj" fmla="val 9677"/>
            </a:avLst>
          </a:prstGeom>
          <a:solidFill>
            <a:srgbClr val="FFFFFF"/>
          </a:solidFill>
          <a:ln w="9525">
            <a:solidFill>
              <a:srgbClr val="E2E8F0"/>
            </a:solidFill>
            <a:prstDash val="solid"/>
          </a:ln>
        </p:spPr>
        <p:txBody>
          <a:bodyPr/>
          <a:lstStyle/>
          <a:p>
            <a:endParaRPr lang="en-IN"/>
          </a:p>
        </p:txBody>
      </p:sp>
      <p:sp>
        <p:nvSpPr>
          <p:cNvPr id="19" name="Shape 16"/>
          <p:cNvSpPr/>
          <p:nvPr/>
        </p:nvSpPr>
        <p:spPr>
          <a:xfrm>
            <a:off x="587045" y="3108960"/>
            <a:ext cx="365760" cy="365760"/>
          </a:xfrm>
          <a:prstGeom prst="ellipse">
            <a:avLst/>
          </a:prstGeom>
          <a:solidFill>
            <a:srgbClr val="004C97"/>
          </a:solidFill>
          <a:ln/>
        </p:spPr>
        <p:txBody>
          <a:bodyPr/>
          <a:lstStyle/>
          <a:p>
            <a:endParaRPr lang="en-IN"/>
          </a:p>
        </p:txBody>
      </p:sp>
      <p:sp>
        <p:nvSpPr>
          <p:cNvPr id="20" name="Text 17"/>
          <p:cNvSpPr txBox="1"/>
          <p:nvPr/>
        </p:nvSpPr>
        <p:spPr>
          <a:xfrm>
            <a:off x="587045" y="3108960"/>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Poppins SemiBold" pitchFamily="34" charset="0"/>
                <a:ea typeface="Poppins SemiBold" pitchFamily="34" charset="-122"/>
                <a:cs typeface="Poppins SemiBold" pitchFamily="34" charset="-120"/>
              </a:rPr>
              <a:t>5*</a:t>
            </a:r>
            <a:endParaRPr lang="en-US" sz="1000" dirty="0"/>
          </a:p>
        </p:txBody>
      </p:sp>
      <p:sp>
        <p:nvSpPr>
          <p:cNvPr id="21" name="Text 18"/>
          <p:cNvSpPr txBox="1"/>
          <p:nvPr/>
        </p:nvSpPr>
        <p:spPr>
          <a:xfrm>
            <a:off x="1071677" y="3081528"/>
            <a:ext cx="2103120" cy="420624"/>
          </a:xfrm>
          <a:prstGeom prst="rect">
            <a:avLst/>
          </a:prstGeom>
          <a:noFill/>
          <a:ln/>
        </p:spPr>
        <p:txBody>
          <a:bodyPr wrap="square" lIns="0" tIns="0" rIns="0" bIns="0" rtlCol="0" anchor="ctr"/>
          <a:lstStyle/>
          <a:p>
            <a:pPr marL="0" indent="0">
              <a:buNone/>
            </a:pPr>
            <a:r>
              <a:rPr lang="en-US" sz="1100" b="1" dirty="0">
                <a:solidFill>
                  <a:srgbClr val="004C97"/>
                </a:solidFill>
                <a:latin typeface="Poppins SemiBold" pitchFamily="34" charset="0"/>
                <a:ea typeface="Poppins SemiBold" pitchFamily="34" charset="-122"/>
                <a:cs typeface="Poppins SemiBold" pitchFamily="34" charset="-120"/>
              </a:rPr>
              <a:t>Optional confirmation</a:t>
            </a:r>
            <a:endParaRPr lang="en-US" sz="1100" dirty="0"/>
          </a:p>
        </p:txBody>
      </p:sp>
      <p:sp>
        <p:nvSpPr>
          <p:cNvPr id="22" name="Text 19"/>
          <p:cNvSpPr txBox="1"/>
          <p:nvPr/>
        </p:nvSpPr>
        <p:spPr>
          <a:xfrm>
            <a:off x="3193085" y="3081528"/>
            <a:ext cx="5363870" cy="420624"/>
          </a:xfrm>
          <a:prstGeom prst="rect">
            <a:avLst/>
          </a:prstGeom>
          <a:noFill/>
          <a:ln/>
        </p:spPr>
        <p:txBody>
          <a:bodyPr wrap="square" lIns="0" tIns="0" rIns="0" bIns="0" rtlCol="0" anchor="ctr"/>
          <a:lstStyle/>
          <a:p>
            <a:pPr marL="0" indent="0">
              <a:lnSpc>
                <a:spcPct val="115000"/>
              </a:lnSpc>
              <a:buNone/>
            </a:pPr>
            <a:r>
              <a:rPr lang="en-US" sz="960" dirty="0">
                <a:solidFill>
                  <a:srgbClr val="3B3D3E"/>
                </a:solidFill>
                <a:latin typeface="PT Sans" pitchFamily="34" charset="0"/>
                <a:ea typeface="PT Sans" pitchFamily="34" charset="-122"/>
                <a:cs typeface="PT Sans" pitchFamily="34" charset="-120"/>
              </a:rPr>
              <a:t>If the agent asks the LLM to confirm before an irreversible action, like placing the order.</a:t>
            </a:r>
            <a:endParaRPr lang="en-US" sz="960" dirty="0"/>
          </a:p>
        </p:txBody>
      </p:sp>
      <p:sp>
        <p:nvSpPr>
          <p:cNvPr id="23" name="Shape 20"/>
          <p:cNvSpPr/>
          <p:nvPr/>
        </p:nvSpPr>
        <p:spPr>
          <a:xfrm>
            <a:off x="449885" y="3758184"/>
            <a:ext cx="8244230" cy="777240"/>
          </a:xfrm>
          <a:prstGeom prst="roundRect">
            <a:avLst>
              <a:gd name="adj" fmla="val 7059"/>
            </a:avLst>
          </a:prstGeom>
          <a:solidFill>
            <a:srgbClr val="E6F4FA"/>
          </a:solidFill>
          <a:ln w="9525">
            <a:solidFill>
              <a:srgbClr val="00A3E0"/>
            </a:solidFill>
            <a:prstDash val="solid"/>
          </a:ln>
        </p:spPr>
        <p:txBody>
          <a:bodyPr/>
          <a:lstStyle/>
          <a:p>
            <a:endParaRPr lang="en-IN"/>
          </a:p>
        </p:txBody>
      </p:sp>
      <p:sp>
        <p:nvSpPr>
          <p:cNvPr id="24" name="Text 21"/>
          <p:cNvSpPr txBox="1"/>
          <p:nvPr/>
        </p:nvSpPr>
        <p:spPr>
          <a:xfrm>
            <a:off x="632765" y="3758184"/>
            <a:ext cx="7878470" cy="777240"/>
          </a:xfrm>
          <a:prstGeom prst="rect">
            <a:avLst/>
          </a:prstGeom>
          <a:noFill/>
          <a:ln/>
        </p:spPr>
        <p:txBody>
          <a:bodyPr wrap="square" lIns="0" tIns="0" rIns="0" bIns="0" rtlCol="0" anchor="ctr"/>
          <a:lstStyle/>
          <a:p>
            <a:pPr marL="0" indent="0">
              <a:lnSpc>
                <a:spcPct val="122000"/>
              </a:lnSpc>
              <a:buNone/>
            </a:pPr>
            <a:r>
              <a:rPr lang="en-US" sz="1030" b="1" dirty="0">
                <a:solidFill>
                  <a:srgbClr val="004C97"/>
                </a:solidFill>
                <a:latin typeface="PT Sans" pitchFamily="34" charset="0"/>
                <a:ea typeface="PT Sans" pitchFamily="34" charset="-122"/>
                <a:cs typeface="PT Sans" pitchFamily="34" charset="-120"/>
              </a:rPr>
              <a:t>Design principle:  </a:t>
            </a:r>
            <a:r>
              <a:rPr lang="en-US" sz="1030" dirty="0">
                <a:solidFill>
                  <a:srgbClr val="3B3D3E"/>
                </a:solidFill>
                <a:latin typeface="PT Sans" pitchFamily="34" charset="0"/>
                <a:ea typeface="PT Sans" pitchFamily="34" charset="-122"/>
                <a:cs typeface="PT Sans" pitchFamily="34" charset="-120"/>
              </a:rPr>
              <a:t>static for data you always need — pre-fetch portfolio, price, and margin in parallel, one planning call. Dynamic only for the action phase, because that genuinely depends on what the data says. That one rule saves two to three LLM calls per query.</a:t>
            </a:r>
            <a:endParaRPr lang="en-US" sz="103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3  •  A2A: GIVING IT COLLEAGUES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But Now the Ask Gets Bigger...</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449885" y="1234440"/>
            <a:ext cx="8244230" cy="502920"/>
          </a:xfrm>
          <a:prstGeom prst="roundRect">
            <a:avLst>
              <a:gd name="adj" fmla="val 10909"/>
            </a:avLst>
          </a:prstGeom>
          <a:solidFill>
            <a:srgbClr val="FFFFFF"/>
          </a:solidFill>
          <a:ln w="9525">
            <a:solidFill>
              <a:srgbClr val="E2E8F0"/>
            </a:solidFill>
            <a:prstDash val="solid"/>
          </a:ln>
        </p:spPr>
        <p:txBody>
          <a:bodyPr/>
          <a:lstStyle/>
          <a:p>
            <a:endParaRPr lang="en-IN"/>
          </a:p>
        </p:txBody>
      </p:sp>
      <p:sp>
        <p:nvSpPr>
          <p:cNvPr id="8" name="Text 5"/>
          <p:cNvSpPr txBox="1"/>
          <p:nvPr/>
        </p:nvSpPr>
        <p:spPr>
          <a:xfrm>
            <a:off x="632765" y="1234440"/>
            <a:ext cx="7878470" cy="502920"/>
          </a:xfrm>
          <a:prstGeom prst="rect">
            <a:avLst/>
          </a:prstGeom>
          <a:noFill/>
          <a:ln/>
        </p:spPr>
        <p:txBody>
          <a:bodyPr wrap="square" lIns="0" tIns="0" rIns="0" bIns="0" rtlCol="0" anchor="ctr"/>
          <a:lstStyle/>
          <a:p>
            <a:pPr marL="0" indent="0">
              <a:buNone/>
            </a:pPr>
            <a:r>
              <a:rPr lang="en-US" sz="1150" b="1" dirty="0">
                <a:solidFill>
                  <a:srgbClr val="9AA39D"/>
                </a:solidFill>
                <a:latin typeface="PT Sans" pitchFamily="34" charset="0"/>
                <a:ea typeface="PT Sans" pitchFamily="34" charset="-122"/>
                <a:cs typeface="PT Sans" pitchFamily="34" charset="-120"/>
              </a:rPr>
              <a:t>Before:  </a:t>
            </a:r>
            <a:r>
              <a:rPr lang="en-US" sz="1150" dirty="0">
                <a:solidFill>
                  <a:srgbClr val="3B3D3E"/>
                </a:solidFill>
                <a:latin typeface="PT Sans" pitchFamily="34" charset="0"/>
                <a:ea typeface="PT Sans" pitchFamily="34" charset="-122"/>
                <a:cs typeface="PT Sans" pitchFamily="34" charset="-120"/>
              </a:rPr>
              <a:t>"Should I buy more HDFC Bank today?"  →  one agent, MCP tools, solved. ✓</a:t>
            </a:r>
            <a:endParaRPr lang="en-US" sz="1150" dirty="0"/>
          </a:p>
        </p:txBody>
      </p:sp>
      <p:sp>
        <p:nvSpPr>
          <p:cNvPr id="9" name="Shape 6"/>
          <p:cNvSpPr/>
          <p:nvPr/>
        </p:nvSpPr>
        <p:spPr>
          <a:xfrm>
            <a:off x="449885" y="1874520"/>
            <a:ext cx="8244230" cy="566928"/>
          </a:xfrm>
          <a:prstGeom prst="roundRect">
            <a:avLst>
              <a:gd name="adj" fmla="val 9677"/>
            </a:avLst>
          </a:prstGeom>
          <a:solidFill>
            <a:srgbClr val="004C97"/>
          </a:solidFill>
          <a:ln w="9525">
            <a:solidFill>
              <a:srgbClr val="004C97"/>
            </a:solidFill>
            <a:prstDash val="solid"/>
          </a:ln>
        </p:spPr>
        <p:txBody>
          <a:bodyPr/>
          <a:lstStyle/>
          <a:p>
            <a:endParaRPr lang="en-IN"/>
          </a:p>
        </p:txBody>
      </p:sp>
      <p:sp>
        <p:nvSpPr>
          <p:cNvPr id="10" name="Text 7"/>
          <p:cNvSpPr txBox="1"/>
          <p:nvPr/>
        </p:nvSpPr>
        <p:spPr>
          <a:xfrm>
            <a:off x="632765" y="1874520"/>
            <a:ext cx="7878470" cy="566928"/>
          </a:xfrm>
          <a:prstGeom prst="rect">
            <a:avLst/>
          </a:prstGeom>
          <a:noFill/>
          <a:ln/>
        </p:spPr>
        <p:txBody>
          <a:bodyPr wrap="square" lIns="0" tIns="0" rIns="0" bIns="0" rtlCol="0" anchor="ctr"/>
          <a:lstStyle/>
          <a:p>
            <a:pPr marL="0" indent="0">
              <a:buNone/>
            </a:pPr>
            <a:r>
              <a:rPr lang="en-US" sz="1350" b="1" i="1" dirty="0">
                <a:solidFill>
                  <a:srgbClr val="FFFFFF"/>
                </a:solidFill>
                <a:latin typeface="Poppins SemiBold" pitchFamily="34" charset="0"/>
                <a:ea typeface="Poppins SemiBold" pitchFamily="34" charset="-122"/>
                <a:cs typeface="Poppins SemiBold" pitchFamily="34" charset="-120"/>
              </a:rPr>
              <a:t>Now: "Rebalance my entire portfolio for a market downturn scenario."</a:t>
            </a:r>
            <a:endParaRPr lang="en-US" sz="1350" dirty="0"/>
          </a:p>
        </p:txBody>
      </p:sp>
      <p:sp>
        <p:nvSpPr>
          <p:cNvPr id="11" name="Text 8"/>
          <p:cNvSpPr txBox="1"/>
          <p:nvPr/>
        </p:nvSpPr>
        <p:spPr>
          <a:xfrm>
            <a:off x="449885" y="2606040"/>
            <a:ext cx="8244230" cy="274320"/>
          </a:xfrm>
          <a:prstGeom prst="rect">
            <a:avLst/>
          </a:prstGeom>
          <a:noFill/>
          <a:ln/>
        </p:spPr>
        <p:txBody>
          <a:bodyPr wrap="square" lIns="0" tIns="0" rIns="0" bIns="0" rtlCol="0" anchor="ctr"/>
          <a:lstStyle/>
          <a:p>
            <a:pPr marL="0" indent="0">
              <a:buNone/>
            </a:pPr>
            <a:r>
              <a:rPr lang="en-US" sz="1100" dirty="0">
                <a:solidFill>
                  <a:srgbClr val="3B3D3E"/>
                </a:solidFill>
                <a:latin typeface="PT Sans" pitchFamily="34" charset="0"/>
                <a:ea typeface="PT Sans" pitchFamily="34" charset="-122"/>
                <a:cs typeface="PT Sans" pitchFamily="34" charset="-120"/>
              </a:rPr>
              <a:t>One agent is now being asked to:</a:t>
            </a:r>
            <a:endParaRPr lang="en-US" sz="1100" dirty="0"/>
          </a:p>
        </p:txBody>
      </p:sp>
      <p:sp>
        <p:nvSpPr>
          <p:cNvPr id="12" name="Shape 9"/>
          <p:cNvSpPr/>
          <p:nvPr/>
        </p:nvSpPr>
        <p:spPr>
          <a:xfrm>
            <a:off x="449885" y="2889504"/>
            <a:ext cx="4030675" cy="384048"/>
          </a:xfrm>
          <a:prstGeom prst="roundRect">
            <a:avLst>
              <a:gd name="adj" fmla="val 14286"/>
            </a:avLst>
          </a:prstGeom>
          <a:solidFill>
            <a:srgbClr val="FFFFFF"/>
          </a:solidFill>
          <a:ln w="9525">
            <a:solidFill>
              <a:srgbClr val="E2E8F0"/>
            </a:solidFill>
            <a:prstDash val="solid"/>
          </a:ln>
        </p:spPr>
        <p:txBody>
          <a:bodyPr/>
          <a:lstStyle/>
          <a:p>
            <a:endParaRPr lang="en-IN"/>
          </a:p>
        </p:txBody>
      </p:sp>
      <p:sp>
        <p:nvSpPr>
          <p:cNvPr id="13" name="Text 10"/>
          <p:cNvSpPr txBox="1"/>
          <p:nvPr/>
        </p:nvSpPr>
        <p:spPr>
          <a:xfrm>
            <a:off x="596189" y="2889504"/>
            <a:ext cx="3738067" cy="384048"/>
          </a:xfrm>
          <a:prstGeom prst="rect">
            <a:avLst/>
          </a:prstGeom>
          <a:noFill/>
          <a:ln/>
        </p:spPr>
        <p:txBody>
          <a:bodyPr wrap="square" lIns="0" tIns="0" rIns="0" bIns="0" rtlCol="0" anchor="ctr"/>
          <a:lstStyle/>
          <a:p>
            <a:pPr marL="0" indent="0">
              <a:buNone/>
            </a:pPr>
            <a:r>
              <a:rPr lang="en-US" sz="950" b="1" dirty="0">
                <a:solidFill>
                  <a:srgbClr val="004C97"/>
                </a:solidFill>
                <a:latin typeface="PT Sans" pitchFamily="34" charset="0"/>
                <a:ea typeface="PT Sans" pitchFamily="34" charset="-122"/>
                <a:cs typeface="PT Sans" pitchFamily="34" charset="-120"/>
              </a:rPr>
              <a:t>Analyse macro conditions &amp; sector exposure</a:t>
            </a:r>
            <a:endParaRPr lang="en-US" sz="950" dirty="0"/>
          </a:p>
        </p:txBody>
      </p:sp>
      <p:sp>
        <p:nvSpPr>
          <p:cNvPr id="14" name="Shape 11"/>
          <p:cNvSpPr/>
          <p:nvPr/>
        </p:nvSpPr>
        <p:spPr>
          <a:xfrm>
            <a:off x="4663440" y="2889504"/>
            <a:ext cx="4030675" cy="384048"/>
          </a:xfrm>
          <a:prstGeom prst="roundRect">
            <a:avLst>
              <a:gd name="adj" fmla="val 14286"/>
            </a:avLst>
          </a:prstGeom>
          <a:solidFill>
            <a:srgbClr val="FFFFFF"/>
          </a:solidFill>
          <a:ln w="9525">
            <a:solidFill>
              <a:srgbClr val="E2E8F0"/>
            </a:solidFill>
            <a:prstDash val="solid"/>
          </a:ln>
        </p:spPr>
        <p:txBody>
          <a:bodyPr/>
          <a:lstStyle/>
          <a:p>
            <a:endParaRPr lang="en-IN"/>
          </a:p>
        </p:txBody>
      </p:sp>
      <p:sp>
        <p:nvSpPr>
          <p:cNvPr id="15" name="Text 12"/>
          <p:cNvSpPr txBox="1"/>
          <p:nvPr/>
        </p:nvSpPr>
        <p:spPr>
          <a:xfrm>
            <a:off x="4809744" y="2889504"/>
            <a:ext cx="3738067" cy="384048"/>
          </a:xfrm>
          <a:prstGeom prst="rect">
            <a:avLst/>
          </a:prstGeom>
          <a:noFill/>
          <a:ln/>
        </p:spPr>
        <p:txBody>
          <a:bodyPr wrap="square" lIns="0" tIns="0" rIns="0" bIns="0" rtlCol="0" anchor="ctr"/>
          <a:lstStyle/>
          <a:p>
            <a:pPr marL="0" indent="0">
              <a:buNone/>
            </a:pPr>
            <a:r>
              <a:rPr lang="en-US" sz="950" b="1" dirty="0">
                <a:solidFill>
                  <a:srgbClr val="004C97"/>
                </a:solidFill>
                <a:latin typeface="PT Sans" pitchFamily="34" charset="0"/>
                <a:ea typeface="PT Sans" pitchFamily="34" charset="-122"/>
                <a:cs typeface="PT Sans" pitchFamily="34" charset="-120"/>
              </a:rPr>
              <a:t>Verify SEBI regulatory limits</a:t>
            </a:r>
            <a:endParaRPr lang="en-US" sz="950" dirty="0"/>
          </a:p>
        </p:txBody>
      </p:sp>
      <p:sp>
        <p:nvSpPr>
          <p:cNvPr id="16" name="Shape 13"/>
          <p:cNvSpPr/>
          <p:nvPr/>
        </p:nvSpPr>
        <p:spPr>
          <a:xfrm>
            <a:off x="449885" y="3337560"/>
            <a:ext cx="4030675" cy="384048"/>
          </a:xfrm>
          <a:prstGeom prst="roundRect">
            <a:avLst>
              <a:gd name="adj" fmla="val 14286"/>
            </a:avLst>
          </a:prstGeom>
          <a:solidFill>
            <a:srgbClr val="FFFFFF"/>
          </a:solidFill>
          <a:ln w="9525">
            <a:solidFill>
              <a:srgbClr val="E2E8F0"/>
            </a:solidFill>
            <a:prstDash val="solid"/>
          </a:ln>
        </p:spPr>
        <p:txBody>
          <a:bodyPr/>
          <a:lstStyle/>
          <a:p>
            <a:endParaRPr lang="en-IN"/>
          </a:p>
        </p:txBody>
      </p:sp>
      <p:sp>
        <p:nvSpPr>
          <p:cNvPr id="17" name="Text 14"/>
          <p:cNvSpPr txBox="1"/>
          <p:nvPr/>
        </p:nvSpPr>
        <p:spPr>
          <a:xfrm>
            <a:off x="596189" y="3337560"/>
            <a:ext cx="3738067" cy="384048"/>
          </a:xfrm>
          <a:prstGeom prst="rect">
            <a:avLst/>
          </a:prstGeom>
          <a:noFill/>
          <a:ln/>
        </p:spPr>
        <p:txBody>
          <a:bodyPr wrap="square" lIns="0" tIns="0" rIns="0" bIns="0" rtlCol="0" anchor="ctr"/>
          <a:lstStyle/>
          <a:p>
            <a:pPr marL="0" indent="0">
              <a:buNone/>
            </a:pPr>
            <a:r>
              <a:rPr lang="en-US" sz="950" b="1" dirty="0">
                <a:solidFill>
                  <a:srgbClr val="004C97"/>
                </a:solidFill>
                <a:latin typeface="PT Sans" pitchFamily="34" charset="0"/>
                <a:ea typeface="PT Sans" pitchFamily="34" charset="-122"/>
                <a:cs typeface="PT Sans" pitchFamily="34" charset="-120"/>
              </a:rPr>
              <a:t>Review every holding for risk/return</a:t>
            </a:r>
            <a:endParaRPr lang="en-US" sz="950" dirty="0"/>
          </a:p>
        </p:txBody>
      </p:sp>
      <p:sp>
        <p:nvSpPr>
          <p:cNvPr id="18" name="Shape 15"/>
          <p:cNvSpPr/>
          <p:nvPr/>
        </p:nvSpPr>
        <p:spPr>
          <a:xfrm>
            <a:off x="4663440" y="3337560"/>
            <a:ext cx="4030675" cy="384048"/>
          </a:xfrm>
          <a:prstGeom prst="roundRect">
            <a:avLst>
              <a:gd name="adj" fmla="val 14286"/>
            </a:avLst>
          </a:prstGeom>
          <a:solidFill>
            <a:srgbClr val="FFFFFF"/>
          </a:solidFill>
          <a:ln w="9525">
            <a:solidFill>
              <a:srgbClr val="E2E8F0"/>
            </a:solidFill>
            <a:prstDash val="solid"/>
          </a:ln>
        </p:spPr>
        <p:txBody>
          <a:bodyPr/>
          <a:lstStyle/>
          <a:p>
            <a:endParaRPr lang="en-IN"/>
          </a:p>
        </p:txBody>
      </p:sp>
      <p:sp>
        <p:nvSpPr>
          <p:cNvPr id="19" name="Text 16"/>
          <p:cNvSpPr txBox="1"/>
          <p:nvPr/>
        </p:nvSpPr>
        <p:spPr>
          <a:xfrm>
            <a:off x="4809744" y="3337560"/>
            <a:ext cx="3738067" cy="384048"/>
          </a:xfrm>
          <a:prstGeom prst="rect">
            <a:avLst/>
          </a:prstGeom>
          <a:noFill/>
          <a:ln/>
        </p:spPr>
        <p:txBody>
          <a:bodyPr wrap="square" lIns="0" tIns="0" rIns="0" bIns="0" rtlCol="0" anchor="ctr"/>
          <a:lstStyle/>
          <a:p>
            <a:pPr marL="0" indent="0">
              <a:buNone/>
            </a:pPr>
            <a:r>
              <a:rPr lang="en-US" sz="950" b="1" dirty="0">
                <a:solidFill>
                  <a:srgbClr val="004C97"/>
                </a:solidFill>
                <a:latin typeface="PT Sans" pitchFamily="34" charset="0"/>
                <a:ea typeface="PT Sans" pitchFamily="34" charset="-122"/>
                <a:cs typeface="PT Sans" pitchFamily="34" charset="-120"/>
              </a:rPr>
              <a:t>Execute 12 trades in the right sequence</a:t>
            </a:r>
            <a:endParaRPr lang="en-US" sz="950" dirty="0"/>
          </a:p>
        </p:txBody>
      </p:sp>
      <p:sp>
        <p:nvSpPr>
          <p:cNvPr id="20" name="Shape 17"/>
          <p:cNvSpPr/>
          <p:nvPr/>
        </p:nvSpPr>
        <p:spPr>
          <a:xfrm>
            <a:off x="449885" y="3785616"/>
            <a:ext cx="4030675" cy="384048"/>
          </a:xfrm>
          <a:prstGeom prst="roundRect">
            <a:avLst>
              <a:gd name="adj" fmla="val 14286"/>
            </a:avLst>
          </a:prstGeom>
          <a:solidFill>
            <a:srgbClr val="FFFFFF"/>
          </a:solidFill>
          <a:ln w="9525">
            <a:solidFill>
              <a:srgbClr val="E2E8F0"/>
            </a:solidFill>
            <a:prstDash val="solid"/>
          </a:ln>
        </p:spPr>
        <p:txBody>
          <a:bodyPr/>
          <a:lstStyle/>
          <a:p>
            <a:endParaRPr lang="en-IN"/>
          </a:p>
        </p:txBody>
      </p:sp>
      <p:sp>
        <p:nvSpPr>
          <p:cNvPr id="21" name="Text 18"/>
          <p:cNvSpPr txBox="1"/>
          <p:nvPr/>
        </p:nvSpPr>
        <p:spPr>
          <a:xfrm>
            <a:off x="596189" y="3785616"/>
            <a:ext cx="3738067" cy="384048"/>
          </a:xfrm>
          <a:prstGeom prst="rect">
            <a:avLst/>
          </a:prstGeom>
          <a:noFill/>
          <a:ln/>
        </p:spPr>
        <p:txBody>
          <a:bodyPr wrap="square" lIns="0" tIns="0" rIns="0" bIns="0" rtlCol="0" anchor="ctr"/>
          <a:lstStyle/>
          <a:p>
            <a:pPr marL="0" indent="0">
              <a:buNone/>
            </a:pPr>
            <a:r>
              <a:rPr lang="en-US" sz="950" b="1" dirty="0">
                <a:solidFill>
                  <a:srgbClr val="004C97"/>
                </a:solidFill>
                <a:latin typeface="PT Sans" pitchFamily="34" charset="0"/>
                <a:ea typeface="PT Sans" pitchFamily="34" charset="-122"/>
                <a:cs typeface="PT Sans" pitchFamily="34" charset="-120"/>
              </a:rPr>
              <a:t>Calculate tax implications of each sale</a:t>
            </a:r>
            <a:endParaRPr lang="en-US" sz="950" dirty="0"/>
          </a:p>
        </p:txBody>
      </p:sp>
      <p:sp>
        <p:nvSpPr>
          <p:cNvPr id="22" name="Shape 19"/>
          <p:cNvSpPr/>
          <p:nvPr/>
        </p:nvSpPr>
        <p:spPr>
          <a:xfrm>
            <a:off x="4663440" y="3785616"/>
            <a:ext cx="4030675" cy="384048"/>
          </a:xfrm>
          <a:prstGeom prst="roundRect">
            <a:avLst>
              <a:gd name="adj" fmla="val 14286"/>
            </a:avLst>
          </a:prstGeom>
          <a:solidFill>
            <a:srgbClr val="FFFFFF"/>
          </a:solidFill>
          <a:ln w="9525">
            <a:solidFill>
              <a:srgbClr val="E2E8F0"/>
            </a:solidFill>
            <a:prstDash val="solid"/>
          </a:ln>
        </p:spPr>
        <p:txBody>
          <a:bodyPr/>
          <a:lstStyle/>
          <a:p>
            <a:endParaRPr lang="en-IN"/>
          </a:p>
        </p:txBody>
      </p:sp>
      <p:sp>
        <p:nvSpPr>
          <p:cNvPr id="23" name="Text 20"/>
          <p:cNvSpPr txBox="1"/>
          <p:nvPr/>
        </p:nvSpPr>
        <p:spPr>
          <a:xfrm>
            <a:off x="4809744" y="3785616"/>
            <a:ext cx="3738067" cy="384048"/>
          </a:xfrm>
          <a:prstGeom prst="rect">
            <a:avLst/>
          </a:prstGeom>
          <a:noFill/>
          <a:ln/>
        </p:spPr>
        <p:txBody>
          <a:bodyPr wrap="square" lIns="0" tIns="0" rIns="0" bIns="0" rtlCol="0" anchor="ctr"/>
          <a:lstStyle/>
          <a:p>
            <a:pPr marL="0" indent="0">
              <a:buNone/>
            </a:pPr>
            <a:r>
              <a:rPr lang="en-US" sz="950" b="1" dirty="0">
                <a:solidFill>
                  <a:srgbClr val="004C97"/>
                </a:solidFill>
                <a:latin typeface="PT Sans" pitchFamily="34" charset="0"/>
                <a:ea typeface="PT Sans" pitchFamily="34" charset="-122"/>
                <a:cs typeface="PT Sans" pitchFamily="34" charset="-120"/>
              </a:rPr>
              <a:t>Generate a compliance report</a:t>
            </a:r>
            <a:endParaRPr lang="en-US" sz="950" dirty="0"/>
          </a:p>
        </p:txBody>
      </p:sp>
      <p:sp>
        <p:nvSpPr>
          <p:cNvPr id="24" name="Text 21"/>
          <p:cNvSpPr txBox="1"/>
          <p:nvPr/>
        </p:nvSpPr>
        <p:spPr>
          <a:xfrm>
            <a:off x="449885" y="4261104"/>
            <a:ext cx="8244230" cy="420624"/>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Too much context for one window. Different tasks need different expertise. Some can run in parallel. We solved the tool problem with MCP — this is a coordination problem.</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3  •  A2A: GIVING IT COLLEAGUES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Agent-to-Agent (A2A) — Agents as Services</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207008"/>
            <a:ext cx="8244230" cy="274320"/>
          </a:xfrm>
          <a:prstGeom prst="rect">
            <a:avLst/>
          </a:prstGeom>
          <a:noFill/>
          <a:ln/>
        </p:spPr>
        <p:txBody>
          <a:bodyPr wrap="square" lIns="0" tIns="0" rIns="0" bIns="0" rtlCol="0" anchor="ctr"/>
          <a:lstStyle/>
          <a:p>
            <a:pPr marL="0" indent="0">
              <a:buNone/>
            </a:pPr>
            <a:r>
              <a:rPr lang="en-US" sz="1100" i="1" dirty="0">
                <a:solidFill>
                  <a:srgbClr val="3B3D3E"/>
                </a:solidFill>
                <a:latin typeface="PT Sans" pitchFamily="34" charset="0"/>
                <a:ea typeface="PT Sans" pitchFamily="34" charset="-122"/>
                <a:cs typeface="PT Sans" pitchFamily="34" charset="-120"/>
              </a:rPr>
              <a:t>Developed by Google with ecosystem partners. Agents discover, delegate, and coordinate across boundaries.</a:t>
            </a:r>
            <a:endParaRPr lang="en-US" sz="1100" dirty="0"/>
          </a:p>
        </p:txBody>
      </p:sp>
      <p:sp>
        <p:nvSpPr>
          <p:cNvPr id="8" name="Shape 5"/>
          <p:cNvSpPr/>
          <p:nvPr/>
        </p:nvSpPr>
        <p:spPr>
          <a:xfrm>
            <a:off x="4183380" y="1536192"/>
            <a:ext cx="777240" cy="777240"/>
          </a:xfrm>
          <a:prstGeom prst="ellipse">
            <a:avLst/>
          </a:prstGeom>
          <a:solidFill>
            <a:srgbClr val="004C97"/>
          </a:solidFill>
          <a:ln/>
        </p:spPr>
        <p:txBody>
          <a:bodyPr/>
          <a:lstStyle/>
          <a:p>
            <a:endParaRPr lang="en-IN"/>
          </a:p>
        </p:txBody>
      </p:sp>
      <p:sp>
        <p:nvSpPr>
          <p:cNvPr id="9" name="Text 6"/>
          <p:cNvSpPr txBox="1"/>
          <p:nvPr/>
        </p:nvSpPr>
        <p:spPr>
          <a:xfrm>
            <a:off x="4183380" y="1536192"/>
            <a:ext cx="777240" cy="777240"/>
          </a:xfrm>
          <a:prstGeom prst="rect">
            <a:avLst/>
          </a:prstGeom>
          <a:noFill/>
          <a:ln/>
        </p:spPr>
        <p:txBody>
          <a:bodyPr wrap="square" lIns="0" tIns="0" rIns="0" bIns="0" rtlCol="0" anchor="ctr"/>
          <a:lstStyle/>
          <a:p>
            <a:pPr marL="0" indent="0" algn="ctr">
              <a:buNone/>
            </a:pPr>
            <a:r>
              <a:rPr lang="en-US" sz="950" b="1" dirty="0">
                <a:solidFill>
                  <a:srgbClr val="FFFFFF"/>
                </a:solidFill>
                <a:latin typeface="Poppins SemiBold" pitchFamily="34" charset="0"/>
                <a:ea typeface="Poppins SemiBold" pitchFamily="34" charset="-122"/>
                <a:cs typeface="Poppins SemiBold" pitchFamily="34" charset="-120"/>
              </a:rPr>
              <a:t>Supervisor</a:t>
            </a:r>
            <a:endParaRPr lang="en-US" sz="950" dirty="0"/>
          </a:p>
        </p:txBody>
      </p:sp>
      <p:sp>
        <p:nvSpPr>
          <p:cNvPr id="10" name="Text 7"/>
          <p:cNvSpPr txBox="1"/>
          <p:nvPr/>
        </p:nvSpPr>
        <p:spPr>
          <a:xfrm>
            <a:off x="5070348" y="1815084"/>
            <a:ext cx="1554480" cy="219456"/>
          </a:xfrm>
          <a:prstGeom prst="rect">
            <a:avLst/>
          </a:prstGeom>
          <a:noFill/>
          <a:ln/>
        </p:spPr>
        <p:txBody>
          <a:bodyPr wrap="square" lIns="0" tIns="0" rIns="0" bIns="0" rtlCol="0" anchor="ctr"/>
          <a:lstStyle/>
          <a:p>
            <a:pPr marL="0" indent="0" algn="l">
              <a:buNone/>
            </a:pPr>
            <a:r>
              <a:rPr lang="en-US" sz="900" i="1" dirty="0">
                <a:solidFill>
                  <a:srgbClr val="9AA39D"/>
                </a:solidFill>
                <a:latin typeface="PT Sans" pitchFamily="34" charset="0"/>
                <a:ea typeface="PT Sans" pitchFamily="34" charset="-122"/>
                <a:cs typeface="PT Sans" pitchFamily="34" charset="-120"/>
              </a:rPr>
              <a:t>(Portfolio Manager)</a:t>
            </a:r>
            <a:endParaRPr lang="en-US" sz="900" dirty="0"/>
          </a:p>
        </p:txBody>
      </p:sp>
      <p:sp>
        <p:nvSpPr>
          <p:cNvPr id="11" name="Shape 8"/>
          <p:cNvSpPr/>
          <p:nvPr/>
        </p:nvSpPr>
        <p:spPr>
          <a:xfrm>
            <a:off x="4572000" y="2313432"/>
            <a:ext cx="0" cy="274320"/>
          </a:xfrm>
          <a:prstGeom prst="line">
            <a:avLst/>
          </a:prstGeom>
          <a:noFill/>
          <a:ln w="19050">
            <a:solidFill>
              <a:srgbClr val="00A3E0"/>
            </a:solidFill>
            <a:prstDash val="solid"/>
          </a:ln>
        </p:spPr>
        <p:txBody>
          <a:bodyPr/>
          <a:lstStyle/>
          <a:p>
            <a:endParaRPr lang="en-IN"/>
          </a:p>
        </p:txBody>
      </p:sp>
      <p:sp>
        <p:nvSpPr>
          <p:cNvPr id="12" name="Shape 9"/>
          <p:cNvSpPr/>
          <p:nvPr/>
        </p:nvSpPr>
        <p:spPr>
          <a:xfrm>
            <a:off x="1499616" y="2587752"/>
            <a:ext cx="6144768" cy="0"/>
          </a:xfrm>
          <a:prstGeom prst="line">
            <a:avLst/>
          </a:prstGeom>
          <a:noFill/>
          <a:ln w="15875">
            <a:solidFill>
              <a:srgbClr val="00A3E0"/>
            </a:solidFill>
            <a:prstDash val="solid"/>
          </a:ln>
        </p:spPr>
        <p:txBody>
          <a:bodyPr/>
          <a:lstStyle/>
          <a:p>
            <a:endParaRPr lang="en-IN"/>
          </a:p>
        </p:txBody>
      </p:sp>
      <p:sp>
        <p:nvSpPr>
          <p:cNvPr id="13" name="Shape 10"/>
          <p:cNvSpPr/>
          <p:nvPr/>
        </p:nvSpPr>
        <p:spPr>
          <a:xfrm>
            <a:off x="1499616" y="2587752"/>
            <a:ext cx="0" cy="146304"/>
          </a:xfrm>
          <a:prstGeom prst="line">
            <a:avLst/>
          </a:prstGeom>
          <a:noFill/>
          <a:ln w="15875">
            <a:solidFill>
              <a:srgbClr val="00A3E0"/>
            </a:solidFill>
            <a:prstDash val="solid"/>
          </a:ln>
        </p:spPr>
        <p:txBody>
          <a:bodyPr/>
          <a:lstStyle/>
          <a:p>
            <a:endParaRPr lang="en-IN"/>
          </a:p>
        </p:txBody>
      </p:sp>
      <p:sp>
        <p:nvSpPr>
          <p:cNvPr id="14" name="Shape 11"/>
          <p:cNvSpPr/>
          <p:nvPr/>
        </p:nvSpPr>
        <p:spPr>
          <a:xfrm>
            <a:off x="585216" y="2734056"/>
            <a:ext cx="1828800" cy="402336"/>
          </a:xfrm>
          <a:prstGeom prst="roundRect">
            <a:avLst>
              <a:gd name="adj" fmla="val 13636"/>
            </a:avLst>
          </a:prstGeom>
          <a:solidFill>
            <a:srgbClr val="E6F4FA"/>
          </a:solidFill>
          <a:ln w="9525">
            <a:solidFill>
              <a:srgbClr val="00A3E0"/>
            </a:solidFill>
            <a:prstDash val="solid"/>
          </a:ln>
        </p:spPr>
        <p:txBody>
          <a:bodyPr/>
          <a:lstStyle/>
          <a:p>
            <a:endParaRPr lang="en-IN"/>
          </a:p>
        </p:txBody>
      </p:sp>
      <p:sp>
        <p:nvSpPr>
          <p:cNvPr id="15" name="Text 12"/>
          <p:cNvSpPr txBox="1"/>
          <p:nvPr/>
        </p:nvSpPr>
        <p:spPr>
          <a:xfrm>
            <a:off x="585216" y="2734056"/>
            <a:ext cx="1828800" cy="402336"/>
          </a:xfrm>
          <a:prstGeom prst="rect">
            <a:avLst/>
          </a:prstGeom>
          <a:noFill/>
          <a:ln/>
        </p:spPr>
        <p:txBody>
          <a:bodyPr wrap="square" lIns="0" tIns="0" rIns="0" bIns="0" rtlCol="0" anchor="ctr"/>
          <a:lstStyle/>
          <a:p>
            <a:pPr marL="0" indent="0" algn="ctr">
              <a:lnSpc>
                <a:spcPct val="100000"/>
              </a:lnSpc>
              <a:buNone/>
            </a:pPr>
            <a:r>
              <a:rPr lang="en-US" sz="950" b="1" dirty="0">
                <a:solidFill>
                  <a:srgbClr val="004C97"/>
                </a:solidFill>
                <a:latin typeface="Poppins SemiBold" pitchFamily="34" charset="0"/>
                <a:ea typeface="Poppins SemiBold" pitchFamily="34" charset="-122"/>
                <a:cs typeface="Poppins SemiBold" pitchFamily="34" charset="-120"/>
              </a:rPr>
              <a:t>Research</a:t>
            </a:r>
            <a:endParaRPr lang="en-US" sz="950" dirty="0"/>
          </a:p>
          <a:p>
            <a:pPr marL="0" indent="0" algn="ctr">
              <a:lnSpc>
                <a:spcPct val="100000"/>
              </a:lnSpc>
              <a:buNone/>
            </a:pPr>
            <a:r>
              <a:rPr lang="en-US" sz="950" b="1" dirty="0">
                <a:solidFill>
                  <a:srgbClr val="004C97"/>
                </a:solidFill>
                <a:latin typeface="Poppins SemiBold" pitchFamily="34" charset="0"/>
                <a:ea typeface="Poppins SemiBold" pitchFamily="34" charset="-122"/>
                <a:cs typeface="Poppins SemiBold" pitchFamily="34" charset="-120"/>
              </a:rPr>
              <a:t>Agent</a:t>
            </a:r>
            <a:endParaRPr lang="en-US" sz="950" dirty="0"/>
          </a:p>
        </p:txBody>
      </p:sp>
      <p:sp>
        <p:nvSpPr>
          <p:cNvPr id="16" name="Shape 13"/>
          <p:cNvSpPr/>
          <p:nvPr/>
        </p:nvSpPr>
        <p:spPr>
          <a:xfrm>
            <a:off x="585216" y="3227832"/>
            <a:ext cx="1828800" cy="621792"/>
          </a:xfrm>
          <a:prstGeom prst="roundRect">
            <a:avLst>
              <a:gd name="adj" fmla="val 8824"/>
            </a:avLst>
          </a:prstGeom>
          <a:solidFill>
            <a:srgbClr val="FFFFFF"/>
          </a:solidFill>
          <a:ln w="9525">
            <a:solidFill>
              <a:srgbClr val="E2E8F0"/>
            </a:solidFill>
            <a:prstDash val="solid"/>
          </a:ln>
        </p:spPr>
        <p:txBody>
          <a:bodyPr/>
          <a:lstStyle/>
          <a:p>
            <a:endParaRPr lang="en-IN"/>
          </a:p>
        </p:txBody>
      </p:sp>
      <p:sp>
        <p:nvSpPr>
          <p:cNvPr id="17" name="Text 14"/>
          <p:cNvSpPr txBox="1"/>
          <p:nvPr/>
        </p:nvSpPr>
        <p:spPr>
          <a:xfrm>
            <a:off x="585216" y="3227832"/>
            <a:ext cx="1828800" cy="621792"/>
          </a:xfrm>
          <a:prstGeom prst="rect">
            <a:avLst/>
          </a:prstGeom>
          <a:noFill/>
          <a:ln/>
        </p:spPr>
        <p:txBody>
          <a:bodyPr wrap="square" lIns="0" tIns="0" rIns="0" bIns="0" rtlCol="0" anchor="ctr"/>
          <a:lstStyle/>
          <a:p>
            <a:pPr marL="0" indent="0" algn="ctr">
              <a:lnSpc>
                <a:spcPct val="115000"/>
              </a:lnSpc>
              <a:buNone/>
            </a:pPr>
            <a:r>
              <a:rPr lang="en-US" sz="800" dirty="0">
                <a:solidFill>
                  <a:srgbClr val="3B3D3E"/>
                </a:solidFill>
                <a:latin typeface="PT Sans" pitchFamily="34" charset="0"/>
                <a:ea typeface="PT Sans" pitchFamily="34" charset="-122"/>
                <a:cs typeface="PT Sans" pitchFamily="34" charset="-120"/>
              </a:rPr>
              <a:t>Web search</a:t>
            </a:r>
            <a:endParaRPr lang="en-US" sz="800" dirty="0"/>
          </a:p>
          <a:p>
            <a:pPr marL="0" indent="0" algn="ctr">
              <a:lnSpc>
                <a:spcPct val="115000"/>
              </a:lnSpc>
              <a:buNone/>
            </a:pPr>
            <a:r>
              <a:rPr lang="en-US" sz="800" dirty="0">
                <a:solidFill>
                  <a:srgbClr val="3B3D3E"/>
                </a:solidFill>
                <a:latin typeface="PT Sans" pitchFamily="34" charset="0"/>
                <a:ea typeface="PT Sans" pitchFamily="34" charset="-122"/>
                <a:cs typeface="PT Sans" pitchFamily="34" charset="-120"/>
              </a:rPr>
              <a:t>News APIs</a:t>
            </a:r>
            <a:endParaRPr lang="en-US" sz="800" dirty="0"/>
          </a:p>
          <a:p>
            <a:pPr marL="0" indent="0" algn="ctr">
              <a:lnSpc>
                <a:spcPct val="115000"/>
              </a:lnSpc>
              <a:buNone/>
            </a:pPr>
            <a:r>
              <a:rPr lang="en-US" sz="800" dirty="0">
                <a:solidFill>
                  <a:srgbClr val="3B3D3E"/>
                </a:solidFill>
                <a:latin typeface="PT Sans" pitchFamily="34" charset="0"/>
                <a:ea typeface="PT Sans" pitchFamily="34" charset="-122"/>
                <a:cs typeface="PT Sans" pitchFamily="34" charset="-120"/>
              </a:rPr>
              <a:t>Macro data</a:t>
            </a:r>
            <a:endParaRPr lang="en-US" sz="800" dirty="0"/>
          </a:p>
        </p:txBody>
      </p:sp>
      <p:sp>
        <p:nvSpPr>
          <p:cNvPr id="18" name="Shape 15"/>
          <p:cNvSpPr/>
          <p:nvPr/>
        </p:nvSpPr>
        <p:spPr>
          <a:xfrm>
            <a:off x="3547872" y="2587752"/>
            <a:ext cx="0" cy="146304"/>
          </a:xfrm>
          <a:prstGeom prst="line">
            <a:avLst/>
          </a:prstGeom>
          <a:noFill/>
          <a:ln w="15875">
            <a:solidFill>
              <a:srgbClr val="00A3E0"/>
            </a:solidFill>
            <a:prstDash val="solid"/>
          </a:ln>
        </p:spPr>
        <p:txBody>
          <a:bodyPr/>
          <a:lstStyle/>
          <a:p>
            <a:endParaRPr lang="en-IN"/>
          </a:p>
        </p:txBody>
      </p:sp>
      <p:sp>
        <p:nvSpPr>
          <p:cNvPr id="19" name="Shape 16"/>
          <p:cNvSpPr/>
          <p:nvPr/>
        </p:nvSpPr>
        <p:spPr>
          <a:xfrm>
            <a:off x="2633472" y="2734056"/>
            <a:ext cx="1828800" cy="402336"/>
          </a:xfrm>
          <a:prstGeom prst="roundRect">
            <a:avLst>
              <a:gd name="adj" fmla="val 13636"/>
            </a:avLst>
          </a:prstGeom>
          <a:solidFill>
            <a:srgbClr val="E6F4FA"/>
          </a:solidFill>
          <a:ln w="9525">
            <a:solidFill>
              <a:srgbClr val="00A3E0"/>
            </a:solidFill>
            <a:prstDash val="solid"/>
          </a:ln>
        </p:spPr>
        <p:txBody>
          <a:bodyPr/>
          <a:lstStyle/>
          <a:p>
            <a:endParaRPr lang="en-IN"/>
          </a:p>
        </p:txBody>
      </p:sp>
      <p:sp>
        <p:nvSpPr>
          <p:cNvPr id="20" name="Text 17"/>
          <p:cNvSpPr txBox="1"/>
          <p:nvPr/>
        </p:nvSpPr>
        <p:spPr>
          <a:xfrm>
            <a:off x="2633472" y="2734056"/>
            <a:ext cx="1828800" cy="402336"/>
          </a:xfrm>
          <a:prstGeom prst="rect">
            <a:avLst/>
          </a:prstGeom>
          <a:noFill/>
          <a:ln/>
        </p:spPr>
        <p:txBody>
          <a:bodyPr wrap="square" lIns="0" tIns="0" rIns="0" bIns="0" rtlCol="0" anchor="ctr"/>
          <a:lstStyle/>
          <a:p>
            <a:pPr marL="0" indent="0" algn="ctr">
              <a:lnSpc>
                <a:spcPct val="100000"/>
              </a:lnSpc>
              <a:buNone/>
            </a:pPr>
            <a:r>
              <a:rPr lang="en-US" sz="950" b="1" dirty="0">
                <a:solidFill>
                  <a:srgbClr val="004C97"/>
                </a:solidFill>
                <a:latin typeface="Poppins SemiBold" pitchFamily="34" charset="0"/>
                <a:ea typeface="Poppins SemiBold" pitchFamily="34" charset="-122"/>
                <a:cs typeface="Poppins SemiBold" pitchFamily="34" charset="-120"/>
              </a:rPr>
              <a:t>Risk &amp; Tax</a:t>
            </a:r>
            <a:endParaRPr lang="en-US" sz="950" dirty="0"/>
          </a:p>
          <a:p>
            <a:pPr marL="0" indent="0" algn="ctr">
              <a:lnSpc>
                <a:spcPct val="100000"/>
              </a:lnSpc>
              <a:buNone/>
            </a:pPr>
            <a:r>
              <a:rPr lang="en-US" sz="950" b="1" dirty="0">
                <a:solidFill>
                  <a:srgbClr val="004C97"/>
                </a:solidFill>
                <a:latin typeface="Poppins SemiBold" pitchFamily="34" charset="0"/>
                <a:ea typeface="Poppins SemiBold" pitchFamily="34" charset="-122"/>
                <a:cs typeface="Poppins SemiBold" pitchFamily="34" charset="-120"/>
              </a:rPr>
              <a:t>Agent</a:t>
            </a:r>
            <a:endParaRPr lang="en-US" sz="950" dirty="0"/>
          </a:p>
        </p:txBody>
      </p:sp>
      <p:sp>
        <p:nvSpPr>
          <p:cNvPr id="21" name="Shape 18"/>
          <p:cNvSpPr/>
          <p:nvPr/>
        </p:nvSpPr>
        <p:spPr>
          <a:xfrm>
            <a:off x="2633472" y="3227832"/>
            <a:ext cx="1828800" cy="621792"/>
          </a:xfrm>
          <a:prstGeom prst="roundRect">
            <a:avLst>
              <a:gd name="adj" fmla="val 8824"/>
            </a:avLst>
          </a:prstGeom>
          <a:solidFill>
            <a:srgbClr val="FFFFFF"/>
          </a:solidFill>
          <a:ln w="9525">
            <a:solidFill>
              <a:srgbClr val="E2E8F0"/>
            </a:solidFill>
            <a:prstDash val="solid"/>
          </a:ln>
        </p:spPr>
        <p:txBody>
          <a:bodyPr/>
          <a:lstStyle/>
          <a:p>
            <a:endParaRPr lang="en-IN"/>
          </a:p>
        </p:txBody>
      </p:sp>
      <p:sp>
        <p:nvSpPr>
          <p:cNvPr id="22" name="Text 19"/>
          <p:cNvSpPr txBox="1"/>
          <p:nvPr/>
        </p:nvSpPr>
        <p:spPr>
          <a:xfrm>
            <a:off x="2633472" y="3227832"/>
            <a:ext cx="1828800" cy="621792"/>
          </a:xfrm>
          <a:prstGeom prst="rect">
            <a:avLst/>
          </a:prstGeom>
          <a:noFill/>
          <a:ln/>
        </p:spPr>
        <p:txBody>
          <a:bodyPr wrap="square" lIns="0" tIns="0" rIns="0" bIns="0" rtlCol="0" anchor="ctr"/>
          <a:lstStyle/>
          <a:p>
            <a:pPr marL="0" indent="0" algn="ctr">
              <a:lnSpc>
                <a:spcPct val="115000"/>
              </a:lnSpc>
              <a:buNone/>
            </a:pPr>
            <a:r>
              <a:rPr lang="en-US" sz="800" dirty="0">
                <a:solidFill>
                  <a:srgbClr val="3B3D3E"/>
                </a:solidFill>
                <a:latin typeface="PT Sans" pitchFamily="34" charset="0"/>
                <a:ea typeface="PT Sans" pitchFamily="34" charset="-122"/>
                <a:cs typeface="PT Sans" pitchFamily="34" charset="-120"/>
              </a:rPr>
              <a:t>Tax engine</a:t>
            </a:r>
            <a:endParaRPr lang="en-US" sz="800" dirty="0"/>
          </a:p>
          <a:p>
            <a:pPr marL="0" indent="0" algn="ctr">
              <a:lnSpc>
                <a:spcPct val="115000"/>
              </a:lnSpc>
              <a:buNone/>
            </a:pPr>
            <a:r>
              <a:rPr lang="en-US" sz="800" dirty="0">
                <a:solidFill>
                  <a:srgbClr val="3B3D3E"/>
                </a:solidFill>
                <a:latin typeface="PT Sans" pitchFamily="34" charset="0"/>
                <a:ea typeface="PT Sans" pitchFamily="34" charset="-122"/>
                <a:cs typeface="PT Sans" pitchFamily="34" charset="-120"/>
              </a:rPr>
              <a:t>Risk models</a:t>
            </a:r>
            <a:endParaRPr lang="en-US" sz="800" dirty="0"/>
          </a:p>
          <a:p>
            <a:pPr marL="0" indent="0" algn="ctr">
              <a:lnSpc>
                <a:spcPct val="115000"/>
              </a:lnSpc>
              <a:buNone/>
            </a:pPr>
            <a:r>
              <a:rPr lang="en-US" sz="800" dirty="0">
                <a:solidFill>
                  <a:srgbClr val="3B3D3E"/>
                </a:solidFill>
                <a:latin typeface="PT Sans" pitchFamily="34" charset="0"/>
                <a:ea typeface="PT Sans" pitchFamily="34" charset="-122"/>
                <a:cs typeface="PT Sans" pitchFamily="34" charset="-120"/>
              </a:rPr>
              <a:t>Portfolio DB</a:t>
            </a:r>
            <a:endParaRPr lang="en-US" sz="800" dirty="0"/>
          </a:p>
        </p:txBody>
      </p:sp>
      <p:sp>
        <p:nvSpPr>
          <p:cNvPr id="23" name="Shape 20"/>
          <p:cNvSpPr/>
          <p:nvPr/>
        </p:nvSpPr>
        <p:spPr>
          <a:xfrm>
            <a:off x="5596128" y="2587752"/>
            <a:ext cx="0" cy="146304"/>
          </a:xfrm>
          <a:prstGeom prst="line">
            <a:avLst/>
          </a:prstGeom>
          <a:noFill/>
          <a:ln w="15875">
            <a:solidFill>
              <a:srgbClr val="00A3E0"/>
            </a:solidFill>
            <a:prstDash val="solid"/>
          </a:ln>
        </p:spPr>
        <p:txBody>
          <a:bodyPr/>
          <a:lstStyle/>
          <a:p>
            <a:endParaRPr lang="en-IN"/>
          </a:p>
        </p:txBody>
      </p:sp>
      <p:sp>
        <p:nvSpPr>
          <p:cNvPr id="24" name="Shape 21"/>
          <p:cNvSpPr/>
          <p:nvPr/>
        </p:nvSpPr>
        <p:spPr>
          <a:xfrm>
            <a:off x="4681728" y="2734056"/>
            <a:ext cx="1828800" cy="402336"/>
          </a:xfrm>
          <a:prstGeom prst="roundRect">
            <a:avLst>
              <a:gd name="adj" fmla="val 13636"/>
            </a:avLst>
          </a:prstGeom>
          <a:solidFill>
            <a:srgbClr val="E6F4FA"/>
          </a:solidFill>
          <a:ln w="9525">
            <a:solidFill>
              <a:srgbClr val="00A3E0"/>
            </a:solidFill>
            <a:prstDash val="solid"/>
          </a:ln>
        </p:spPr>
        <p:txBody>
          <a:bodyPr/>
          <a:lstStyle/>
          <a:p>
            <a:endParaRPr lang="en-IN"/>
          </a:p>
        </p:txBody>
      </p:sp>
      <p:sp>
        <p:nvSpPr>
          <p:cNvPr id="25" name="Text 22"/>
          <p:cNvSpPr txBox="1"/>
          <p:nvPr/>
        </p:nvSpPr>
        <p:spPr>
          <a:xfrm>
            <a:off x="4681728" y="2734056"/>
            <a:ext cx="1828800" cy="402336"/>
          </a:xfrm>
          <a:prstGeom prst="rect">
            <a:avLst/>
          </a:prstGeom>
          <a:noFill/>
          <a:ln/>
        </p:spPr>
        <p:txBody>
          <a:bodyPr wrap="square" lIns="0" tIns="0" rIns="0" bIns="0" rtlCol="0" anchor="ctr"/>
          <a:lstStyle/>
          <a:p>
            <a:pPr marL="0" indent="0" algn="ctr">
              <a:lnSpc>
                <a:spcPct val="100000"/>
              </a:lnSpc>
              <a:buNone/>
            </a:pPr>
            <a:r>
              <a:rPr lang="en-US" sz="950" b="1" dirty="0">
                <a:solidFill>
                  <a:srgbClr val="004C97"/>
                </a:solidFill>
                <a:latin typeface="Poppins SemiBold" pitchFamily="34" charset="0"/>
                <a:ea typeface="Poppins SemiBold" pitchFamily="34" charset="-122"/>
                <a:cs typeface="Poppins SemiBold" pitchFamily="34" charset="-120"/>
              </a:rPr>
              <a:t>Compliance</a:t>
            </a:r>
            <a:endParaRPr lang="en-US" sz="950" dirty="0"/>
          </a:p>
          <a:p>
            <a:pPr marL="0" indent="0" algn="ctr">
              <a:lnSpc>
                <a:spcPct val="100000"/>
              </a:lnSpc>
              <a:buNone/>
            </a:pPr>
            <a:r>
              <a:rPr lang="en-US" sz="950" b="1" dirty="0">
                <a:solidFill>
                  <a:srgbClr val="004C97"/>
                </a:solidFill>
                <a:latin typeface="Poppins SemiBold" pitchFamily="34" charset="0"/>
                <a:ea typeface="Poppins SemiBold" pitchFamily="34" charset="-122"/>
                <a:cs typeface="Poppins SemiBold" pitchFamily="34" charset="-120"/>
              </a:rPr>
              <a:t>Agent</a:t>
            </a:r>
            <a:endParaRPr lang="en-US" sz="950" dirty="0"/>
          </a:p>
        </p:txBody>
      </p:sp>
      <p:sp>
        <p:nvSpPr>
          <p:cNvPr id="26" name="Shape 23"/>
          <p:cNvSpPr/>
          <p:nvPr/>
        </p:nvSpPr>
        <p:spPr>
          <a:xfrm>
            <a:off x="4681728" y="3227832"/>
            <a:ext cx="1828800" cy="621792"/>
          </a:xfrm>
          <a:prstGeom prst="roundRect">
            <a:avLst>
              <a:gd name="adj" fmla="val 8824"/>
            </a:avLst>
          </a:prstGeom>
          <a:solidFill>
            <a:srgbClr val="FFFFFF"/>
          </a:solidFill>
          <a:ln w="9525">
            <a:solidFill>
              <a:srgbClr val="E2E8F0"/>
            </a:solidFill>
            <a:prstDash val="solid"/>
          </a:ln>
        </p:spPr>
        <p:txBody>
          <a:bodyPr/>
          <a:lstStyle/>
          <a:p>
            <a:endParaRPr lang="en-IN"/>
          </a:p>
        </p:txBody>
      </p:sp>
      <p:sp>
        <p:nvSpPr>
          <p:cNvPr id="27" name="Text 24"/>
          <p:cNvSpPr txBox="1"/>
          <p:nvPr/>
        </p:nvSpPr>
        <p:spPr>
          <a:xfrm>
            <a:off x="4681728" y="3227832"/>
            <a:ext cx="1828800" cy="621792"/>
          </a:xfrm>
          <a:prstGeom prst="rect">
            <a:avLst/>
          </a:prstGeom>
          <a:noFill/>
          <a:ln/>
        </p:spPr>
        <p:txBody>
          <a:bodyPr wrap="square" lIns="0" tIns="0" rIns="0" bIns="0" rtlCol="0" anchor="ctr"/>
          <a:lstStyle/>
          <a:p>
            <a:pPr marL="0" indent="0" algn="ctr">
              <a:lnSpc>
                <a:spcPct val="115000"/>
              </a:lnSpc>
              <a:buNone/>
            </a:pPr>
            <a:r>
              <a:rPr lang="en-US" sz="800" dirty="0">
                <a:solidFill>
                  <a:srgbClr val="3B3D3E"/>
                </a:solidFill>
                <a:latin typeface="PT Sans" pitchFamily="34" charset="0"/>
                <a:ea typeface="PT Sans" pitchFamily="34" charset="-122"/>
                <a:cs typeface="PT Sans" pitchFamily="34" charset="-120"/>
              </a:rPr>
              <a:t>SEBI rules</a:t>
            </a:r>
            <a:endParaRPr lang="en-US" sz="800" dirty="0"/>
          </a:p>
          <a:p>
            <a:pPr marL="0" indent="0" algn="ctr">
              <a:lnSpc>
                <a:spcPct val="115000"/>
              </a:lnSpc>
              <a:buNone/>
            </a:pPr>
            <a:r>
              <a:rPr lang="en-US" sz="800" dirty="0">
                <a:solidFill>
                  <a:srgbClr val="3B3D3E"/>
                </a:solidFill>
                <a:latin typeface="PT Sans" pitchFamily="34" charset="0"/>
                <a:ea typeface="PT Sans" pitchFamily="34" charset="-122"/>
                <a:cs typeface="PT Sans" pitchFamily="34" charset="-120"/>
              </a:rPr>
              <a:t>Audit logger</a:t>
            </a:r>
            <a:endParaRPr lang="en-US" sz="800" dirty="0"/>
          </a:p>
          <a:p>
            <a:pPr marL="0" indent="0" algn="ctr">
              <a:lnSpc>
                <a:spcPct val="115000"/>
              </a:lnSpc>
              <a:buNone/>
            </a:pPr>
            <a:r>
              <a:rPr lang="en-US" sz="800" dirty="0">
                <a:solidFill>
                  <a:srgbClr val="3B3D3E"/>
                </a:solidFill>
                <a:latin typeface="PT Sans" pitchFamily="34" charset="0"/>
                <a:ea typeface="PT Sans" pitchFamily="34" charset="-122"/>
                <a:cs typeface="PT Sans" pitchFamily="34" charset="-120"/>
              </a:rPr>
              <a:t>Report gen</a:t>
            </a:r>
            <a:endParaRPr lang="en-US" sz="800" dirty="0"/>
          </a:p>
        </p:txBody>
      </p:sp>
      <p:sp>
        <p:nvSpPr>
          <p:cNvPr id="28" name="Shape 25"/>
          <p:cNvSpPr/>
          <p:nvPr/>
        </p:nvSpPr>
        <p:spPr>
          <a:xfrm>
            <a:off x="7644384" y="2587752"/>
            <a:ext cx="0" cy="146304"/>
          </a:xfrm>
          <a:prstGeom prst="line">
            <a:avLst/>
          </a:prstGeom>
          <a:noFill/>
          <a:ln w="15875">
            <a:solidFill>
              <a:srgbClr val="00A3E0"/>
            </a:solidFill>
            <a:prstDash val="solid"/>
          </a:ln>
        </p:spPr>
        <p:txBody>
          <a:bodyPr/>
          <a:lstStyle/>
          <a:p>
            <a:endParaRPr lang="en-IN"/>
          </a:p>
        </p:txBody>
      </p:sp>
      <p:sp>
        <p:nvSpPr>
          <p:cNvPr id="29" name="Shape 26"/>
          <p:cNvSpPr/>
          <p:nvPr/>
        </p:nvSpPr>
        <p:spPr>
          <a:xfrm>
            <a:off x="6729984" y="2734056"/>
            <a:ext cx="1828800" cy="402336"/>
          </a:xfrm>
          <a:prstGeom prst="roundRect">
            <a:avLst>
              <a:gd name="adj" fmla="val 13636"/>
            </a:avLst>
          </a:prstGeom>
          <a:solidFill>
            <a:srgbClr val="E6F4FA"/>
          </a:solidFill>
          <a:ln w="9525">
            <a:solidFill>
              <a:srgbClr val="00A3E0"/>
            </a:solidFill>
            <a:prstDash val="solid"/>
          </a:ln>
        </p:spPr>
        <p:txBody>
          <a:bodyPr/>
          <a:lstStyle/>
          <a:p>
            <a:endParaRPr lang="en-IN"/>
          </a:p>
        </p:txBody>
      </p:sp>
      <p:sp>
        <p:nvSpPr>
          <p:cNvPr id="30" name="Text 27"/>
          <p:cNvSpPr txBox="1"/>
          <p:nvPr/>
        </p:nvSpPr>
        <p:spPr>
          <a:xfrm>
            <a:off x="6729984" y="2734056"/>
            <a:ext cx="1828800" cy="402336"/>
          </a:xfrm>
          <a:prstGeom prst="rect">
            <a:avLst/>
          </a:prstGeom>
          <a:noFill/>
          <a:ln/>
        </p:spPr>
        <p:txBody>
          <a:bodyPr wrap="square" lIns="0" tIns="0" rIns="0" bIns="0" rtlCol="0" anchor="ctr"/>
          <a:lstStyle/>
          <a:p>
            <a:pPr marL="0" indent="0" algn="ctr">
              <a:lnSpc>
                <a:spcPct val="100000"/>
              </a:lnSpc>
              <a:buNone/>
            </a:pPr>
            <a:r>
              <a:rPr lang="en-US" sz="950" b="1" dirty="0">
                <a:solidFill>
                  <a:srgbClr val="004C97"/>
                </a:solidFill>
                <a:latin typeface="Poppins SemiBold" pitchFamily="34" charset="0"/>
                <a:ea typeface="Poppins SemiBold" pitchFamily="34" charset="-122"/>
                <a:cs typeface="Poppins SemiBold" pitchFamily="34" charset="-120"/>
              </a:rPr>
              <a:t>Execution</a:t>
            </a:r>
            <a:endParaRPr lang="en-US" sz="950" dirty="0"/>
          </a:p>
          <a:p>
            <a:pPr marL="0" indent="0" algn="ctr">
              <a:lnSpc>
                <a:spcPct val="100000"/>
              </a:lnSpc>
              <a:buNone/>
            </a:pPr>
            <a:r>
              <a:rPr lang="en-US" sz="950" b="1" dirty="0">
                <a:solidFill>
                  <a:srgbClr val="004C97"/>
                </a:solidFill>
                <a:latin typeface="Poppins SemiBold" pitchFamily="34" charset="0"/>
                <a:ea typeface="Poppins SemiBold" pitchFamily="34" charset="-122"/>
                <a:cs typeface="Poppins SemiBold" pitchFamily="34" charset="-120"/>
              </a:rPr>
              <a:t>Agent</a:t>
            </a:r>
            <a:endParaRPr lang="en-US" sz="950" dirty="0"/>
          </a:p>
        </p:txBody>
      </p:sp>
      <p:sp>
        <p:nvSpPr>
          <p:cNvPr id="31" name="Shape 28"/>
          <p:cNvSpPr/>
          <p:nvPr/>
        </p:nvSpPr>
        <p:spPr>
          <a:xfrm>
            <a:off x="6729984" y="3227832"/>
            <a:ext cx="1828800" cy="621792"/>
          </a:xfrm>
          <a:prstGeom prst="roundRect">
            <a:avLst>
              <a:gd name="adj" fmla="val 8824"/>
            </a:avLst>
          </a:prstGeom>
          <a:solidFill>
            <a:srgbClr val="FFFFFF"/>
          </a:solidFill>
          <a:ln w="9525">
            <a:solidFill>
              <a:srgbClr val="E2E8F0"/>
            </a:solidFill>
            <a:prstDash val="solid"/>
          </a:ln>
        </p:spPr>
        <p:txBody>
          <a:bodyPr/>
          <a:lstStyle/>
          <a:p>
            <a:endParaRPr lang="en-IN"/>
          </a:p>
        </p:txBody>
      </p:sp>
      <p:sp>
        <p:nvSpPr>
          <p:cNvPr id="32" name="Text 29"/>
          <p:cNvSpPr txBox="1"/>
          <p:nvPr/>
        </p:nvSpPr>
        <p:spPr>
          <a:xfrm>
            <a:off x="6729984" y="3227832"/>
            <a:ext cx="1828800" cy="621792"/>
          </a:xfrm>
          <a:prstGeom prst="rect">
            <a:avLst/>
          </a:prstGeom>
          <a:noFill/>
          <a:ln/>
        </p:spPr>
        <p:txBody>
          <a:bodyPr wrap="square" lIns="0" tIns="0" rIns="0" bIns="0" rtlCol="0" anchor="ctr"/>
          <a:lstStyle/>
          <a:p>
            <a:pPr marL="0" indent="0" algn="ctr">
              <a:lnSpc>
                <a:spcPct val="115000"/>
              </a:lnSpc>
              <a:buNone/>
            </a:pPr>
            <a:r>
              <a:rPr lang="en-US" sz="800" dirty="0">
                <a:solidFill>
                  <a:srgbClr val="3B3D3E"/>
                </a:solidFill>
                <a:latin typeface="PT Sans" pitchFamily="34" charset="0"/>
                <a:ea typeface="PT Sans" pitchFamily="34" charset="-122"/>
                <a:cs typeface="PT Sans" pitchFamily="34" charset="-120"/>
              </a:rPr>
              <a:t>Zerodha MCP</a:t>
            </a:r>
            <a:endParaRPr lang="en-US" sz="800" dirty="0"/>
          </a:p>
          <a:p>
            <a:pPr marL="0" indent="0" algn="ctr">
              <a:lnSpc>
                <a:spcPct val="115000"/>
              </a:lnSpc>
              <a:buNone/>
            </a:pPr>
            <a:r>
              <a:rPr lang="en-US" sz="800" dirty="0">
                <a:solidFill>
                  <a:srgbClr val="3B3D3E"/>
                </a:solidFill>
                <a:latin typeface="PT Sans" pitchFamily="34" charset="0"/>
                <a:ea typeface="PT Sans" pitchFamily="34" charset="-122"/>
                <a:cs typeface="PT Sans" pitchFamily="34" charset="-120"/>
              </a:rPr>
              <a:t>Order mgmt</a:t>
            </a:r>
            <a:endParaRPr lang="en-US" sz="800" dirty="0"/>
          </a:p>
          <a:p>
            <a:pPr marL="0" indent="0" algn="ctr">
              <a:lnSpc>
                <a:spcPct val="115000"/>
              </a:lnSpc>
              <a:buNone/>
            </a:pPr>
            <a:r>
              <a:rPr lang="en-US" sz="800" dirty="0">
                <a:solidFill>
                  <a:srgbClr val="3B3D3E"/>
                </a:solidFill>
                <a:latin typeface="PT Sans" pitchFamily="34" charset="0"/>
                <a:ea typeface="PT Sans" pitchFamily="34" charset="-122"/>
                <a:cs typeface="PT Sans" pitchFamily="34" charset="-120"/>
              </a:rPr>
              <a:t>Notifications</a:t>
            </a:r>
            <a:endParaRPr lang="en-US" sz="800" dirty="0"/>
          </a:p>
        </p:txBody>
      </p:sp>
      <p:sp>
        <p:nvSpPr>
          <p:cNvPr id="33" name="Text 30"/>
          <p:cNvSpPr txBox="1"/>
          <p:nvPr/>
        </p:nvSpPr>
        <p:spPr>
          <a:xfrm>
            <a:off x="449885" y="4261104"/>
            <a:ext cx="8244230" cy="420624"/>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Each agent is an independent service — its own LLM, its own tools via MCP, its own ReAct loop. A2A is the layer that lets them coordinate.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3  •  A2A: GIVING IT COLLEAGUES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A2A in Action — Portfolio Rebalancing</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449885" y="1234440"/>
            <a:ext cx="8244230" cy="713232"/>
          </a:xfrm>
          <a:prstGeom prst="roundRect">
            <a:avLst>
              <a:gd name="adj" fmla="val 7692"/>
            </a:avLst>
          </a:prstGeom>
          <a:solidFill>
            <a:srgbClr val="FFFFFF"/>
          </a:solidFill>
          <a:ln w="9525">
            <a:solidFill>
              <a:srgbClr val="E2E8F0"/>
            </a:solidFill>
            <a:prstDash val="solid"/>
          </a:ln>
        </p:spPr>
        <p:txBody>
          <a:bodyPr/>
          <a:lstStyle/>
          <a:p>
            <a:endParaRPr lang="en-IN"/>
          </a:p>
        </p:txBody>
      </p:sp>
      <p:sp>
        <p:nvSpPr>
          <p:cNvPr id="8" name="Shape 5"/>
          <p:cNvSpPr/>
          <p:nvPr/>
        </p:nvSpPr>
        <p:spPr>
          <a:xfrm>
            <a:off x="577901" y="1408176"/>
            <a:ext cx="365760" cy="365760"/>
          </a:xfrm>
          <a:prstGeom prst="ellipse">
            <a:avLst/>
          </a:prstGeom>
          <a:solidFill>
            <a:srgbClr val="004C97"/>
          </a:solidFill>
          <a:ln/>
        </p:spPr>
        <p:txBody>
          <a:bodyPr/>
          <a:lstStyle/>
          <a:p>
            <a:endParaRPr lang="en-IN"/>
          </a:p>
        </p:txBody>
      </p:sp>
      <p:sp>
        <p:nvSpPr>
          <p:cNvPr id="9" name="Text 6"/>
          <p:cNvSpPr txBox="1"/>
          <p:nvPr/>
        </p:nvSpPr>
        <p:spPr>
          <a:xfrm>
            <a:off x="577901" y="1408176"/>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SemiBold" pitchFamily="34" charset="0"/>
                <a:ea typeface="Poppins SemiBold" pitchFamily="34" charset="-122"/>
                <a:cs typeface="Poppins SemiBold" pitchFamily="34" charset="-120"/>
              </a:rPr>
              <a:t>1</a:t>
            </a:r>
            <a:endParaRPr lang="en-US" sz="1100" dirty="0"/>
          </a:p>
        </p:txBody>
      </p:sp>
      <p:sp>
        <p:nvSpPr>
          <p:cNvPr id="10" name="Text 7"/>
          <p:cNvSpPr txBox="1"/>
          <p:nvPr/>
        </p:nvSpPr>
        <p:spPr>
          <a:xfrm>
            <a:off x="1071677" y="1307592"/>
            <a:ext cx="2331720" cy="256032"/>
          </a:xfrm>
          <a:prstGeom prst="rect">
            <a:avLst/>
          </a:prstGeom>
          <a:noFill/>
          <a:ln/>
        </p:spPr>
        <p:txBody>
          <a:bodyPr wrap="square" lIns="0" tIns="0" rIns="0" bIns="0" rtlCol="0" anchor="ctr"/>
          <a:lstStyle/>
          <a:p>
            <a:pPr marL="0" indent="0">
              <a:buNone/>
            </a:pPr>
            <a:r>
              <a:rPr lang="en-US" sz="1050" b="1" dirty="0">
                <a:solidFill>
                  <a:srgbClr val="004C97"/>
                </a:solidFill>
                <a:latin typeface="Poppins SemiBold" pitchFamily="34" charset="0"/>
                <a:ea typeface="Poppins SemiBold" pitchFamily="34" charset="-122"/>
                <a:cs typeface="Poppins SemiBold" pitchFamily="34" charset="-120"/>
              </a:rPr>
              <a:t>Supervisor → Research Agent</a:t>
            </a:r>
            <a:endParaRPr lang="en-US" sz="1050" dirty="0"/>
          </a:p>
        </p:txBody>
      </p:sp>
      <p:sp>
        <p:nvSpPr>
          <p:cNvPr id="11" name="Text 8"/>
          <p:cNvSpPr txBox="1"/>
          <p:nvPr/>
        </p:nvSpPr>
        <p:spPr>
          <a:xfrm>
            <a:off x="1071677" y="1563624"/>
            <a:ext cx="2331720" cy="347472"/>
          </a:xfrm>
          <a:prstGeom prst="rect">
            <a:avLst/>
          </a:prstGeom>
          <a:noFill/>
          <a:ln/>
        </p:spPr>
        <p:txBody>
          <a:bodyPr wrap="square" lIns="0" tIns="0" rIns="0" bIns="0" rtlCol="0" anchor="t"/>
          <a:lstStyle/>
          <a:p>
            <a:pPr marL="0" indent="0">
              <a:lnSpc>
                <a:spcPct val="112000"/>
              </a:lnSpc>
              <a:buNone/>
            </a:pPr>
            <a:r>
              <a:rPr lang="en-US" sz="830" i="1" dirty="0">
                <a:solidFill>
                  <a:srgbClr val="3B3D3E"/>
                </a:solidFill>
                <a:latin typeface="PT Sans" pitchFamily="34" charset="0"/>
                <a:ea typeface="PT Sans" pitchFamily="34" charset="-122"/>
                <a:cs typeface="PT Sans" pitchFamily="34" charset="-120"/>
              </a:rPr>
              <a:t>"Analyse HDFC, INFY, RELIANCE exposure vs sector benchmarks. Downturn scenario."</a:t>
            </a:r>
            <a:endParaRPr lang="en-US" sz="830" dirty="0"/>
          </a:p>
        </p:txBody>
      </p:sp>
      <p:sp>
        <p:nvSpPr>
          <p:cNvPr id="12" name="Text 9"/>
          <p:cNvSpPr txBox="1"/>
          <p:nvPr/>
        </p:nvSpPr>
        <p:spPr>
          <a:xfrm>
            <a:off x="3558845" y="1234440"/>
            <a:ext cx="4998110" cy="713232"/>
          </a:xfrm>
          <a:prstGeom prst="rect">
            <a:avLst/>
          </a:prstGeom>
          <a:noFill/>
          <a:ln/>
        </p:spPr>
        <p:txBody>
          <a:bodyPr wrap="square" lIns="0" tIns="0" rIns="0" bIns="0" rtlCol="0" anchor="ctr"/>
          <a:lstStyle/>
          <a:p>
            <a:pPr marL="0" indent="0">
              <a:lnSpc>
                <a:spcPct val="120000"/>
              </a:lnSpc>
              <a:buNone/>
            </a:pPr>
            <a:r>
              <a:rPr lang="en-US" sz="1000" b="1" dirty="0">
                <a:solidFill>
                  <a:srgbClr val="004C97"/>
                </a:solidFill>
                <a:latin typeface="PT Sans" pitchFamily="34" charset="0"/>
                <a:ea typeface="PT Sans" pitchFamily="34" charset="-122"/>
                <a:cs typeface="PT Sans" pitchFamily="34" charset="-120"/>
              </a:rPr>
              <a:t>✓ Overweight INFY by 8%. HDFC within range. Reduce RELIANCE by 5%.</a:t>
            </a:r>
            <a:endParaRPr lang="en-US" sz="1000" dirty="0"/>
          </a:p>
        </p:txBody>
      </p:sp>
      <p:sp>
        <p:nvSpPr>
          <p:cNvPr id="13" name="Shape 10"/>
          <p:cNvSpPr/>
          <p:nvPr/>
        </p:nvSpPr>
        <p:spPr>
          <a:xfrm>
            <a:off x="449885" y="1993392"/>
            <a:ext cx="8244230" cy="713232"/>
          </a:xfrm>
          <a:prstGeom prst="roundRect">
            <a:avLst>
              <a:gd name="adj" fmla="val 7692"/>
            </a:avLst>
          </a:prstGeom>
          <a:solidFill>
            <a:srgbClr val="FFFFFF"/>
          </a:solidFill>
          <a:ln w="9525">
            <a:solidFill>
              <a:srgbClr val="E2E8F0"/>
            </a:solidFill>
            <a:prstDash val="solid"/>
          </a:ln>
        </p:spPr>
        <p:txBody>
          <a:bodyPr/>
          <a:lstStyle/>
          <a:p>
            <a:endParaRPr lang="en-IN"/>
          </a:p>
        </p:txBody>
      </p:sp>
      <p:sp>
        <p:nvSpPr>
          <p:cNvPr id="14" name="Shape 11"/>
          <p:cNvSpPr/>
          <p:nvPr/>
        </p:nvSpPr>
        <p:spPr>
          <a:xfrm>
            <a:off x="577901" y="2167128"/>
            <a:ext cx="365760" cy="365760"/>
          </a:xfrm>
          <a:prstGeom prst="ellipse">
            <a:avLst/>
          </a:prstGeom>
          <a:solidFill>
            <a:srgbClr val="004C97"/>
          </a:solidFill>
          <a:ln/>
        </p:spPr>
        <p:txBody>
          <a:bodyPr/>
          <a:lstStyle/>
          <a:p>
            <a:endParaRPr lang="en-IN"/>
          </a:p>
        </p:txBody>
      </p:sp>
      <p:sp>
        <p:nvSpPr>
          <p:cNvPr id="15" name="Text 12"/>
          <p:cNvSpPr txBox="1"/>
          <p:nvPr/>
        </p:nvSpPr>
        <p:spPr>
          <a:xfrm>
            <a:off x="577901" y="216712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SemiBold" pitchFamily="34" charset="0"/>
                <a:ea typeface="Poppins SemiBold" pitchFamily="34" charset="-122"/>
                <a:cs typeface="Poppins SemiBold" pitchFamily="34" charset="-120"/>
              </a:rPr>
              <a:t>2</a:t>
            </a:r>
            <a:endParaRPr lang="en-US" sz="1100" dirty="0"/>
          </a:p>
        </p:txBody>
      </p:sp>
      <p:sp>
        <p:nvSpPr>
          <p:cNvPr id="16" name="Text 13"/>
          <p:cNvSpPr txBox="1"/>
          <p:nvPr/>
        </p:nvSpPr>
        <p:spPr>
          <a:xfrm>
            <a:off x="1071677" y="2066544"/>
            <a:ext cx="2331720" cy="256032"/>
          </a:xfrm>
          <a:prstGeom prst="rect">
            <a:avLst/>
          </a:prstGeom>
          <a:noFill/>
          <a:ln/>
        </p:spPr>
        <p:txBody>
          <a:bodyPr wrap="square" lIns="0" tIns="0" rIns="0" bIns="0" rtlCol="0" anchor="ctr"/>
          <a:lstStyle/>
          <a:p>
            <a:pPr marL="0" indent="0">
              <a:buNone/>
            </a:pPr>
            <a:r>
              <a:rPr lang="en-US" sz="1050" b="1" dirty="0">
                <a:solidFill>
                  <a:srgbClr val="004C97"/>
                </a:solidFill>
                <a:latin typeface="Poppins SemiBold" pitchFamily="34" charset="0"/>
                <a:ea typeface="Poppins SemiBold" pitchFamily="34" charset="-122"/>
                <a:cs typeface="Poppins SemiBold" pitchFamily="34" charset="-120"/>
              </a:rPr>
              <a:t>Supervisor → Risk &amp; Tax Agent</a:t>
            </a:r>
            <a:endParaRPr lang="en-US" sz="1050" dirty="0"/>
          </a:p>
        </p:txBody>
      </p:sp>
      <p:sp>
        <p:nvSpPr>
          <p:cNvPr id="17" name="Text 14"/>
          <p:cNvSpPr txBox="1"/>
          <p:nvPr/>
        </p:nvSpPr>
        <p:spPr>
          <a:xfrm>
            <a:off x="1071677" y="2322576"/>
            <a:ext cx="2331720" cy="347472"/>
          </a:xfrm>
          <a:prstGeom prst="rect">
            <a:avLst/>
          </a:prstGeom>
          <a:noFill/>
          <a:ln/>
        </p:spPr>
        <p:txBody>
          <a:bodyPr wrap="square" lIns="0" tIns="0" rIns="0" bIns="0" rtlCol="0" anchor="t"/>
          <a:lstStyle/>
          <a:p>
            <a:pPr marL="0" indent="0">
              <a:lnSpc>
                <a:spcPct val="112000"/>
              </a:lnSpc>
              <a:buNone/>
            </a:pPr>
            <a:r>
              <a:rPr lang="en-US" sz="830" i="1" dirty="0">
                <a:solidFill>
                  <a:srgbClr val="3B3D3E"/>
                </a:solidFill>
                <a:latin typeface="PT Sans" pitchFamily="34" charset="0"/>
                <a:ea typeface="PT Sans" pitchFamily="34" charset="-122"/>
                <a:cs typeface="PT Sans" pitchFamily="34" charset="-120"/>
              </a:rPr>
              <a:t>"Given sell RELIANCE 200 shares — calculate tax liability and net proceeds."</a:t>
            </a:r>
            <a:endParaRPr lang="en-US" sz="830" dirty="0"/>
          </a:p>
        </p:txBody>
      </p:sp>
      <p:sp>
        <p:nvSpPr>
          <p:cNvPr id="18" name="Text 15"/>
          <p:cNvSpPr txBox="1"/>
          <p:nvPr/>
        </p:nvSpPr>
        <p:spPr>
          <a:xfrm>
            <a:off x="3558845" y="1993392"/>
            <a:ext cx="4998110" cy="713232"/>
          </a:xfrm>
          <a:prstGeom prst="rect">
            <a:avLst/>
          </a:prstGeom>
          <a:noFill/>
          <a:ln/>
        </p:spPr>
        <p:txBody>
          <a:bodyPr wrap="square" lIns="0" tIns="0" rIns="0" bIns="0" rtlCol="0" anchor="ctr"/>
          <a:lstStyle/>
          <a:p>
            <a:pPr marL="0" indent="0">
              <a:lnSpc>
                <a:spcPct val="120000"/>
              </a:lnSpc>
              <a:buNone/>
            </a:pPr>
            <a:r>
              <a:rPr lang="en-US" sz="1000" b="1" dirty="0">
                <a:solidFill>
                  <a:srgbClr val="004C97"/>
                </a:solidFill>
                <a:latin typeface="PT Sans" pitchFamily="34" charset="0"/>
                <a:ea typeface="PT Sans" pitchFamily="34" charset="-122"/>
                <a:cs typeface="PT Sans" pitchFamily="34" charset="-120"/>
              </a:rPr>
              <a:t>✓ STCG ₹18,400. Net proceeds after tax: ₹1,12,600.</a:t>
            </a:r>
            <a:endParaRPr lang="en-US" sz="1000" dirty="0"/>
          </a:p>
        </p:txBody>
      </p:sp>
      <p:sp>
        <p:nvSpPr>
          <p:cNvPr id="19" name="Shape 16"/>
          <p:cNvSpPr/>
          <p:nvPr/>
        </p:nvSpPr>
        <p:spPr>
          <a:xfrm>
            <a:off x="449885" y="2752344"/>
            <a:ext cx="8244230" cy="713232"/>
          </a:xfrm>
          <a:prstGeom prst="roundRect">
            <a:avLst>
              <a:gd name="adj" fmla="val 7692"/>
            </a:avLst>
          </a:prstGeom>
          <a:solidFill>
            <a:srgbClr val="FFFFFF"/>
          </a:solidFill>
          <a:ln w="9525">
            <a:solidFill>
              <a:srgbClr val="E2E8F0"/>
            </a:solidFill>
            <a:prstDash val="solid"/>
          </a:ln>
        </p:spPr>
        <p:txBody>
          <a:bodyPr/>
          <a:lstStyle/>
          <a:p>
            <a:endParaRPr lang="en-IN"/>
          </a:p>
        </p:txBody>
      </p:sp>
      <p:sp>
        <p:nvSpPr>
          <p:cNvPr id="20" name="Shape 17"/>
          <p:cNvSpPr/>
          <p:nvPr/>
        </p:nvSpPr>
        <p:spPr>
          <a:xfrm>
            <a:off x="577901" y="2926080"/>
            <a:ext cx="365760" cy="365760"/>
          </a:xfrm>
          <a:prstGeom prst="ellipse">
            <a:avLst/>
          </a:prstGeom>
          <a:solidFill>
            <a:srgbClr val="004C97"/>
          </a:solidFill>
          <a:ln/>
        </p:spPr>
        <p:txBody>
          <a:bodyPr/>
          <a:lstStyle/>
          <a:p>
            <a:endParaRPr lang="en-IN"/>
          </a:p>
        </p:txBody>
      </p:sp>
      <p:sp>
        <p:nvSpPr>
          <p:cNvPr id="21" name="Text 18"/>
          <p:cNvSpPr txBox="1"/>
          <p:nvPr/>
        </p:nvSpPr>
        <p:spPr>
          <a:xfrm>
            <a:off x="577901" y="292608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SemiBold" pitchFamily="34" charset="0"/>
                <a:ea typeface="Poppins SemiBold" pitchFamily="34" charset="-122"/>
                <a:cs typeface="Poppins SemiBold" pitchFamily="34" charset="-120"/>
              </a:rPr>
              <a:t>3</a:t>
            </a:r>
            <a:endParaRPr lang="en-US" sz="1100" dirty="0"/>
          </a:p>
        </p:txBody>
      </p:sp>
      <p:sp>
        <p:nvSpPr>
          <p:cNvPr id="22" name="Text 19"/>
          <p:cNvSpPr txBox="1"/>
          <p:nvPr/>
        </p:nvSpPr>
        <p:spPr>
          <a:xfrm>
            <a:off x="1071677" y="2825496"/>
            <a:ext cx="2331720" cy="256032"/>
          </a:xfrm>
          <a:prstGeom prst="rect">
            <a:avLst/>
          </a:prstGeom>
          <a:noFill/>
          <a:ln/>
        </p:spPr>
        <p:txBody>
          <a:bodyPr wrap="square" lIns="0" tIns="0" rIns="0" bIns="0" rtlCol="0" anchor="ctr"/>
          <a:lstStyle/>
          <a:p>
            <a:pPr marL="0" indent="0">
              <a:buNone/>
            </a:pPr>
            <a:r>
              <a:rPr lang="en-US" sz="1050" b="1" dirty="0">
                <a:solidFill>
                  <a:srgbClr val="004C97"/>
                </a:solidFill>
                <a:latin typeface="Poppins SemiBold" pitchFamily="34" charset="0"/>
                <a:ea typeface="Poppins SemiBold" pitchFamily="34" charset="-122"/>
                <a:cs typeface="Poppins SemiBold" pitchFamily="34" charset="-120"/>
              </a:rPr>
              <a:t>Supervisor → Compliance Agent</a:t>
            </a:r>
            <a:endParaRPr lang="en-US" sz="1050" dirty="0"/>
          </a:p>
        </p:txBody>
      </p:sp>
      <p:sp>
        <p:nvSpPr>
          <p:cNvPr id="23" name="Text 20"/>
          <p:cNvSpPr txBox="1"/>
          <p:nvPr/>
        </p:nvSpPr>
        <p:spPr>
          <a:xfrm>
            <a:off x="1071677" y="3081528"/>
            <a:ext cx="2331720" cy="347472"/>
          </a:xfrm>
          <a:prstGeom prst="rect">
            <a:avLst/>
          </a:prstGeom>
          <a:noFill/>
          <a:ln/>
        </p:spPr>
        <p:txBody>
          <a:bodyPr wrap="square" lIns="0" tIns="0" rIns="0" bIns="0" rtlCol="0" anchor="t"/>
          <a:lstStyle/>
          <a:p>
            <a:pPr marL="0" indent="0">
              <a:lnSpc>
                <a:spcPct val="112000"/>
              </a:lnSpc>
              <a:buNone/>
            </a:pPr>
            <a:r>
              <a:rPr lang="en-US" sz="830" i="1" dirty="0">
                <a:solidFill>
                  <a:srgbClr val="3B3D3E"/>
                </a:solidFill>
                <a:latin typeface="PT Sans" pitchFamily="34" charset="0"/>
                <a:ea typeface="PT Sans" pitchFamily="34" charset="-122"/>
                <a:cs typeface="PT Sans" pitchFamily="34" charset="-120"/>
              </a:rPr>
              <a:t>"Review proposed trades: Sell RELIANCE 200, Sell INFY 50, Buy HDFCBANK 40."</a:t>
            </a:r>
            <a:endParaRPr lang="en-US" sz="830" dirty="0"/>
          </a:p>
        </p:txBody>
      </p:sp>
      <p:sp>
        <p:nvSpPr>
          <p:cNvPr id="24" name="Text 21"/>
          <p:cNvSpPr txBox="1"/>
          <p:nvPr/>
        </p:nvSpPr>
        <p:spPr>
          <a:xfrm>
            <a:off x="3558845" y="2752344"/>
            <a:ext cx="4998110" cy="713232"/>
          </a:xfrm>
          <a:prstGeom prst="rect">
            <a:avLst/>
          </a:prstGeom>
          <a:noFill/>
          <a:ln/>
        </p:spPr>
        <p:txBody>
          <a:bodyPr wrap="square" lIns="0" tIns="0" rIns="0" bIns="0" rtlCol="0" anchor="ctr"/>
          <a:lstStyle/>
          <a:p>
            <a:pPr marL="0" indent="0">
              <a:lnSpc>
                <a:spcPct val="120000"/>
              </a:lnSpc>
              <a:buNone/>
            </a:pPr>
            <a:r>
              <a:rPr lang="en-US" sz="1000" b="1" dirty="0">
                <a:solidFill>
                  <a:srgbClr val="004C97"/>
                </a:solidFill>
                <a:latin typeface="PT Sans" pitchFamily="34" charset="0"/>
                <a:ea typeface="PT Sans" pitchFamily="34" charset="-122"/>
                <a:cs typeface="PT Sans" pitchFamily="34" charset="-120"/>
              </a:rPr>
              <a:t>✓ All within SEBI limits. Approved. Audit log entry created.</a:t>
            </a:r>
            <a:endParaRPr lang="en-US" sz="1000" dirty="0"/>
          </a:p>
        </p:txBody>
      </p:sp>
      <p:sp>
        <p:nvSpPr>
          <p:cNvPr id="25" name="Shape 22"/>
          <p:cNvSpPr/>
          <p:nvPr/>
        </p:nvSpPr>
        <p:spPr>
          <a:xfrm>
            <a:off x="449885" y="3511296"/>
            <a:ext cx="8244230" cy="713232"/>
          </a:xfrm>
          <a:prstGeom prst="roundRect">
            <a:avLst>
              <a:gd name="adj" fmla="val 7692"/>
            </a:avLst>
          </a:prstGeom>
          <a:solidFill>
            <a:srgbClr val="FFFFFF"/>
          </a:solidFill>
          <a:ln w="9525">
            <a:solidFill>
              <a:srgbClr val="E2E8F0"/>
            </a:solidFill>
            <a:prstDash val="solid"/>
          </a:ln>
        </p:spPr>
        <p:txBody>
          <a:bodyPr/>
          <a:lstStyle/>
          <a:p>
            <a:endParaRPr lang="en-IN"/>
          </a:p>
        </p:txBody>
      </p:sp>
      <p:sp>
        <p:nvSpPr>
          <p:cNvPr id="26" name="Shape 23"/>
          <p:cNvSpPr/>
          <p:nvPr/>
        </p:nvSpPr>
        <p:spPr>
          <a:xfrm>
            <a:off x="577901" y="3685032"/>
            <a:ext cx="365760" cy="365760"/>
          </a:xfrm>
          <a:prstGeom prst="ellipse">
            <a:avLst/>
          </a:prstGeom>
          <a:solidFill>
            <a:srgbClr val="004C97"/>
          </a:solidFill>
          <a:ln/>
        </p:spPr>
        <p:txBody>
          <a:bodyPr/>
          <a:lstStyle/>
          <a:p>
            <a:endParaRPr lang="en-IN"/>
          </a:p>
        </p:txBody>
      </p:sp>
      <p:sp>
        <p:nvSpPr>
          <p:cNvPr id="27" name="Text 24"/>
          <p:cNvSpPr txBox="1"/>
          <p:nvPr/>
        </p:nvSpPr>
        <p:spPr>
          <a:xfrm>
            <a:off x="577901" y="3685032"/>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SemiBold" pitchFamily="34" charset="0"/>
                <a:ea typeface="Poppins SemiBold" pitchFamily="34" charset="-122"/>
                <a:cs typeface="Poppins SemiBold" pitchFamily="34" charset="-120"/>
              </a:rPr>
              <a:t>4</a:t>
            </a:r>
            <a:endParaRPr lang="en-US" sz="1100" dirty="0"/>
          </a:p>
        </p:txBody>
      </p:sp>
      <p:sp>
        <p:nvSpPr>
          <p:cNvPr id="28" name="Text 25"/>
          <p:cNvSpPr txBox="1"/>
          <p:nvPr/>
        </p:nvSpPr>
        <p:spPr>
          <a:xfrm>
            <a:off x="1071677" y="3584448"/>
            <a:ext cx="2331720" cy="256032"/>
          </a:xfrm>
          <a:prstGeom prst="rect">
            <a:avLst/>
          </a:prstGeom>
          <a:noFill/>
          <a:ln/>
        </p:spPr>
        <p:txBody>
          <a:bodyPr wrap="square" lIns="0" tIns="0" rIns="0" bIns="0" rtlCol="0" anchor="ctr"/>
          <a:lstStyle/>
          <a:p>
            <a:pPr marL="0" indent="0">
              <a:buNone/>
            </a:pPr>
            <a:r>
              <a:rPr lang="en-US" sz="1050" b="1" dirty="0">
                <a:solidFill>
                  <a:srgbClr val="004C97"/>
                </a:solidFill>
                <a:latin typeface="Poppins SemiBold" pitchFamily="34" charset="0"/>
                <a:ea typeface="Poppins SemiBold" pitchFamily="34" charset="-122"/>
                <a:cs typeface="Poppins SemiBold" pitchFamily="34" charset="-120"/>
              </a:rPr>
              <a:t>Supervisor → Execution Agent</a:t>
            </a:r>
            <a:endParaRPr lang="en-US" sz="1050" dirty="0"/>
          </a:p>
        </p:txBody>
      </p:sp>
      <p:sp>
        <p:nvSpPr>
          <p:cNvPr id="29" name="Text 26"/>
          <p:cNvSpPr txBox="1"/>
          <p:nvPr/>
        </p:nvSpPr>
        <p:spPr>
          <a:xfrm>
            <a:off x="1071677" y="3840480"/>
            <a:ext cx="2331720" cy="347472"/>
          </a:xfrm>
          <a:prstGeom prst="rect">
            <a:avLst/>
          </a:prstGeom>
          <a:noFill/>
          <a:ln/>
        </p:spPr>
        <p:txBody>
          <a:bodyPr wrap="square" lIns="0" tIns="0" rIns="0" bIns="0" rtlCol="0" anchor="t"/>
          <a:lstStyle/>
          <a:p>
            <a:pPr marL="0" indent="0">
              <a:lnSpc>
                <a:spcPct val="112000"/>
              </a:lnSpc>
              <a:buNone/>
            </a:pPr>
            <a:r>
              <a:rPr lang="en-US" sz="830" i="1" dirty="0">
                <a:solidFill>
                  <a:srgbClr val="3B3D3E"/>
                </a:solidFill>
                <a:latin typeface="PT Sans" pitchFamily="34" charset="0"/>
                <a:ea typeface="PT Sans" pitchFamily="34" charset="-122"/>
                <a:cs typeface="PT Sans" pitchFamily="34" charset="-120"/>
              </a:rPr>
              <a:t>"Execute approved trade list. Confirmation required before each order."</a:t>
            </a:r>
            <a:endParaRPr lang="en-US" sz="830" dirty="0"/>
          </a:p>
        </p:txBody>
      </p:sp>
      <p:sp>
        <p:nvSpPr>
          <p:cNvPr id="30" name="Text 27"/>
          <p:cNvSpPr txBox="1"/>
          <p:nvPr/>
        </p:nvSpPr>
        <p:spPr>
          <a:xfrm>
            <a:off x="3558845" y="3511296"/>
            <a:ext cx="4998110" cy="713232"/>
          </a:xfrm>
          <a:prstGeom prst="rect">
            <a:avLst/>
          </a:prstGeom>
          <a:noFill/>
          <a:ln/>
        </p:spPr>
        <p:txBody>
          <a:bodyPr wrap="square" lIns="0" tIns="0" rIns="0" bIns="0" rtlCol="0" anchor="ctr"/>
          <a:lstStyle/>
          <a:p>
            <a:pPr marL="0" indent="0">
              <a:lnSpc>
                <a:spcPct val="120000"/>
              </a:lnSpc>
              <a:buNone/>
            </a:pPr>
            <a:r>
              <a:rPr lang="en-US" sz="1000" b="1" dirty="0">
                <a:solidFill>
                  <a:srgbClr val="004C97"/>
                </a:solidFill>
                <a:latin typeface="PT Sans" pitchFamily="34" charset="0"/>
                <a:ea typeface="PT Sans" pitchFamily="34" charset="-122"/>
                <a:cs typeface="PT Sans" pitchFamily="34" charset="-120"/>
              </a:rPr>
              <a:t>✓ All 3 orders placed. Stop-losses set. Notification sent.</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3  •  A2A: GIVING IT COLLEAGUES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The Clean Mental Model</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188720"/>
            <a:ext cx="8244230" cy="274320"/>
          </a:xfrm>
          <a:prstGeom prst="rect">
            <a:avLst/>
          </a:prstGeom>
          <a:noFill/>
          <a:ln/>
        </p:spPr>
        <p:txBody>
          <a:bodyPr wrap="square" lIns="0" tIns="0" rIns="0" bIns="0" rtlCol="0" anchor="ctr"/>
          <a:lstStyle/>
          <a:p>
            <a:pPr marL="0" indent="0">
              <a:buNone/>
            </a:pPr>
            <a:r>
              <a:rPr lang="en-US" sz="1200" i="1" dirty="0">
                <a:solidFill>
                  <a:srgbClr val="3B3D3E"/>
                </a:solidFill>
                <a:latin typeface="PT Sans" pitchFamily="34" charset="0"/>
                <a:ea typeface="PT Sans" pitchFamily="34" charset="-122"/>
                <a:cs typeface="PT Sans" pitchFamily="34" charset="-120"/>
              </a:rPr>
              <a:t>Two protocols. One clear distinction.</a:t>
            </a:r>
            <a:endParaRPr lang="en-US" sz="1200" dirty="0"/>
          </a:p>
        </p:txBody>
      </p:sp>
      <p:sp>
        <p:nvSpPr>
          <p:cNvPr id="8" name="Shape 5"/>
          <p:cNvSpPr/>
          <p:nvPr/>
        </p:nvSpPr>
        <p:spPr>
          <a:xfrm>
            <a:off x="449885" y="1554480"/>
            <a:ext cx="8244230" cy="347472"/>
          </a:xfrm>
          <a:prstGeom prst="roundRect">
            <a:avLst>
              <a:gd name="adj" fmla="val 15789"/>
            </a:avLst>
          </a:prstGeom>
          <a:solidFill>
            <a:srgbClr val="004C97"/>
          </a:solidFill>
          <a:ln w="9525">
            <a:solidFill>
              <a:srgbClr val="004C97"/>
            </a:solidFill>
            <a:prstDash val="solid"/>
          </a:ln>
        </p:spPr>
        <p:txBody>
          <a:bodyPr/>
          <a:lstStyle/>
          <a:p>
            <a:endParaRPr lang="en-IN"/>
          </a:p>
        </p:txBody>
      </p:sp>
      <p:sp>
        <p:nvSpPr>
          <p:cNvPr id="9" name="Text 6"/>
          <p:cNvSpPr/>
          <p:nvPr/>
        </p:nvSpPr>
        <p:spPr>
          <a:xfrm>
            <a:off x="449885" y="1554480"/>
            <a:ext cx="1554480" cy="347472"/>
          </a:xfrm>
          <a:prstGeom prst="rect">
            <a:avLst/>
          </a:prstGeom>
          <a:noFill/>
          <a:ln/>
        </p:spPr>
        <p:txBody>
          <a:bodyPr wrap="square" rtlCol="0" anchor="ctr"/>
          <a:lstStyle/>
          <a:p>
            <a:pPr marL="0" indent="0">
              <a:buNone/>
            </a:pPr>
            <a:endParaRPr lang="en-US" dirty="0"/>
          </a:p>
        </p:txBody>
      </p:sp>
      <p:sp>
        <p:nvSpPr>
          <p:cNvPr id="10" name="Text 7"/>
          <p:cNvSpPr txBox="1"/>
          <p:nvPr/>
        </p:nvSpPr>
        <p:spPr>
          <a:xfrm>
            <a:off x="2004365" y="1554480"/>
            <a:ext cx="3344875"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Poppins SemiBold" pitchFamily="34" charset="0"/>
                <a:ea typeface="Poppins SemiBold" pitchFamily="34" charset="-122"/>
                <a:cs typeface="Poppins SemiBold" pitchFamily="34" charset="-120"/>
              </a:rPr>
              <a:t>MCP — Model Context Protocol</a:t>
            </a:r>
            <a:endParaRPr lang="en-US" sz="1050" dirty="0"/>
          </a:p>
        </p:txBody>
      </p:sp>
      <p:sp>
        <p:nvSpPr>
          <p:cNvPr id="11" name="Text 8"/>
          <p:cNvSpPr txBox="1"/>
          <p:nvPr/>
        </p:nvSpPr>
        <p:spPr>
          <a:xfrm>
            <a:off x="5349240" y="1554480"/>
            <a:ext cx="3344875"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Poppins SemiBold" pitchFamily="34" charset="0"/>
                <a:ea typeface="Poppins SemiBold" pitchFamily="34" charset="-122"/>
                <a:cs typeface="Poppins SemiBold" pitchFamily="34" charset="-120"/>
              </a:rPr>
              <a:t>A2A — Agent-to-Agent Protocol</a:t>
            </a:r>
            <a:endParaRPr lang="en-US" sz="1050" dirty="0"/>
          </a:p>
        </p:txBody>
      </p:sp>
      <p:sp>
        <p:nvSpPr>
          <p:cNvPr id="12" name="Shape 9"/>
          <p:cNvSpPr/>
          <p:nvPr/>
        </p:nvSpPr>
        <p:spPr>
          <a:xfrm>
            <a:off x="449885" y="1901952"/>
            <a:ext cx="8244230" cy="347472"/>
          </a:xfrm>
          <a:prstGeom prst="roundRect">
            <a:avLst/>
          </a:prstGeom>
          <a:solidFill>
            <a:srgbClr val="F8FAFC"/>
          </a:solidFill>
          <a:ln w="9525">
            <a:solidFill>
              <a:srgbClr val="E2E8F0"/>
            </a:solidFill>
            <a:prstDash val="solid"/>
          </a:ln>
        </p:spPr>
        <p:txBody>
          <a:bodyPr/>
          <a:lstStyle/>
          <a:p>
            <a:endParaRPr lang="en-IN"/>
          </a:p>
        </p:txBody>
      </p:sp>
      <p:sp>
        <p:nvSpPr>
          <p:cNvPr id="13" name="Text 10"/>
          <p:cNvSpPr txBox="1"/>
          <p:nvPr/>
        </p:nvSpPr>
        <p:spPr>
          <a:xfrm>
            <a:off x="577901" y="1901952"/>
            <a:ext cx="1371600" cy="347472"/>
          </a:xfrm>
          <a:prstGeom prst="rect">
            <a:avLst/>
          </a:prstGeom>
          <a:noFill/>
          <a:ln/>
        </p:spPr>
        <p:txBody>
          <a:bodyPr wrap="square" lIns="0" tIns="0" rIns="0" bIns="0" rtlCol="0" anchor="ctr"/>
          <a:lstStyle/>
          <a:p>
            <a:pPr marL="0" indent="0">
              <a:buNone/>
            </a:pPr>
            <a:r>
              <a:rPr lang="en-US" sz="930" b="1" dirty="0">
                <a:solidFill>
                  <a:srgbClr val="004C97"/>
                </a:solidFill>
                <a:latin typeface="Poppins SemiBold" pitchFamily="34" charset="0"/>
                <a:ea typeface="Poppins SemiBold" pitchFamily="34" charset="-122"/>
                <a:cs typeface="Poppins SemiBold" pitchFamily="34" charset="-120"/>
              </a:rPr>
              <a:t>Connects</a:t>
            </a:r>
            <a:endParaRPr lang="en-US" sz="930" dirty="0"/>
          </a:p>
        </p:txBody>
      </p:sp>
      <p:sp>
        <p:nvSpPr>
          <p:cNvPr id="14" name="Text 11"/>
          <p:cNvSpPr txBox="1"/>
          <p:nvPr/>
        </p:nvSpPr>
        <p:spPr>
          <a:xfrm>
            <a:off x="2004365" y="1901952"/>
            <a:ext cx="3207715" cy="347472"/>
          </a:xfrm>
          <a:prstGeom prst="rect">
            <a:avLst/>
          </a:prstGeom>
          <a:noFill/>
          <a:ln/>
        </p:spPr>
        <p:txBody>
          <a:bodyPr wrap="square" lIns="0" tIns="0" rIns="0" bIns="0" rtlCol="0" anchor="ctr"/>
          <a:lstStyle/>
          <a:p>
            <a:pPr marL="0" indent="0" algn="ctr">
              <a:buNone/>
            </a:pPr>
            <a:r>
              <a:rPr lang="en-US" sz="930" dirty="0">
                <a:solidFill>
                  <a:srgbClr val="3B3D3E"/>
                </a:solidFill>
                <a:latin typeface="PT Sans" pitchFamily="34" charset="0"/>
                <a:ea typeface="PT Sans" pitchFamily="34" charset="-122"/>
                <a:cs typeface="PT Sans" pitchFamily="34" charset="-120"/>
              </a:rPr>
              <a:t>Agent ↕ Tools &amp; Data</a:t>
            </a:r>
            <a:endParaRPr lang="en-US" sz="930" dirty="0"/>
          </a:p>
        </p:txBody>
      </p:sp>
      <p:sp>
        <p:nvSpPr>
          <p:cNvPr id="15" name="Text 12"/>
          <p:cNvSpPr txBox="1"/>
          <p:nvPr/>
        </p:nvSpPr>
        <p:spPr>
          <a:xfrm>
            <a:off x="5349240" y="1901952"/>
            <a:ext cx="3207715" cy="347472"/>
          </a:xfrm>
          <a:prstGeom prst="rect">
            <a:avLst/>
          </a:prstGeom>
          <a:noFill/>
          <a:ln/>
        </p:spPr>
        <p:txBody>
          <a:bodyPr wrap="square" lIns="0" tIns="0" rIns="0" bIns="0" rtlCol="0" anchor="ctr"/>
          <a:lstStyle/>
          <a:p>
            <a:pPr marL="0" indent="0" algn="ctr">
              <a:buNone/>
            </a:pPr>
            <a:r>
              <a:rPr lang="en-US" sz="930" dirty="0">
                <a:solidFill>
                  <a:srgbClr val="3B3D3E"/>
                </a:solidFill>
                <a:latin typeface="PT Sans" pitchFamily="34" charset="0"/>
                <a:ea typeface="PT Sans" pitchFamily="34" charset="-122"/>
                <a:cs typeface="PT Sans" pitchFamily="34" charset="-120"/>
              </a:rPr>
              <a:t>Agent ↔ Agent</a:t>
            </a:r>
            <a:endParaRPr lang="en-US" sz="930" dirty="0"/>
          </a:p>
        </p:txBody>
      </p:sp>
      <p:sp>
        <p:nvSpPr>
          <p:cNvPr id="16" name="Shape 13"/>
          <p:cNvSpPr/>
          <p:nvPr/>
        </p:nvSpPr>
        <p:spPr>
          <a:xfrm>
            <a:off x="449885" y="2249424"/>
            <a:ext cx="8244230" cy="347472"/>
          </a:xfrm>
          <a:prstGeom prst="roundRect">
            <a:avLst/>
          </a:prstGeom>
          <a:solidFill>
            <a:srgbClr val="FFFFFF"/>
          </a:solidFill>
          <a:ln w="9525">
            <a:solidFill>
              <a:srgbClr val="E2E8F0"/>
            </a:solidFill>
            <a:prstDash val="solid"/>
          </a:ln>
        </p:spPr>
        <p:txBody>
          <a:bodyPr/>
          <a:lstStyle/>
          <a:p>
            <a:endParaRPr lang="en-IN"/>
          </a:p>
        </p:txBody>
      </p:sp>
      <p:sp>
        <p:nvSpPr>
          <p:cNvPr id="17" name="Text 14"/>
          <p:cNvSpPr txBox="1"/>
          <p:nvPr/>
        </p:nvSpPr>
        <p:spPr>
          <a:xfrm>
            <a:off x="577901" y="2249424"/>
            <a:ext cx="1371600" cy="347472"/>
          </a:xfrm>
          <a:prstGeom prst="rect">
            <a:avLst/>
          </a:prstGeom>
          <a:noFill/>
          <a:ln/>
        </p:spPr>
        <p:txBody>
          <a:bodyPr wrap="square" lIns="0" tIns="0" rIns="0" bIns="0" rtlCol="0" anchor="ctr"/>
          <a:lstStyle/>
          <a:p>
            <a:pPr marL="0" indent="0">
              <a:buNone/>
            </a:pPr>
            <a:r>
              <a:rPr lang="en-US" sz="930" b="1" dirty="0">
                <a:solidFill>
                  <a:srgbClr val="004C97"/>
                </a:solidFill>
                <a:latin typeface="Poppins SemiBold" pitchFamily="34" charset="0"/>
                <a:ea typeface="Poppins SemiBold" pitchFamily="34" charset="-122"/>
                <a:cs typeface="Poppins SemiBold" pitchFamily="34" charset="-120"/>
              </a:rPr>
              <a:t>Direction</a:t>
            </a:r>
            <a:endParaRPr lang="en-US" sz="930" dirty="0"/>
          </a:p>
        </p:txBody>
      </p:sp>
      <p:sp>
        <p:nvSpPr>
          <p:cNvPr id="18" name="Text 15"/>
          <p:cNvSpPr txBox="1"/>
          <p:nvPr/>
        </p:nvSpPr>
        <p:spPr>
          <a:xfrm>
            <a:off x="2004365" y="2249424"/>
            <a:ext cx="3207715" cy="347472"/>
          </a:xfrm>
          <a:prstGeom prst="rect">
            <a:avLst/>
          </a:prstGeom>
          <a:noFill/>
          <a:ln/>
        </p:spPr>
        <p:txBody>
          <a:bodyPr wrap="square" lIns="0" tIns="0" rIns="0" bIns="0" rtlCol="0" anchor="ctr"/>
          <a:lstStyle/>
          <a:p>
            <a:pPr marL="0" indent="0" algn="ctr">
              <a:buNone/>
            </a:pPr>
            <a:r>
              <a:rPr lang="en-US" sz="930" dirty="0">
                <a:solidFill>
                  <a:srgbClr val="3B3D3E"/>
                </a:solidFill>
                <a:latin typeface="PT Sans" pitchFamily="34" charset="0"/>
                <a:ea typeface="PT Sans" pitchFamily="34" charset="-122"/>
                <a:cs typeface="PT Sans" pitchFamily="34" charset="-120"/>
              </a:rPr>
              <a:t>Vertical (agent reaches down)</a:t>
            </a:r>
            <a:endParaRPr lang="en-US" sz="930" dirty="0"/>
          </a:p>
        </p:txBody>
      </p:sp>
      <p:sp>
        <p:nvSpPr>
          <p:cNvPr id="19" name="Text 16"/>
          <p:cNvSpPr txBox="1"/>
          <p:nvPr/>
        </p:nvSpPr>
        <p:spPr>
          <a:xfrm>
            <a:off x="5349240" y="2249424"/>
            <a:ext cx="3207715" cy="347472"/>
          </a:xfrm>
          <a:prstGeom prst="rect">
            <a:avLst/>
          </a:prstGeom>
          <a:noFill/>
          <a:ln/>
        </p:spPr>
        <p:txBody>
          <a:bodyPr wrap="square" lIns="0" tIns="0" rIns="0" bIns="0" rtlCol="0" anchor="ctr"/>
          <a:lstStyle/>
          <a:p>
            <a:pPr marL="0" indent="0" algn="ctr">
              <a:buNone/>
            </a:pPr>
            <a:r>
              <a:rPr lang="en-US" sz="930" dirty="0">
                <a:solidFill>
                  <a:srgbClr val="3B3D3E"/>
                </a:solidFill>
                <a:latin typeface="PT Sans" pitchFamily="34" charset="0"/>
                <a:ea typeface="PT Sans" pitchFamily="34" charset="-122"/>
                <a:cs typeface="PT Sans" pitchFamily="34" charset="-120"/>
              </a:rPr>
              <a:t>Horizontal (peers talk)</a:t>
            </a:r>
            <a:endParaRPr lang="en-US" sz="930" dirty="0"/>
          </a:p>
        </p:txBody>
      </p:sp>
      <p:sp>
        <p:nvSpPr>
          <p:cNvPr id="20" name="Shape 17"/>
          <p:cNvSpPr/>
          <p:nvPr/>
        </p:nvSpPr>
        <p:spPr>
          <a:xfrm>
            <a:off x="449885" y="2596896"/>
            <a:ext cx="8244230" cy="347472"/>
          </a:xfrm>
          <a:prstGeom prst="roundRect">
            <a:avLst/>
          </a:prstGeom>
          <a:solidFill>
            <a:srgbClr val="F8FAFC"/>
          </a:solidFill>
          <a:ln w="9525">
            <a:solidFill>
              <a:srgbClr val="E2E8F0"/>
            </a:solidFill>
            <a:prstDash val="solid"/>
          </a:ln>
        </p:spPr>
        <p:txBody>
          <a:bodyPr/>
          <a:lstStyle/>
          <a:p>
            <a:endParaRPr lang="en-IN"/>
          </a:p>
        </p:txBody>
      </p:sp>
      <p:sp>
        <p:nvSpPr>
          <p:cNvPr id="21" name="Text 18"/>
          <p:cNvSpPr txBox="1"/>
          <p:nvPr/>
        </p:nvSpPr>
        <p:spPr>
          <a:xfrm>
            <a:off x="577901" y="2596896"/>
            <a:ext cx="1371600" cy="347472"/>
          </a:xfrm>
          <a:prstGeom prst="rect">
            <a:avLst/>
          </a:prstGeom>
          <a:noFill/>
          <a:ln/>
        </p:spPr>
        <p:txBody>
          <a:bodyPr wrap="square" lIns="0" tIns="0" rIns="0" bIns="0" rtlCol="0" anchor="ctr"/>
          <a:lstStyle/>
          <a:p>
            <a:pPr marL="0" indent="0">
              <a:buNone/>
            </a:pPr>
            <a:r>
              <a:rPr lang="en-US" sz="930" b="1" dirty="0">
                <a:solidFill>
                  <a:srgbClr val="004C97"/>
                </a:solidFill>
                <a:latin typeface="Poppins SemiBold" pitchFamily="34" charset="0"/>
                <a:ea typeface="Poppins SemiBold" pitchFamily="34" charset="-122"/>
                <a:cs typeface="Poppins SemiBold" pitchFamily="34" charset="-120"/>
              </a:rPr>
              <a:t>Analogy</a:t>
            </a:r>
            <a:endParaRPr lang="en-US" sz="930" dirty="0"/>
          </a:p>
        </p:txBody>
      </p:sp>
      <p:sp>
        <p:nvSpPr>
          <p:cNvPr id="22" name="Text 19"/>
          <p:cNvSpPr txBox="1"/>
          <p:nvPr/>
        </p:nvSpPr>
        <p:spPr>
          <a:xfrm>
            <a:off x="2004365" y="2596896"/>
            <a:ext cx="3207715" cy="347472"/>
          </a:xfrm>
          <a:prstGeom prst="rect">
            <a:avLst/>
          </a:prstGeom>
          <a:noFill/>
          <a:ln/>
        </p:spPr>
        <p:txBody>
          <a:bodyPr wrap="square" lIns="0" tIns="0" rIns="0" bIns="0" rtlCol="0" anchor="ctr"/>
          <a:lstStyle/>
          <a:p>
            <a:pPr marL="0" indent="0" algn="ctr">
              <a:buNone/>
            </a:pPr>
            <a:r>
              <a:rPr lang="en-US" sz="930" dirty="0">
                <a:solidFill>
                  <a:srgbClr val="3B3D3E"/>
                </a:solidFill>
                <a:latin typeface="PT Sans" pitchFamily="34" charset="0"/>
                <a:ea typeface="PT Sans" pitchFamily="34" charset="-122"/>
                <a:cs typeface="PT Sans" pitchFamily="34" charset="-120"/>
              </a:rPr>
              <a:t>USB-C — universal connector</a:t>
            </a:r>
            <a:endParaRPr lang="en-US" sz="930" dirty="0"/>
          </a:p>
        </p:txBody>
      </p:sp>
      <p:sp>
        <p:nvSpPr>
          <p:cNvPr id="23" name="Text 20"/>
          <p:cNvSpPr txBox="1"/>
          <p:nvPr/>
        </p:nvSpPr>
        <p:spPr>
          <a:xfrm>
            <a:off x="5349240" y="2596896"/>
            <a:ext cx="3207715" cy="347472"/>
          </a:xfrm>
          <a:prstGeom prst="rect">
            <a:avLst/>
          </a:prstGeom>
          <a:noFill/>
          <a:ln/>
        </p:spPr>
        <p:txBody>
          <a:bodyPr wrap="square" lIns="0" tIns="0" rIns="0" bIns="0" rtlCol="0" anchor="ctr"/>
          <a:lstStyle/>
          <a:p>
            <a:pPr marL="0" indent="0" algn="ctr">
              <a:buNone/>
            </a:pPr>
            <a:r>
              <a:rPr lang="en-US" sz="930" dirty="0">
                <a:solidFill>
                  <a:srgbClr val="3B3D3E"/>
                </a:solidFill>
                <a:latin typeface="PT Sans" pitchFamily="34" charset="0"/>
                <a:ea typeface="PT Sans" pitchFamily="34" charset="-122"/>
                <a:cs typeface="PT Sans" pitchFamily="34" charset="-120"/>
              </a:rPr>
              <a:t>Phone network for agents</a:t>
            </a:r>
            <a:endParaRPr lang="en-US" sz="930" dirty="0"/>
          </a:p>
        </p:txBody>
      </p:sp>
      <p:sp>
        <p:nvSpPr>
          <p:cNvPr id="24" name="Shape 21"/>
          <p:cNvSpPr/>
          <p:nvPr/>
        </p:nvSpPr>
        <p:spPr>
          <a:xfrm>
            <a:off x="449885" y="2944368"/>
            <a:ext cx="8244230" cy="347472"/>
          </a:xfrm>
          <a:prstGeom prst="roundRect">
            <a:avLst/>
          </a:prstGeom>
          <a:solidFill>
            <a:srgbClr val="FFFFFF"/>
          </a:solidFill>
          <a:ln w="9525">
            <a:solidFill>
              <a:srgbClr val="E2E8F0"/>
            </a:solidFill>
            <a:prstDash val="solid"/>
          </a:ln>
        </p:spPr>
        <p:txBody>
          <a:bodyPr/>
          <a:lstStyle/>
          <a:p>
            <a:endParaRPr lang="en-IN"/>
          </a:p>
        </p:txBody>
      </p:sp>
      <p:sp>
        <p:nvSpPr>
          <p:cNvPr id="25" name="Text 22"/>
          <p:cNvSpPr txBox="1"/>
          <p:nvPr/>
        </p:nvSpPr>
        <p:spPr>
          <a:xfrm>
            <a:off x="577901" y="2944368"/>
            <a:ext cx="1371600" cy="347472"/>
          </a:xfrm>
          <a:prstGeom prst="rect">
            <a:avLst/>
          </a:prstGeom>
          <a:noFill/>
          <a:ln/>
        </p:spPr>
        <p:txBody>
          <a:bodyPr wrap="square" lIns="0" tIns="0" rIns="0" bIns="0" rtlCol="0" anchor="ctr"/>
          <a:lstStyle/>
          <a:p>
            <a:pPr marL="0" indent="0">
              <a:buNone/>
            </a:pPr>
            <a:r>
              <a:rPr lang="en-US" sz="930" b="1" dirty="0">
                <a:solidFill>
                  <a:srgbClr val="004C97"/>
                </a:solidFill>
                <a:latin typeface="Poppins SemiBold" pitchFamily="34" charset="0"/>
                <a:ea typeface="Poppins SemiBold" pitchFamily="34" charset="-122"/>
                <a:cs typeface="Poppins SemiBold" pitchFamily="34" charset="-120"/>
              </a:rPr>
              <a:t>In our example</a:t>
            </a:r>
            <a:endParaRPr lang="en-US" sz="930" dirty="0"/>
          </a:p>
        </p:txBody>
      </p:sp>
      <p:sp>
        <p:nvSpPr>
          <p:cNvPr id="26" name="Text 23"/>
          <p:cNvSpPr txBox="1"/>
          <p:nvPr/>
        </p:nvSpPr>
        <p:spPr>
          <a:xfrm>
            <a:off x="2004365" y="2944368"/>
            <a:ext cx="3207715" cy="347472"/>
          </a:xfrm>
          <a:prstGeom prst="rect">
            <a:avLst/>
          </a:prstGeom>
          <a:noFill/>
          <a:ln/>
        </p:spPr>
        <p:txBody>
          <a:bodyPr wrap="square" lIns="0" tIns="0" rIns="0" bIns="0" rtlCol="0" anchor="ctr"/>
          <a:lstStyle/>
          <a:p>
            <a:pPr marL="0" indent="0" algn="ctr">
              <a:buNone/>
            </a:pPr>
            <a:r>
              <a:rPr lang="en-US" sz="930" dirty="0">
                <a:solidFill>
                  <a:srgbClr val="3B3D3E"/>
                </a:solidFill>
                <a:latin typeface="PT Sans" pitchFamily="34" charset="0"/>
                <a:ea typeface="PT Sans" pitchFamily="34" charset="-122"/>
                <a:cs typeface="PT Sans" pitchFamily="34" charset="-120"/>
              </a:rPr>
              <a:t>Trading agent ↔ Zerodha APIs</a:t>
            </a:r>
            <a:endParaRPr lang="en-US" sz="930" dirty="0"/>
          </a:p>
        </p:txBody>
      </p:sp>
      <p:sp>
        <p:nvSpPr>
          <p:cNvPr id="27" name="Text 24"/>
          <p:cNvSpPr txBox="1"/>
          <p:nvPr/>
        </p:nvSpPr>
        <p:spPr>
          <a:xfrm>
            <a:off x="5349240" y="2944368"/>
            <a:ext cx="3207715" cy="347472"/>
          </a:xfrm>
          <a:prstGeom prst="rect">
            <a:avLst/>
          </a:prstGeom>
          <a:noFill/>
          <a:ln/>
        </p:spPr>
        <p:txBody>
          <a:bodyPr wrap="square" lIns="0" tIns="0" rIns="0" bIns="0" rtlCol="0" anchor="ctr"/>
          <a:lstStyle/>
          <a:p>
            <a:pPr marL="0" indent="0" algn="ctr">
              <a:buNone/>
            </a:pPr>
            <a:r>
              <a:rPr lang="en-US" sz="930" dirty="0">
                <a:solidFill>
                  <a:srgbClr val="3B3D3E"/>
                </a:solidFill>
                <a:latin typeface="PT Sans" pitchFamily="34" charset="0"/>
                <a:ea typeface="PT Sans" pitchFamily="34" charset="-122"/>
                <a:cs typeface="PT Sans" pitchFamily="34" charset="-120"/>
              </a:rPr>
              <a:t>Supervisor ↔ Specialist agents</a:t>
            </a:r>
            <a:endParaRPr lang="en-US" sz="930" dirty="0"/>
          </a:p>
        </p:txBody>
      </p:sp>
      <p:sp>
        <p:nvSpPr>
          <p:cNvPr id="28" name="Shape 25"/>
          <p:cNvSpPr/>
          <p:nvPr/>
        </p:nvSpPr>
        <p:spPr>
          <a:xfrm>
            <a:off x="449885" y="3291840"/>
            <a:ext cx="8244230" cy="347472"/>
          </a:xfrm>
          <a:prstGeom prst="roundRect">
            <a:avLst/>
          </a:prstGeom>
          <a:solidFill>
            <a:srgbClr val="F8FAFC"/>
          </a:solidFill>
          <a:ln w="9525">
            <a:solidFill>
              <a:srgbClr val="E2E8F0"/>
            </a:solidFill>
            <a:prstDash val="solid"/>
          </a:ln>
        </p:spPr>
        <p:txBody>
          <a:bodyPr/>
          <a:lstStyle/>
          <a:p>
            <a:endParaRPr lang="en-IN"/>
          </a:p>
        </p:txBody>
      </p:sp>
      <p:sp>
        <p:nvSpPr>
          <p:cNvPr id="29" name="Text 26"/>
          <p:cNvSpPr txBox="1"/>
          <p:nvPr/>
        </p:nvSpPr>
        <p:spPr>
          <a:xfrm>
            <a:off x="577901" y="3291840"/>
            <a:ext cx="1371600" cy="347472"/>
          </a:xfrm>
          <a:prstGeom prst="rect">
            <a:avLst/>
          </a:prstGeom>
          <a:noFill/>
          <a:ln/>
        </p:spPr>
        <p:txBody>
          <a:bodyPr wrap="square" lIns="0" tIns="0" rIns="0" bIns="0" rtlCol="0" anchor="ctr"/>
          <a:lstStyle/>
          <a:p>
            <a:pPr marL="0" indent="0">
              <a:buNone/>
            </a:pPr>
            <a:r>
              <a:rPr lang="en-US" sz="930" b="1" dirty="0">
                <a:solidFill>
                  <a:srgbClr val="004C97"/>
                </a:solidFill>
                <a:latin typeface="Poppins SemiBold" pitchFamily="34" charset="0"/>
                <a:ea typeface="Poppins SemiBold" pitchFamily="34" charset="-122"/>
                <a:cs typeface="Poppins SemiBold" pitchFamily="34" charset="-120"/>
              </a:rPr>
              <a:t>Developed by</a:t>
            </a:r>
            <a:endParaRPr lang="en-US" sz="930" dirty="0"/>
          </a:p>
        </p:txBody>
      </p:sp>
      <p:sp>
        <p:nvSpPr>
          <p:cNvPr id="30" name="Text 27"/>
          <p:cNvSpPr txBox="1"/>
          <p:nvPr/>
        </p:nvSpPr>
        <p:spPr>
          <a:xfrm>
            <a:off x="2004365" y="3291840"/>
            <a:ext cx="3207715" cy="347472"/>
          </a:xfrm>
          <a:prstGeom prst="rect">
            <a:avLst/>
          </a:prstGeom>
          <a:noFill/>
          <a:ln/>
        </p:spPr>
        <p:txBody>
          <a:bodyPr wrap="square" lIns="0" tIns="0" rIns="0" bIns="0" rtlCol="0" anchor="ctr"/>
          <a:lstStyle/>
          <a:p>
            <a:pPr marL="0" indent="0" algn="ctr">
              <a:buNone/>
            </a:pPr>
            <a:r>
              <a:rPr lang="en-US" sz="930" dirty="0">
                <a:solidFill>
                  <a:srgbClr val="3B3D3E"/>
                </a:solidFill>
                <a:latin typeface="PT Sans" pitchFamily="34" charset="0"/>
                <a:ea typeface="PT Sans" pitchFamily="34" charset="-122"/>
                <a:cs typeface="PT Sans" pitchFamily="34" charset="-120"/>
              </a:rPr>
              <a:t>Anthropic (open standard)</a:t>
            </a:r>
            <a:endParaRPr lang="en-US" sz="930" dirty="0"/>
          </a:p>
        </p:txBody>
      </p:sp>
      <p:sp>
        <p:nvSpPr>
          <p:cNvPr id="31" name="Text 28"/>
          <p:cNvSpPr txBox="1"/>
          <p:nvPr/>
        </p:nvSpPr>
        <p:spPr>
          <a:xfrm>
            <a:off x="5349240" y="3291840"/>
            <a:ext cx="3207715" cy="347472"/>
          </a:xfrm>
          <a:prstGeom prst="rect">
            <a:avLst/>
          </a:prstGeom>
          <a:noFill/>
          <a:ln/>
        </p:spPr>
        <p:txBody>
          <a:bodyPr wrap="square" lIns="0" tIns="0" rIns="0" bIns="0" rtlCol="0" anchor="ctr"/>
          <a:lstStyle/>
          <a:p>
            <a:pPr marL="0" indent="0" algn="ctr">
              <a:buNone/>
            </a:pPr>
            <a:r>
              <a:rPr lang="en-US" sz="930" dirty="0">
                <a:solidFill>
                  <a:srgbClr val="3B3D3E"/>
                </a:solidFill>
                <a:latin typeface="PT Sans" pitchFamily="34" charset="0"/>
                <a:ea typeface="PT Sans" pitchFamily="34" charset="-122"/>
                <a:cs typeface="PT Sans" pitchFamily="34" charset="-120"/>
              </a:rPr>
              <a:t>Google + ecosystem</a:t>
            </a:r>
            <a:endParaRPr lang="en-US" sz="930" dirty="0"/>
          </a:p>
        </p:txBody>
      </p:sp>
      <p:sp>
        <p:nvSpPr>
          <p:cNvPr id="32" name="Shape 29"/>
          <p:cNvSpPr/>
          <p:nvPr/>
        </p:nvSpPr>
        <p:spPr>
          <a:xfrm>
            <a:off x="449885" y="3639312"/>
            <a:ext cx="8244230" cy="347472"/>
          </a:xfrm>
          <a:prstGeom prst="roundRect">
            <a:avLst/>
          </a:prstGeom>
          <a:solidFill>
            <a:srgbClr val="FFFFFF"/>
          </a:solidFill>
          <a:ln w="9525">
            <a:solidFill>
              <a:srgbClr val="E2E8F0"/>
            </a:solidFill>
            <a:prstDash val="solid"/>
          </a:ln>
        </p:spPr>
        <p:txBody>
          <a:bodyPr/>
          <a:lstStyle/>
          <a:p>
            <a:endParaRPr lang="en-IN"/>
          </a:p>
        </p:txBody>
      </p:sp>
      <p:sp>
        <p:nvSpPr>
          <p:cNvPr id="33" name="Text 30"/>
          <p:cNvSpPr txBox="1"/>
          <p:nvPr/>
        </p:nvSpPr>
        <p:spPr>
          <a:xfrm>
            <a:off x="577901" y="3639312"/>
            <a:ext cx="1371600" cy="347472"/>
          </a:xfrm>
          <a:prstGeom prst="rect">
            <a:avLst/>
          </a:prstGeom>
          <a:noFill/>
          <a:ln/>
        </p:spPr>
        <p:txBody>
          <a:bodyPr wrap="square" lIns="0" tIns="0" rIns="0" bIns="0" rtlCol="0" anchor="ctr"/>
          <a:lstStyle/>
          <a:p>
            <a:pPr marL="0" indent="0">
              <a:buNone/>
            </a:pPr>
            <a:r>
              <a:rPr lang="en-US" sz="930" b="1" dirty="0">
                <a:solidFill>
                  <a:srgbClr val="004C97"/>
                </a:solidFill>
                <a:latin typeface="Poppins SemiBold" pitchFamily="34" charset="0"/>
                <a:ea typeface="Poppins SemiBold" pitchFamily="34" charset="-122"/>
                <a:cs typeface="Poppins SemiBold" pitchFamily="34" charset="-120"/>
              </a:rPr>
              <a:t>State</a:t>
            </a:r>
            <a:endParaRPr lang="en-US" sz="930" dirty="0"/>
          </a:p>
        </p:txBody>
      </p:sp>
      <p:sp>
        <p:nvSpPr>
          <p:cNvPr id="34" name="Text 31"/>
          <p:cNvSpPr txBox="1"/>
          <p:nvPr/>
        </p:nvSpPr>
        <p:spPr>
          <a:xfrm>
            <a:off x="2004365" y="3639312"/>
            <a:ext cx="3207715" cy="347472"/>
          </a:xfrm>
          <a:prstGeom prst="rect">
            <a:avLst/>
          </a:prstGeom>
          <a:noFill/>
          <a:ln/>
        </p:spPr>
        <p:txBody>
          <a:bodyPr wrap="square" lIns="0" tIns="0" rIns="0" bIns="0" rtlCol="0" anchor="ctr"/>
          <a:lstStyle/>
          <a:p>
            <a:pPr marL="0" indent="0" algn="ctr">
              <a:buNone/>
            </a:pPr>
            <a:r>
              <a:rPr lang="en-US" sz="930" dirty="0">
                <a:solidFill>
                  <a:srgbClr val="3B3D3E"/>
                </a:solidFill>
                <a:latin typeface="PT Sans" pitchFamily="34" charset="0"/>
                <a:ea typeface="PT Sans" pitchFamily="34" charset="-122"/>
                <a:cs typeface="PT Sans" pitchFamily="34" charset="-120"/>
              </a:rPr>
              <a:t>Stateful session per connection</a:t>
            </a:r>
            <a:endParaRPr lang="en-US" sz="930" dirty="0"/>
          </a:p>
        </p:txBody>
      </p:sp>
      <p:sp>
        <p:nvSpPr>
          <p:cNvPr id="35" name="Text 32"/>
          <p:cNvSpPr txBox="1"/>
          <p:nvPr/>
        </p:nvSpPr>
        <p:spPr>
          <a:xfrm>
            <a:off x="5349240" y="3639312"/>
            <a:ext cx="3207715" cy="347472"/>
          </a:xfrm>
          <a:prstGeom prst="rect">
            <a:avLst/>
          </a:prstGeom>
          <a:noFill/>
          <a:ln/>
        </p:spPr>
        <p:txBody>
          <a:bodyPr wrap="square" lIns="0" tIns="0" rIns="0" bIns="0" rtlCol="0" anchor="ctr"/>
          <a:lstStyle/>
          <a:p>
            <a:pPr marL="0" indent="0" algn="ctr">
              <a:buNone/>
            </a:pPr>
            <a:r>
              <a:rPr lang="en-US" sz="930" dirty="0">
                <a:solidFill>
                  <a:srgbClr val="3B3D3E"/>
                </a:solidFill>
                <a:latin typeface="PT Sans" pitchFamily="34" charset="0"/>
                <a:ea typeface="PT Sans" pitchFamily="34" charset="-122"/>
                <a:cs typeface="PT Sans" pitchFamily="34" charset="-120"/>
              </a:rPr>
              <a:t>Shared task context</a:t>
            </a:r>
            <a:endParaRPr lang="en-US" sz="930" dirty="0"/>
          </a:p>
        </p:txBody>
      </p:sp>
      <p:sp>
        <p:nvSpPr>
          <p:cNvPr id="36" name="Shape 33"/>
          <p:cNvSpPr/>
          <p:nvPr/>
        </p:nvSpPr>
        <p:spPr>
          <a:xfrm>
            <a:off x="449885" y="1554480"/>
            <a:ext cx="0" cy="2432304"/>
          </a:xfrm>
          <a:prstGeom prst="line">
            <a:avLst/>
          </a:prstGeom>
          <a:noFill/>
          <a:ln w="9525">
            <a:solidFill>
              <a:srgbClr val="E2E8F0"/>
            </a:solidFill>
            <a:prstDash val="solid"/>
          </a:ln>
        </p:spPr>
        <p:txBody>
          <a:bodyPr/>
          <a:lstStyle/>
          <a:p>
            <a:endParaRPr lang="en-IN"/>
          </a:p>
        </p:txBody>
      </p:sp>
      <p:sp>
        <p:nvSpPr>
          <p:cNvPr id="37" name="Shape 34"/>
          <p:cNvSpPr/>
          <p:nvPr/>
        </p:nvSpPr>
        <p:spPr>
          <a:xfrm>
            <a:off x="2004365" y="1554480"/>
            <a:ext cx="0" cy="2432304"/>
          </a:xfrm>
          <a:prstGeom prst="line">
            <a:avLst/>
          </a:prstGeom>
          <a:noFill/>
          <a:ln w="9525">
            <a:solidFill>
              <a:srgbClr val="E2E8F0"/>
            </a:solidFill>
            <a:prstDash val="solid"/>
          </a:ln>
        </p:spPr>
        <p:txBody>
          <a:bodyPr/>
          <a:lstStyle/>
          <a:p>
            <a:endParaRPr lang="en-IN"/>
          </a:p>
        </p:txBody>
      </p:sp>
      <p:sp>
        <p:nvSpPr>
          <p:cNvPr id="38" name="Shape 35"/>
          <p:cNvSpPr/>
          <p:nvPr/>
        </p:nvSpPr>
        <p:spPr>
          <a:xfrm>
            <a:off x="5349240" y="1554480"/>
            <a:ext cx="0" cy="2432304"/>
          </a:xfrm>
          <a:prstGeom prst="line">
            <a:avLst/>
          </a:prstGeom>
          <a:noFill/>
          <a:ln w="9525">
            <a:solidFill>
              <a:srgbClr val="E2E8F0"/>
            </a:solidFill>
            <a:prstDash val="solid"/>
          </a:ln>
        </p:spPr>
        <p:txBody>
          <a:bodyPr/>
          <a:lstStyle/>
          <a:p>
            <a:endParaRPr lang="en-IN"/>
          </a:p>
        </p:txBody>
      </p:sp>
      <p:sp>
        <p:nvSpPr>
          <p:cNvPr id="39" name="Shape 36"/>
          <p:cNvSpPr/>
          <p:nvPr/>
        </p:nvSpPr>
        <p:spPr>
          <a:xfrm>
            <a:off x="8694115" y="1554480"/>
            <a:ext cx="0" cy="2432304"/>
          </a:xfrm>
          <a:prstGeom prst="line">
            <a:avLst/>
          </a:prstGeom>
          <a:noFill/>
          <a:ln w="9525">
            <a:solidFill>
              <a:srgbClr val="E2E8F0"/>
            </a:solidFill>
            <a:prstDash val="solid"/>
          </a:ln>
        </p:spPr>
        <p:txBody>
          <a:bodyPr/>
          <a:lstStyle/>
          <a:p>
            <a:endParaRPr lang="en-IN"/>
          </a:p>
        </p:txBody>
      </p:sp>
      <p:sp>
        <p:nvSpPr>
          <p:cNvPr id="40" name="Text 37"/>
          <p:cNvSpPr txBox="1"/>
          <p:nvPr/>
        </p:nvSpPr>
        <p:spPr>
          <a:xfrm>
            <a:off x="449885" y="4151376"/>
            <a:ext cx="8244230" cy="274320"/>
          </a:xfrm>
          <a:prstGeom prst="rect">
            <a:avLst/>
          </a:prstGeom>
          <a:noFill/>
          <a:ln/>
        </p:spPr>
        <p:txBody>
          <a:bodyPr wrap="square" lIns="0" tIns="0" rIns="0" bIns="0" rtlCol="0" anchor="t"/>
          <a:lstStyle/>
          <a:p>
            <a:pPr marL="0" indent="0">
              <a:lnSpc>
                <a:spcPct val="112000"/>
              </a:lnSpc>
              <a:buNone/>
            </a:pPr>
            <a:r>
              <a:rPr lang="en-US" sz="1150" i="1" dirty="0">
                <a:solidFill>
                  <a:srgbClr val="3B3D3E"/>
                </a:solidFill>
                <a:latin typeface="PT Sans" pitchFamily="34" charset="0"/>
                <a:ea typeface="PT Sans" pitchFamily="34" charset="-122"/>
                <a:cs typeface="PT Sans" pitchFamily="34" charset="-120"/>
              </a:rPr>
              <a:t>MCP gives your agent hands. A2A gives your agent colleagues.</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3  •  A2A: GIVING IT COLLEAGUES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The Enterprise Vision — Digital Departments</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449885" y="1371600"/>
            <a:ext cx="1958188" cy="457200"/>
          </a:xfrm>
          <a:prstGeom prst="roundRect">
            <a:avLst>
              <a:gd name="adj" fmla="val 12000"/>
            </a:avLst>
          </a:prstGeom>
          <a:solidFill>
            <a:srgbClr val="004C97"/>
          </a:solidFill>
          <a:ln w="9525">
            <a:solidFill>
              <a:srgbClr val="004C97"/>
            </a:solidFill>
            <a:prstDash val="solid"/>
          </a:ln>
        </p:spPr>
        <p:txBody>
          <a:bodyPr/>
          <a:lstStyle/>
          <a:p>
            <a:endParaRPr lang="en-IN"/>
          </a:p>
        </p:txBody>
      </p:sp>
      <p:sp>
        <p:nvSpPr>
          <p:cNvPr id="8" name="Text 5"/>
          <p:cNvSpPr txBox="1"/>
          <p:nvPr/>
        </p:nvSpPr>
        <p:spPr>
          <a:xfrm>
            <a:off x="449885" y="1371600"/>
            <a:ext cx="1958188" cy="457200"/>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Poppins SemiBold" pitchFamily="34" charset="0"/>
                <a:ea typeface="Poppins SemiBold" pitchFamily="34" charset="-122"/>
                <a:cs typeface="Poppins SemiBold" pitchFamily="34" charset="-120"/>
              </a:rPr>
              <a:t>Trading</a:t>
            </a:r>
            <a:endParaRPr lang="en-US" sz="1000" dirty="0"/>
          </a:p>
          <a:p>
            <a:pPr marL="0" indent="0" algn="ctr">
              <a:lnSpc>
                <a:spcPct val="100000"/>
              </a:lnSpc>
              <a:buNone/>
            </a:pPr>
            <a:r>
              <a:rPr lang="en-US" sz="1000" b="1" dirty="0">
                <a:solidFill>
                  <a:srgbClr val="FFFFFF"/>
                </a:solidFill>
                <a:latin typeface="Poppins SemiBold" pitchFamily="34" charset="0"/>
                <a:ea typeface="Poppins SemiBold" pitchFamily="34" charset="-122"/>
                <a:cs typeface="Poppins SemiBold" pitchFamily="34" charset="-120"/>
              </a:rPr>
              <a:t>Department</a:t>
            </a:r>
            <a:endParaRPr lang="en-US" sz="1000" dirty="0"/>
          </a:p>
        </p:txBody>
      </p:sp>
      <p:sp>
        <p:nvSpPr>
          <p:cNvPr id="9" name="Shape 6"/>
          <p:cNvSpPr/>
          <p:nvPr/>
        </p:nvSpPr>
        <p:spPr>
          <a:xfrm>
            <a:off x="449885" y="1920240"/>
            <a:ext cx="1958188" cy="329184"/>
          </a:xfrm>
          <a:prstGeom prst="roundRect">
            <a:avLst>
              <a:gd name="adj" fmla="val 16667"/>
            </a:avLst>
          </a:prstGeom>
          <a:solidFill>
            <a:srgbClr val="E6F4FA"/>
          </a:solidFill>
          <a:ln w="9525">
            <a:solidFill>
              <a:srgbClr val="00A3E0"/>
            </a:solidFill>
            <a:prstDash val="solid"/>
          </a:ln>
        </p:spPr>
        <p:txBody>
          <a:bodyPr/>
          <a:lstStyle/>
          <a:p>
            <a:endParaRPr lang="en-IN"/>
          </a:p>
        </p:txBody>
      </p:sp>
      <p:sp>
        <p:nvSpPr>
          <p:cNvPr id="10" name="Text 7"/>
          <p:cNvSpPr txBox="1"/>
          <p:nvPr/>
        </p:nvSpPr>
        <p:spPr>
          <a:xfrm>
            <a:off x="523037" y="1920240"/>
            <a:ext cx="1811884" cy="329184"/>
          </a:xfrm>
          <a:prstGeom prst="rect">
            <a:avLst/>
          </a:prstGeom>
          <a:noFill/>
          <a:ln/>
        </p:spPr>
        <p:txBody>
          <a:bodyPr wrap="square" lIns="0" tIns="0" rIns="0" bIns="0" rtlCol="0" anchor="ctr"/>
          <a:lstStyle/>
          <a:p>
            <a:pPr marL="0" indent="0">
              <a:buNone/>
            </a:pPr>
            <a:r>
              <a:rPr lang="en-US" sz="830" b="1" dirty="0">
                <a:solidFill>
                  <a:srgbClr val="004C97"/>
                </a:solidFill>
                <a:latin typeface="PT Sans" pitchFamily="34" charset="0"/>
                <a:ea typeface="PT Sans" pitchFamily="34" charset="-122"/>
                <a:cs typeface="PT Sans" pitchFamily="34" charset="-120"/>
              </a:rPr>
              <a:t>🤖 Portfolio Agent</a:t>
            </a:r>
            <a:endParaRPr lang="en-US" sz="830" dirty="0"/>
          </a:p>
        </p:txBody>
      </p:sp>
      <p:sp>
        <p:nvSpPr>
          <p:cNvPr id="11" name="Shape 8"/>
          <p:cNvSpPr/>
          <p:nvPr/>
        </p:nvSpPr>
        <p:spPr>
          <a:xfrm>
            <a:off x="449885" y="2304288"/>
            <a:ext cx="1958188" cy="329184"/>
          </a:xfrm>
          <a:prstGeom prst="roundRect">
            <a:avLst>
              <a:gd name="adj" fmla="val 16667"/>
            </a:avLst>
          </a:prstGeom>
          <a:solidFill>
            <a:srgbClr val="E6F4FA"/>
          </a:solidFill>
          <a:ln w="9525">
            <a:solidFill>
              <a:srgbClr val="00A3E0"/>
            </a:solidFill>
            <a:prstDash val="solid"/>
          </a:ln>
        </p:spPr>
        <p:txBody>
          <a:bodyPr/>
          <a:lstStyle/>
          <a:p>
            <a:endParaRPr lang="en-IN"/>
          </a:p>
        </p:txBody>
      </p:sp>
      <p:sp>
        <p:nvSpPr>
          <p:cNvPr id="12" name="Text 9"/>
          <p:cNvSpPr txBox="1"/>
          <p:nvPr/>
        </p:nvSpPr>
        <p:spPr>
          <a:xfrm>
            <a:off x="523037" y="2304288"/>
            <a:ext cx="1811884" cy="329184"/>
          </a:xfrm>
          <a:prstGeom prst="rect">
            <a:avLst/>
          </a:prstGeom>
          <a:noFill/>
          <a:ln/>
        </p:spPr>
        <p:txBody>
          <a:bodyPr wrap="square" lIns="0" tIns="0" rIns="0" bIns="0" rtlCol="0" anchor="ctr"/>
          <a:lstStyle/>
          <a:p>
            <a:pPr marL="0" indent="0">
              <a:buNone/>
            </a:pPr>
            <a:r>
              <a:rPr lang="en-US" sz="830" b="1" dirty="0">
                <a:solidFill>
                  <a:srgbClr val="004C97"/>
                </a:solidFill>
                <a:latin typeface="PT Sans" pitchFamily="34" charset="0"/>
                <a:ea typeface="PT Sans" pitchFamily="34" charset="-122"/>
                <a:cs typeface="PT Sans" pitchFamily="34" charset="-120"/>
              </a:rPr>
              <a:t>🤖 Execution Agent</a:t>
            </a:r>
            <a:endParaRPr lang="en-US" sz="830" dirty="0"/>
          </a:p>
        </p:txBody>
      </p:sp>
      <p:sp>
        <p:nvSpPr>
          <p:cNvPr id="13" name="Text 10"/>
          <p:cNvSpPr txBox="1"/>
          <p:nvPr/>
        </p:nvSpPr>
        <p:spPr>
          <a:xfrm>
            <a:off x="449885" y="2743200"/>
            <a:ext cx="1958188" cy="182880"/>
          </a:xfrm>
          <a:prstGeom prst="rect">
            <a:avLst/>
          </a:prstGeom>
          <a:noFill/>
          <a:ln/>
        </p:spPr>
        <p:txBody>
          <a:bodyPr wrap="square" lIns="0" tIns="0" rIns="0" bIns="0" rtlCol="0" anchor="ctr"/>
          <a:lstStyle/>
          <a:p>
            <a:pPr marL="0" indent="0" algn="ctr">
              <a:buNone/>
            </a:pPr>
            <a:r>
              <a:rPr lang="en-US" sz="750" i="1" dirty="0">
                <a:solidFill>
                  <a:srgbClr val="9AA39D"/>
                </a:solidFill>
                <a:latin typeface="PT Sans" pitchFamily="34" charset="0"/>
                <a:ea typeface="PT Sans" pitchFamily="34" charset="-122"/>
                <a:cs typeface="PT Sans" pitchFamily="34" charset="-120"/>
              </a:rPr>
              <a:t>via MCP:</a:t>
            </a:r>
            <a:endParaRPr lang="en-US" sz="750" dirty="0"/>
          </a:p>
        </p:txBody>
      </p:sp>
      <p:sp>
        <p:nvSpPr>
          <p:cNvPr id="14" name="Shape 11"/>
          <p:cNvSpPr/>
          <p:nvPr/>
        </p:nvSpPr>
        <p:spPr>
          <a:xfrm>
            <a:off x="449885" y="2944368"/>
            <a:ext cx="1958188" cy="246888"/>
          </a:xfrm>
          <a:prstGeom prst="roundRect">
            <a:avLst>
              <a:gd name="adj" fmla="val 22222"/>
            </a:avLst>
          </a:prstGeom>
          <a:solidFill>
            <a:srgbClr val="FFFFFF"/>
          </a:solidFill>
          <a:ln w="9525">
            <a:solidFill>
              <a:srgbClr val="E2E8F0"/>
            </a:solidFill>
            <a:prstDash val="solid"/>
          </a:ln>
        </p:spPr>
        <p:txBody>
          <a:bodyPr/>
          <a:lstStyle/>
          <a:p>
            <a:endParaRPr lang="en-IN"/>
          </a:p>
        </p:txBody>
      </p:sp>
      <p:sp>
        <p:nvSpPr>
          <p:cNvPr id="15" name="Text 12"/>
          <p:cNvSpPr txBox="1"/>
          <p:nvPr/>
        </p:nvSpPr>
        <p:spPr>
          <a:xfrm>
            <a:off x="523037" y="2944368"/>
            <a:ext cx="1811884" cy="246888"/>
          </a:xfrm>
          <a:prstGeom prst="rect">
            <a:avLst/>
          </a:prstGeom>
          <a:noFill/>
          <a:ln/>
        </p:spPr>
        <p:txBody>
          <a:bodyPr wrap="square" lIns="0" tIns="0" rIns="0" bIns="0" rtlCol="0" anchor="ctr"/>
          <a:lstStyle/>
          <a:p>
            <a:pPr marL="0" indent="0">
              <a:buNone/>
            </a:pPr>
            <a:r>
              <a:rPr lang="en-US" sz="750" dirty="0">
                <a:solidFill>
                  <a:srgbClr val="3B3D3E"/>
                </a:solidFill>
                <a:latin typeface="PT Sans" pitchFamily="34" charset="0"/>
                <a:ea typeface="PT Sans" pitchFamily="34" charset="-122"/>
                <a:cs typeface="PT Sans" pitchFamily="34" charset="-120"/>
              </a:rPr>
              <a:t>⚙ Zerodha MCP</a:t>
            </a:r>
            <a:endParaRPr lang="en-US" sz="750" dirty="0"/>
          </a:p>
        </p:txBody>
      </p:sp>
      <p:sp>
        <p:nvSpPr>
          <p:cNvPr id="16" name="Shape 13"/>
          <p:cNvSpPr/>
          <p:nvPr/>
        </p:nvSpPr>
        <p:spPr>
          <a:xfrm>
            <a:off x="449885" y="3236976"/>
            <a:ext cx="1958188" cy="246888"/>
          </a:xfrm>
          <a:prstGeom prst="roundRect">
            <a:avLst>
              <a:gd name="adj" fmla="val 22222"/>
            </a:avLst>
          </a:prstGeom>
          <a:solidFill>
            <a:srgbClr val="FFFFFF"/>
          </a:solidFill>
          <a:ln w="9525">
            <a:solidFill>
              <a:srgbClr val="E2E8F0"/>
            </a:solidFill>
            <a:prstDash val="solid"/>
          </a:ln>
        </p:spPr>
        <p:txBody>
          <a:bodyPr/>
          <a:lstStyle/>
          <a:p>
            <a:endParaRPr lang="en-IN"/>
          </a:p>
        </p:txBody>
      </p:sp>
      <p:sp>
        <p:nvSpPr>
          <p:cNvPr id="17" name="Text 14"/>
          <p:cNvSpPr txBox="1"/>
          <p:nvPr/>
        </p:nvSpPr>
        <p:spPr>
          <a:xfrm>
            <a:off x="523037" y="3236976"/>
            <a:ext cx="1811884" cy="246888"/>
          </a:xfrm>
          <a:prstGeom prst="rect">
            <a:avLst/>
          </a:prstGeom>
          <a:noFill/>
          <a:ln/>
        </p:spPr>
        <p:txBody>
          <a:bodyPr wrap="square" lIns="0" tIns="0" rIns="0" bIns="0" rtlCol="0" anchor="ctr"/>
          <a:lstStyle/>
          <a:p>
            <a:pPr marL="0" indent="0">
              <a:buNone/>
            </a:pPr>
            <a:r>
              <a:rPr lang="en-US" sz="750" dirty="0">
                <a:solidFill>
                  <a:srgbClr val="3B3D3E"/>
                </a:solidFill>
                <a:latin typeface="PT Sans" pitchFamily="34" charset="0"/>
                <a:ea typeface="PT Sans" pitchFamily="34" charset="-122"/>
                <a:cs typeface="PT Sans" pitchFamily="34" charset="-120"/>
              </a:rPr>
              <a:t>⚙ Market Data MCP</a:t>
            </a:r>
            <a:endParaRPr lang="en-US" sz="750" dirty="0"/>
          </a:p>
        </p:txBody>
      </p:sp>
      <p:sp>
        <p:nvSpPr>
          <p:cNvPr id="18" name="Shape 15"/>
          <p:cNvSpPr/>
          <p:nvPr/>
        </p:nvSpPr>
        <p:spPr>
          <a:xfrm>
            <a:off x="2545232" y="1371600"/>
            <a:ext cx="1958188" cy="457200"/>
          </a:xfrm>
          <a:prstGeom prst="roundRect">
            <a:avLst>
              <a:gd name="adj" fmla="val 12000"/>
            </a:avLst>
          </a:prstGeom>
          <a:solidFill>
            <a:srgbClr val="004C97"/>
          </a:solidFill>
          <a:ln w="9525">
            <a:solidFill>
              <a:srgbClr val="004C97"/>
            </a:solidFill>
            <a:prstDash val="solid"/>
          </a:ln>
        </p:spPr>
        <p:txBody>
          <a:bodyPr/>
          <a:lstStyle/>
          <a:p>
            <a:endParaRPr lang="en-IN"/>
          </a:p>
        </p:txBody>
      </p:sp>
      <p:sp>
        <p:nvSpPr>
          <p:cNvPr id="19" name="Text 16"/>
          <p:cNvSpPr txBox="1"/>
          <p:nvPr/>
        </p:nvSpPr>
        <p:spPr>
          <a:xfrm>
            <a:off x="2545232" y="1371600"/>
            <a:ext cx="1958188" cy="457200"/>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Poppins SemiBold" pitchFamily="34" charset="0"/>
                <a:ea typeface="Poppins SemiBold" pitchFamily="34" charset="-122"/>
                <a:cs typeface="Poppins SemiBold" pitchFamily="34" charset="-120"/>
              </a:rPr>
              <a:t>Risk &amp;</a:t>
            </a:r>
            <a:endParaRPr lang="en-US" sz="1000" dirty="0"/>
          </a:p>
          <a:p>
            <a:pPr marL="0" indent="0" algn="ctr">
              <a:lnSpc>
                <a:spcPct val="100000"/>
              </a:lnSpc>
              <a:buNone/>
            </a:pPr>
            <a:r>
              <a:rPr lang="en-US" sz="1000" b="1" dirty="0">
                <a:solidFill>
                  <a:srgbClr val="FFFFFF"/>
                </a:solidFill>
                <a:latin typeface="Poppins SemiBold" pitchFamily="34" charset="0"/>
                <a:ea typeface="Poppins SemiBold" pitchFamily="34" charset="-122"/>
                <a:cs typeface="Poppins SemiBold" pitchFamily="34" charset="-120"/>
              </a:rPr>
              <a:t>Compliance</a:t>
            </a:r>
            <a:endParaRPr lang="en-US" sz="1000" dirty="0"/>
          </a:p>
        </p:txBody>
      </p:sp>
      <p:sp>
        <p:nvSpPr>
          <p:cNvPr id="20" name="Shape 17"/>
          <p:cNvSpPr/>
          <p:nvPr/>
        </p:nvSpPr>
        <p:spPr>
          <a:xfrm>
            <a:off x="2545232" y="1920240"/>
            <a:ext cx="1958188" cy="329184"/>
          </a:xfrm>
          <a:prstGeom prst="roundRect">
            <a:avLst>
              <a:gd name="adj" fmla="val 16667"/>
            </a:avLst>
          </a:prstGeom>
          <a:solidFill>
            <a:srgbClr val="E6F4FA"/>
          </a:solidFill>
          <a:ln w="9525">
            <a:solidFill>
              <a:srgbClr val="00A3E0"/>
            </a:solidFill>
            <a:prstDash val="solid"/>
          </a:ln>
        </p:spPr>
        <p:txBody>
          <a:bodyPr/>
          <a:lstStyle/>
          <a:p>
            <a:endParaRPr lang="en-IN"/>
          </a:p>
        </p:txBody>
      </p:sp>
      <p:sp>
        <p:nvSpPr>
          <p:cNvPr id="21" name="Text 18"/>
          <p:cNvSpPr txBox="1"/>
          <p:nvPr/>
        </p:nvSpPr>
        <p:spPr>
          <a:xfrm>
            <a:off x="2618384" y="1920240"/>
            <a:ext cx="1811884" cy="329184"/>
          </a:xfrm>
          <a:prstGeom prst="rect">
            <a:avLst/>
          </a:prstGeom>
          <a:noFill/>
          <a:ln/>
        </p:spPr>
        <p:txBody>
          <a:bodyPr wrap="square" lIns="0" tIns="0" rIns="0" bIns="0" rtlCol="0" anchor="ctr"/>
          <a:lstStyle/>
          <a:p>
            <a:pPr marL="0" indent="0">
              <a:buNone/>
            </a:pPr>
            <a:r>
              <a:rPr lang="en-US" sz="830" b="1" dirty="0">
                <a:solidFill>
                  <a:srgbClr val="004C97"/>
                </a:solidFill>
                <a:latin typeface="PT Sans" pitchFamily="34" charset="0"/>
                <a:ea typeface="PT Sans" pitchFamily="34" charset="-122"/>
                <a:cs typeface="PT Sans" pitchFamily="34" charset="-120"/>
              </a:rPr>
              <a:t>🤖 Risk Agent</a:t>
            </a:r>
            <a:endParaRPr lang="en-US" sz="830" dirty="0"/>
          </a:p>
        </p:txBody>
      </p:sp>
      <p:sp>
        <p:nvSpPr>
          <p:cNvPr id="22" name="Shape 19"/>
          <p:cNvSpPr/>
          <p:nvPr/>
        </p:nvSpPr>
        <p:spPr>
          <a:xfrm>
            <a:off x="2545232" y="2304288"/>
            <a:ext cx="1958188" cy="329184"/>
          </a:xfrm>
          <a:prstGeom prst="roundRect">
            <a:avLst>
              <a:gd name="adj" fmla="val 16667"/>
            </a:avLst>
          </a:prstGeom>
          <a:solidFill>
            <a:srgbClr val="E6F4FA"/>
          </a:solidFill>
          <a:ln w="9525">
            <a:solidFill>
              <a:srgbClr val="00A3E0"/>
            </a:solidFill>
            <a:prstDash val="solid"/>
          </a:ln>
        </p:spPr>
        <p:txBody>
          <a:bodyPr/>
          <a:lstStyle/>
          <a:p>
            <a:endParaRPr lang="en-IN"/>
          </a:p>
        </p:txBody>
      </p:sp>
      <p:sp>
        <p:nvSpPr>
          <p:cNvPr id="23" name="Text 20"/>
          <p:cNvSpPr txBox="1"/>
          <p:nvPr/>
        </p:nvSpPr>
        <p:spPr>
          <a:xfrm>
            <a:off x="2618384" y="2304288"/>
            <a:ext cx="1811884" cy="329184"/>
          </a:xfrm>
          <a:prstGeom prst="rect">
            <a:avLst/>
          </a:prstGeom>
          <a:noFill/>
          <a:ln/>
        </p:spPr>
        <p:txBody>
          <a:bodyPr wrap="square" lIns="0" tIns="0" rIns="0" bIns="0" rtlCol="0" anchor="ctr"/>
          <a:lstStyle/>
          <a:p>
            <a:pPr marL="0" indent="0">
              <a:buNone/>
            </a:pPr>
            <a:r>
              <a:rPr lang="en-US" sz="830" b="1" dirty="0">
                <a:solidFill>
                  <a:srgbClr val="004C97"/>
                </a:solidFill>
                <a:latin typeface="PT Sans" pitchFamily="34" charset="0"/>
                <a:ea typeface="PT Sans" pitchFamily="34" charset="-122"/>
                <a:cs typeface="PT Sans" pitchFamily="34" charset="-120"/>
              </a:rPr>
              <a:t>🤖 Compliance Agent</a:t>
            </a:r>
            <a:endParaRPr lang="en-US" sz="830" dirty="0"/>
          </a:p>
        </p:txBody>
      </p:sp>
      <p:sp>
        <p:nvSpPr>
          <p:cNvPr id="24" name="Text 21"/>
          <p:cNvSpPr txBox="1"/>
          <p:nvPr/>
        </p:nvSpPr>
        <p:spPr>
          <a:xfrm>
            <a:off x="2545232" y="2743200"/>
            <a:ext cx="1958188" cy="182880"/>
          </a:xfrm>
          <a:prstGeom prst="rect">
            <a:avLst/>
          </a:prstGeom>
          <a:noFill/>
          <a:ln/>
        </p:spPr>
        <p:txBody>
          <a:bodyPr wrap="square" lIns="0" tIns="0" rIns="0" bIns="0" rtlCol="0" anchor="ctr"/>
          <a:lstStyle/>
          <a:p>
            <a:pPr marL="0" indent="0" algn="ctr">
              <a:buNone/>
            </a:pPr>
            <a:r>
              <a:rPr lang="en-US" sz="750" i="1" dirty="0">
                <a:solidFill>
                  <a:srgbClr val="9AA39D"/>
                </a:solidFill>
                <a:latin typeface="PT Sans" pitchFamily="34" charset="0"/>
                <a:ea typeface="PT Sans" pitchFamily="34" charset="-122"/>
                <a:cs typeface="PT Sans" pitchFamily="34" charset="-120"/>
              </a:rPr>
              <a:t>via MCP:</a:t>
            </a:r>
            <a:endParaRPr lang="en-US" sz="750" dirty="0"/>
          </a:p>
        </p:txBody>
      </p:sp>
      <p:sp>
        <p:nvSpPr>
          <p:cNvPr id="25" name="Shape 22"/>
          <p:cNvSpPr/>
          <p:nvPr/>
        </p:nvSpPr>
        <p:spPr>
          <a:xfrm>
            <a:off x="2545232" y="2944368"/>
            <a:ext cx="1958188" cy="246888"/>
          </a:xfrm>
          <a:prstGeom prst="roundRect">
            <a:avLst>
              <a:gd name="adj" fmla="val 22222"/>
            </a:avLst>
          </a:prstGeom>
          <a:solidFill>
            <a:srgbClr val="FFFFFF"/>
          </a:solidFill>
          <a:ln w="9525">
            <a:solidFill>
              <a:srgbClr val="E2E8F0"/>
            </a:solidFill>
            <a:prstDash val="solid"/>
          </a:ln>
        </p:spPr>
        <p:txBody>
          <a:bodyPr/>
          <a:lstStyle/>
          <a:p>
            <a:endParaRPr lang="en-IN"/>
          </a:p>
        </p:txBody>
      </p:sp>
      <p:sp>
        <p:nvSpPr>
          <p:cNvPr id="26" name="Text 23"/>
          <p:cNvSpPr txBox="1"/>
          <p:nvPr/>
        </p:nvSpPr>
        <p:spPr>
          <a:xfrm>
            <a:off x="2618384" y="2944368"/>
            <a:ext cx="1811884" cy="246888"/>
          </a:xfrm>
          <a:prstGeom prst="rect">
            <a:avLst/>
          </a:prstGeom>
          <a:noFill/>
          <a:ln/>
        </p:spPr>
        <p:txBody>
          <a:bodyPr wrap="square" lIns="0" tIns="0" rIns="0" bIns="0" rtlCol="0" anchor="ctr"/>
          <a:lstStyle/>
          <a:p>
            <a:pPr marL="0" indent="0">
              <a:buNone/>
            </a:pPr>
            <a:r>
              <a:rPr lang="en-US" sz="750" dirty="0">
                <a:solidFill>
                  <a:srgbClr val="3B3D3E"/>
                </a:solidFill>
                <a:latin typeface="PT Sans" pitchFamily="34" charset="0"/>
                <a:ea typeface="PT Sans" pitchFamily="34" charset="-122"/>
                <a:cs typeface="PT Sans" pitchFamily="34" charset="-120"/>
              </a:rPr>
              <a:t>⚙ Risk Model MCP</a:t>
            </a:r>
            <a:endParaRPr lang="en-US" sz="750" dirty="0"/>
          </a:p>
        </p:txBody>
      </p:sp>
      <p:sp>
        <p:nvSpPr>
          <p:cNvPr id="27" name="Shape 24"/>
          <p:cNvSpPr/>
          <p:nvPr/>
        </p:nvSpPr>
        <p:spPr>
          <a:xfrm>
            <a:off x="2545232" y="3236976"/>
            <a:ext cx="1958188" cy="246888"/>
          </a:xfrm>
          <a:prstGeom prst="roundRect">
            <a:avLst>
              <a:gd name="adj" fmla="val 22222"/>
            </a:avLst>
          </a:prstGeom>
          <a:solidFill>
            <a:srgbClr val="FFFFFF"/>
          </a:solidFill>
          <a:ln w="9525">
            <a:solidFill>
              <a:srgbClr val="E2E8F0"/>
            </a:solidFill>
            <a:prstDash val="solid"/>
          </a:ln>
        </p:spPr>
        <p:txBody>
          <a:bodyPr/>
          <a:lstStyle/>
          <a:p>
            <a:endParaRPr lang="en-IN"/>
          </a:p>
        </p:txBody>
      </p:sp>
      <p:sp>
        <p:nvSpPr>
          <p:cNvPr id="28" name="Text 25"/>
          <p:cNvSpPr txBox="1"/>
          <p:nvPr/>
        </p:nvSpPr>
        <p:spPr>
          <a:xfrm>
            <a:off x="2618384" y="3236976"/>
            <a:ext cx="1811884" cy="246888"/>
          </a:xfrm>
          <a:prstGeom prst="rect">
            <a:avLst/>
          </a:prstGeom>
          <a:noFill/>
          <a:ln/>
        </p:spPr>
        <p:txBody>
          <a:bodyPr wrap="square" lIns="0" tIns="0" rIns="0" bIns="0" rtlCol="0" anchor="ctr"/>
          <a:lstStyle/>
          <a:p>
            <a:pPr marL="0" indent="0">
              <a:buNone/>
            </a:pPr>
            <a:r>
              <a:rPr lang="en-US" sz="750" dirty="0">
                <a:solidFill>
                  <a:srgbClr val="3B3D3E"/>
                </a:solidFill>
                <a:latin typeface="PT Sans" pitchFamily="34" charset="0"/>
                <a:ea typeface="PT Sans" pitchFamily="34" charset="-122"/>
                <a:cs typeface="PT Sans" pitchFamily="34" charset="-120"/>
              </a:rPr>
              <a:t>⚙ SEBI Rules MCP</a:t>
            </a:r>
            <a:endParaRPr lang="en-US" sz="750" dirty="0"/>
          </a:p>
        </p:txBody>
      </p:sp>
      <p:sp>
        <p:nvSpPr>
          <p:cNvPr id="29" name="Shape 26"/>
          <p:cNvSpPr/>
          <p:nvPr/>
        </p:nvSpPr>
        <p:spPr>
          <a:xfrm>
            <a:off x="4640580" y="1371600"/>
            <a:ext cx="1958188" cy="457200"/>
          </a:xfrm>
          <a:prstGeom prst="roundRect">
            <a:avLst>
              <a:gd name="adj" fmla="val 12000"/>
            </a:avLst>
          </a:prstGeom>
          <a:solidFill>
            <a:srgbClr val="004C97"/>
          </a:solidFill>
          <a:ln w="9525">
            <a:solidFill>
              <a:srgbClr val="004C97"/>
            </a:solidFill>
            <a:prstDash val="solid"/>
          </a:ln>
        </p:spPr>
        <p:txBody>
          <a:bodyPr/>
          <a:lstStyle/>
          <a:p>
            <a:endParaRPr lang="en-IN"/>
          </a:p>
        </p:txBody>
      </p:sp>
      <p:sp>
        <p:nvSpPr>
          <p:cNvPr id="30" name="Text 27"/>
          <p:cNvSpPr txBox="1"/>
          <p:nvPr/>
        </p:nvSpPr>
        <p:spPr>
          <a:xfrm>
            <a:off x="4640580" y="1371600"/>
            <a:ext cx="1958188" cy="457200"/>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Poppins SemiBold" pitchFamily="34" charset="0"/>
                <a:ea typeface="Poppins SemiBold" pitchFamily="34" charset="-122"/>
                <a:cs typeface="Poppins SemiBold" pitchFamily="34" charset="-120"/>
              </a:rPr>
              <a:t>Research</a:t>
            </a:r>
            <a:endParaRPr lang="en-US" sz="1000" dirty="0"/>
          </a:p>
          <a:p>
            <a:pPr marL="0" indent="0" algn="ctr">
              <a:lnSpc>
                <a:spcPct val="100000"/>
              </a:lnSpc>
              <a:buNone/>
            </a:pPr>
            <a:r>
              <a:rPr lang="en-US" sz="1000" b="1" dirty="0">
                <a:solidFill>
                  <a:srgbClr val="FFFFFF"/>
                </a:solidFill>
                <a:latin typeface="Poppins SemiBold" pitchFamily="34" charset="0"/>
                <a:ea typeface="Poppins SemiBold" pitchFamily="34" charset="-122"/>
                <a:cs typeface="Poppins SemiBold" pitchFamily="34" charset="-120"/>
              </a:rPr>
              <a:t>Department</a:t>
            </a:r>
            <a:endParaRPr lang="en-US" sz="1000" dirty="0"/>
          </a:p>
        </p:txBody>
      </p:sp>
      <p:sp>
        <p:nvSpPr>
          <p:cNvPr id="31" name="Shape 28"/>
          <p:cNvSpPr/>
          <p:nvPr/>
        </p:nvSpPr>
        <p:spPr>
          <a:xfrm>
            <a:off x="4640580" y="1920240"/>
            <a:ext cx="1958188" cy="329184"/>
          </a:xfrm>
          <a:prstGeom prst="roundRect">
            <a:avLst>
              <a:gd name="adj" fmla="val 16667"/>
            </a:avLst>
          </a:prstGeom>
          <a:solidFill>
            <a:srgbClr val="E6F4FA"/>
          </a:solidFill>
          <a:ln w="9525">
            <a:solidFill>
              <a:srgbClr val="00A3E0"/>
            </a:solidFill>
            <a:prstDash val="solid"/>
          </a:ln>
        </p:spPr>
        <p:txBody>
          <a:bodyPr/>
          <a:lstStyle/>
          <a:p>
            <a:endParaRPr lang="en-IN"/>
          </a:p>
        </p:txBody>
      </p:sp>
      <p:sp>
        <p:nvSpPr>
          <p:cNvPr id="32" name="Text 29"/>
          <p:cNvSpPr txBox="1"/>
          <p:nvPr/>
        </p:nvSpPr>
        <p:spPr>
          <a:xfrm>
            <a:off x="4713732" y="1920240"/>
            <a:ext cx="1811884" cy="329184"/>
          </a:xfrm>
          <a:prstGeom prst="rect">
            <a:avLst/>
          </a:prstGeom>
          <a:noFill/>
          <a:ln/>
        </p:spPr>
        <p:txBody>
          <a:bodyPr wrap="square" lIns="0" tIns="0" rIns="0" bIns="0" rtlCol="0" anchor="ctr"/>
          <a:lstStyle/>
          <a:p>
            <a:pPr marL="0" indent="0">
              <a:buNone/>
            </a:pPr>
            <a:r>
              <a:rPr lang="en-US" sz="830" b="1" dirty="0">
                <a:solidFill>
                  <a:srgbClr val="004C97"/>
                </a:solidFill>
                <a:latin typeface="PT Sans" pitchFamily="34" charset="0"/>
                <a:ea typeface="PT Sans" pitchFamily="34" charset="-122"/>
                <a:cs typeface="PT Sans" pitchFamily="34" charset="-120"/>
              </a:rPr>
              <a:t>🤖 Analyst Agent</a:t>
            </a:r>
            <a:endParaRPr lang="en-US" sz="830" dirty="0"/>
          </a:p>
        </p:txBody>
      </p:sp>
      <p:sp>
        <p:nvSpPr>
          <p:cNvPr id="33" name="Shape 30"/>
          <p:cNvSpPr/>
          <p:nvPr/>
        </p:nvSpPr>
        <p:spPr>
          <a:xfrm>
            <a:off x="4640580" y="2304288"/>
            <a:ext cx="1958188" cy="329184"/>
          </a:xfrm>
          <a:prstGeom prst="roundRect">
            <a:avLst>
              <a:gd name="adj" fmla="val 16667"/>
            </a:avLst>
          </a:prstGeom>
          <a:solidFill>
            <a:srgbClr val="E6F4FA"/>
          </a:solidFill>
          <a:ln w="9525">
            <a:solidFill>
              <a:srgbClr val="00A3E0"/>
            </a:solidFill>
            <a:prstDash val="solid"/>
          </a:ln>
        </p:spPr>
        <p:txBody>
          <a:bodyPr/>
          <a:lstStyle/>
          <a:p>
            <a:endParaRPr lang="en-IN"/>
          </a:p>
        </p:txBody>
      </p:sp>
      <p:sp>
        <p:nvSpPr>
          <p:cNvPr id="34" name="Text 31"/>
          <p:cNvSpPr txBox="1"/>
          <p:nvPr/>
        </p:nvSpPr>
        <p:spPr>
          <a:xfrm>
            <a:off x="4713732" y="2304288"/>
            <a:ext cx="1811884" cy="329184"/>
          </a:xfrm>
          <a:prstGeom prst="rect">
            <a:avLst/>
          </a:prstGeom>
          <a:noFill/>
          <a:ln/>
        </p:spPr>
        <p:txBody>
          <a:bodyPr wrap="square" lIns="0" tIns="0" rIns="0" bIns="0" rtlCol="0" anchor="ctr"/>
          <a:lstStyle/>
          <a:p>
            <a:pPr marL="0" indent="0">
              <a:buNone/>
            </a:pPr>
            <a:r>
              <a:rPr lang="en-US" sz="830" b="1" dirty="0">
                <a:solidFill>
                  <a:srgbClr val="004C97"/>
                </a:solidFill>
                <a:latin typeface="PT Sans" pitchFamily="34" charset="0"/>
                <a:ea typeface="PT Sans" pitchFamily="34" charset="-122"/>
                <a:cs typeface="PT Sans" pitchFamily="34" charset="-120"/>
              </a:rPr>
              <a:t>🤖 Macro Agent</a:t>
            </a:r>
            <a:endParaRPr lang="en-US" sz="830" dirty="0"/>
          </a:p>
        </p:txBody>
      </p:sp>
      <p:sp>
        <p:nvSpPr>
          <p:cNvPr id="35" name="Text 32"/>
          <p:cNvSpPr txBox="1"/>
          <p:nvPr/>
        </p:nvSpPr>
        <p:spPr>
          <a:xfrm>
            <a:off x="4640580" y="2743200"/>
            <a:ext cx="1958188" cy="182880"/>
          </a:xfrm>
          <a:prstGeom prst="rect">
            <a:avLst/>
          </a:prstGeom>
          <a:noFill/>
          <a:ln/>
        </p:spPr>
        <p:txBody>
          <a:bodyPr wrap="square" lIns="0" tIns="0" rIns="0" bIns="0" rtlCol="0" anchor="ctr"/>
          <a:lstStyle/>
          <a:p>
            <a:pPr marL="0" indent="0" algn="ctr">
              <a:buNone/>
            </a:pPr>
            <a:r>
              <a:rPr lang="en-US" sz="750" i="1" dirty="0">
                <a:solidFill>
                  <a:srgbClr val="9AA39D"/>
                </a:solidFill>
                <a:latin typeface="PT Sans" pitchFamily="34" charset="0"/>
                <a:ea typeface="PT Sans" pitchFamily="34" charset="-122"/>
                <a:cs typeface="PT Sans" pitchFamily="34" charset="-120"/>
              </a:rPr>
              <a:t>via MCP:</a:t>
            </a:r>
            <a:endParaRPr lang="en-US" sz="750" dirty="0"/>
          </a:p>
        </p:txBody>
      </p:sp>
      <p:sp>
        <p:nvSpPr>
          <p:cNvPr id="36" name="Shape 33"/>
          <p:cNvSpPr/>
          <p:nvPr/>
        </p:nvSpPr>
        <p:spPr>
          <a:xfrm>
            <a:off x="4640580" y="2944368"/>
            <a:ext cx="1958188" cy="246888"/>
          </a:xfrm>
          <a:prstGeom prst="roundRect">
            <a:avLst>
              <a:gd name="adj" fmla="val 22222"/>
            </a:avLst>
          </a:prstGeom>
          <a:solidFill>
            <a:srgbClr val="FFFFFF"/>
          </a:solidFill>
          <a:ln w="9525">
            <a:solidFill>
              <a:srgbClr val="E2E8F0"/>
            </a:solidFill>
            <a:prstDash val="solid"/>
          </a:ln>
        </p:spPr>
        <p:txBody>
          <a:bodyPr/>
          <a:lstStyle/>
          <a:p>
            <a:endParaRPr lang="en-IN"/>
          </a:p>
        </p:txBody>
      </p:sp>
      <p:sp>
        <p:nvSpPr>
          <p:cNvPr id="37" name="Text 34"/>
          <p:cNvSpPr txBox="1"/>
          <p:nvPr/>
        </p:nvSpPr>
        <p:spPr>
          <a:xfrm>
            <a:off x="4713732" y="2944368"/>
            <a:ext cx="1811884" cy="246888"/>
          </a:xfrm>
          <a:prstGeom prst="rect">
            <a:avLst/>
          </a:prstGeom>
          <a:noFill/>
          <a:ln/>
        </p:spPr>
        <p:txBody>
          <a:bodyPr wrap="square" lIns="0" tIns="0" rIns="0" bIns="0" rtlCol="0" anchor="ctr"/>
          <a:lstStyle/>
          <a:p>
            <a:pPr marL="0" indent="0">
              <a:buNone/>
            </a:pPr>
            <a:r>
              <a:rPr lang="en-US" sz="750" dirty="0">
                <a:solidFill>
                  <a:srgbClr val="3B3D3E"/>
                </a:solidFill>
                <a:latin typeface="PT Sans" pitchFamily="34" charset="0"/>
                <a:ea typeface="PT Sans" pitchFamily="34" charset="-122"/>
                <a:cs typeface="PT Sans" pitchFamily="34" charset="-120"/>
              </a:rPr>
              <a:t>⚙ News MCP</a:t>
            </a:r>
            <a:endParaRPr lang="en-US" sz="750" dirty="0"/>
          </a:p>
        </p:txBody>
      </p:sp>
      <p:sp>
        <p:nvSpPr>
          <p:cNvPr id="38" name="Shape 35"/>
          <p:cNvSpPr/>
          <p:nvPr/>
        </p:nvSpPr>
        <p:spPr>
          <a:xfrm>
            <a:off x="4640580" y="3236976"/>
            <a:ext cx="1958188" cy="246888"/>
          </a:xfrm>
          <a:prstGeom prst="roundRect">
            <a:avLst>
              <a:gd name="adj" fmla="val 22222"/>
            </a:avLst>
          </a:prstGeom>
          <a:solidFill>
            <a:srgbClr val="FFFFFF"/>
          </a:solidFill>
          <a:ln w="9525">
            <a:solidFill>
              <a:srgbClr val="E2E8F0"/>
            </a:solidFill>
            <a:prstDash val="solid"/>
          </a:ln>
        </p:spPr>
        <p:txBody>
          <a:bodyPr/>
          <a:lstStyle/>
          <a:p>
            <a:endParaRPr lang="en-IN"/>
          </a:p>
        </p:txBody>
      </p:sp>
      <p:sp>
        <p:nvSpPr>
          <p:cNvPr id="39" name="Text 36"/>
          <p:cNvSpPr txBox="1"/>
          <p:nvPr/>
        </p:nvSpPr>
        <p:spPr>
          <a:xfrm>
            <a:off x="4713732" y="3236976"/>
            <a:ext cx="1811884" cy="246888"/>
          </a:xfrm>
          <a:prstGeom prst="rect">
            <a:avLst/>
          </a:prstGeom>
          <a:noFill/>
          <a:ln/>
        </p:spPr>
        <p:txBody>
          <a:bodyPr wrap="square" lIns="0" tIns="0" rIns="0" bIns="0" rtlCol="0" anchor="ctr"/>
          <a:lstStyle/>
          <a:p>
            <a:pPr marL="0" indent="0">
              <a:buNone/>
            </a:pPr>
            <a:r>
              <a:rPr lang="en-US" sz="750" dirty="0">
                <a:solidFill>
                  <a:srgbClr val="3B3D3E"/>
                </a:solidFill>
                <a:latin typeface="PT Sans" pitchFamily="34" charset="0"/>
                <a:ea typeface="PT Sans" pitchFamily="34" charset="-122"/>
                <a:cs typeface="PT Sans" pitchFamily="34" charset="-120"/>
              </a:rPr>
              <a:t>⚙ Bloomberg MCP</a:t>
            </a:r>
            <a:endParaRPr lang="en-US" sz="750" dirty="0"/>
          </a:p>
        </p:txBody>
      </p:sp>
      <p:sp>
        <p:nvSpPr>
          <p:cNvPr id="40" name="Shape 37"/>
          <p:cNvSpPr/>
          <p:nvPr/>
        </p:nvSpPr>
        <p:spPr>
          <a:xfrm>
            <a:off x="6735928" y="1371600"/>
            <a:ext cx="1958188" cy="457200"/>
          </a:xfrm>
          <a:prstGeom prst="roundRect">
            <a:avLst>
              <a:gd name="adj" fmla="val 12000"/>
            </a:avLst>
          </a:prstGeom>
          <a:solidFill>
            <a:srgbClr val="004C97"/>
          </a:solidFill>
          <a:ln w="9525">
            <a:solidFill>
              <a:srgbClr val="004C97"/>
            </a:solidFill>
            <a:prstDash val="solid"/>
          </a:ln>
        </p:spPr>
        <p:txBody>
          <a:bodyPr/>
          <a:lstStyle/>
          <a:p>
            <a:endParaRPr lang="en-IN"/>
          </a:p>
        </p:txBody>
      </p:sp>
      <p:sp>
        <p:nvSpPr>
          <p:cNvPr id="41" name="Text 38"/>
          <p:cNvSpPr txBox="1"/>
          <p:nvPr/>
        </p:nvSpPr>
        <p:spPr>
          <a:xfrm>
            <a:off x="6735928" y="1371600"/>
            <a:ext cx="1958188" cy="457200"/>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Poppins SemiBold" pitchFamily="34" charset="0"/>
                <a:ea typeface="Poppins SemiBold" pitchFamily="34" charset="-122"/>
                <a:cs typeface="Poppins SemiBold" pitchFamily="34" charset="-120"/>
              </a:rPr>
              <a:t>Client</a:t>
            </a:r>
            <a:endParaRPr lang="en-US" sz="1000" dirty="0"/>
          </a:p>
          <a:p>
            <a:pPr marL="0" indent="0" algn="ctr">
              <a:lnSpc>
                <a:spcPct val="100000"/>
              </a:lnSpc>
              <a:buNone/>
            </a:pPr>
            <a:r>
              <a:rPr lang="en-US" sz="1000" b="1" dirty="0">
                <a:solidFill>
                  <a:srgbClr val="FFFFFF"/>
                </a:solidFill>
                <a:latin typeface="Poppins SemiBold" pitchFamily="34" charset="0"/>
                <a:ea typeface="Poppins SemiBold" pitchFamily="34" charset="-122"/>
                <a:cs typeface="Poppins SemiBold" pitchFamily="34" charset="-120"/>
              </a:rPr>
              <a:t>Relations</a:t>
            </a:r>
            <a:endParaRPr lang="en-US" sz="1000" dirty="0"/>
          </a:p>
        </p:txBody>
      </p:sp>
      <p:sp>
        <p:nvSpPr>
          <p:cNvPr id="42" name="Shape 39"/>
          <p:cNvSpPr/>
          <p:nvPr/>
        </p:nvSpPr>
        <p:spPr>
          <a:xfrm>
            <a:off x="6735928" y="1920240"/>
            <a:ext cx="1958188" cy="329184"/>
          </a:xfrm>
          <a:prstGeom prst="roundRect">
            <a:avLst>
              <a:gd name="adj" fmla="val 16667"/>
            </a:avLst>
          </a:prstGeom>
          <a:solidFill>
            <a:srgbClr val="E6F4FA"/>
          </a:solidFill>
          <a:ln w="9525">
            <a:solidFill>
              <a:srgbClr val="00A3E0"/>
            </a:solidFill>
            <a:prstDash val="solid"/>
          </a:ln>
        </p:spPr>
        <p:txBody>
          <a:bodyPr/>
          <a:lstStyle/>
          <a:p>
            <a:endParaRPr lang="en-IN"/>
          </a:p>
        </p:txBody>
      </p:sp>
      <p:sp>
        <p:nvSpPr>
          <p:cNvPr id="43" name="Text 40"/>
          <p:cNvSpPr txBox="1"/>
          <p:nvPr/>
        </p:nvSpPr>
        <p:spPr>
          <a:xfrm>
            <a:off x="6809080" y="1920240"/>
            <a:ext cx="1811884" cy="329184"/>
          </a:xfrm>
          <a:prstGeom prst="rect">
            <a:avLst/>
          </a:prstGeom>
          <a:noFill/>
          <a:ln/>
        </p:spPr>
        <p:txBody>
          <a:bodyPr wrap="square" lIns="0" tIns="0" rIns="0" bIns="0" rtlCol="0" anchor="ctr"/>
          <a:lstStyle/>
          <a:p>
            <a:pPr marL="0" indent="0">
              <a:buNone/>
            </a:pPr>
            <a:r>
              <a:rPr lang="en-US" sz="830" b="1" dirty="0">
                <a:solidFill>
                  <a:srgbClr val="004C97"/>
                </a:solidFill>
                <a:latin typeface="PT Sans" pitchFamily="34" charset="0"/>
                <a:ea typeface="PT Sans" pitchFamily="34" charset="-122"/>
                <a:cs typeface="PT Sans" pitchFamily="34" charset="-120"/>
              </a:rPr>
              <a:t>🤖 RM Agent</a:t>
            </a:r>
            <a:endParaRPr lang="en-US" sz="830" dirty="0"/>
          </a:p>
        </p:txBody>
      </p:sp>
      <p:sp>
        <p:nvSpPr>
          <p:cNvPr id="44" name="Shape 41"/>
          <p:cNvSpPr/>
          <p:nvPr/>
        </p:nvSpPr>
        <p:spPr>
          <a:xfrm>
            <a:off x="6735928" y="2304288"/>
            <a:ext cx="1958188" cy="329184"/>
          </a:xfrm>
          <a:prstGeom prst="roundRect">
            <a:avLst>
              <a:gd name="adj" fmla="val 16667"/>
            </a:avLst>
          </a:prstGeom>
          <a:solidFill>
            <a:srgbClr val="E6F4FA"/>
          </a:solidFill>
          <a:ln w="9525">
            <a:solidFill>
              <a:srgbClr val="00A3E0"/>
            </a:solidFill>
            <a:prstDash val="solid"/>
          </a:ln>
        </p:spPr>
        <p:txBody>
          <a:bodyPr/>
          <a:lstStyle/>
          <a:p>
            <a:endParaRPr lang="en-IN"/>
          </a:p>
        </p:txBody>
      </p:sp>
      <p:sp>
        <p:nvSpPr>
          <p:cNvPr id="45" name="Text 42"/>
          <p:cNvSpPr txBox="1"/>
          <p:nvPr/>
        </p:nvSpPr>
        <p:spPr>
          <a:xfrm>
            <a:off x="6809080" y="2304288"/>
            <a:ext cx="1811884" cy="329184"/>
          </a:xfrm>
          <a:prstGeom prst="rect">
            <a:avLst/>
          </a:prstGeom>
          <a:noFill/>
          <a:ln/>
        </p:spPr>
        <p:txBody>
          <a:bodyPr wrap="square" lIns="0" tIns="0" rIns="0" bIns="0" rtlCol="0" anchor="ctr"/>
          <a:lstStyle/>
          <a:p>
            <a:pPr marL="0" indent="0">
              <a:buNone/>
            </a:pPr>
            <a:r>
              <a:rPr lang="en-US" sz="830" b="1" dirty="0">
                <a:solidFill>
                  <a:srgbClr val="004C97"/>
                </a:solidFill>
                <a:latin typeface="PT Sans" pitchFamily="34" charset="0"/>
                <a:ea typeface="PT Sans" pitchFamily="34" charset="-122"/>
                <a:cs typeface="PT Sans" pitchFamily="34" charset="-120"/>
              </a:rPr>
              <a:t>🤖 Report Agent</a:t>
            </a:r>
            <a:endParaRPr lang="en-US" sz="830" dirty="0"/>
          </a:p>
        </p:txBody>
      </p:sp>
      <p:sp>
        <p:nvSpPr>
          <p:cNvPr id="46" name="Text 43"/>
          <p:cNvSpPr txBox="1"/>
          <p:nvPr/>
        </p:nvSpPr>
        <p:spPr>
          <a:xfrm>
            <a:off x="6735928" y="2743200"/>
            <a:ext cx="1958188" cy="182880"/>
          </a:xfrm>
          <a:prstGeom prst="rect">
            <a:avLst/>
          </a:prstGeom>
          <a:noFill/>
          <a:ln/>
        </p:spPr>
        <p:txBody>
          <a:bodyPr wrap="square" lIns="0" tIns="0" rIns="0" bIns="0" rtlCol="0" anchor="ctr"/>
          <a:lstStyle/>
          <a:p>
            <a:pPr marL="0" indent="0" algn="ctr">
              <a:buNone/>
            </a:pPr>
            <a:r>
              <a:rPr lang="en-US" sz="750" i="1" dirty="0">
                <a:solidFill>
                  <a:srgbClr val="9AA39D"/>
                </a:solidFill>
                <a:latin typeface="PT Sans" pitchFamily="34" charset="0"/>
                <a:ea typeface="PT Sans" pitchFamily="34" charset="-122"/>
                <a:cs typeface="PT Sans" pitchFamily="34" charset="-120"/>
              </a:rPr>
              <a:t>via MCP:</a:t>
            </a:r>
            <a:endParaRPr lang="en-US" sz="750" dirty="0"/>
          </a:p>
        </p:txBody>
      </p:sp>
      <p:sp>
        <p:nvSpPr>
          <p:cNvPr id="47" name="Shape 44"/>
          <p:cNvSpPr/>
          <p:nvPr/>
        </p:nvSpPr>
        <p:spPr>
          <a:xfrm>
            <a:off x="6735928" y="2944368"/>
            <a:ext cx="1958188" cy="246888"/>
          </a:xfrm>
          <a:prstGeom prst="roundRect">
            <a:avLst>
              <a:gd name="adj" fmla="val 22222"/>
            </a:avLst>
          </a:prstGeom>
          <a:solidFill>
            <a:srgbClr val="FFFFFF"/>
          </a:solidFill>
          <a:ln w="9525">
            <a:solidFill>
              <a:srgbClr val="E2E8F0"/>
            </a:solidFill>
            <a:prstDash val="solid"/>
          </a:ln>
        </p:spPr>
        <p:txBody>
          <a:bodyPr/>
          <a:lstStyle/>
          <a:p>
            <a:endParaRPr lang="en-IN"/>
          </a:p>
        </p:txBody>
      </p:sp>
      <p:sp>
        <p:nvSpPr>
          <p:cNvPr id="48" name="Text 45"/>
          <p:cNvSpPr txBox="1"/>
          <p:nvPr/>
        </p:nvSpPr>
        <p:spPr>
          <a:xfrm>
            <a:off x="6809080" y="2944368"/>
            <a:ext cx="1811884" cy="246888"/>
          </a:xfrm>
          <a:prstGeom prst="rect">
            <a:avLst/>
          </a:prstGeom>
          <a:noFill/>
          <a:ln/>
        </p:spPr>
        <p:txBody>
          <a:bodyPr wrap="square" lIns="0" tIns="0" rIns="0" bIns="0" rtlCol="0" anchor="ctr"/>
          <a:lstStyle/>
          <a:p>
            <a:pPr marL="0" indent="0">
              <a:buNone/>
            </a:pPr>
            <a:r>
              <a:rPr lang="en-US" sz="750" dirty="0">
                <a:solidFill>
                  <a:srgbClr val="3B3D3E"/>
                </a:solidFill>
                <a:latin typeface="PT Sans" pitchFamily="34" charset="0"/>
                <a:ea typeface="PT Sans" pitchFamily="34" charset="-122"/>
                <a:cs typeface="PT Sans" pitchFamily="34" charset="-120"/>
              </a:rPr>
              <a:t>⚙ CRM MCP</a:t>
            </a:r>
            <a:endParaRPr lang="en-US" sz="750" dirty="0"/>
          </a:p>
        </p:txBody>
      </p:sp>
      <p:sp>
        <p:nvSpPr>
          <p:cNvPr id="49" name="Shape 46"/>
          <p:cNvSpPr/>
          <p:nvPr/>
        </p:nvSpPr>
        <p:spPr>
          <a:xfrm>
            <a:off x="6735928" y="3236976"/>
            <a:ext cx="1958188" cy="246888"/>
          </a:xfrm>
          <a:prstGeom prst="roundRect">
            <a:avLst>
              <a:gd name="adj" fmla="val 22222"/>
            </a:avLst>
          </a:prstGeom>
          <a:solidFill>
            <a:srgbClr val="FFFFFF"/>
          </a:solidFill>
          <a:ln w="9525">
            <a:solidFill>
              <a:srgbClr val="E2E8F0"/>
            </a:solidFill>
            <a:prstDash val="solid"/>
          </a:ln>
        </p:spPr>
        <p:txBody>
          <a:bodyPr/>
          <a:lstStyle/>
          <a:p>
            <a:endParaRPr lang="en-IN"/>
          </a:p>
        </p:txBody>
      </p:sp>
      <p:sp>
        <p:nvSpPr>
          <p:cNvPr id="50" name="Text 47"/>
          <p:cNvSpPr txBox="1"/>
          <p:nvPr/>
        </p:nvSpPr>
        <p:spPr>
          <a:xfrm>
            <a:off x="6809080" y="3236976"/>
            <a:ext cx="1811884" cy="246888"/>
          </a:xfrm>
          <a:prstGeom prst="rect">
            <a:avLst/>
          </a:prstGeom>
          <a:noFill/>
          <a:ln/>
        </p:spPr>
        <p:txBody>
          <a:bodyPr wrap="square" lIns="0" tIns="0" rIns="0" bIns="0" rtlCol="0" anchor="ctr"/>
          <a:lstStyle/>
          <a:p>
            <a:pPr marL="0" indent="0">
              <a:buNone/>
            </a:pPr>
            <a:r>
              <a:rPr lang="en-US" sz="750" dirty="0">
                <a:solidFill>
                  <a:srgbClr val="3B3D3E"/>
                </a:solidFill>
                <a:latin typeface="PT Sans" pitchFamily="34" charset="0"/>
                <a:ea typeface="PT Sans" pitchFamily="34" charset="-122"/>
                <a:cs typeface="PT Sans" pitchFamily="34" charset="-120"/>
              </a:rPr>
              <a:t>⚙ Doc Gen MCP</a:t>
            </a:r>
            <a:endParaRPr lang="en-US" sz="750" dirty="0"/>
          </a:p>
        </p:txBody>
      </p:sp>
      <p:sp>
        <p:nvSpPr>
          <p:cNvPr id="51" name="Shape 48"/>
          <p:cNvSpPr/>
          <p:nvPr/>
        </p:nvSpPr>
        <p:spPr>
          <a:xfrm>
            <a:off x="449885" y="3657600"/>
            <a:ext cx="8244230" cy="365760"/>
          </a:xfrm>
          <a:prstGeom prst="roundRect">
            <a:avLst>
              <a:gd name="adj" fmla="val 15000"/>
            </a:avLst>
          </a:prstGeom>
          <a:solidFill>
            <a:srgbClr val="EAF3FA"/>
          </a:solidFill>
          <a:ln w="9525">
            <a:solidFill>
              <a:srgbClr val="E2E8F0"/>
            </a:solidFill>
            <a:prstDash val="solid"/>
          </a:ln>
        </p:spPr>
        <p:txBody>
          <a:bodyPr/>
          <a:lstStyle/>
          <a:p>
            <a:endParaRPr lang="en-IN"/>
          </a:p>
        </p:txBody>
      </p:sp>
      <p:sp>
        <p:nvSpPr>
          <p:cNvPr id="52" name="Text 49"/>
          <p:cNvSpPr txBox="1"/>
          <p:nvPr/>
        </p:nvSpPr>
        <p:spPr>
          <a:xfrm>
            <a:off x="449885" y="3657600"/>
            <a:ext cx="8244230" cy="365760"/>
          </a:xfrm>
          <a:prstGeom prst="rect">
            <a:avLst/>
          </a:prstGeom>
          <a:noFill/>
          <a:ln/>
        </p:spPr>
        <p:txBody>
          <a:bodyPr wrap="square" lIns="0" tIns="0" rIns="0" bIns="0" rtlCol="0" anchor="ctr"/>
          <a:lstStyle/>
          <a:p>
            <a:pPr marL="0" indent="0" algn="ctr">
              <a:buNone/>
            </a:pPr>
            <a:r>
              <a:rPr lang="en-US" sz="1000" b="1" dirty="0">
                <a:solidFill>
                  <a:srgbClr val="004C97"/>
                </a:solidFill>
                <a:latin typeface="Poppins SemiBold" pitchFamily="34" charset="0"/>
                <a:ea typeface="Poppins SemiBold" pitchFamily="34" charset="-122"/>
                <a:cs typeface="Poppins SemiBold" pitchFamily="34" charset="-120"/>
              </a:rPr>
              <a:t>A2A Protocol Layer — departments coordinate just like real teams do</a:t>
            </a:r>
            <a:endParaRPr lang="en-US" sz="1000" dirty="0"/>
          </a:p>
        </p:txBody>
      </p:sp>
      <p:sp>
        <p:nvSpPr>
          <p:cNvPr id="53" name="Text 50"/>
          <p:cNvSpPr txBox="1"/>
          <p:nvPr/>
        </p:nvSpPr>
        <p:spPr>
          <a:xfrm>
            <a:off x="449885" y="4160520"/>
            <a:ext cx="8244230" cy="274320"/>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The same structure your firm has today — departments, specialists, protocols — replicated in software.</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3  •  A2A: GIVING IT COLLEAGUES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800" b="1" dirty="0">
                <a:solidFill>
                  <a:srgbClr val="004C97"/>
                </a:solidFill>
                <a:latin typeface="Poppins SemiBold" pitchFamily="34" charset="0"/>
                <a:ea typeface="Poppins SemiBold" pitchFamily="34" charset="-122"/>
                <a:cs typeface="Poppins SemiBold" pitchFamily="34" charset="-120"/>
              </a:rPr>
              <a:t>Three Ways to Orchestrate</a:t>
            </a:r>
            <a:endParaRPr lang="en-US" sz="18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449885" y="1234440"/>
            <a:ext cx="2656637" cy="384048"/>
          </a:xfrm>
          <a:prstGeom prst="roundRect">
            <a:avLst>
              <a:gd name="adj" fmla="val 14286"/>
            </a:avLst>
          </a:prstGeom>
          <a:solidFill>
            <a:srgbClr val="004C97"/>
          </a:solidFill>
          <a:ln w="9525">
            <a:solidFill>
              <a:srgbClr val="004C97"/>
            </a:solidFill>
            <a:prstDash val="solid"/>
          </a:ln>
        </p:spPr>
        <p:txBody>
          <a:bodyPr/>
          <a:lstStyle/>
          <a:p>
            <a:endParaRPr lang="en-IN"/>
          </a:p>
        </p:txBody>
      </p:sp>
      <p:sp>
        <p:nvSpPr>
          <p:cNvPr id="8" name="Text 5"/>
          <p:cNvSpPr txBox="1"/>
          <p:nvPr/>
        </p:nvSpPr>
        <p:spPr>
          <a:xfrm>
            <a:off x="449885" y="1234440"/>
            <a:ext cx="2656637"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Poppins SemiBold" pitchFamily="34" charset="0"/>
                <a:ea typeface="Poppins SemiBold" pitchFamily="34" charset="-122"/>
                <a:cs typeface="Poppins SemiBold" pitchFamily="34" charset="-120"/>
              </a:rPr>
              <a:t>Sequential</a:t>
            </a:r>
            <a:endParaRPr lang="en-US" sz="1300" dirty="0"/>
          </a:p>
        </p:txBody>
      </p:sp>
      <p:sp>
        <p:nvSpPr>
          <p:cNvPr id="9" name="Shape 6"/>
          <p:cNvSpPr/>
          <p:nvPr/>
        </p:nvSpPr>
        <p:spPr>
          <a:xfrm>
            <a:off x="449885" y="1691640"/>
            <a:ext cx="2656637" cy="658368"/>
          </a:xfrm>
          <a:prstGeom prst="roundRect">
            <a:avLst>
              <a:gd name="adj" fmla="val 5556"/>
            </a:avLst>
          </a:prstGeom>
          <a:solidFill>
            <a:srgbClr val="E6F4FA"/>
          </a:solidFill>
          <a:ln w="9525">
            <a:solidFill>
              <a:srgbClr val="E2E8F0"/>
            </a:solidFill>
            <a:prstDash val="solid"/>
          </a:ln>
        </p:spPr>
        <p:txBody>
          <a:bodyPr/>
          <a:lstStyle/>
          <a:p>
            <a:endParaRPr lang="en-IN"/>
          </a:p>
        </p:txBody>
      </p:sp>
      <p:sp>
        <p:nvSpPr>
          <p:cNvPr id="10" name="Text 7"/>
          <p:cNvSpPr txBox="1"/>
          <p:nvPr/>
        </p:nvSpPr>
        <p:spPr>
          <a:xfrm>
            <a:off x="559613" y="1746504"/>
            <a:ext cx="2437181" cy="182880"/>
          </a:xfrm>
          <a:prstGeom prst="rect">
            <a:avLst/>
          </a:prstGeom>
          <a:noFill/>
          <a:ln/>
        </p:spPr>
        <p:txBody>
          <a:bodyPr wrap="square" lIns="0" tIns="0" rIns="0" bIns="0" rtlCol="0" anchor="ctr"/>
          <a:lstStyle/>
          <a:p>
            <a:pPr marL="0" indent="0">
              <a:buNone/>
            </a:pPr>
            <a:r>
              <a:rPr lang="en-US" sz="800" b="1" dirty="0">
                <a:solidFill>
                  <a:srgbClr val="004C97"/>
                </a:solidFill>
                <a:latin typeface="Poppins SemiBold" pitchFamily="34" charset="0"/>
                <a:ea typeface="Poppins SemiBold" pitchFamily="34" charset="-122"/>
                <a:cs typeface="Poppins SemiBold" pitchFamily="34" charset="-120"/>
              </a:rPr>
              <a:t>WHEN TO USE</a:t>
            </a:r>
            <a:endParaRPr lang="en-US" sz="800" dirty="0"/>
          </a:p>
        </p:txBody>
      </p:sp>
      <p:sp>
        <p:nvSpPr>
          <p:cNvPr id="11" name="Text 8"/>
          <p:cNvSpPr txBox="1"/>
          <p:nvPr/>
        </p:nvSpPr>
        <p:spPr>
          <a:xfrm>
            <a:off x="559613" y="1929384"/>
            <a:ext cx="2437181" cy="384048"/>
          </a:xfrm>
          <a:prstGeom prst="rect">
            <a:avLst/>
          </a:prstGeom>
          <a:noFill/>
          <a:ln/>
        </p:spPr>
        <p:txBody>
          <a:bodyPr wrap="square" lIns="0" tIns="0" rIns="0" bIns="0" rtlCol="0" anchor="t"/>
          <a:lstStyle/>
          <a:p>
            <a:pPr marL="0" indent="0">
              <a:lnSpc>
                <a:spcPct val="115000"/>
              </a:lnSpc>
              <a:buNone/>
            </a:pPr>
            <a:r>
              <a:rPr lang="en-US" sz="830" dirty="0">
                <a:solidFill>
                  <a:srgbClr val="3B3D3E"/>
                </a:solidFill>
                <a:latin typeface="PT Sans" pitchFamily="34" charset="0"/>
                <a:ea typeface="PT Sans" pitchFamily="34" charset="-122"/>
                <a:cs typeface="PT Sans" pitchFamily="34" charset="-120"/>
              </a:rPr>
              <a:t>Strict linear dependencies; step-by-step transforms</a:t>
            </a:r>
            <a:endParaRPr lang="en-US" sz="830" dirty="0"/>
          </a:p>
        </p:txBody>
      </p:sp>
      <p:sp>
        <p:nvSpPr>
          <p:cNvPr id="12" name="Shape 9"/>
          <p:cNvSpPr/>
          <p:nvPr/>
        </p:nvSpPr>
        <p:spPr>
          <a:xfrm>
            <a:off x="449885" y="2423160"/>
            <a:ext cx="2656637" cy="658368"/>
          </a:xfrm>
          <a:prstGeom prst="roundRect">
            <a:avLst>
              <a:gd name="adj" fmla="val 5556"/>
            </a:avLst>
          </a:prstGeom>
          <a:solidFill>
            <a:srgbClr val="FBEFEF"/>
          </a:solidFill>
          <a:ln w="9525">
            <a:solidFill>
              <a:srgbClr val="E2E8F0"/>
            </a:solidFill>
            <a:prstDash val="solid"/>
          </a:ln>
        </p:spPr>
        <p:txBody>
          <a:bodyPr/>
          <a:lstStyle/>
          <a:p>
            <a:endParaRPr lang="en-IN"/>
          </a:p>
        </p:txBody>
      </p:sp>
      <p:sp>
        <p:nvSpPr>
          <p:cNvPr id="13" name="Text 10"/>
          <p:cNvSpPr txBox="1"/>
          <p:nvPr/>
        </p:nvSpPr>
        <p:spPr>
          <a:xfrm>
            <a:off x="559613" y="2478024"/>
            <a:ext cx="2437181" cy="182880"/>
          </a:xfrm>
          <a:prstGeom prst="rect">
            <a:avLst/>
          </a:prstGeom>
          <a:noFill/>
          <a:ln/>
        </p:spPr>
        <p:txBody>
          <a:bodyPr wrap="square" lIns="0" tIns="0" rIns="0" bIns="0" rtlCol="0" anchor="ctr"/>
          <a:lstStyle/>
          <a:p>
            <a:pPr marL="0" indent="0">
              <a:buNone/>
            </a:pPr>
            <a:r>
              <a:rPr lang="en-US" sz="800" b="1" dirty="0">
                <a:solidFill>
                  <a:srgbClr val="C0504D"/>
                </a:solidFill>
                <a:latin typeface="Poppins SemiBold" pitchFamily="34" charset="0"/>
                <a:ea typeface="Poppins SemiBold" pitchFamily="34" charset="-122"/>
                <a:cs typeface="Poppins SemiBold" pitchFamily="34" charset="-120"/>
              </a:rPr>
              <a:t>WHEN TO AVOID</a:t>
            </a:r>
            <a:endParaRPr lang="en-US" sz="800" dirty="0"/>
          </a:p>
        </p:txBody>
      </p:sp>
      <p:sp>
        <p:nvSpPr>
          <p:cNvPr id="14" name="Text 11"/>
          <p:cNvSpPr txBox="1"/>
          <p:nvPr/>
        </p:nvSpPr>
        <p:spPr>
          <a:xfrm>
            <a:off x="559613" y="2660904"/>
            <a:ext cx="2437181" cy="384048"/>
          </a:xfrm>
          <a:prstGeom prst="rect">
            <a:avLst/>
          </a:prstGeom>
          <a:noFill/>
          <a:ln/>
        </p:spPr>
        <p:txBody>
          <a:bodyPr wrap="square" lIns="0" tIns="0" rIns="0" bIns="0" rtlCol="0" anchor="t"/>
          <a:lstStyle/>
          <a:p>
            <a:pPr marL="0" indent="0">
              <a:lnSpc>
                <a:spcPct val="115000"/>
              </a:lnSpc>
              <a:buNone/>
            </a:pPr>
            <a:r>
              <a:rPr lang="en-US" sz="830" dirty="0">
                <a:solidFill>
                  <a:srgbClr val="3B3D3E"/>
                </a:solidFill>
                <a:latin typeface="PT Sans" pitchFamily="34" charset="0"/>
                <a:ea typeface="PT Sans" pitchFamily="34" charset="-122"/>
                <a:cs typeface="PT Sans" pitchFamily="34" charset="-120"/>
              </a:rPr>
              <a:t>Tasks can run in parallel; dynamic routing needed</a:t>
            </a:r>
            <a:endParaRPr lang="en-US" sz="830" dirty="0"/>
          </a:p>
        </p:txBody>
      </p:sp>
      <p:sp>
        <p:nvSpPr>
          <p:cNvPr id="15" name="Shape 12"/>
          <p:cNvSpPr/>
          <p:nvPr/>
        </p:nvSpPr>
        <p:spPr>
          <a:xfrm>
            <a:off x="449885" y="3154680"/>
            <a:ext cx="2656637" cy="594360"/>
          </a:xfrm>
          <a:prstGeom prst="roundRect">
            <a:avLst>
              <a:gd name="adj" fmla="val 9231"/>
            </a:avLst>
          </a:prstGeom>
          <a:solidFill>
            <a:srgbClr val="FFFFFF"/>
          </a:solidFill>
          <a:ln w="9525">
            <a:solidFill>
              <a:srgbClr val="E2E8F0"/>
            </a:solidFill>
            <a:prstDash val="solid"/>
          </a:ln>
        </p:spPr>
        <p:txBody>
          <a:bodyPr/>
          <a:lstStyle/>
          <a:p>
            <a:endParaRPr lang="en-IN"/>
          </a:p>
        </p:txBody>
      </p:sp>
      <p:sp>
        <p:nvSpPr>
          <p:cNvPr id="16" name="Text 13"/>
          <p:cNvSpPr txBox="1"/>
          <p:nvPr/>
        </p:nvSpPr>
        <p:spPr>
          <a:xfrm>
            <a:off x="559613" y="3209544"/>
            <a:ext cx="2437181" cy="182880"/>
          </a:xfrm>
          <a:prstGeom prst="rect">
            <a:avLst/>
          </a:prstGeom>
          <a:noFill/>
          <a:ln/>
        </p:spPr>
        <p:txBody>
          <a:bodyPr wrap="square" lIns="0" tIns="0" rIns="0" bIns="0" rtlCol="0" anchor="ctr"/>
          <a:lstStyle/>
          <a:p>
            <a:pPr marL="0" indent="0">
              <a:buNone/>
            </a:pPr>
            <a:r>
              <a:rPr lang="en-US" sz="750" b="1" dirty="0">
                <a:solidFill>
                  <a:srgbClr val="9AA39D"/>
                </a:solidFill>
                <a:latin typeface="Poppins SemiBold" pitchFamily="34" charset="0"/>
                <a:ea typeface="Poppins SemiBold" pitchFamily="34" charset="-122"/>
                <a:cs typeface="Poppins SemiBold" pitchFamily="34" charset="-120"/>
              </a:rPr>
              <a:t>ENGINEERING EXAMPLE</a:t>
            </a:r>
            <a:endParaRPr lang="en-US" sz="750" dirty="0"/>
          </a:p>
        </p:txBody>
      </p:sp>
      <p:sp>
        <p:nvSpPr>
          <p:cNvPr id="17" name="Text 14"/>
          <p:cNvSpPr txBox="1"/>
          <p:nvPr/>
        </p:nvSpPr>
        <p:spPr>
          <a:xfrm>
            <a:off x="559613" y="3383280"/>
            <a:ext cx="2437181" cy="347472"/>
          </a:xfrm>
          <a:prstGeom prst="rect">
            <a:avLst/>
          </a:prstGeom>
          <a:noFill/>
          <a:ln/>
        </p:spPr>
        <p:txBody>
          <a:bodyPr wrap="square" lIns="0" tIns="0" rIns="0" bIns="0" rtlCol="0" anchor="t"/>
          <a:lstStyle/>
          <a:p>
            <a:pPr marL="0" indent="0">
              <a:lnSpc>
                <a:spcPct val="115000"/>
              </a:lnSpc>
              <a:buNone/>
            </a:pPr>
            <a:r>
              <a:rPr lang="en-US" sz="830" b="1" dirty="0">
                <a:solidFill>
                  <a:srgbClr val="004C97"/>
                </a:solidFill>
                <a:latin typeface="PT Sans" pitchFamily="34" charset="0"/>
                <a:ea typeface="PT Sans" pitchFamily="34" charset="-122"/>
                <a:cs typeface="PT Sans" pitchFamily="34" charset="-120"/>
              </a:rPr>
              <a:t>CI/CD: Lint → Test → Security → Build</a:t>
            </a:r>
            <a:endParaRPr lang="en-US" sz="830" dirty="0"/>
          </a:p>
        </p:txBody>
      </p:sp>
      <p:sp>
        <p:nvSpPr>
          <p:cNvPr id="18" name="Shape 15"/>
          <p:cNvSpPr/>
          <p:nvPr/>
        </p:nvSpPr>
        <p:spPr>
          <a:xfrm>
            <a:off x="3243682" y="1234440"/>
            <a:ext cx="2656637" cy="384048"/>
          </a:xfrm>
          <a:prstGeom prst="roundRect">
            <a:avLst>
              <a:gd name="adj" fmla="val 14286"/>
            </a:avLst>
          </a:prstGeom>
          <a:solidFill>
            <a:srgbClr val="004C97"/>
          </a:solidFill>
          <a:ln w="9525">
            <a:solidFill>
              <a:srgbClr val="004C97"/>
            </a:solidFill>
            <a:prstDash val="solid"/>
          </a:ln>
        </p:spPr>
        <p:txBody>
          <a:bodyPr/>
          <a:lstStyle/>
          <a:p>
            <a:endParaRPr lang="en-IN"/>
          </a:p>
        </p:txBody>
      </p:sp>
      <p:sp>
        <p:nvSpPr>
          <p:cNvPr id="19" name="Text 16"/>
          <p:cNvSpPr txBox="1"/>
          <p:nvPr/>
        </p:nvSpPr>
        <p:spPr>
          <a:xfrm>
            <a:off x="3243682" y="1234440"/>
            <a:ext cx="2656637"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Poppins SemiBold" pitchFamily="34" charset="0"/>
                <a:ea typeface="Poppins SemiBold" pitchFamily="34" charset="-122"/>
                <a:cs typeface="Poppins SemiBold" pitchFamily="34" charset="-120"/>
              </a:rPr>
              <a:t>Parallel</a:t>
            </a:r>
            <a:endParaRPr lang="en-US" sz="1300" dirty="0"/>
          </a:p>
        </p:txBody>
      </p:sp>
      <p:sp>
        <p:nvSpPr>
          <p:cNvPr id="20" name="Shape 17"/>
          <p:cNvSpPr/>
          <p:nvPr/>
        </p:nvSpPr>
        <p:spPr>
          <a:xfrm>
            <a:off x="3243682" y="1691640"/>
            <a:ext cx="2656637" cy="658368"/>
          </a:xfrm>
          <a:prstGeom prst="roundRect">
            <a:avLst>
              <a:gd name="adj" fmla="val 5556"/>
            </a:avLst>
          </a:prstGeom>
          <a:solidFill>
            <a:srgbClr val="E6F4FA"/>
          </a:solidFill>
          <a:ln w="9525">
            <a:solidFill>
              <a:srgbClr val="E2E8F0"/>
            </a:solidFill>
            <a:prstDash val="solid"/>
          </a:ln>
        </p:spPr>
        <p:txBody>
          <a:bodyPr/>
          <a:lstStyle/>
          <a:p>
            <a:endParaRPr lang="en-IN"/>
          </a:p>
        </p:txBody>
      </p:sp>
      <p:sp>
        <p:nvSpPr>
          <p:cNvPr id="21" name="Text 18"/>
          <p:cNvSpPr txBox="1"/>
          <p:nvPr/>
        </p:nvSpPr>
        <p:spPr>
          <a:xfrm>
            <a:off x="3353410" y="1746504"/>
            <a:ext cx="2437181" cy="182880"/>
          </a:xfrm>
          <a:prstGeom prst="rect">
            <a:avLst/>
          </a:prstGeom>
          <a:noFill/>
          <a:ln/>
        </p:spPr>
        <p:txBody>
          <a:bodyPr wrap="square" lIns="0" tIns="0" rIns="0" bIns="0" rtlCol="0" anchor="ctr"/>
          <a:lstStyle/>
          <a:p>
            <a:pPr marL="0" indent="0">
              <a:buNone/>
            </a:pPr>
            <a:r>
              <a:rPr lang="en-US" sz="800" b="1" dirty="0">
                <a:solidFill>
                  <a:srgbClr val="004C97"/>
                </a:solidFill>
                <a:latin typeface="Poppins SemiBold" pitchFamily="34" charset="0"/>
                <a:ea typeface="Poppins SemiBold" pitchFamily="34" charset="-122"/>
                <a:cs typeface="Poppins SemiBold" pitchFamily="34" charset="-120"/>
              </a:rPr>
              <a:t>WHEN TO USE</a:t>
            </a:r>
            <a:endParaRPr lang="en-US" sz="800" dirty="0"/>
          </a:p>
        </p:txBody>
      </p:sp>
      <p:sp>
        <p:nvSpPr>
          <p:cNvPr id="22" name="Text 19"/>
          <p:cNvSpPr txBox="1"/>
          <p:nvPr/>
        </p:nvSpPr>
        <p:spPr>
          <a:xfrm>
            <a:off x="3353410" y="1929384"/>
            <a:ext cx="2437181" cy="384048"/>
          </a:xfrm>
          <a:prstGeom prst="rect">
            <a:avLst/>
          </a:prstGeom>
          <a:noFill/>
          <a:ln/>
        </p:spPr>
        <p:txBody>
          <a:bodyPr wrap="square" lIns="0" tIns="0" rIns="0" bIns="0" rtlCol="0" anchor="t"/>
          <a:lstStyle/>
          <a:p>
            <a:pPr marL="0" indent="0">
              <a:lnSpc>
                <a:spcPct val="115000"/>
              </a:lnSpc>
              <a:buNone/>
            </a:pPr>
            <a:r>
              <a:rPr lang="en-US" sz="830" dirty="0">
                <a:solidFill>
                  <a:srgbClr val="3B3D3E"/>
                </a:solidFill>
                <a:latin typeface="PT Sans" pitchFamily="34" charset="0"/>
                <a:ea typeface="PT Sans" pitchFamily="34" charset="-122"/>
                <a:cs typeface="PT Sans" pitchFamily="34" charset="-120"/>
              </a:rPr>
              <a:t>Reduce wall-clock time; independent viewpoints</a:t>
            </a:r>
            <a:endParaRPr lang="en-US" sz="830" dirty="0"/>
          </a:p>
        </p:txBody>
      </p:sp>
      <p:sp>
        <p:nvSpPr>
          <p:cNvPr id="23" name="Shape 20"/>
          <p:cNvSpPr/>
          <p:nvPr/>
        </p:nvSpPr>
        <p:spPr>
          <a:xfrm>
            <a:off x="3243682" y="2423160"/>
            <a:ext cx="2656637" cy="658368"/>
          </a:xfrm>
          <a:prstGeom prst="roundRect">
            <a:avLst>
              <a:gd name="adj" fmla="val 5556"/>
            </a:avLst>
          </a:prstGeom>
          <a:solidFill>
            <a:srgbClr val="FBEFEF"/>
          </a:solidFill>
          <a:ln w="9525">
            <a:solidFill>
              <a:srgbClr val="E2E8F0"/>
            </a:solidFill>
            <a:prstDash val="solid"/>
          </a:ln>
        </p:spPr>
        <p:txBody>
          <a:bodyPr/>
          <a:lstStyle/>
          <a:p>
            <a:endParaRPr lang="en-IN"/>
          </a:p>
        </p:txBody>
      </p:sp>
      <p:sp>
        <p:nvSpPr>
          <p:cNvPr id="24" name="Text 21"/>
          <p:cNvSpPr txBox="1"/>
          <p:nvPr/>
        </p:nvSpPr>
        <p:spPr>
          <a:xfrm>
            <a:off x="3353410" y="2478024"/>
            <a:ext cx="2437181" cy="182880"/>
          </a:xfrm>
          <a:prstGeom prst="rect">
            <a:avLst/>
          </a:prstGeom>
          <a:noFill/>
          <a:ln/>
        </p:spPr>
        <p:txBody>
          <a:bodyPr wrap="square" lIns="0" tIns="0" rIns="0" bIns="0" rtlCol="0" anchor="ctr"/>
          <a:lstStyle/>
          <a:p>
            <a:pPr marL="0" indent="0">
              <a:buNone/>
            </a:pPr>
            <a:r>
              <a:rPr lang="en-US" sz="800" b="1" dirty="0">
                <a:solidFill>
                  <a:srgbClr val="C0504D"/>
                </a:solidFill>
                <a:latin typeface="Poppins SemiBold" pitchFamily="34" charset="0"/>
                <a:ea typeface="Poppins SemiBold" pitchFamily="34" charset="-122"/>
                <a:cs typeface="Poppins SemiBold" pitchFamily="34" charset="-120"/>
              </a:rPr>
              <a:t>WHEN TO AVOID</a:t>
            </a:r>
            <a:endParaRPr lang="en-US" sz="800" dirty="0"/>
          </a:p>
        </p:txBody>
      </p:sp>
      <p:sp>
        <p:nvSpPr>
          <p:cNvPr id="25" name="Text 22"/>
          <p:cNvSpPr txBox="1"/>
          <p:nvPr/>
        </p:nvSpPr>
        <p:spPr>
          <a:xfrm>
            <a:off x="3353410" y="2660904"/>
            <a:ext cx="2437181" cy="384048"/>
          </a:xfrm>
          <a:prstGeom prst="rect">
            <a:avLst/>
          </a:prstGeom>
          <a:noFill/>
          <a:ln/>
        </p:spPr>
        <p:txBody>
          <a:bodyPr wrap="square" lIns="0" tIns="0" rIns="0" bIns="0" rtlCol="0" anchor="t"/>
          <a:lstStyle/>
          <a:p>
            <a:pPr marL="0" indent="0">
              <a:lnSpc>
                <a:spcPct val="115000"/>
              </a:lnSpc>
              <a:buNone/>
            </a:pPr>
            <a:r>
              <a:rPr lang="en-US" sz="830" dirty="0">
                <a:solidFill>
                  <a:srgbClr val="3B3D3E"/>
                </a:solidFill>
                <a:latin typeface="PT Sans" pitchFamily="34" charset="0"/>
                <a:ea typeface="PT Sans" pitchFamily="34" charset="-122"/>
                <a:cs typeface="PT Sans" pitchFamily="34" charset="-120"/>
              </a:rPr>
              <a:t>Strong dependencies between steps; one-off task</a:t>
            </a:r>
            <a:endParaRPr lang="en-US" sz="830" dirty="0"/>
          </a:p>
        </p:txBody>
      </p:sp>
      <p:sp>
        <p:nvSpPr>
          <p:cNvPr id="26" name="Shape 23"/>
          <p:cNvSpPr/>
          <p:nvPr/>
        </p:nvSpPr>
        <p:spPr>
          <a:xfrm>
            <a:off x="3243682" y="3154680"/>
            <a:ext cx="2656637" cy="594360"/>
          </a:xfrm>
          <a:prstGeom prst="roundRect">
            <a:avLst>
              <a:gd name="adj" fmla="val 9231"/>
            </a:avLst>
          </a:prstGeom>
          <a:solidFill>
            <a:srgbClr val="FFFFFF"/>
          </a:solidFill>
          <a:ln w="9525">
            <a:solidFill>
              <a:srgbClr val="E2E8F0"/>
            </a:solidFill>
            <a:prstDash val="solid"/>
          </a:ln>
        </p:spPr>
        <p:txBody>
          <a:bodyPr/>
          <a:lstStyle/>
          <a:p>
            <a:endParaRPr lang="en-IN"/>
          </a:p>
        </p:txBody>
      </p:sp>
      <p:sp>
        <p:nvSpPr>
          <p:cNvPr id="27" name="Text 24"/>
          <p:cNvSpPr txBox="1"/>
          <p:nvPr/>
        </p:nvSpPr>
        <p:spPr>
          <a:xfrm>
            <a:off x="3353410" y="3209544"/>
            <a:ext cx="2437181" cy="182880"/>
          </a:xfrm>
          <a:prstGeom prst="rect">
            <a:avLst/>
          </a:prstGeom>
          <a:noFill/>
          <a:ln/>
        </p:spPr>
        <p:txBody>
          <a:bodyPr wrap="square" lIns="0" tIns="0" rIns="0" bIns="0" rtlCol="0" anchor="ctr"/>
          <a:lstStyle/>
          <a:p>
            <a:pPr marL="0" indent="0">
              <a:buNone/>
            </a:pPr>
            <a:r>
              <a:rPr lang="en-US" sz="750" b="1" dirty="0">
                <a:solidFill>
                  <a:srgbClr val="9AA39D"/>
                </a:solidFill>
                <a:latin typeface="Poppins SemiBold" pitchFamily="34" charset="0"/>
                <a:ea typeface="Poppins SemiBold" pitchFamily="34" charset="-122"/>
                <a:cs typeface="Poppins SemiBold" pitchFamily="34" charset="-120"/>
              </a:rPr>
              <a:t>ENGINEERING EXAMPLE</a:t>
            </a:r>
            <a:endParaRPr lang="en-US" sz="750" dirty="0"/>
          </a:p>
        </p:txBody>
      </p:sp>
      <p:sp>
        <p:nvSpPr>
          <p:cNvPr id="28" name="Text 25"/>
          <p:cNvSpPr txBox="1"/>
          <p:nvPr/>
        </p:nvSpPr>
        <p:spPr>
          <a:xfrm>
            <a:off x="3353410" y="3383280"/>
            <a:ext cx="2437181" cy="347472"/>
          </a:xfrm>
          <a:prstGeom prst="rect">
            <a:avLst/>
          </a:prstGeom>
          <a:noFill/>
          <a:ln/>
        </p:spPr>
        <p:txBody>
          <a:bodyPr wrap="square" lIns="0" tIns="0" rIns="0" bIns="0" rtlCol="0" anchor="t"/>
          <a:lstStyle/>
          <a:p>
            <a:pPr marL="0" indent="0">
              <a:lnSpc>
                <a:spcPct val="115000"/>
              </a:lnSpc>
              <a:buNone/>
            </a:pPr>
            <a:r>
              <a:rPr lang="en-US" sz="830" b="1" dirty="0">
                <a:solidFill>
                  <a:srgbClr val="004C97"/>
                </a:solidFill>
                <a:latin typeface="PT Sans" pitchFamily="34" charset="0"/>
                <a:ea typeface="PT Sans" pitchFamily="34" charset="-122"/>
                <a:cs typeface="PT Sans" pitchFamily="34" charset="-120"/>
              </a:rPr>
              <a:t>PR review: Security, Linting, Coverage at once</a:t>
            </a:r>
            <a:endParaRPr lang="en-US" sz="830" dirty="0"/>
          </a:p>
        </p:txBody>
      </p:sp>
      <p:sp>
        <p:nvSpPr>
          <p:cNvPr id="29" name="Shape 26"/>
          <p:cNvSpPr/>
          <p:nvPr/>
        </p:nvSpPr>
        <p:spPr>
          <a:xfrm>
            <a:off x="6037478" y="1234440"/>
            <a:ext cx="2656637" cy="384048"/>
          </a:xfrm>
          <a:prstGeom prst="roundRect">
            <a:avLst>
              <a:gd name="adj" fmla="val 14286"/>
            </a:avLst>
          </a:prstGeom>
          <a:solidFill>
            <a:srgbClr val="004C97"/>
          </a:solidFill>
          <a:ln w="9525">
            <a:solidFill>
              <a:srgbClr val="004C97"/>
            </a:solidFill>
            <a:prstDash val="solid"/>
          </a:ln>
        </p:spPr>
        <p:txBody>
          <a:bodyPr/>
          <a:lstStyle/>
          <a:p>
            <a:endParaRPr lang="en-IN"/>
          </a:p>
        </p:txBody>
      </p:sp>
      <p:sp>
        <p:nvSpPr>
          <p:cNvPr id="30" name="Text 27"/>
          <p:cNvSpPr txBox="1"/>
          <p:nvPr/>
        </p:nvSpPr>
        <p:spPr>
          <a:xfrm>
            <a:off x="6037478" y="1234440"/>
            <a:ext cx="2656637"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Poppins SemiBold" pitchFamily="34" charset="0"/>
                <a:ea typeface="Poppins SemiBold" pitchFamily="34" charset="-122"/>
                <a:cs typeface="Poppins SemiBold" pitchFamily="34" charset="-120"/>
              </a:rPr>
              <a:t>Hierarchical</a:t>
            </a:r>
            <a:endParaRPr lang="en-US" sz="1300" dirty="0"/>
          </a:p>
        </p:txBody>
      </p:sp>
      <p:sp>
        <p:nvSpPr>
          <p:cNvPr id="31" name="Shape 28"/>
          <p:cNvSpPr/>
          <p:nvPr/>
        </p:nvSpPr>
        <p:spPr>
          <a:xfrm>
            <a:off x="6037478" y="1691640"/>
            <a:ext cx="2656637" cy="658368"/>
          </a:xfrm>
          <a:prstGeom prst="roundRect">
            <a:avLst>
              <a:gd name="adj" fmla="val 5556"/>
            </a:avLst>
          </a:prstGeom>
          <a:solidFill>
            <a:srgbClr val="E6F4FA"/>
          </a:solidFill>
          <a:ln w="9525">
            <a:solidFill>
              <a:srgbClr val="E2E8F0"/>
            </a:solidFill>
            <a:prstDash val="solid"/>
          </a:ln>
        </p:spPr>
        <p:txBody>
          <a:bodyPr/>
          <a:lstStyle/>
          <a:p>
            <a:endParaRPr lang="en-IN"/>
          </a:p>
        </p:txBody>
      </p:sp>
      <p:sp>
        <p:nvSpPr>
          <p:cNvPr id="32" name="Text 29"/>
          <p:cNvSpPr txBox="1"/>
          <p:nvPr/>
        </p:nvSpPr>
        <p:spPr>
          <a:xfrm>
            <a:off x="6147206" y="1746504"/>
            <a:ext cx="2437181" cy="182880"/>
          </a:xfrm>
          <a:prstGeom prst="rect">
            <a:avLst/>
          </a:prstGeom>
          <a:noFill/>
          <a:ln/>
        </p:spPr>
        <p:txBody>
          <a:bodyPr wrap="square" lIns="0" tIns="0" rIns="0" bIns="0" rtlCol="0" anchor="ctr"/>
          <a:lstStyle/>
          <a:p>
            <a:pPr marL="0" indent="0">
              <a:buNone/>
            </a:pPr>
            <a:r>
              <a:rPr lang="en-US" sz="800" b="1" dirty="0">
                <a:solidFill>
                  <a:srgbClr val="004C97"/>
                </a:solidFill>
                <a:latin typeface="Poppins SemiBold" pitchFamily="34" charset="0"/>
                <a:ea typeface="Poppins SemiBold" pitchFamily="34" charset="-122"/>
                <a:cs typeface="Poppins SemiBold" pitchFamily="34" charset="-120"/>
              </a:rPr>
              <a:t>WHEN TO USE</a:t>
            </a:r>
            <a:endParaRPr lang="en-US" sz="800" dirty="0"/>
          </a:p>
        </p:txBody>
      </p:sp>
      <p:sp>
        <p:nvSpPr>
          <p:cNvPr id="33" name="Text 30"/>
          <p:cNvSpPr txBox="1"/>
          <p:nvPr/>
        </p:nvSpPr>
        <p:spPr>
          <a:xfrm>
            <a:off x="6147206" y="1929384"/>
            <a:ext cx="2437181" cy="384048"/>
          </a:xfrm>
          <a:prstGeom prst="rect">
            <a:avLst/>
          </a:prstGeom>
          <a:noFill/>
          <a:ln/>
        </p:spPr>
        <p:txBody>
          <a:bodyPr wrap="square" lIns="0" tIns="0" rIns="0" bIns="0" rtlCol="0" anchor="t"/>
          <a:lstStyle/>
          <a:p>
            <a:pPr marL="0" indent="0">
              <a:lnSpc>
                <a:spcPct val="115000"/>
              </a:lnSpc>
              <a:buNone/>
            </a:pPr>
            <a:r>
              <a:rPr lang="en-US" sz="830" dirty="0">
                <a:solidFill>
                  <a:srgbClr val="3B3D3E"/>
                </a:solidFill>
                <a:latin typeface="PT Sans" pitchFamily="34" charset="0"/>
                <a:ea typeface="PT Sans" pitchFamily="34" charset="-122"/>
                <a:cs typeface="PT Sans" pitchFamily="34" charset="-120"/>
              </a:rPr>
              <a:t>Large tasks, multiple specialist domains</a:t>
            </a:r>
            <a:endParaRPr lang="en-US" sz="830" dirty="0"/>
          </a:p>
        </p:txBody>
      </p:sp>
      <p:sp>
        <p:nvSpPr>
          <p:cNvPr id="34" name="Shape 31"/>
          <p:cNvSpPr/>
          <p:nvPr/>
        </p:nvSpPr>
        <p:spPr>
          <a:xfrm>
            <a:off x="6037478" y="2423160"/>
            <a:ext cx="2656637" cy="658368"/>
          </a:xfrm>
          <a:prstGeom prst="roundRect">
            <a:avLst>
              <a:gd name="adj" fmla="val 5556"/>
            </a:avLst>
          </a:prstGeom>
          <a:solidFill>
            <a:srgbClr val="FBEFEF"/>
          </a:solidFill>
          <a:ln w="9525">
            <a:solidFill>
              <a:srgbClr val="E2E8F0"/>
            </a:solidFill>
            <a:prstDash val="solid"/>
          </a:ln>
        </p:spPr>
        <p:txBody>
          <a:bodyPr/>
          <a:lstStyle/>
          <a:p>
            <a:endParaRPr lang="en-IN"/>
          </a:p>
        </p:txBody>
      </p:sp>
      <p:sp>
        <p:nvSpPr>
          <p:cNvPr id="35" name="Text 32"/>
          <p:cNvSpPr txBox="1"/>
          <p:nvPr/>
        </p:nvSpPr>
        <p:spPr>
          <a:xfrm>
            <a:off x="6147206" y="2478024"/>
            <a:ext cx="2437181" cy="182880"/>
          </a:xfrm>
          <a:prstGeom prst="rect">
            <a:avLst/>
          </a:prstGeom>
          <a:noFill/>
          <a:ln/>
        </p:spPr>
        <p:txBody>
          <a:bodyPr wrap="square" lIns="0" tIns="0" rIns="0" bIns="0" rtlCol="0" anchor="ctr"/>
          <a:lstStyle/>
          <a:p>
            <a:pPr marL="0" indent="0">
              <a:buNone/>
            </a:pPr>
            <a:r>
              <a:rPr lang="en-US" sz="800" b="1" dirty="0">
                <a:solidFill>
                  <a:srgbClr val="C0504D"/>
                </a:solidFill>
                <a:latin typeface="Poppins SemiBold" pitchFamily="34" charset="0"/>
                <a:ea typeface="Poppins SemiBold" pitchFamily="34" charset="-122"/>
                <a:cs typeface="Poppins SemiBold" pitchFamily="34" charset="-120"/>
              </a:rPr>
              <a:t>WHEN TO AVOID</a:t>
            </a:r>
            <a:endParaRPr lang="en-US" sz="800" dirty="0"/>
          </a:p>
        </p:txBody>
      </p:sp>
      <p:sp>
        <p:nvSpPr>
          <p:cNvPr id="36" name="Text 33"/>
          <p:cNvSpPr txBox="1"/>
          <p:nvPr/>
        </p:nvSpPr>
        <p:spPr>
          <a:xfrm>
            <a:off x="6147206" y="2660904"/>
            <a:ext cx="2437181" cy="384048"/>
          </a:xfrm>
          <a:prstGeom prst="rect">
            <a:avLst/>
          </a:prstGeom>
          <a:noFill/>
          <a:ln/>
        </p:spPr>
        <p:txBody>
          <a:bodyPr wrap="square" lIns="0" tIns="0" rIns="0" bIns="0" rtlCol="0" anchor="t"/>
          <a:lstStyle/>
          <a:p>
            <a:pPr marL="0" indent="0">
              <a:lnSpc>
                <a:spcPct val="115000"/>
              </a:lnSpc>
              <a:buNone/>
            </a:pPr>
            <a:r>
              <a:rPr lang="en-US" sz="830" dirty="0">
                <a:solidFill>
                  <a:srgbClr val="3B3D3E"/>
                </a:solidFill>
                <a:latin typeface="PT Sans" pitchFamily="34" charset="0"/>
                <a:ea typeface="PT Sans" pitchFamily="34" charset="-122"/>
                <a:cs typeface="PT Sans" pitchFamily="34" charset="-120"/>
              </a:rPr>
              <a:t>Simple tasks; fast iteration is the priority</a:t>
            </a:r>
            <a:endParaRPr lang="en-US" sz="830" dirty="0"/>
          </a:p>
        </p:txBody>
      </p:sp>
      <p:sp>
        <p:nvSpPr>
          <p:cNvPr id="37" name="Shape 34"/>
          <p:cNvSpPr/>
          <p:nvPr/>
        </p:nvSpPr>
        <p:spPr>
          <a:xfrm>
            <a:off x="6037478" y="3154680"/>
            <a:ext cx="2656637" cy="594360"/>
          </a:xfrm>
          <a:prstGeom prst="roundRect">
            <a:avLst>
              <a:gd name="adj" fmla="val 9231"/>
            </a:avLst>
          </a:prstGeom>
          <a:solidFill>
            <a:srgbClr val="FFFFFF"/>
          </a:solidFill>
          <a:ln w="9525">
            <a:solidFill>
              <a:srgbClr val="E2E8F0"/>
            </a:solidFill>
            <a:prstDash val="solid"/>
          </a:ln>
        </p:spPr>
        <p:txBody>
          <a:bodyPr/>
          <a:lstStyle/>
          <a:p>
            <a:endParaRPr lang="en-IN"/>
          </a:p>
        </p:txBody>
      </p:sp>
      <p:sp>
        <p:nvSpPr>
          <p:cNvPr id="38" name="Text 35"/>
          <p:cNvSpPr txBox="1"/>
          <p:nvPr/>
        </p:nvSpPr>
        <p:spPr>
          <a:xfrm>
            <a:off x="6147206" y="3209544"/>
            <a:ext cx="2437181" cy="182880"/>
          </a:xfrm>
          <a:prstGeom prst="rect">
            <a:avLst/>
          </a:prstGeom>
          <a:noFill/>
          <a:ln/>
        </p:spPr>
        <p:txBody>
          <a:bodyPr wrap="square" lIns="0" tIns="0" rIns="0" bIns="0" rtlCol="0" anchor="ctr"/>
          <a:lstStyle/>
          <a:p>
            <a:pPr marL="0" indent="0">
              <a:buNone/>
            </a:pPr>
            <a:r>
              <a:rPr lang="en-US" sz="750" b="1" dirty="0">
                <a:solidFill>
                  <a:srgbClr val="9AA39D"/>
                </a:solidFill>
                <a:latin typeface="Poppins SemiBold" pitchFamily="34" charset="0"/>
                <a:ea typeface="Poppins SemiBold" pitchFamily="34" charset="-122"/>
                <a:cs typeface="Poppins SemiBold" pitchFamily="34" charset="-120"/>
              </a:rPr>
              <a:t>ENGINEERING EXAMPLE</a:t>
            </a:r>
            <a:endParaRPr lang="en-US" sz="750" dirty="0"/>
          </a:p>
        </p:txBody>
      </p:sp>
      <p:sp>
        <p:nvSpPr>
          <p:cNvPr id="39" name="Text 36"/>
          <p:cNvSpPr txBox="1"/>
          <p:nvPr/>
        </p:nvSpPr>
        <p:spPr>
          <a:xfrm>
            <a:off x="6147206" y="3383280"/>
            <a:ext cx="2437181" cy="347472"/>
          </a:xfrm>
          <a:prstGeom prst="rect">
            <a:avLst/>
          </a:prstGeom>
          <a:noFill/>
          <a:ln/>
        </p:spPr>
        <p:txBody>
          <a:bodyPr wrap="square" lIns="0" tIns="0" rIns="0" bIns="0" rtlCol="0" anchor="t"/>
          <a:lstStyle/>
          <a:p>
            <a:pPr marL="0" indent="0">
              <a:lnSpc>
                <a:spcPct val="115000"/>
              </a:lnSpc>
              <a:buNone/>
            </a:pPr>
            <a:r>
              <a:rPr lang="en-US" sz="830" b="1" dirty="0">
                <a:solidFill>
                  <a:srgbClr val="004C97"/>
                </a:solidFill>
                <a:latin typeface="PT Sans" pitchFamily="34" charset="0"/>
                <a:ea typeface="PT Sans" pitchFamily="34" charset="-122"/>
                <a:cs typeface="PT Sans" pitchFamily="34" charset="-120"/>
              </a:rPr>
              <a:t>Incident response: supervisor → diagnostic, remediation</a:t>
            </a:r>
            <a:endParaRPr lang="en-US" sz="830" dirty="0"/>
          </a:p>
        </p:txBody>
      </p:sp>
      <p:sp>
        <p:nvSpPr>
          <p:cNvPr id="40" name="Text 37"/>
          <p:cNvSpPr txBox="1"/>
          <p:nvPr/>
        </p:nvSpPr>
        <p:spPr>
          <a:xfrm>
            <a:off x="449885" y="4329684"/>
            <a:ext cx="8244230" cy="340157"/>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The multi-agent orchestration patterns your afternoon lab's routing rules embody one of — a governed orchestrator choosing the smallest sufficient step, not calling every tool mechanically.</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3  •  A2A: GIVING IT COLLEAGUES</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Agentic Frameworks — Choosing the Right Tool</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188720"/>
            <a:ext cx="8244230" cy="292608"/>
          </a:xfrm>
          <a:prstGeom prst="rect">
            <a:avLst/>
          </a:prstGeom>
          <a:noFill/>
          <a:ln/>
        </p:spPr>
        <p:txBody>
          <a:bodyPr wrap="square" lIns="0" tIns="0" rIns="0" bIns="0" rtlCol="0" anchor="ctr"/>
          <a:lstStyle/>
          <a:p>
            <a:pPr marL="0" indent="0">
              <a:buNone/>
            </a:pPr>
            <a:r>
              <a:rPr lang="en-US" sz="1050" i="1" dirty="0">
                <a:solidFill>
                  <a:srgbClr val="3B3D3E"/>
                </a:solidFill>
                <a:latin typeface="PT Sans" pitchFamily="34" charset="0"/>
                <a:ea typeface="PT Sans" pitchFamily="34" charset="-122"/>
                <a:cs typeface="PT Sans" pitchFamily="34" charset="-120"/>
              </a:rPr>
              <a:t>All four are open-source and production-capable. Microsoft Agent Framework (Oct 2025) succeeds both AutoGen and Semantic Kernel.</a:t>
            </a:r>
            <a:endParaRPr lang="en-US" sz="1050" dirty="0"/>
          </a:p>
        </p:txBody>
      </p:sp>
      <p:sp>
        <p:nvSpPr>
          <p:cNvPr id="8" name="Shape 5"/>
          <p:cNvSpPr/>
          <p:nvPr/>
        </p:nvSpPr>
        <p:spPr>
          <a:xfrm>
            <a:off x="449885" y="1600200"/>
            <a:ext cx="8244230" cy="384048"/>
          </a:xfrm>
          <a:prstGeom prst="roundRect">
            <a:avLst>
              <a:gd name="adj" fmla="val 14286"/>
            </a:avLst>
          </a:prstGeom>
          <a:solidFill>
            <a:srgbClr val="004C97"/>
          </a:solidFill>
          <a:ln w="9525">
            <a:solidFill>
              <a:srgbClr val="004C97"/>
            </a:solidFill>
            <a:prstDash val="solid"/>
          </a:ln>
        </p:spPr>
        <p:txBody>
          <a:bodyPr/>
          <a:lstStyle/>
          <a:p>
            <a:endParaRPr lang="en-IN"/>
          </a:p>
        </p:txBody>
      </p:sp>
      <p:sp>
        <p:nvSpPr>
          <p:cNvPr id="9" name="Text 6"/>
          <p:cNvSpPr txBox="1"/>
          <p:nvPr/>
        </p:nvSpPr>
        <p:spPr>
          <a:xfrm>
            <a:off x="449885" y="1600200"/>
            <a:ext cx="1508760" cy="384048"/>
          </a:xfrm>
          <a:prstGeom prst="rect">
            <a:avLst/>
          </a:prstGeom>
          <a:noFill/>
          <a:ln/>
        </p:spPr>
        <p:txBody>
          <a:bodyPr wrap="square" lIns="0" tIns="1778" rIns="0" bIns="0" rtlCol="0" anchor="ctr"/>
          <a:lstStyle/>
          <a:p>
            <a:pPr marL="0" indent="0" algn="l">
              <a:buNone/>
            </a:pPr>
            <a:endParaRPr lang="en-US" sz="1050" dirty="0"/>
          </a:p>
        </p:txBody>
      </p:sp>
      <p:sp>
        <p:nvSpPr>
          <p:cNvPr id="10" name="Text 7"/>
          <p:cNvSpPr txBox="1"/>
          <p:nvPr/>
        </p:nvSpPr>
        <p:spPr>
          <a:xfrm>
            <a:off x="1958645" y="1600200"/>
            <a:ext cx="168386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Poppins SemiBold" pitchFamily="34" charset="0"/>
                <a:ea typeface="Poppins SemiBold" pitchFamily="34" charset="-122"/>
                <a:cs typeface="Poppins SemiBold" pitchFamily="34" charset="-120"/>
              </a:rPr>
              <a:t>LangGraph</a:t>
            </a:r>
            <a:endParaRPr lang="en-US" sz="1050" dirty="0"/>
          </a:p>
        </p:txBody>
      </p:sp>
      <p:sp>
        <p:nvSpPr>
          <p:cNvPr id="11" name="Text 8"/>
          <p:cNvSpPr txBox="1"/>
          <p:nvPr/>
        </p:nvSpPr>
        <p:spPr>
          <a:xfrm>
            <a:off x="3642512" y="1600200"/>
            <a:ext cx="168386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Poppins SemiBold" pitchFamily="34" charset="0"/>
                <a:ea typeface="Poppins SemiBold" pitchFamily="34" charset="-122"/>
                <a:cs typeface="Poppins SemiBold" pitchFamily="34" charset="-120"/>
              </a:rPr>
              <a:t>CrewAI</a:t>
            </a:r>
            <a:endParaRPr lang="en-US" sz="1050" dirty="0"/>
          </a:p>
        </p:txBody>
      </p:sp>
      <p:sp>
        <p:nvSpPr>
          <p:cNvPr id="12" name="Text 9"/>
          <p:cNvSpPr txBox="1"/>
          <p:nvPr/>
        </p:nvSpPr>
        <p:spPr>
          <a:xfrm>
            <a:off x="5326380" y="1600200"/>
            <a:ext cx="168386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Poppins SemiBold" pitchFamily="34" charset="0"/>
                <a:ea typeface="Poppins SemiBold" pitchFamily="34" charset="-122"/>
                <a:cs typeface="Poppins SemiBold" pitchFamily="34" charset="-120"/>
              </a:rPr>
              <a:t>n8n</a:t>
            </a:r>
            <a:endParaRPr lang="en-US" sz="1050" dirty="0"/>
          </a:p>
        </p:txBody>
      </p:sp>
      <p:sp>
        <p:nvSpPr>
          <p:cNvPr id="13" name="Text 10"/>
          <p:cNvSpPr txBox="1"/>
          <p:nvPr/>
        </p:nvSpPr>
        <p:spPr>
          <a:xfrm>
            <a:off x="7010248" y="1600200"/>
            <a:ext cx="1683868"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Poppins SemiBold" pitchFamily="34" charset="0"/>
                <a:ea typeface="Poppins SemiBold" pitchFamily="34" charset="-122"/>
                <a:cs typeface="Poppins SemiBold" pitchFamily="34" charset="-120"/>
              </a:rPr>
              <a:t>MS Agent Framework</a:t>
            </a:r>
            <a:endParaRPr lang="en-US" sz="950" dirty="0"/>
          </a:p>
        </p:txBody>
      </p:sp>
      <p:sp>
        <p:nvSpPr>
          <p:cNvPr id="14" name="Shape 11"/>
          <p:cNvSpPr/>
          <p:nvPr/>
        </p:nvSpPr>
        <p:spPr>
          <a:xfrm>
            <a:off x="449885" y="1984248"/>
            <a:ext cx="8244230" cy="384048"/>
          </a:xfrm>
          <a:prstGeom prst="roundRect">
            <a:avLst/>
          </a:prstGeom>
          <a:solidFill>
            <a:srgbClr val="F8FAFC"/>
          </a:solidFill>
          <a:ln w="9525">
            <a:solidFill>
              <a:srgbClr val="E2E8F0"/>
            </a:solidFill>
            <a:prstDash val="solid"/>
          </a:ln>
        </p:spPr>
        <p:txBody>
          <a:bodyPr/>
          <a:lstStyle/>
          <a:p>
            <a:endParaRPr lang="en-IN"/>
          </a:p>
        </p:txBody>
      </p:sp>
      <p:sp>
        <p:nvSpPr>
          <p:cNvPr id="15" name="Text 12"/>
          <p:cNvSpPr txBox="1"/>
          <p:nvPr/>
        </p:nvSpPr>
        <p:spPr>
          <a:xfrm>
            <a:off x="577901" y="1984248"/>
            <a:ext cx="1380744" cy="384048"/>
          </a:xfrm>
          <a:prstGeom prst="rect">
            <a:avLst/>
          </a:prstGeom>
          <a:noFill/>
          <a:ln/>
        </p:spPr>
        <p:txBody>
          <a:bodyPr wrap="square" lIns="0" tIns="0" rIns="0" bIns="0" rtlCol="0" anchor="ctr"/>
          <a:lstStyle/>
          <a:p>
            <a:pPr marL="0" indent="0" algn="l">
              <a:buNone/>
            </a:pPr>
            <a:r>
              <a:rPr lang="en-US" sz="950" b="1" dirty="0">
                <a:solidFill>
                  <a:srgbClr val="004C97"/>
                </a:solidFill>
                <a:latin typeface="Poppins SemiBold" pitchFamily="34" charset="0"/>
                <a:ea typeface="Poppins SemiBold" pitchFamily="34" charset="-122"/>
                <a:cs typeface="Poppins SemiBold" pitchFamily="34" charset="-120"/>
              </a:rPr>
              <a:t>Maintained by</a:t>
            </a:r>
            <a:endParaRPr lang="en-US" sz="950" dirty="0"/>
          </a:p>
        </p:txBody>
      </p:sp>
      <p:sp>
        <p:nvSpPr>
          <p:cNvPr id="16" name="Text 13"/>
          <p:cNvSpPr txBox="1"/>
          <p:nvPr/>
        </p:nvSpPr>
        <p:spPr>
          <a:xfrm>
            <a:off x="1958645" y="1984248"/>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LangChain</a:t>
            </a:r>
            <a:endParaRPr lang="en-US" sz="950" dirty="0"/>
          </a:p>
        </p:txBody>
      </p:sp>
      <p:sp>
        <p:nvSpPr>
          <p:cNvPr id="17" name="Text 14"/>
          <p:cNvSpPr txBox="1"/>
          <p:nvPr/>
        </p:nvSpPr>
        <p:spPr>
          <a:xfrm>
            <a:off x="3642512" y="1984248"/>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CrewAI Inc.</a:t>
            </a:r>
            <a:endParaRPr lang="en-US" sz="950" dirty="0"/>
          </a:p>
        </p:txBody>
      </p:sp>
      <p:sp>
        <p:nvSpPr>
          <p:cNvPr id="18" name="Text 15"/>
          <p:cNvSpPr txBox="1"/>
          <p:nvPr/>
        </p:nvSpPr>
        <p:spPr>
          <a:xfrm>
            <a:off x="5326380" y="1984248"/>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n8n GmbH</a:t>
            </a:r>
            <a:endParaRPr lang="en-US" sz="950" dirty="0"/>
          </a:p>
        </p:txBody>
      </p:sp>
      <p:sp>
        <p:nvSpPr>
          <p:cNvPr id="19" name="Text 16"/>
          <p:cNvSpPr txBox="1"/>
          <p:nvPr/>
        </p:nvSpPr>
        <p:spPr>
          <a:xfrm>
            <a:off x="7010248" y="1984248"/>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Microsoft</a:t>
            </a:r>
            <a:endParaRPr lang="en-US" sz="950" dirty="0"/>
          </a:p>
        </p:txBody>
      </p:sp>
      <p:sp>
        <p:nvSpPr>
          <p:cNvPr id="20" name="Shape 17"/>
          <p:cNvSpPr/>
          <p:nvPr/>
        </p:nvSpPr>
        <p:spPr>
          <a:xfrm>
            <a:off x="449885" y="2368296"/>
            <a:ext cx="8244230" cy="384048"/>
          </a:xfrm>
          <a:prstGeom prst="roundRect">
            <a:avLst/>
          </a:prstGeom>
          <a:solidFill>
            <a:srgbClr val="FFFFFF"/>
          </a:solidFill>
          <a:ln w="9525">
            <a:solidFill>
              <a:srgbClr val="E2E8F0"/>
            </a:solidFill>
            <a:prstDash val="solid"/>
          </a:ln>
        </p:spPr>
        <p:txBody>
          <a:bodyPr/>
          <a:lstStyle/>
          <a:p>
            <a:endParaRPr lang="en-IN"/>
          </a:p>
        </p:txBody>
      </p:sp>
      <p:sp>
        <p:nvSpPr>
          <p:cNvPr id="21" name="Text 18"/>
          <p:cNvSpPr txBox="1"/>
          <p:nvPr/>
        </p:nvSpPr>
        <p:spPr>
          <a:xfrm>
            <a:off x="577901" y="2368296"/>
            <a:ext cx="1380744" cy="384048"/>
          </a:xfrm>
          <a:prstGeom prst="rect">
            <a:avLst/>
          </a:prstGeom>
          <a:noFill/>
          <a:ln/>
        </p:spPr>
        <p:txBody>
          <a:bodyPr wrap="square" lIns="0" tIns="0" rIns="0" bIns="0" rtlCol="0" anchor="ctr"/>
          <a:lstStyle/>
          <a:p>
            <a:pPr marL="0" indent="0" algn="l">
              <a:buNone/>
            </a:pPr>
            <a:r>
              <a:rPr lang="en-US" sz="950" b="1" dirty="0">
                <a:solidFill>
                  <a:srgbClr val="004C97"/>
                </a:solidFill>
                <a:latin typeface="Poppins SemiBold" pitchFamily="34" charset="0"/>
                <a:ea typeface="Poppins SemiBold" pitchFamily="34" charset="-122"/>
                <a:cs typeface="Poppins SemiBold" pitchFamily="34" charset="-120"/>
              </a:rPr>
              <a:t>Language</a:t>
            </a:r>
            <a:endParaRPr lang="en-US" sz="950" dirty="0"/>
          </a:p>
        </p:txBody>
      </p:sp>
      <p:sp>
        <p:nvSpPr>
          <p:cNvPr id="22" name="Text 19"/>
          <p:cNvSpPr txBox="1"/>
          <p:nvPr/>
        </p:nvSpPr>
        <p:spPr>
          <a:xfrm>
            <a:off x="1958645" y="2368296"/>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Python / JS</a:t>
            </a:r>
            <a:endParaRPr lang="en-US" sz="950" dirty="0"/>
          </a:p>
        </p:txBody>
      </p:sp>
      <p:sp>
        <p:nvSpPr>
          <p:cNvPr id="23" name="Text 20"/>
          <p:cNvSpPr txBox="1"/>
          <p:nvPr/>
        </p:nvSpPr>
        <p:spPr>
          <a:xfrm>
            <a:off x="3642512" y="2368296"/>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Python</a:t>
            </a:r>
            <a:endParaRPr lang="en-US" sz="950" dirty="0"/>
          </a:p>
        </p:txBody>
      </p:sp>
      <p:sp>
        <p:nvSpPr>
          <p:cNvPr id="24" name="Text 21"/>
          <p:cNvSpPr txBox="1"/>
          <p:nvPr/>
        </p:nvSpPr>
        <p:spPr>
          <a:xfrm>
            <a:off x="5326380" y="2368296"/>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Low-code / JS</a:t>
            </a:r>
            <a:endParaRPr lang="en-US" sz="950" dirty="0"/>
          </a:p>
        </p:txBody>
      </p:sp>
      <p:sp>
        <p:nvSpPr>
          <p:cNvPr id="25" name="Text 22"/>
          <p:cNvSpPr txBox="1"/>
          <p:nvPr/>
        </p:nvSpPr>
        <p:spPr>
          <a:xfrm>
            <a:off x="7010248" y="2368296"/>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Python &amp; .NET</a:t>
            </a:r>
            <a:endParaRPr lang="en-US" sz="950" dirty="0"/>
          </a:p>
        </p:txBody>
      </p:sp>
      <p:sp>
        <p:nvSpPr>
          <p:cNvPr id="26" name="Shape 23"/>
          <p:cNvSpPr/>
          <p:nvPr/>
        </p:nvSpPr>
        <p:spPr>
          <a:xfrm>
            <a:off x="449885" y="2752344"/>
            <a:ext cx="8244230" cy="384048"/>
          </a:xfrm>
          <a:prstGeom prst="roundRect">
            <a:avLst/>
          </a:prstGeom>
          <a:solidFill>
            <a:srgbClr val="F8FAFC"/>
          </a:solidFill>
          <a:ln w="9525">
            <a:solidFill>
              <a:srgbClr val="E2E8F0"/>
            </a:solidFill>
            <a:prstDash val="solid"/>
          </a:ln>
        </p:spPr>
        <p:txBody>
          <a:bodyPr/>
          <a:lstStyle/>
          <a:p>
            <a:endParaRPr lang="en-IN"/>
          </a:p>
        </p:txBody>
      </p:sp>
      <p:sp>
        <p:nvSpPr>
          <p:cNvPr id="27" name="Text 24"/>
          <p:cNvSpPr txBox="1"/>
          <p:nvPr/>
        </p:nvSpPr>
        <p:spPr>
          <a:xfrm>
            <a:off x="577901" y="2752344"/>
            <a:ext cx="1380744" cy="384048"/>
          </a:xfrm>
          <a:prstGeom prst="rect">
            <a:avLst/>
          </a:prstGeom>
          <a:noFill/>
          <a:ln/>
        </p:spPr>
        <p:txBody>
          <a:bodyPr wrap="square" lIns="0" tIns="0" rIns="0" bIns="0" rtlCol="0" anchor="ctr"/>
          <a:lstStyle/>
          <a:p>
            <a:pPr marL="0" indent="0" algn="l">
              <a:buNone/>
            </a:pPr>
            <a:r>
              <a:rPr lang="en-US" sz="950" b="1" dirty="0">
                <a:solidFill>
                  <a:srgbClr val="004C97"/>
                </a:solidFill>
                <a:latin typeface="Poppins SemiBold" pitchFamily="34" charset="0"/>
                <a:ea typeface="Poppins SemiBold" pitchFamily="34" charset="-122"/>
                <a:cs typeface="Poppins SemiBold" pitchFamily="34" charset="-120"/>
              </a:rPr>
              <a:t>Orchestration</a:t>
            </a:r>
            <a:endParaRPr lang="en-US" sz="950" dirty="0"/>
          </a:p>
        </p:txBody>
      </p:sp>
      <p:sp>
        <p:nvSpPr>
          <p:cNvPr id="28" name="Text 25"/>
          <p:cNvSpPr txBox="1"/>
          <p:nvPr/>
        </p:nvSpPr>
        <p:spPr>
          <a:xfrm>
            <a:off x="1958645" y="2752344"/>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All types</a:t>
            </a:r>
            <a:endParaRPr lang="en-US" sz="950" dirty="0"/>
          </a:p>
        </p:txBody>
      </p:sp>
      <p:sp>
        <p:nvSpPr>
          <p:cNvPr id="29" name="Text 26"/>
          <p:cNvSpPr txBox="1"/>
          <p:nvPr/>
        </p:nvSpPr>
        <p:spPr>
          <a:xfrm>
            <a:off x="3642512" y="2752344"/>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Role-based</a:t>
            </a:r>
            <a:endParaRPr lang="en-US" sz="950" dirty="0"/>
          </a:p>
        </p:txBody>
      </p:sp>
      <p:sp>
        <p:nvSpPr>
          <p:cNvPr id="30" name="Text 27"/>
          <p:cNvSpPr txBox="1"/>
          <p:nvPr/>
        </p:nvSpPr>
        <p:spPr>
          <a:xfrm>
            <a:off x="5326380" y="2752344"/>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Workflow-first</a:t>
            </a:r>
            <a:endParaRPr lang="en-US" sz="950" dirty="0"/>
          </a:p>
        </p:txBody>
      </p:sp>
      <p:sp>
        <p:nvSpPr>
          <p:cNvPr id="31" name="Text 28"/>
          <p:cNvSpPr txBox="1"/>
          <p:nvPr/>
        </p:nvSpPr>
        <p:spPr>
          <a:xfrm>
            <a:off x="7010248" y="2752344"/>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All types</a:t>
            </a:r>
            <a:endParaRPr lang="en-US" sz="950" dirty="0"/>
          </a:p>
        </p:txBody>
      </p:sp>
      <p:sp>
        <p:nvSpPr>
          <p:cNvPr id="32" name="Shape 29"/>
          <p:cNvSpPr/>
          <p:nvPr/>
        </p:nvSpPr>
        <p:spPr>
          <a:xfrm>
            <a:off x="449885" y="3136392"/>
            <a:ext cx="8244230" cy="384048"/>
          </a:xfrm>
          <a:prstGeom prst="roundRect">
            <a:avLst/>
          </a:prstGeom>
          <a:solidFill>
            <a:srgbClr val="FFFFFF"/>
          </a:solidFill>
          <a:ln w="9525">
            <a:solidFill>
              <a:srgbClr val="E2E8F0"/>
            </a:solidFill>
            <a:prstDash val="solid"/>
          </a:ln>
        </p:spPr>
        <p:txBody>
          <a:bodyPr/>
          <a:lstStyle/>
          <a:p>
            <a:endParaRPr lang="en-IN"/>
          </a:p>
        </p:txBody>
      </p:sp>
      <p:sp>
        <p:nvSpPr>
          <p:cNvPr id="33" name="Text 30"/>
          <p:cNvSpPr txBox="1"/>
          <p:nvPr/>
        </p:nvSpPr>
        <p:spPr>
          <a:xfrm>
            <a:off x="577901" y="3136392"/>
            <a:ext cx="1380744" cy="384048"/>
          </a:xfrm>
          <a:prstGeom prst="rect">
            <a:avLst/>
          </a:prstGeom>
          <a:noFill/>
          <a:ln/>
        </p:spPr>
        <p:txBody>
          <a:bodyPr wrap="square" lIns="0" tIns="0" rIns="0" bIns="0" rtlCol="0" anchor="ctr"/>
          <a:lstStyle/>
          <a:p>
            <a:pPr marL="0" indent="0" algn="l">
              <a:buNone/>
            </a:pPr>
            <a:r>
              <a:rPr lang="en-US" sz="950" b="1" dirty="0">
                <a:solidFill>
                  <a:srgbClr val="004C97"/>
                </a:solidFill>
                <a:latin typeface="Poppins SemiBold" pitchFamily="34" charset="0"/>
                <a:ea typeface="Poppins SemiBold" pitchFamily="34" charset="-122"/>
                <a:cs typeface="Poppins SemiBold" pitchFamily="34" charset="-120"/>
              </a:rPr>
              <a:t>Enterprise ready</a:t>
            </a:r>
            <a:endParaRPr lang="en-US" sz="950" dirty="0"/>
          </a:p>
        </p:txBody>
      </p:sp>
      <p:sp>
        <p:nvSpPr>
          <p:cNvPr id="34" name="Text 31"/>
          <p:cNvSpPr txBox="1"/>
          <p:nvPr/>
        </p:nvSpPr>
        <p:spPr>
          <a:xfrm>
            <a:off x="1958645" y="3136392"/>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High</a:t>
            </a:r>
            <a:endParaRPr lang="en-US" sz="950" dirty="0"/>
          </a:p>
        </p:txBody>
      </p:sp>
      <p:sp>
        <p:nvSpPr>
          <p:cNvPr id="35" name="Text 32"/>
          <p:cNvSpPr txBox="1"/>
          <p:nvPr/>
        </p:nvSpPr>
        <p:spPr>
          <a:xfrm>
            <a:off x="3642512" y="3136392"/>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Medium</a:t>
            </a:r>
            <a:endParaRPr lang="en-US" sz="950" dirty="0"/>
          </a:p>
        </p:txBody>
      </p:sp>
      <p:sp>
        <p:nvSpPr>
          <p:cNvPr id="36" name="Text 33"/>
          <p:cNvSpPr txBox="1"/>
          <p:nvPr/>
        </p:nvSpPr>
        <p:spPr>
          <a:xfrm>
            <a:off x="5326380" y="3136392"/>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Medium</a:t>
            </a:r>
            <a:endParaRPr lang="en-US" sz="950" dirty="0"/>
          </a:p>
        </p:txBody>
      </p:sp>
      <p:sp>
        <p:nvSpPr>
          <p:cNvPr id="37" name="Text 34"/>
          <p:cNvSpPr txBox="1"/>
          <p:nvPr/>
        </p:nvSpPr>
        <p:spPr>
          <a:xfrm>
            <a:off x="7010248" y="3136392"/>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High (native)</a:t>
            </a:r>
            <a:endParaRPr lang="en-US" sz="950" dirty="0"/>
          </a:p>
        </p:txBody>
      </p:sp>
      <p:sp>
        <p:nvSpPr>
          <p:cNvPr id="38" name="Shape 35"/>
          <p:cNvSpPr/>
          <p:nvPr/>
        </p:nvSpPr>
        <p:spPr>
          <a:xfrm>
            <a:off x="449885" y="3520440"/>
            <a:ext cx="8244230" cy="384048"/>
          </a:xfrm>
          <a:prstGeom prst="roundRect">
            <a:avLst/>
          </a:prstGeom>
          <a:solidFill>
            <a:srgbClr val="F8FAFC"/>
          </a:solidFill>
          <a:ln w="9525">
            <a:solidFill>
              <a:srgbClr val="E2E8F0"/>
            </a:solidFill>
            <a:prstDash val="solid"/>
          </a:ln>
        </p:spPr>
        <p:txBody>
          <a:bodyPr/>
          <a:lstStyle/>
          <a:p>
            <a:endParaRPr lang="en-IN"/>
          </a:p>
        </p:txBody>
      </p:sp>
      <p:sp>
        <p:nvSpPr>
          <p:cNvPr id="39" name="Text 36"/>
          <p:cNvSpPr txBox="1"/>
          <p:nvPr/>
        </p:nvSpPr>
        <p:spPr>
          <a:xfrm>
            <a:off x="577901" y="3520440"/>
            <a:ext cx="1380744" cy="384048"/>
          </a:xfrm>
          <a:prstGeom prst="rect">
            <a:avLst/>
          </a:prstGeom>
          <a:noFill/>
          <a:ln/>
        </p:spPr>
        <p:txBody>
          <a:bodyPr wrap="square" lIns="0" tIns="0" rIns="0" bIns="0" rtlCol="0" anchor="ctr"/>
          <a:lstStyle/>
          <a:p>
            <a:pPr marL="0" indent="0" algn="l">
              <a:buNone/>
            </a:pPr>
            <a:r>
              <a:rPr lang="en-US" sz="950" b="1" dirty="0">
                <a:solidFill>
                  <a:srgbClr val="004C97"/>
                </a:solidFill>
                <a:latin typeface="Poppins SemiBold" pitchFamily="34" charset="0"/>
                <a:ea typeface="Poppins SemiBold" pitchFamily="34" charset="-122"/>
                <a:cs typeface="Poppins SemiBold" pitchFamily="34" charset="-120"/>
              </a:rPr>
              <a:t>Best for</a:t>
            </a:r>
            <a:endParaRPr lang="en-US" sz="950" dirty="0"/>
          </a:p>
        </p:txBody>
      </p:sp>
      <p:sp>
        <p:nvSpPr>
          <p:cNvPr id="40" name="Text 37"/>
          <p:cNvSpPr txBox="1"/>
          <p:nvPr/>
        </p:nvSpPr>
        <p:spPr>
          <a:xfrm>
            <a:off x="1958645" y="3520440"/>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Stateful flows</a:t>
            </a:r>
            <a:endParaRPr lang="en-US" sz="950" dirty="0"/>
          </a:p>
        </p:txBody>
      </p:sp>
      <p:sp>
        <p:nvSpPr>
          <p:cNvPr id="41" name="Text 38"/>
          <p:cNvSpPr txBox="1"/>
          <p:nvPr/>
        </p:nvSpPr>
        <p:spPr>
          <a:xfrm>
            <a:off x="3642512" y="3520440"/>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Role-based teams</a:t>
            </a:r>
            <a:endParaRPr lang="en-US" sz="950" dirty="0"/>
          </a:p>
        </p:txBody>
      </p:sp>
      <p:sp>
        <p:nvSpPr>
          <p:cNvPr id="42" name="Text 39"/>
          <p:cNvSpPr txBox="1"/>
          <p:nvPr/>
        </p:nvSpPr>
        <p:spPr>
          <a:xfrm>
            <a:off x="5326380" y="3520440"/>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Low-code automation</a:t>
            </a:r>
            <a:endParaRPr lang="en-US" sz="950" dirty="0"/>
          </a:p>
        </p:txBody>
      </p:sp>
      <p:sp>
        <p:nvSpPr>
          <p:cNvPr id="43" name="Text 40"/>
          <p:cNvSpPr txBox="1"/>
          <p:nvPr/>
        </p:nvSpPr>
        <p:spPr>
          <a:xfrm>
            <a:off x="7010248" y="3520440"/>
            <a:ext cx="1683868" cy="384048"/>
          </a:xfrm>
          <a:prstGeom prst="rect">
            <a:avLst/>
          </a:prstGeom>
          <a:noFill/>
          <a:ln/>
        </p:spPr>
        <p:txBody>
          <a:bodyPr wrap="square" lIns="0" tIns="0" rIns="0" bIns="0" rtlCol="0" anchor="ctr"/>
          <a:lstStyle/>
          <a:p>
            <a:pPr marL="0" indent="0" algn="ctr">
              <a:buNone/>
            </a:pPr>
            <a:r>
              <a:rPr lang="en-US" sz="950" dirty="0">
                <a:solidFill>
                  <a:srgbClr val="3B3D3E"/>
                </a:solidFill>
                <a:latin typeface="PT Sans" pitchFamily="34" charset="0"/>
                <a:ea typeface="PT Sans" pitchFamily="34" charset="-122"/>
                <a:cs typeface="PT Sans" pitchFamily="34" charset="-120"/>
              </a:rPr>
              <a:t>Azure / MSFT stack</a:t>
            </a:r>
            <a:endParaRPr lang="en-US" sz="950" dirty="0"/>
          </a:p>
        </p:txBody>
      </p:sp>
      <p:sp>
        <p:nvSpPr>
          <p:cNvPr id="44" name="Shape 41"/>
          <p:cNvSpPr/>
          <p:nvPr/>
        </p:nvSpPr>
        <p:spPr>
          <a:xfrm>
            <a:off x="449885" y="1600200"/>
            <a:ext cx="0" cy="2304288"/>
          </a:xfrm>
          <a:prstGeom prst="line">
            <a:avLst/>
          </a:prstGeom>
          <a:noFill/>
          <a:ln w="9525">
            <a:solidFill>
              <a:srgbClr val="E2E8F0"/>
            </a:solidFill>
            <a:prstDash val="solid"/>
          </a:ln>
        </p:spPr>
        <p:txBody>
          <a:bodyPr/>
          <a:lstStyle/>
          <a:p>
            <a:endParaRPr lang="en-IN"/>
          </a:p>
        </p:txBody>
      </p:sp>
      <p:sp>
        <p:nvSpPr>
          <p:cNvPr id="45" name="Shape 42"/>
          <p:cNvSpPr/>
          <p:nvPr/>
        </p:nvSpPr>
        <p:spPr>
          <a:xfrm>
            <a:off x="1958645" y="1600200"/>
            <a:ext cx="0" cy="2304288"/>
          </a:xfrm>
          <a:prstGeom prst="line">
            <a:avLst/>
          </a:prstGeom>
          <a:noFill/>
          <a:ln w="9525">
            <a:solidFill>
              <a:srgbClr val="E2E8F0"/>
            </a:solidFill>
            <a:prstDash val="solid"/>
          </a:ln>
        </p:spPr>
        <p:txBody>
          <a:bodyPr/>
          <a:lstStyle/>
          <a:p>
            <a:endParaRPr lang="en-IN"/>
          </a:p>
        </p:txBody>
      </p:sp>
      <p:sp>
        <p:nvSpPr>
          <p:cNvPr id="46" name="Shape 43"/>
          <p:cNvSpPr/>
          <p:nvPr/>
        </p:nvSpPr>
        <p:spPr>
          <a:xfrm>
            <a:off x="3642512" y="1600200"/>
            <a:ext cx="0" cy="2304288"/>
          </a:xfrm>
          <a:prstGeom prst="line">
            <a:avLst/>
          </a:prstGeom>
          <a:noFill/>
          <a:ln w="9525">
            <a:solidFill>
              <a:srgbClr val="E2E8F0"/>
            </a:solidFill>
            <a:prstDash val="solid"/>
          </a:ln>
        </p:spPr>
        <p:txBody>
          <a:bodyPr/>
          <a:lstStyle/>
          <a:p>
            <a:endParaRPr lang="en-IN"/>
          </a:p>
        </p:txBody>
      </p:sp>
      <p:sp>
        <p:nvSpPr>
          <p:cNvPr id="47" name="Shape 44"/>
          <p:cNvSpPr/>
          <p:nvPr/>
        </p:nvSpPr>
        <p:spPr>
          <a:xfrm>
            <a:off x="5326380" y="1600200"/>
            <a:ext cx="0" cy="2304288"/>
          </a:xfrm>
          <a:prstGeom prst="line">
            <a:avLst/>
          </a:prstGeom>
          <a:noFill/>
          <a:ln w="9525">
            <a:solidFill>
              <a:srgbClr val="E2E8F0"/>
            </a:solidFill>
            <a:prstDash val="solid"/>
          </a:ln>
        </p:spPr>
        <p:txBody>
          <a:bodyPr/>
          <a:lstStyle/>
          <a:p>
            <a:endParaRPr lang="en-IN"/>
          </a:p>
        </p:txBody>
      </p:sp>
      <p:sp>
        <p:nvSpPr>
          <p:cNvPr id="48" name="Shape 45"/>
          <p:cNvSpPr/>
          <p:nvPr/>
        </p:nvSpPr>
        <p:spPr>
          <a:xfrm>
            <a:off x="7010248" y="1600200"/>
            <a:ext cx="0" cy="2304288"/>
          </a:xfrm>
          <a:prstGeom prst="line">
            <a:avLst/>
          </a:prstGeom>
          <a:noFill/>
          <a:ln w="9525">
            <a:solidFill>
              <a:srgbClr val="E2E8F0"/>
            </a:solidFill>
            <a:prstDash val="solid"/>
          </a:ln>
        </p:spPr>
        <p:txBody>
          <a:bodyPr/>
          <a:lstStyle/>
          <a:p>
            <a:endParaRPr lang="en-IN"/>
          </a:p>
        </p:txBody>
      </p:sp>
      <p:sp>
        <p:nvSpPr>
          <p:cNvPr id="49" name="Shape 46"/>
          <p:cNvSpPr/>
          <p:nvPr/>
        </p:nvSpPr>
        <p:spPr>
          <a:xfrm>
            <a:off x="8694115" y="1600200"/>
            <a:ext cx="0" cy="2304288"/>
          </a:xfrm>
          <a:prstGeom prst="line">
            <a:avLst/>
          </a:prstGeom>
          <a:noFill/>
          <a:ln w="9525">
            <a:solidFill>
              <a:srgbClr val="E2E8F0"/>
            </a:solidFill>
            <a:prstDash val="solid"/>
          </a:ln>
        </p:spPr>
        <p:txBody>
          <a:bodyPr/>
          <a:lstStyle/>
          <a:p>
            <a:endParaRPr lang="en-IN"/>
          </a:p>
        </p:txBody>
      </p:sp>
      <p:sp>
        <p:nvSpPr>
          <p:cNvPr id="50" name="Text 47"/>
          <p:cNvSpPr txBox="1"/>
          <p:nvPr/>
        </p:nvSpPr>
        <p:spPr>
          <a:xfrm>
            <a:off x="449885" y="4041648"/>
            <a:ext cx="8244230" cy="320040"/>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Today's live demos both run in n8n — deliberately the low-code end of this table, so the mechanism stays visible instead of buried in framework code.</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3  •  LIVE IN N8N</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Watch Them Coordinate</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449885" y="1234440"/>
            <a:ext cx="8244230" cy="777240"/>
          </a:xfrm>
          <a:prstGeom prst="roundRect">
            <a:avLst>
              <a:gd name="adj" fmla="val 7059"/>
            </a:avLst>
          </a:prstGeom>
          <a:solidFill>
            <a:srgbClr val="004C97"/>
          </a:solidFill>
          <a:ln w="9525">
            <a:solidFill>
              <a:srgbClr val="004C97"/>
            </a:solidFill>
            <a:prstDash val="solid"/>
          </a:ln>
        </p:spPr>
        <p:txBody>
          <a:bodyPr/>
          <a:lstStyle/>
          <a:p>
            <a:endParaRPr lang="en-IN"/>
          </a:p>
        </p:txBody>
      </p:sp>
      <p:sp>
        <p:nvSpPr>
          <p:cNvPr id="8" name="Text 5"/>
          <p:cNvSpPr txBox="1"/>
          <p:nvPr/>
        </p:nvSpPr>
        <p:spPr>
          <a:xfrm>
            <a:off x="678485" y="1234440"/>
            <a:ext cx="7787030" cy="777240"/>
          </a:xfrm>
          <a:prstGeom prst="rect">
            <a:avLst/>
          </a:prstGeom>
          <a:noFill/>
          <a:ln/>
        </p:spPr>
        <p:txBody>
          <a:bodyPr wrap="square" lIns="0" tIns="0" rIns="0" bIns="0" rtlCol="0" anchor="ctr"/>
          <a:lstStyle/>
          <a:p>
            <a:pPr marL="0" indent="0">
              <a:lnSpc>
                <a:spcPct val="120000"/>
              </a:lnSpc>
              <a:buNone/>
            </a:pPr>
            <a:r>
              <a:rPr lang="en-US" sz="1250" b="1" dirty="0">
                <a:solidFill>
                  <a:srgbClr val="FFFFFF"/>
                </a:solidFill>
                <a:latin typeface="Poppins SemiBold" pitchFamily="34" charset="0"/>
                <a:ea typeface="Poppins SemiBold" pitchFamily="34" charset="-122"/>
                <a:cs typeface="Poppins SemiBold" pitchFamily="34" charset="-120"/>
              </a:rPr>
              <a:t>Stock research, this time as a team: a Finance Agent, a News Agent, and a Risk Agent — each independent — feeding one CIA Agent that writes the report and sends the e-mail.</a:t>
            </a:r>
            <a:endParaRPr lang="en-US" sz="1250" dirty="0"/>
          </a:p>
        </p:txBody>
      </p:sp>
      <p:sp>
        <p:nvSpPr>
          <p:cNvPr id="9" name="Shape 6"/>
          <p:cNvSpPr/>
          <p:nvPr/>
        </p:nvSpPr>
        <p:spPr>
          <a:xfrm>
            <a:off x="449885" y="2194560"/>
            <a:ext cx="2656637" cy="1280160"/>
          </a:xfrm>
          <a:prstGeom prst="roundRect">
            <a:avLst>
              <a:gd name="adj" fmla="val 4286"/>
            </a:avLst>
          </a:prstGeom>
          <a:solidFill>
            <a:srgbClr val="FFFFFF"/>
          </a:solidFill>
          <a:ln w="9525">
            <a:solidFill>
              <a:srgbClr val="E2E8F0"/>
            </a:solidFill>
            <a:prstDash val="solid"/>
          </a:ln>
        </p:spPr>
        <p:txBody>
          <a:bodyPr/>
          <a:lstStyle/>
          <a:p>
            <a:endParaRPr lang="en-IN"/>
          </a:p>
        </p:txBody>
      </p:sp>
      <p:sp>
        <p:nvSpPr>
          <p:cNvPr id="10" name="Text 7"/>
          <p:cNvSpPr txBox="1"/>
          <p:nvPr/>
        </p:nvSpPr>
        <p:spPr>
          <a:xfrm>
            <a:off x="596189" y="2331720"/>
            <a:ext cx="2364029" cy="274320"/>
          </a:xfrm>
          <a:prstGeom prst="rect">
            <a:avLst/>
          </a:prstGeom>
          <a:noFill/>
          <a:ln/>
        </p:spPr>
        <p:txBody>
          <a:bodyPr wrap="square" lIns="0" tIns="0" rIns="0" bIns="0" rtlCol="0" anchor="ctr"/>
          <a:lstStyle/>
          <a:p>
            <a:pPr marL="0" indent="0">
              <a:buNone/>
            </a:pPr>
            <a:r>
              <a:rPr lang="en-US" sz="1150" b="1" dirty="0">
                <a:solidFill>
                  <a:srgbClr val="004C97"/>
                </a:solidFill>
                <a:latin typeface="Poppins SemiBold" pitchFamily="34" charset="0"/>
                <a:ea typeface="Poppins SemiBold" pitchFamily="34" charset="-122"/>
                <a:cs typeface="Poppins SemiBold" pitchFamily="34" charset="-120"/>
              </a:rPr>
              <a:t>Watch the delegation</a:t>
            </a:r>
            <a:endParaRPr lang="en-US" sz="1150" dirty="0"/>
          </a:p>
        </p:txBody>
      </p:sp>
      <p:sp>
        <p:nvSpPr>
          <p:cNvPr id="11" name="Text 8"/>
          <p:cNvSpPr txBox="1"/>
          <p:nvPr/>
        </p:nvSpPr>
        <p:spPr>
          <a:xfrm>
            <a:off x="596189" y="2624328"/>
            <a:ext cx="2364029" cy="777240"/>
          </a:xfrm>
          <a:prstGeom prst="rect">
            <a:avLst/>
          </a:prstGeom>
          <a:noFill/>
          <a:ln/>
        </p:spPr>
        <p:txBody>
          <a:bodyPr wrap="square" lIns="0" tIns="0" rIns="0" bIns="0" rtlCol="0" anchor="t"/>
          <a:lstStyle/>
          <a:p>
            <a:pPr marL="0" indent="0">
              <a:lnSpc>
                <a:spcPct val="120000"/>
              </a:lnSpc>
              <a:buNone/>
            </a:pPr>
            <a:r>
              <a:rPr lang="en-US" sz="930" dirty="0">
                <a:solidFill>
                  <a:srgbClr val="3B3D3E"/>
                </a:solidFill>
                <a:latin typeface="PT Sans" pitchFamily="34" charset="0"/>
                <a:ea typeface="PT Sans" pitchFamily="34" charset="-122"/>
                <a:cs typeface="PT Sans" pitchFamily="34" charset="-120"/>
              </a:rPr>
              <a:t>The CIA agent doesn't research anything itself — it decides who to ask, and in what order.</a:t>
            </a:r>
            <a:endParaRPr lang="en-US" sz="930" dirty="0"/>
          </a:p>
        </p:txBody>
      </p:sp>
      <p:sp>
        <p:nvSpPr>
          <p:cNvPr id="12" name="Shape 9"/>
          <p:cNvSpPr/>
          <p:nvPr/>
        </p:nvSpPr>
        <p:spPr>
          <a:xfrm>
            <a:off x="3243682" y="2194560"/>
            <a:ext cx="2656637" cy="1280160"/>
          </a:xfrm>
          <a:prstGeom prst="roundRect">
            <a:avLst>
              <a:gd name="adj" fmla="val 4286"/>
            </a:avLst>
          </a:prstGeom>
          <a:solidFill>
            <a:srgbClr val="FFFFFF"/>
          </a:solidFill>
          <a:ln w="9525">
            <a:solidFill>
              <a:srgbClr val="E2E8F0"/>
            </a:solidFill>
            <a:prstDash val="solid"/>
          </a:ln>
        </p:spPr>
        <p:txBody>
          <a:bodyPr/>
          <a:lstStyle/>
          <a:p>
            <a:endParaRPr lang="en-IN"/>
          </a:p>
        </p:txBody>
      </p:sp>
      <p:sp>
        <p:nvSpPr>
          <p:cNvPr id="13" name="Text 10"/>
          <p:cNvSpPr txBox="1"/>
          <p:nvPr/>
        </p:nvSpPr>
        <p:spPr>
          <a:xfrm>
            <a:off x="3389986" y="2331720"/>
            <a:ext cx="2364029" cy="274320"/>
          </a:xfrm>
          <a:prstGeom prst="rect">
            <a:avLst/>
          </a:prstGeom>
          <a:noFill/>
          <a:ln/>
        </p:spPr>
        <p:txBody>
          <a:bodyPr wrap="square" lIns="0" tIns="0" rIns="0" bIns="0" rtlCol="0" anchor="ctr"/>
          <a:lstStyle/>
          <a:p>
            <a:pPr marL="0" indent="0">
              <a:buNone/>
            </a:pPr>
            <a:r>
              <a:rPr lang="en-US" sz="1150" b="1" dirty="0">
                <a:solidFill>
                  <a:srgbClr val="004C97"/>
                </a:solidFill>
                <a:latin typeface="Poppins SemiBold" pitchFamily="34" charset="0"/>
                <a:ea typeface="Poppins SemiBold" pitchFamily="34" charset="-122"/>
                <a:cs typeface="Poppins SemiBold" pitchFamily="34" charset="-120"/>
              </a:rPr>
              <a:t>Watch the specialists</a:t>
            </a:r>
            <a:endParaRPr lang="en-US" sz="1150" dirty="0"/>
          </a:p>
        </p:txBody>
      </p:sp>
      <p:sp>
        <p:nvSpPr>
          <p:cNvPr id="14" name="Text 11"/>
          <p:cNvSpPr txBox="1"/>
          <p:nvPr/>
        </p:nvSpPr>
        <p:spPr>
          <a:xfrm>
            <a:off x="3389986" y="2624328"/>
            <a:ext cx="2364029" cy="777240"/>
          </a:xfrm>
          <a:prstGeom prst="rect">
            <a:avLst/>
          </a:prstGeom>
          <a:noFill/>
          <a:ln/>
        </p:spPr>
        <p:txBody>
          <a:bodyPr wrap="square" lIns="0" tIns="0" rIns="0" bIns="0" rtlCol="0" anchor="t"/>
          <a:lstStyle/>
          <a:p>
            <a:pPr marL="0" indent="0">
              <a:lnSpc>
                <a:spcPct val="120000"/>
              </a:lnSpc>
              <a:buNone/>
            </a:pPr>
            <a:r>
              <a:rPr lang="en-US" sz="930" dirty="0">
                <a:solidFill>
                  <a:srgbClr val="3B3D3E"/>
                </a:solidFill>
                <a:latin typeface="PT Sans" pitchFamily="34" charset="0"/>
                <a:ea typeface="PT Sans" pitchFamily="34" charset="-122"/>
                <a:cs typeface="PT Sans" pitchFamily="34" charset="-120"/>
              </a:rPr>
              <a:t>Finance, News, and Risk each run their own loop, their own tools, and answer independently.</a:t>
            </a:r>
            <a:endParaRPr lang="en-US" sz="930" dirty="0"/>
          </a:p>
        </p:txBody>
      </p:sp>
      <p:sp>
        <p:nvSpPr>
          <p:cNvPr id="15" name="Shape 12"/>
          <p:cNvSpPr/>
          <p:nvPr/>
        </p:nvSpPr>
        <p:spPr>
          <a:xfrm>
            <a:off x="6037478" y="2194560"/>
            <a:ext cx="2656637" cy="1280160"/>
          </a:xfrm>
          <a:prstGeom prst="roundRect">
            <a:avLst>
              <a:gd name="adj" fmla="val 4286"/>
            </a:avLst>
          </a:prstGeom>
          <a:solidFill>
            <a:srgbClr val="FFFFFF"/>
          </a:solidFill>
          <a:ln w="9525">
            <a:solidFill>
              <a:srgbClr val="E2E8F0"/>
            </a:solidFill>
            <a:prstDash val="solid"/>
          </a:ln>
        </p:spPr>
        <p:txBody>
          <a:bodyPr/>
          <a:lstStyle/>
          <a:p>
            <a:endParaRPr lang="en-IN"/>
          </a:p>
        </p:txBody>
      </p:sp>
      <p:sp>
        <p:nvSpPr>
          <p:cNvPr id="16" name="Text 13"/>
          <p:cNvSpPr txBox="1"/>
          <p:nvPr/>
        </p:nvSpPr>
        <p:spPr>
          <a:xfrm>
            <a:off x="6183782" y="2331720"/>
            <a:ext cx="2364029" cy="274320"/>
          </a:xfrm>
          <a:prstGeom prst="rect">
            <a:avLst/>
          </a:prstGeom>
          <a:noFill/>
          <a:ln/>
        </p:spPr>
        <p:txBody>
          <a:bodyPr wrap="square" lIns="0" tIns="0" rIns="0" bIns="0" rtlCol="0" anchor="ctr"/>
          <a:lstStyle/>
          <a:p>
            <a:pPr marL="0" indent="0">
              <a:buNone/>
            </a:pPr>
            <a:r>
              <a:rPr lang="en-US" sz="1150" b="1" dirty="0">
                <a:solidFill>
                  <a:srgbClr val="004C97"/>
                </a:solidFill>
                <a:latin typeface="Poppins SemiBold" pitchFamily="34" charset="0"/>
                <a:ea typeface="Poppins SemiBold" pitchFamily="34" charset="-122"/>
                <a:cs typeface="Poppins SemiBold" pitchFamily="34" charset="-120"/>
              </a:rPr>
              <a:t>Watch the synthesis</a:t>
            </a:r>
            <a:endParaRPr lang="en-US" sz="1150" dirty="0"/>
          </a:p>
        </p:txBody>
      </p:sp>
      <p:sp>
        <p:nvSpPr>
          <p:cNvPr id="17" name="Text 14"/>
          <p:cNvSpPr txBox="1"/>
          <p:nvPr/>
        </p:nvSpPr>
        <p:spPr>
          <a:xfrm>
            <a:off x="6183782" y="2624328"/>
            <a:ext cx="2364029" cy="777240"/>
          </a:xfrm>
          <a:prstGeom prst="rect">
            <a:avLst/>
          </a:prstGeom>
          <a:noFill/>
          <a:ln/>
        </p:spPr>
        <p:txBody>
          <a:bodyPr wrap="square" lIns="0" tIns="0" rIns="0" bIns="0" rtlCol="0" anchor="t"/>
          <a:lstStyle/>
          <a:p>
            <a:pPr marL="0" indent="0">
              <a:lnSpc>
                <a:spcPct val="120000"/>
              </a:lnSpc>
              <a:buNone/>
            </a:pPr>
            <a:r>
              <a:rPr lang="en-US" sz="930" dirty="0">
                <a:solidFill>
                  <a:srgbClr val="3B3D3E"/>
                </a:solidFill>
                <a:latin typeface="PT Sans" pitchFamily="34" charset="0"/>
                <a:ea typeface="PT Sans" pitchFamily="34" charset="-122"/>
                <a:cs typeface="PT Sans" pitchFamily="34" charset="-120"/>
              </a:rPr>
              <a:t>One report, one e-mail — assembled from three answers nobody merged by hand.</a:t>
            </a:r>
            <a:endParaRPr lang="en-US" sz="930" dirty="0"/>
          </a:p>
        </p:txBody>
      </p:sp>
      <p:sp>
        <p:nvSpPr>
          <p:cNvPr id="18" name="Text 15"/>
          <p:cNvSpPr txBox="1"/>
          <p:nvPr/>
        </p:nvSpPr>
        <p:spPr>
          <a:xfrm>
            <a:off x="449885" y="3657600"/>
            <a:ext cx="8244230" cy="457200"/>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This is the supervisor-specialist pattern from three slides ago, running for real — and it's exactly the hand-off shape your afternoon lab's orchestrator manages in code, one tool at a time.</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4  •  GOVERNANCE, OBSERVABILITY &amp; RISK</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Governance Isn't Optional — It's Survival</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207008"/>
            <a:ext cx="8244230" cy="566928"/>
          </a:xfrm>
          <a:prstGeom prst="rect">
            <a:avLst/>
          </a:prstGeom>
          <a:noFill/>
          <a:ln/>
        </p:spPr>
        <p:txBody>
          <a:bodyPr wrap="square" lIns="0" tIns="0" rIns="0" bIns="0" rtlCol="0" anchor="ctr"/>
          <a:lstStyle/>
          <a:p>
            <a:pPr marL="0" indent="0">
              <a:lnSpc>
                <a:spcPct val="128000"/>
              </a:lnSpc>
              <a:buNone/>
            </a:pPr>
            <a:r>
              <a:rPr lang="en-US" sz="1150" dirty="0">
                <a:solidFill>
                  <a:srgbClr val="3B3D3E"/>
                </a:solidFill>
                <a:latin typeface="PT Sans" pitchFamily="34" charset="0"/>
                <a:ea typeface="PT Sans" pitchFamily="34" charset="-122"/>
                <a:cs typeface="PT Sans" pitchFamily="34" charset="-120"/>
              </a:rPr>
              <a:t>Every failure mode below mirrors what happens in any new technology era: the excitement comes first, the guardrails follow later. The only question is whether they follow before or after something breaks.</a:t>
            </a:r>
            <a:endParaRPr lang="en-US" sz="1150" dirty="0"/>
          </a:p>
        </p:txBody>
      </p:sp>
      <p:sp>
        <p:nvSpPr>
          <p:cNvPr id="8" name="Shape 5"/>
          <p:cNvSpPr/>
          <p:nvPr/>
        </p:nvSpPr>
        <p:spPr>
          <a:xfrm>
            <a:off x="449885" y="1965960"/>
            <a:ext cx="1958188" cy="1417320"/>
          </a:xfrm>
          <a:prstGeom prst="roundRect">
            <a:avLst>
              <a:gd name="adj" fmla="val 3871"/>
            </a:avLst>
          </a:prstGeom>
          <a:solidFill>
            <a:srgbClr val="FBEFEF"/>
          </a:solidFill>
          <a:ln w="9525">
            <a:solidFill>
              <a:srgbClr val="E3B8B6"/>
            </a:solidFill>
            <a:prstDash val="solid"/>
          </a:ln>
        </p:spPr>
        <p:txBody>
          <a:bodyPr/>
          <a:lstStyle/>
          <a:p>
            <a:endParaRPr lang="en-IN"/>
          </a:p>
        </p:txBody>
      </p:sp>
      <p:sp>
        <p:nvSpPr>
          <p:cNvPr id="9" name="Text 6"/>
          <p:cNvSpPr txBox="1"/>
          <p:nvPr/>
        </p:nvSpPr>
        <p:spPr>
          <a:xfrm>
            <a:off x="587045" y="2093976"/>
            <a:ext cx="1683868" cy="457200"/>
          </a:xfrm>
          <a:prstGeom prst="rect">
            <a:avLst/>
          </a:prstGeom>
          <a:noFill/>
          <a:ln/>
        </p:spPr>
        <p:txBody>
          <a:bodyPr wrap="square" lIns="0" tIns="0" rIns="0" bIns="0" rtlCol="0" anchor="t"/>
          <a:lstStyle/>
          <a:p>
            <a:pPr marL="0" indent="0">
              <a:lnSpc>
                <a:spcPct val="110000"/>
              </a:lnSpc>
              <a:buNone/>
            </a:pPr>
            <a:r>
              <a:rPr lang="en-US" sz="1050" b="1" dirty="0">
                <a:solidFill>
                  <a:srgbClr val="C0504D"/>
                </a:solidFill>
                <a:latin typeface="Poppins SemiBold" pitchFamily="34" charset="0"/>
                <a:ea typeface="Poppins SemiBold" pitchFamily="34" charset="-122"/>
                <a:cs typeface="Poppins SemiBold" pitchFamily="34" charset="-120"/>
              </a:rPr>
              <a:t>Loops without guardrails</a:t>
            </a:r>
            <a:endParaRPr lang="en-US" sz="1050" dirty="0"/>
          </a:p>
        </p:txBody>
      </p:sp>
      <p:sp>
        <p:nvSpPr>
          <p:cNvPr id="10" name="Text 7"/>
          <p:cNvSpPr txBox="1"/>
          <p:nvPr/>
        </p:nvSpPr>
        <p:spPr>
          <a:xfrm>
            <a:off x="587045" y="2587752"/>
            <a:ext cx="1683868" cy="731520"/>
          </a:xfrm>
          <a:prstGeom prst="rect">
            <a:avLst/>
          </a:prstGeom>
          <a:noFill/>
          <a:ln/>
        </p:spPr>
        <p:txBody>
          <a:bodyPr wrap="square" lIns="0" tIns="0" rIns="0" bIns="0" rtlCol="0" anchor="t"/>
          <a:lstStyle/>
          <a:p>
            <a:pPr marL="0" indent="0">
              <a:lnSpc>
                <a:spcPct val="120000"/>
              </a:lnSpc>
              <a:buNone/>
            </a:pPr>
            <a:r>
              <a:rPr lang="en-US" sz="880" dirty="0">
                <a:solidFill>
                  <a:srgbClr val="3B3D3E"/>
                </a:solidFill>
                <a:latin typeface="PT Sans" pitchFamily="34" charset="0"/>
                <a:ea typeface="PT Sans" pitchFamily="34" charset="-122"/>
                <a:cs typeface="PT Sans" pitchFamily="34" charset="-120"/>
              </a:rPr>
              <a:t>→ runaway API calls. No reflection means repeated failed tasks, indefinitely.</a:t>
            </a:r>
            <a:endParaRPr lang="en-US" sz="880" dirty="0"/>
          </a:p>
        </p:txBody>
      </p:sp>
      <p:sp>
        <p:nvSpPr>
          <p:cNvPr id="11" name="Shape 8"/>
          <p:cNvSpPr/>
          <p:nvPr/>
        </p:nvSpPr>
        <p:spPr>
          <a:xfrm>
            <a:off x="2545232" y="1965960"/>
            <a:ext cx="1958188" cy="1417320"/>
          </a:xfrm>
          <a:prstGeom prst="roundRect">
            <a:avLst>
              <a:gd name="adj" fmla="val 3871"/>
            </a:avLst>
          </a:prstGeom>
          <a:solidFill>
            <a:srgbClr val="FBEFEF"/>
          </a:solidFill>
          <a:ln w="9525">
            <a:solidFill>
              <a:srgbClr val="E3B8B6"/>
            </a:solidFill>
            <a:prstDash val="solid"/>
          </a:ln>
        </p:spPr>
        <p:txBody>
          <a:bodyPr/>
          <a:lstStyle/>
          <a:p>
            <a:endParaRPr lang="en-IN"/>
          </a:p>
        </p:txBody>
      </p:sp>
      <p:sp>
        <p:nvSpPr>
          <p:cNvPr id="12" name="Text 9"/>
          <p:cNvSpPr txBox="1"/>
          <p:nvPr/>
        </p:nvSpPr>
        <p:spPr>
          <a:xfrm>
            <a:off x="2682392" y="2093976"/>
            <a:ext cx="1683868" cy="457200"/>
          </a:xfrm>
          <a:prstGeom prst="rect">
            <a:avLst/>
          </a:prstGeom>
          <a:noFill/>
          <a:ln/>
        </p:spPr>
        <p:txBody>
          <a:bodyPr wrap="square" lIns="0" tIns="0" rIns="0" bIns="0" rtlCol="0" anchor="t"/>
          <a:lstStyle/>
          <a:p>
            <a:pPr marL="0" indent="0">
              <a:lnSpc>
                <a:spcPct val="110000"/>
              </a:lnSpc>
              <a:buNone/>
            </a:pPr>
            <a:r>
              <a:rPr lang="en-US" sz="1050" b="1" dirty="0">
                <a:solidFill>
                  <a:srgbClr val="C0504D"/>
                </a:solidFill>
                <a:latin typeface="Poppins SemiBold" pitchFamily="34" charset="0"/>
                <a:ea typeface="Poppins SemiBold" pitchFamily="34" charset="-122"/>
                <a:cs typeface="Poppins SemiBold" pitchFamily="34" charset="-120"/>
              </a:rPr>
              <a:t>Missing cost caps</a:t>
            </a:r>
            <a:endParaRPr lang="en-US" sz="1050" dirty="0"/>
          </a:p>
        </p:txBody>
      </p:sp>
      <p:sp>
        <p:nvSpPr>
          <p:cNvPr id="13" name="Text 10"/>
          <p:cNvSpPr txBox="1"/>
          <p:nvPr/>
        </p:nvSpPr>
        <p:spPr>
          <a:xfrm>
            <a:off x="2682392" y="2587752"/>
            <a:ext cx="1683868" cy="731520"/>
          </a:xfrm>
          <a:prstGeom prst="rect">
            <a:avLst/>
          </a:prstGeom>
          <a:noFill/>
          <a:ln/>
        </p:spPr>
        <p:txBody>
          <a:bodyPr wrap="square" lIns="0" tIns="0" rIns="0" bIns="0" rtlCol="0" anchor="t"/>
          <a:lstStyle/>
          <a:p>
            <a:pPr marL="0" indent="0">
              <a:lnSpc>
                <a:spcPct val="120000"/>
              </a:lnSpc>
              <a:buNone/>
            </a:pPr>
            <a:r>
              <a:rPr lang="en-US" sz="880" dirty="0">
                <a:solidFill>
                  <a:srgbClr val="3B3D3E"/>
                </a:solidFill>
                <a:latin typeface="PT Sans" pitchFamily="34" charset="0"/>
                <a:ea typeface="PT Sans" pitchFamily="34" charset="-122"/>
                <a:cs typeface="PT Sans" pitchFamily="34" charset="-120"/>
              </a:rPr>
              <a:t>→ uncontrolled API calls = real money, with nobody watching the meter.</a:t>
            </a:r>
            <a:endParaRPr lang="en-US" sz="880" dirty="0"/>
          </a:p>
        </p:txBody>
      </p:sp>
      <p:sp>
        <p:nvSpPr>
          <p:cNvPr id="14" name="Shape 11"/>
          <p:cNvSpPr/>
          <p:nvPr/>
        </p:nvSpPr>
        <p:spPr>
          <a:xfrm>
            <a:off x="4640580" y="1965960"/>
            <a:ext cx="1958188" cy="1417320"/>
          </a:xfrm>
          <a:prstGeom prst="roundRect">
            <a:avLst>
              <a:gd name="adj" fmla="val 3871"/>
            </a:avLst>
          </a:prstGeom>
          <a:solidFill>
            <a:srgbClr val="FBEFEF"/>
          </a:solidFill>
          <a:ln w="9525">
            <a:solidFill>
              <a:srgbClr val="E3B8B6"/>
            </a:solidFill>
            <a:prstDash val="solid"/>
          </a:ln>
        </p:spPr>
        <p:txBody>
          <a:bodyPr/>
          <a:lstStyle/>
          <a:p>
            <a:endParaRPr lang="en-IN"/>
          </a:p>
        </p:txBody>
      </p:sp>
      <p:sp>
        <p:nvSpPr>
          <p:cNvPr id="15" name="Text 12"/>
          <p:cNvSpPr txBox="1"/>
          <p:nvPr/>
        </p:nvSpPr>
        <p:spPr>
          <a:xfrm>
            <a:off x="4777740" y="2093976"/>
            <a:ext cx="1683868" cy="457200"/>
          </a:xfrm>
          <a:prstGeom prst="rect">
            <a:avLst/>
          </a:prstGeom>
          <a:noFill/>
          <a:ln/>
        </p:spPr>
        <p:txBody>
          <a:bodyPr wrap="square" lIns="0" tIns="0" rIns="0" bIns="0" rtlCol="0" anchor="t"/>
          <a:lstStyle/>
          <a:p>
            <a:pPr marL="0" indent="0">
              <a:lnSpc>
                <a:spcPct val="110000"/>
              </a:lnSpc>
              <a:buNone/>
            </a:pPr>
            <a:r>
              <a:rPr lang="en-US" sz="1050" b="1" dirty="0">
                <a:solidFill>
                  <a:srgbClr val="C0504D"/>
                </a:solidFill>
                <a:latin typeface="Poppins SemiBold" pitchFamily="34" charset="0"/>
                <a:ea typeface="Poppins SemiBold" pitchFamily="34" charset="-122"/>
                <a:cs typeface="Poppins SemiBold" pitchFamily="34" charset="-120"/>
              </a:rPr>
              <a:t>No observability</a:t>
            </a:r>
            <a:endParaRPr lang="en-US" sz="1050" dirty="0"/>
          </a:p>
        </p:txBody>
      </p:sp>
      <p:sp>
        <p:nvSpPr>
          <p:cNvPr id="16" name="Text 13"/>
          <p:cNvSpPr txBox="1"/>
          <p:nvPr/>
        </p:nvSpPr>
        <p:spPr>
          <a:xfrm>
            <a:off x="4777740" y="2587752"/>
            <a:ext cx="1683868" cy="731520"/>
          </a:xfrm>
          <a:prstGeom prst="rect">
            <a:avLst/>
          </a:prstGeom>
          <a:noFill/>
          <a:ln/>
        </p:spPr>
        <p:txBody>
          <a:bodyPr wrap="square" lIns="0" tIns="0" rIns="0" bIns="0" rtlCol="0" anchor="t"/>
          <a:lstStyle/>
          <a:p>
            <a:pPr marL="0" indent="0">
              <a:lnSpc>
                <a:spcPct val="120000"/>
              </a:lnSpc>
              <a:buNone/>
            </a:pPr>
            <a:r>
              <a:rPr lang="en-US" sz="880" dirty="0">
                <a:solidFill>
                  <a:srgbClr val="3B3D3E"/>
                </a:solidFill>
                <a:latin typeface="PT Sans" pitchFamily="34" charset="0"/>
                <a:ea typeface="PT Sans" pitchFamily="34" charset="-122"/>
                <a:cs typeface="PT Sans" pitchFamily="34" charset="-120"/>
              </a:rPr>
              <a:t>→ no idea why things went wrong, or that they went wrong at all.</a:t>
            </a:r>
            <a:endParaRPr lang="en-US" sz="880" dirty="0"/>
          </a:p>
        </p:txBody>
      </p:sp>
      <p:sp>
        <p:nvSpPr>
          <p:cNvPr id="17" name="Shape 14"/>
          <p:cNvSpPr/>
          <p:nvPr/>
        </p:nvSpPr>
        <p:spPr>
          <a:xfrm>
            <a:off x="6735928" y="1965960"/>
            <a:ext cx="1958188" cy="1417320"/>
          </a:xfrm>
          <a:prstGeom prst="roundRect">
            <a:avLst>
              <a:gd name="adj" fmla="val 3871"/>
            </a:avLst>
          </a:prstGeom>
          <a:solidFill>
            <a:srgbClr val="FBEFEF"/>
          </a:solidFill>
          <a:ln w="9525">
            <a:solidFill>
              <a:srgbClr val="E3B8B6"/>
            </a:solidFill>
            <a:prstDash val="solid"/>
          </a:ln>
        </p:spPr>
        <p:txBody>
          <a:bodyPr/>
          <a:lstStyle/>
          <a:p>
            <a:endParaRPr lang="en-IN"/>
          </a:p>
        </p:txBody>
      </p:sp>
      <p:sp>
        <p:nvSpPr>
          <p:cNvPr id="18" name="Text 15"/>
          <p:cNvSpPr txBox="1"/>
          <p:nvPr/>
        </p:nvSpPr>
        <p:spPr>
          <a:xfrm>
            <a:off x="6873088" y="2093976"/>
            <a:ext cx="1683868" cy="457200"/>
          </a:xfrm>
          <a:prstGeom prst="rect">
            <a:avLst/>
          </a:prstGeom>
          <a:noFill/>
          <a:ln/>
        </p:spPr>
        <p:txBody>
          <a:bodyPr wrap="square" lIns="0" tIns="0" rIns="0" bIns="0" rtlCol="0" anchor="t"/>
          <a:lstStyle/>
          <a:p>
            <a:pPr marL="0" indent="0">
              <a:lnSpc>
                <a:spcPct val="110000"/>
              </a:lnSpc>
              <a:buNone/>
            </a:pPr>
            <a:r>
              <a:rPr lang="en-US" sz="1050" b="1" dirty="0">
                <a:solidFill>
                  <a:srgbClr val="C0504D"/>
                </a:solidFill>
                <a:latin typeface="Poppins SemiBold" pitchFamily="34" charset="0"/>
                <a:ea typeface="Poppins SemiBold" pitchFamily="34" charset="-122"/>
                <a:cs typeface="Poppins SemiBold" pitchFamily="34" charset="-120"/>
              </a:rPr>
              <a:t>No MCP validation</a:t>
            </a:r>
            <a:endParaRPr lang="en-US" sz="1050" dirty="0"/>
          </a:p>
        </p:txBody>
      </p:sp>
      <p:sp>
        <p:nvSpPr>
          <p:cNvPr id="19" name="Text 16"/>
          <p:cNvSpPr txBox="1"/>
          <p:nvPr/>
        </p:nvSpPr>
        <p:spPr>
          <a:xfrm>
            <a:off x="6873088" y="2587752"/>
            <a:ext cx="1683868" cy="731520"/>
          </a:xfrm>
          <a:prstGeom prst="rect">
            <a:avLst/>
          </a:prstGeom>
          <a:noFill/>
          <a:ln/>
        </p:spPr>
        <p:txBody>
          <a:bodyPr wrap="square" lIns="0" tIns="0" rIns="0" bIns="0" rtlCol="0" anchor="t"/>
          <a:lstStyle/>
          <a:p>
            <a:pPr marL="0" indent="0">
              <a:lnSpc>
                <a:spcPct val="120000"/>
              </a:lnSpc>
              <a:buNone/>
            </a:pPr>
            <a:r>
              <a:rPr lang="en-US" sz="880" dirty="0">
                <a:solidFill>
                  <a:srgbClr val="3B3D3E"/>
                </a:solidFill>
                <a:latin typeface="PT Sans" pitchFamily="34" charset="0"/>
                <a:ea typeface="PT Sans" pitchFamily="34" charset="-122"/>
                <a:cs typeface="PT Sans" pitchFamily="34" charset="-120"/>
              </a:rPr>
              <a:t>→ unsafe tool actions execute on nothing more than an LLM's say-so.</a:t>
            </a:r>
            <a:endParaRPr lang="en-US" sz="880" dirty="0"/>
          </a:p>
        </p:txBody>
      </p:sp>
      <p:sp>
        <p:nvSpPr>
          <p:cNvPr id="20" name="Shape 17"/>
          <p:cNvSpPr/>
          <p:nvPr/>
        </p:nvSpPr>
        <p:spPr>
          <a:xfrm>
            <a:off x="449885" y="3566160"/>
            <a:ext cx="8244230" cy="548640"/>
          </a:xfrm>
          <a:prstGeom prst="roundRect">
            <a:avLst>
              <a:gd name="adj" fmla="val 10000"/>
            </a:avLst>
          </a:prstGeom>
          <a:solidFill>
            <a:srgbClr val="004C97"/>
          </a:solidFill>
          <a:ln w="9525">
            <a:solidFill>
              <a:srgbClr val="004C97"/>
            </a:solidFill>
            <a:prstDash val="solid"/>
          </a:ln>
        </p:spPr>
        <p:txBody>
          <a:bodyPr/>
          <a:lstStyle/>
          <a:p>
            <a:endParaRPr lang="en-IN"/>
          </a:p>
        </p:txBody>
      </p:sp>
      <p:sp>
        <p:nvSpPr>
          <p:cNvPr id="21" name="Text 18"/>
          <p:cNvSpPr txBox="1"/>
          <p:nvPr/>
        </p:nvSpPr>
        <p:spPr>
          <a:xfrm>
            <a:off x="449885" y="3566160"/>
            <a:ext cx="8244230" cy="548640"/>
          </a:xfrm>
          <a:prstGeom prst="rect">
            <a:avLst/>
          </a:prstGeom>
          <a:noFill/>
          <a:ln/>
        </p:spPr>
        <p:txBody>
          <a:bodyPr wrap="square" lIns="0" tIns="0" rIns="0" bIns="0" rtlCol="0" anchor="ctr"/>
          <a:lstStyle/>
          <a:p>
            <a:pPr marL="0" indent="0" algn="ctr">
              <a:buNone/>
            </a:pPr>
            <a:r>
              <a:rPr lang="en-US" sz="1400" b="1" i="1" dirty="0">
                <a:solidFill>
                  <a:srgbClr val="FFFFFF"/>
                </a:solidFill>
                <a:latin typeface="Poppins SemiBold" pitchFamily="34" charset="0"/>
                <a:ea typeface="Poppins SemiBold" pitchFamily="34" charset="-122"/>
                <a:cs typeface="Poppins SemiBold" pitchFamily="34" charset="-120"/>
              </a:rPr>
              <a:t>"Governance isn't optional — it's survival."</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4  •  GOVERNANCE, OBSERVABILITY &amp; RISK</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The Exploit</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207008"/>
            <a:ext cx="8244230" cy="365760"/>
          </a:xfrm>
          <a:prstGeom prst="rect">
            <a:avLst/>
          </a:prstGeom>
          <a:noFill/>
          <a:ln/>
        </p:spPr>
        <p:txBody>
          <a:bodyPr wrap="square" lIns="0" tIns="0" rIns="0" bIns="0" rtlCol="0" anchor="ctr"/>
          <a:lstStyle/>
          <a:p>
            <a:pPr marL="0" indent="0">
              <a:lnSpc>
                <a:spcPct val="125000"/>
              </a:lnSpc>
              <a:buNone/>
            </a:pPr>
            <a:r>
              <a:rPr lang="en-US" sz="1150" dirty="0">
                <a:solidFill>
                  <a:srgbClr val="3B3D3E"/>
                </a:solidFill>
                <a:latin typeface="PT Sans" pitchFamily="34" charset="0"/>
                <a:ea typeface="PT Sans" pitchFamily="34" charset="-122"/>
                <a:cs typeface="PT Sans" pitchFamily="34" charset="-120"/>
              </a:rPr>
              <a:t>A real, tested result on a real expense-approval system — not a mockup. Same system, same hard rule, one contextual reframing later.</a:t>
            </a:r>
            <a:endParaRPr lang="en-US" sz="1150" dirty="0"/>
          </a:p>
        </p:txBody>
      </p:sp>
      <p:sp>
        <p:nvSpPr>
          <p:cNvPr id="8" name="Text 5"/>
          <p:cNvSpPr txBox="1"/>
          <p:nvPr/>
        </p:nvSpPr>
        <p:spPr>
          <a:xfrm>
            <a:off x="449885" y="1691640"/>
            <a:ext cx="3984955" cy="219456"/>
          </a:xfrm>
          <a:prstGeom prst="rect">
            <a:avLst/>
          </a:prstGeom>
          <a:noFill/>
          <a:ln/>
        </p:spPr>
        <p:txBody>
          <a:bodyPr wrap="square" lIns="0" tIns="0" rIns="0" bIns="0" rtlCol="0" anchor="ctr"/>
          <a:lstStyle/>
          <a:p>
            <a:pPr marL="0" indent="0">
              <a:buNone/>
            </a:pPr>
            <a:r>
              <a:rPr lang="en-US" sz="1000" b="1" dirty="0">
                <a:solidFill>
                  <a:srgbClr val="004C97"/>
                </a:solidFill>
                <a:latin typeface="Poppins SemiBold" pitchFamily="34" charset="0"/>
                <a:ea typeface="Poppins SemiBold" pitchFamily="34" charset="-122"/>
                <a:cs typeface="Poppins SemiBold" pitchFamily="34" charset="-120"/>
              </a:rPr>
              <a:t>BASELINE — THE RULE HOLDS</a:t>
            </a:r>
            <a:endParaRPr lang="en-US" sz="1000" dirty="0"/>
          </a:p>
        </p:txBody>
      </p:sp>
      <p:sp>
        <p:nvSpPr>
          <p:cNvPr id="9" name="Shape 6"/>
          <p:cNvSpPr/>
          <p:nvPr/>
        </p:nvSpPr>
        <p:spPr>
          <a:xfrm>
            <a:off x="449885" y="1938528"/>
            <a:ext cx="3984955" cy="1691640"/>
          </a:xfrm>
          <a:prstGeom prst="roundRect">
            <a:avLst>
              <a:gd name="adj" fmla="val 3243"/>
            </a:avLst>
          </a:prstGeom>
          <a:solidFill>
            <a:srgbClr val="FFFFFF"/>
          </a:solidFill>
          <a:ln w="9525">
            <a:solidFill>
              <a:srgbClr val="E2E8F0"/>
            </a:solidFill>
            <a:prstDash val="solid"/>
          </a:ln>
        </p:spPr>
        <p:txBody>
          <a:bodyPr/>
          <a:lstStyle/>
          <a:p>
            <a:endParaRPr lang="en-IN"/>
          </a:p>
        </p:txBody>
      </p:sp>
      <p:pic>
        <p:nvPicPr>
          <p:cNvPr id="10" name="Image 1" descr="/home/claude/day3build/assets/exploit_baseline.png"/>
          <p:cNvPicPr>
            <a:picLocks noChangeAspect="1"/>
          </p:cNvPicPr>
          <p:nvPr/>
        </p:nvPicPr>
        <p:blipFill>
          <a:blip r:embed="rId4"/>
          <a:stretch>
            <a:fillRect/>
          </a:stretch>
        </p:blipFill>
        <p:spPr>
          <a:xfrm>
            <a:off x="587045" y="2084832"/>
            <a:ext cx="3710635" cy="1168163"/>
          </a:xfrm>
          <a:prstGeom prst="rect">
            <a:avLst/>
          </a:prstGeom>
        </p:spPr>
      </p:pic>
      <p:sp>
        <p:nvSpPr>
          <p:cNvPr id="11" name="Text 7"/>
          <p:cNvSpPr txBox="1"/>
          <p:nvPr/>
        </p:nvSpPr>
        <p:spPr>
          <a:xfrm>
            <a:off x="4709160" y="1691640"/>
            <a:ext cx="3984955" cy="219456"/>
          </a:xfrm>
          <a:prstGeom prst="rect">
            <a:avLst/>
          </a:prstGeom>
          <a:noFill/>
          <a:ln/>
        </p:spPr>
        <p:txBody>
          <a:bodyPr wrap="square" lIns="0" tIns="0" rIns="0" bIns="0" rtlCol="0" anchor="ctr"/>
          <a:lstStyle/>
          <a:p>
            <a:pPr marL="0" indent="0">
              <a:buNone/>
            </a:pPr>
            <a:r>
              <a:rPr lang="en-US" sz="1000" b="1" dirty="0">
                <a:solidFill>
                  <a:srgbClr val="C0504D"/>
                </a:solidFill>
                <a:latin typeface="Poppins SemiBold" pitchFamily="34" charset="0"/>
                <a:ea typeface="Poppins SemiBold" pitchFamily="34" charset="-122"/>
                <a:cs typeface="Poppins SemiBold" pitchFamily="34" charset="-120"/>
              </a:rPr>
              <a:t>THE EXPLOIT — ONE REFRAME LATER</a:t>
            </a:r>
            <a:endParaRPr lang="en-US" sz="1000" dirty="0"/>
          </a:p>
        </p:txBody>
      </p:sp>
      <p:sp>
        <p:nvSpPr>
          <p:cNvPr id="12" name="Shape 8"/>
          <p:cNvSpPr/>
          <p:nvPr/>
        </p:nvSpPr>
        <p:spPr>
          <a:xfrm>
            <a:off x="4709160" y="1938528"/>
            <a:ext cx="3984955" cy="1691640"/>
          </a:xfrm>
          <a:prstGeom prst="roundRect">
            <a:avLst>
              <a:gd name="adj" fmla="val 3243"/>
            </a:avLst>
          </a:prstGeom>
          <a:solidFill>
            <a:srgbClr val="FFFFFF"/>
          </a:solidFill>
          <a:ln w="9525">
            <a:solidFill>
              <a:srgbClr val="E3B8B6"/>
            </a:solidFill>
            <a:prstDash val="solid"/>
          </a:ln>
        </p:spPr>
        <p:txBody>
          <a:bodyPr/>
          <a:lstStyle/>
          <a:p>
            <a:endParaRPr lang="en-IN"/>
          </a:p>
        </p:txBody>
      </p:sp>
      <p:pic>
        <p:nvPicPr>
          <p:cNvPr id="13" name="Image 2" descr="/home/claude/day3build/assets/exploit_attack.png"/>
          <p:cNvPicPr>
            <a:picLocks noChangeAspect="1"/>
          </p:cNvPicPr>
          <p:nvPr/>
        </p:nvPicPr>
        <p:blipFill>
          <a:blip r:embed="rId5"/>
          <a:stretch>
            <a:fillRect/>
          </a:stretch>
        </p:blipFill>
        <p:spPr>
          <a:xfrm>
            <a:off x="4846320" y="2084832"/>
            <a:ext cx="3710635" cy="1436064"/>
          </a:xfrm>
          <a:prstGeom prst="rect">
            <a:avLst/>
          </a:prstGeom>
        </p:spPr>
      </p:pic>
      <p:sp>
        <p:nvSpPr>
          <p:cNvPr id="14" name="Text 9"/>
          <p:cNvSpPr txBox="1"/>
          <p:nvPr/>
        </p:nvSpPr>
        <p:spPr>
          <a:xfrm>
            <a:off x="449885" y="3794760"/>
            <a:ext cx="8244230" cy="685800"/>
          </a:xfrm>
          <a:prstGeom prst="rect">
            <a:avLst/>
          </a:prstGeom>
          <a:noFill/>
          <a:ln/>
        </p:spPr>
        <p:txBody>
          <a:bodyPr wrap="square" lIns="0" tIns="0" rIns="0" bIns="0" rtlCol="0" anchor="t"/>
          <a:lstStyle/>
          <a:p>
            <a:pPr marL="0" indent="0">
              <a:lnSpc>
                <a:spcPct val="112000"/>
              </a:lnSpc>
              <a:buNone/>
            </a:pPr>
            <a:r>
              <a:rPr lang="en-US" sz="930" i="1" dirty="0">
                <a:solidFill>
                  <a:srgbClr val="3B3D3E"/>
                </a:solidFill>
                <a:latin typeface="PT Sans" pitchFamily="34" charset="0"/>
                <a:ea typeface="PT Sans" pitchFamily="34" charset="-122"/>
                <a:cs typeface="PT Sans" pitchFamily="34" charset="-120"/>
              </a:rPr>
              <a:t>$4,100, no receipt: rejected — the $2,500 no-receipt rule works exactly as designed. $6,750, no receipt, framed as a finance-admin QA test: approved. The rule isn't robust — it's contextually manipulable, and a rule that only holds until someone tells it a plausible story is not a control at all.</a:t>
            </a:r>
            <a:endParaRPr lang="en-US" sz="93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4  •  GOVERNANCE, OBSERVABILITY &amp; RISK</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Prompt Injection Is Out in the Wild</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8" name="Shape 5"/>
          <p:cNvSpPr/>
          <p:nvPr/>
        </p:nvSpPr>
        <p:spPr>
          <a:xfrm>
            <a:off x="2296957" y="1664208"/>
            <a:ext cx="2427713" cy="2478024"/>
          </a:xfrm>
          <a:prstGeom prst="roundRect">
            <a:avLst>
              <a:gd name="adj" fmla="val 2260"/>
            </a:avLst>
          </a:prstGeom>
          <a:solidFill>
            <a:srgbClr val="FFFFFF"/>
          </a:solidFill>
          <a:ln w="9525">
            <a:solidFill>
              <a:srgbClr val="E2E8F0"/>
            </a:solidFill>
            <a:prstDash val="solid"/>
          </a:ln>
        </p:spPr>
        <p:txBody>
          <a:bodyPr/>
          <a:lstStyle/>
          <a:p>
            <a:endParaRPr lang="en-IN"/>
          </a:p>
        </p:txBody>
      </p:sp>
      <p:pic>
        <p:nvPicPr>
          <p:cNvPr id="9" name="Image 1" descr="/home/claude/day3build/assets/injection_post1.png"/>
          <p:cNvPicPr>
            <a:picLocks noChangeAspect="1"/>
          </p:cNvPicPr>
          <p:nvPr/>
        </p:nvPicPr>
        <p:blipFill>
          <a:blip r:embed="rId4"/>
          <a:stretch>
            <a:fillRect/>
          </a:stretch>
        </p:blipFill>
        <p:spPr>
          <a:xfrm>
            <a:off x="1143267" y="1018810"/>
            <a:ext cx="3205339" cy="3276025"/>
          </a:xfrm>
          <a:prstGeom prst="rect">
            <a:avLst/>
          </a:prstGeom>
        </p:spPr>
      </p:pic>
      <p:sp>
        <p:nvSpPr>
          <p:cNvPr id="10" name="Shape 6"/>
          <p:cNvSpPr/>
          <p:nvPr/>
        </p:nvSpPr>
        <p:spPr>
          <a:xfrm>
            <a:off x="4944126" y="1664208"/>
            <a:ext cx="1902916" cy="2478024"/>
          </a:xfrm>
          <a:prstGeom prst="roundRect">
            <a:avLst>
              <a:gd name="adj" fmla="val 2883"/>
            </a:avLst>
          </a:prstGeom>
          <a:solidFill>
            <a:srgbClr val="FFFFFF"/>
          </a:solidFill>
          <a:ln w="9525">
            <a:solidFill>
              <a:srgbClr val="E2E8F0"/>
            </a:solidFill>
            <a:prstDash val="solid"/>
          </a:ln>
        </p:spPr>
        <p:txBody>
          <a:bodyPr/>
          <a:lstStyle/>
          <a:p>
            <a:endParaRPr lang="en-IN"/>
          </a:p>
        </p:txBody>
      </p:sp>
      <p:pic>
        <p:nvPicPr>
          <p:cNvPr id="11" name="Image 2" descr="/home/claude/day3build/assets/injection_post2.png"/>
          <p:cNvPicPr>
            <a:picLocks noChangeAspect="1"/>
          </p:cNvPicPr>
          <p:nvPr/>
        </p:nvPicPr>
        <p:blipFill>
          <a:blip r:embed="rId5"/>
          <a:stretch>
            <a:fillRect/>
          </a:stretch>
        </p:blipFill>
        <p:spPr>
          <a:xfrm>
            <a:off x="5041988" y="793055"/>
            <a:ext cx="2808157" cy="37275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SEGMENT 4  •  GOVERNANCE, OBSERVABILITY &amp; RISK</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Observability &amp; Debugging — Seeing Inside Your Agent</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Text 4"/>
          <p:cNvSpPr txBox="1"/>
          <p:nvPr/>
        </p:nvSpPr>
        <p:spPr>
          <a:xfrm>
            <a:off x="449885" y="1207008"/>
            <a:ext cx="8244230" cy="256032"/>
          </a:xfrm>
          <a:prstGeom prst="rect">
            <a:avLst/>
          </a:prstGeom>
          <a:noFill/>
          <a:ln/>
        </p:spPr>
        <p:txBody>
          <a:bodyPr wrap="square" lIns="0" tIns="0" rIns="0" bIns="0" rtlCol="0" anchor="ctr"/>
          <a:lstStyle/>
          <a:p>
            <a:pPr marL="0" indent="0">
              <a:buNone/>
            </a:pPr>
            <a:r>
              <a:rPr lang="en-US" sz="1150" dirty="0">
                <a:solidFill>
                  <a:srgbClr val="3B3D3E"/>
                </a:solidFill>
                <a:latin typeface="PT Sans" pitchFamily="34" charset="0"/>
                <a:ea typeface="PT Sans" pitchFamily="34" charset="-122"/>
                <a:cs typeface="PT Sans" pitchFamily="34" charset="-120"/>
              </a:rPr>
              <a:t>Multi-agent systems fail in subtle ways. Observability is how you find out why.</a:t>
            </a:r>
            <a:endParaRPr lang="en-US" sz="1150" dirty="0"/>
          </a:p>
        </p:txBody>
      </p:sp>
      <p:sp>
        <p:nvSpPr>
          <p:cNvPr id="8" name="Shape 5"/>
          <p:cNvSpPr/>
          <p:nvPr/>
        </p:nvSpPr>
        <p:spPr>
          <a:xfrm>
            <a:off x="449885" y="1572768"/>
            <a:ext cx="2656637" cy="1051560"/>
          </a:xfrm>
          <a:prstGeom prst="roundRect">
            <a:avLst>
              <a:gd name="adj" fmla="val 5217"/>
            </a:avLst>
          </a:prstGeom>
          <a:solidFill>
            <a:srgbClr val="FFFFFF"/>
          </a:solidFill>
          <a:ln w="9525">
            <a:solidFill>
              <a:srgbClr val="E2E8F0"/>
            </a:solidFill>
            <a:prstDash val="solid"/>
          </a:ln>
        </p:spPr>
        <p:txBody>
          <a:bodyPr/>
          <a:lstStyle/>
          <a:p>
            <a:endParaRPr lang="en-IN"/>
          </a:p>
        </p:txBody>
      </p:sp>
      <p:sp>
        <p:nvSpPr>
          <p:cNvPr id="9" name="Text 6"/>
          <p:cNvSpPr txBox="1"/>
          <p:nvPr/>
        </p:nvSpPr>
        <p:spPr>
          <a:xfrm>
            <a:off x="587045" y="1682496"/>
            <a:ext cx="2382317" cy="274320"/>
          </a:xfrm>
          <a:prstGeom prst="rect">
            <a:avLst/>
          </a:prstGeom>
          <a:noFill/>
          <a:ln/>
        </p:spPr>
        <p:txBody>
          <a:bodyPr wrap="square" lIns="0" tIns="0" rIns="0" bIns="0" rtlCol="0" anchor="ctr"/>
          <a:lstStyle/>
          <a:p>
            <a:pPr marL="0" indent="0">
              <a:buNone/>
            </a:pPr>
            <a:r>
              <a:rPr lang="en-US" sz="1050" b="1" dirty="0">
                <a:solidFill>
                  <a:srgbClr val="004C97"/>
                </a:solidFill>
                <a:latin typeface="Poppins SemiBold" pitchFamily="34" charset="0"/>
                <a:ea typeface="Poppins SemiBold" pitchFamily="34" charset="-122"/>
                <a:cs typeface="Poppins SemiBold" pitchFamily="34" charset="-120"/>
              </a:rPr>
              <a:t>LangSmith</a:t>
            </a:r>
            <a:endParaRPr lang="en-US" sz="1050" dirty="0"/>
          </a:p>
        </p:txBody>
      </p:sp>
      <p:sp>
        <p:nvSpPr>
          <p:cNvPr id="10" name="Text 7"/>
          <p:cNvSpPr txBox="1"/>
          <p:nvPr/>
        </p:nvSpPr>
        <p:spPr>
          <a:xfrm>
            <a:off x="587045" y="1975104"/>
            <a:ext cx="2382317" cy="621792"/>
          </a:xfrm>
          <a:prstGeom prst="rect">
            <a:avLst/>
          </a:prstGeom>
          <a:noFill/>
          <a:ln/>
        </p:spPr>
        <p:txBody>
          <a:bodyPr wrap="square" lIns="0" tIns="0" rIns="0" bIns="0" rtlCol="0" anchor="t"/>
          <a:lstStyle/>
          <a:p>
            <a:pPr marL="0" indent="0">
              <a:lnSpc>
                <a:spcPct val="118000"/>
              </a:lnSpc>
              <a:buNone/>
            </a:pPr>
            <a:r>
              <a:rPr lang="en-US" sz="860" dirty="0">
                <a:solidFill>
                  <a:srgbClr val="3B3D3E"/>
                </a:solidFill>
                <a:latin typeface="PT Sans" pitchFamily="34" charset="0"/>
                <a:ea typeface="PT Sans" pitchFamily="34" charset="-122"/>
                <a:cs typeface="PT Sans" pitchFamily="34" charset="-120"/>
              </a:rPr>
              <a:t>Comprehensive tracing and evaluation. Full interaction logs, prompt diffs, token counts, latency per step.</a:t>
            </a:r>
            <a:endParaRPr lang="en-US" sz="860" dirty="0"/>
          </a:p>
        </p:txBody>
      </p:sp>
      <p:sp>
        <p:nvSpPr>
          <p:cNvPr id="11" name="Shape 8"/>
          <p:cNvSpPr/>
          <p:nvPr/>
        </p:nvSpPr>
        <p:spPr>
          <a:xfrm>
            <a:off x="3243682" y="1572768"/>
            <a:ext cx="2656637" cy="1051560"/>
          </a:xfrm>
          <a:prstGeom prst="roundRect">
            <a:avLst>
              <a:gd name="adj" fmla="val 5217"/>
            </a:avLst>
          </a:prstGeom>
          <a:solidFill>
            <a:srgbClr val="FFFFFF"/>
          </a:solidFill>
          <a:ln w="9525">
            <a:solidFill>
              <a:srgbClr val="E2E8F0"/>
            </a:solidFill>
            <a:prstDash val="solid"/>
          </a:ln>
        </p:spPr>
        <p:txBody>
          <a:bodyPr/>
          <a:lstStyle/>
          <a:p>
            <a:endParaRPr lang="en-IN"/>
          </a:p>
        </p:txBody>
      </p:sp>
      <p:sp>
        <p:nvSpPr>
          <p:cNvPr id="12" name="Text 9"/>
          <p:cNvSpPr txBox="1"/>
          <p:nvPr/>
        </p:nvSpPr>
        <p:spPr>
          <a:xfrm>
            <a:off x="3380842" y="1682496"/>
            <a:ext cx="2382317" cy="274320"/>
          </a:xfrm>
          <a:prstGeom prst="rect">
            <a:avLst/>
          </a:prstGeom>
          <a:noFill/>
          <a:ln/>
        </p:spPr>
        <p:txBody>
          <a:bodyPr wrap="square" lIns="0" tIns="0" rIns="0" bIns="0" rtlCol="0" anchor="ctr"/>
          <a:lstStyle/>
          <a:p>
            <a:pPr marL="0" indent="0">
              <a:buNone/>
            </a:pPr>
            <a:r>
              <a:rPr lang="en-US" sz="1050" b="1" dirty="0">
                <a:solidFill>
                  <a:srgbClr val="004C97"/>
                </a:solidFill>
                <a:latin typeface="Poppins SemiBold" pitchFamily="34" charset="0"/>
                <a:ea typeface="Poppins SemiBold" pitchFamily="34" charset="-122"/>
                <a:cs typeface="Poppins SemiBold" pitchFamily="34" charset="-120"/>
              </a:rPr>
              <a:t>LangFuse (open-source)</a:t>
            </a:r>
            <a:endParaRPr lang="en-US" sz="1050" dirty="0"/>
          </a:p>
        </p:txBody>
      </p:sp>
      <p:sp>
        <p:nvSpPr>
          <p:cNvPr id="13" name="Text 10"/>
          <p:cNvSpPr txBox="1"/>
          <p:nvPr/>
        </p:nvSpPr>
        <p:spPr>
          <a:xfrm>
            <a:off x="3380842" y="1975104"/>
            <a:ext cx="2382317" cy="621792"/>
          </a:xfrm>
          <a:prstGeom prst="rect">
            <a:avLst/>
          </a:prstGeom>
          <a:noFill/>
          <a:ln/>
        </p:spPr>
        <p:txBody>
          <a:bodyPr wrap="square" lIns="0" tIns="0" rIns="0" bIns="0" rtlCol="0" anchor="t"/>
          <a:lstStyle/>
          <a:p>
            <a:pPr marL="0" indent="0">
              <a:lnSpc>
                <a:spcPct val="118000"/>
              </a:lnSpc>
              <a:buNone/>
            </a:pPr>
            <a:r>
              <a:rPr lang="en-US" sz="860" dirty="0">
                <a:solidFill>
                  <a:srgbClr val="3B3D3E"/>
                </a:solidFill>
                <a:latin typeface="PT Sans" pitchFamily="34" charset="0"/>
                <a:ea typeface="PT Sans" pitchFamily="34" charset="-122"/>
                <a:cs typeface="PT Sans" pitchFamily="34" charset="-120"/>
              </a:rPr>
              <a:t>Self-hostable observability with cost tracking and automated evaluations. Drop-in when data can't leave your network.</a:t>
            </a:r>
            <a:endParaRPr lang="en-US" sz="860" dirty="0"/>
          </a:p>
        </p:txBody>
      </p:sp>
      <p:sp>
        <p:nvSpPr>
          <p:cNvPr id="14" name="Shape 11"/>
          <p:cNvSpPr/>
          <p:nvPr/>
        </p:nvSpPr>
        <p:spPr>
          <a:xfrm>
            <a:off x="6037478" y="1572768"/>
            <a:ext cx="2656637" cy="1051560"/>
          </a:xfrm>
          <a:prstGeom prst="roundRect">
            <a:avLst>
              <a:gd name="adj" fmla="val 5217"/>
            </a:avLst>
          </a:prstGeom>
          <a:solidFill>
            <a:srgbClr val="E6F4FA"/>
          </a:solidFill>
          <a:ln w="9525">
            <a:solidFill>
              <a:srgbClr val="00A3E0"/>
            </a:solidFill>
            <a:prstDash val="solid"/>
          </a:ln>
        </p:spPr>
        <p:txBody>
          <a:bodyPr/>
          <a:lstStyle/>
          <a:p>
            <a:endParaRPr lang="en-IN"/>
          </a:p>
        </p:txBody>
      </p:sp>
      <p:sp>
        <p:nvSpPr>
          <p:cNvPr id="15" name="Text 12"/>
          <p:cNvSpPr txBox="1"/>
          <p:nvPr/>
        </p:nvSpPr>
        <p:spPr>
          <a:xfrm>
            <a:off x="6174638" y="1682496"/>
            <a:ext cx="2382317" cy="274320"/>
          </a:xfrm>
          <a:prstGeom prst="rect">
            <a:avLst/>
          </a:prstGeom>
          <a:noFill/>
          <a:ln/>
        </p:spPr>
        <p:txBody>
          <a:bodyPr wrap="square" lIns="0" tIns="0" rIns="0" bIns="0" rtlCol="0" anchor="ctr"/>
          <a:lstStyle/>
          <a:p>
            <a:pPr marL="0" indent="0">
              <a:buNone/>
            </a:pPr>
            <a:r>
              <a:rPr lang="en-US" sz="1050" b="1" dirty="0">
                <a:solidFill>
                  <a:srgbClr val="004C97"/>
                </a:solidFill>
                <a:latin typeface="Poppins SemiBold" pitchFamily="34" charset="0"/>
                <a:ea typeface="Poppins SemiBold" pitchFamily="34" charset="-122"/>
                <a:cs typeface="Poppins SemiBold" pitchFamily="34" charset="-120"/>
              </a:rPr>
              <a:t>Azure Application Insights</a:t>
            </a:r>
            <a:endParaRPr lang="en-US" sz="1050" dirty="0"/>
          </a:p>
        </p:txBody>
      </p:sp>
      <p:sp>
        <p:nvSpPr>
          <p:cNvPr id="16" name="Text 13"/>
          <p:cNvSpPr txBox="1"/>
          <p:nvPr/>
        </p:nvSpPr>
        <p:spPr>
          <a:xfrm>
            <a:off x="6174638" y="1975104"/>
            <a:ext cx="2382317" cy="621792"/>
          </a:xfrm>
          <a:prstGeom prst="rect">
            <a:avLst/>
          </a:prstGeom>
          <a:noFill/>
          <a:ln/>
        </p:spPr>
        <p:txBody>
          <a:bodyPr wrap="square" lIns="0" tIns="0" rIns="0" bIns="0" rtlCol="0" anchor="t"/>
          <a:lstStyle/>
          <a:p>
            <a:pPr marL="0" indent="0">
              <a:lnSpc>
                <a:spcPct val="118000"/>
              </a:lnSpc>
              <a:buNone/>
            </a:pPr>
            <a:r>
              <a:rPr lang="en-US" sz="860" dirty="0">
                <a:solidFill>
                  <a:srgbClr val="3B3D3E"/>
                </a:solidFill>
                <a:latin typeface="PT Sans" pitchFamily="34" charset="0"/>
                <a:ea typeface="PT Sans" pitchFamily="34" charset="-122"/>
                <a:cs typeface="PT Sans" pitchFamily="34" charset="-120"/>
              </a:rPr>
              <a:t>For the Microsoft stack — instrument agent loops with OpenTelemetry; traces flow in natively. What this afternoon's lab uses.</a:t>
            </a:r>
            <a:endParaRPr lang="en-US" sz="860" dirty="0"/>
          </a:p>
        </p:txBody>
      </p:sp>
      <p:sp>
        <p:nvSpPr>
          <p:cNvPr id="17" name="Shape 14"/>
          <p:cNvSpPr/>
          <p:nvPr/>
        </p:nvSpPr>
        <p:spPr>
          <a:xfrm>
            <a:off x="449885" y="2761488"/>
            <a:ext cx="8244230" cy="1417320"/>
          </a:xfrm>
          <a:prstGeom prst="roundRect">
            <a:avLst>
              <a:gd name="adj" fmla="val 3871"/>
            </a:avLst>
          </a:prstGeom>
          <a:solidFill>
            <a:srgbClr val="004C97"/>
          </a:solidFill>
          <a:ln w="9525">
            <a:solidFill>
              <a:srgbClr val="004C97"/>
            </a:solidFill>
            <a:prstDash val="solid"/>
          </a:ln>
        </p:spPr>
        <p:txBody>
          <a:bodyPr/>
          <a:lstStyle/>
          <a:p>
            <a:endParaRPr lang="en-IN"/>
          </a:p>
        </p:txBody>
      </p:sp>
      <p:sp>
        <p:nvSpPr>
          <p:cNvPr id="18" name="Text 15"/>
          <p:cNvSpPr txBox="1"/>
          <p:nvPr/>
        </p:nvSpPr>
        <p:spPr>
          <a:xfrm>
            <a:off x="632765" y="2871216"/>
            <a:ext cx="7878470" cy="219456"/>
          </a:xfrm>
          <a:prstGeom prst="rect">
            <a:avLst/>
          </a:prstGeom>
          <a:noFill/>
          <a:ln/>
        </p:spPr>
        <p:txBody>
          <a:bodyPr wrap="square" lIns="0" tIns="0" rIns="0" bIns="0" rtlCol="0" anchor="ctr"/>
          <a:lstStyle/>
          <a:p>
            <a:pPr marL="0" indent="0">
              <a:buNone/>
            </a:pPr>
            <a:r>
              <a:rPr lang="en-US" sz="950" b="1" dirty="0">
                <a:solidFill>
                  <a:srgbClr val="7FD4F0"/>
                </a:solidFill>
                <a:latin typeface="Poppins SemiBold" pitchFamily="34" charset="0"/>
                <a:ea typeface="Poppins SemiBold" pitchFamily="34" charset="-122"/>
                <a:cs typeface="Poppins SemiBold" pitchFamily="34" charset="-120"/>
              </a:rPr>
              <a:t>AGENT ORCHESTRATION MONITOR</a:t>
            </a:r>
            <a:endParaRPr lang="en-US" sz="950" dirty="0"/>
          </a:p>
        </p:txBody>
      </p:sp>
      <p:sp>
        <p:nvSpPr>
          <p:cNvPr id="19" name="Text 16"/>
          <p:cNvSpPr txBox="1"/>
          <p:nvPr/>
        </p:nvSpPr>
        <p:spPr>
          <a:xfrm>
            <a:off x="632765" y="3145536"/>
            <a:ext cx="1554480" cy="365760"/>
          </a:xfrm>
          <a:prstGeom prst="rect">
            <a:avLst/>
          </a:prstGeom>
          <a:noFill/>
          <a:ln/>
        </p:spPr>
        <p:txBody>
          <a:bodyPr wrap="square" lIns="0" tIns="0" rIns="0" bIns="0" rtlCol="0" anchor="ctr"/>
          <a:lstStyle/>
          <a:p>
            <a:pPr marL="0" indent="0">
              <a:buNone/>
            </a:pPr>
            <a:r>
              <a:rPr lang="en-US" sz="2000" b="1" dirty="0">
                <a:solidFill>
                  <a:srgbClr val="FFFFFF"/>
                </a:solidFill>
                <a:latin typeface="Poppins SemiBold" pitchFamily="34" charset="0"/>
                <a:ea typeface="Poppins SemiBold" pitchFamily="34" charset="-122"/>
                <a:cs typeface="Poppins SemiBold" pitchFamily="34" charset="-120"/>
              </a:rPr>
              <a:t>98.2%</a:t>
            </a:r>
            <a:endParaRPr lang="en-US" sz="2000" dirty="0"/>
          </a:p>
        </p:txBody>
      </p:sp>
      <p:sp>
        <p:nvSpPr>
          <p:cNvPr id="20" name="Text 17"/>
          <p:cNvSpPr txBox="1"/>
          <p:nvPr/>
        </p:nvSpPr>
        <p:spPr>
          <a:xfrm>
            <a:off x="632765" y="3538728"/>
            <a:ext cx="1554480" cy="228600"/>
          </a:xfrm>
          <a:prstGeom prst="rect">
            <a:avLst/>
          </a:prstGeom>
          <a:noFill/>
          <a:ln/>
        </p:spPr>
        <p:txBody>
          <a:bodyPr wrap="square" lIns="0" tIns="0" rIns="0" bIns="0" rtlCol="0" anchor="ctr"/>
          <a:lstStyle/>
          <a:p>
            <a:pPr marL="0" indent="0">
              <a:buNone/>
            </a:pPr>
            <a:r>
              <a:rPr lang="en-US" sz="800" dirty="0">
                <a:solidFill>
                  <a:srgbClr val="8FC1E0"/>
                </a:solidFill>
                <a:latin typeface="PT Sans" pitchFamily="34" charset="0"/>
                <a:ea typeface="PT Sans" pitchFamily="34" charset="-122"/>
                <a:cs typeface="PT Sans" pitchFamily="34" charset="-120"/>
              </a:rPr>
              <a:t>Successful Handoffs</a:t>
            </a:r>
            <a:endParaRPr lang="en-US" sz="800" dirty="0"/>
          </a:p>
        </p:txBody>
      </p:sp>
      <p:sp>
        <p:nvSpPr>
          <p:cNvPr id="21" name="Text 18"/>
          <p:cNvSpPr txBox="1"/>
          <p:nvPr/>
        </p:nvSpPr>
        <p:spPr>
          <a:xfrm>
            <a:off x="2324405" y="3145536"/>
            <a:ext cx="1554480" cy="365760"/>
          </a:xfrm>
          <a:prstGeom prst="rect">
            <a:avLst/>
          </a:prstGeom>
          <a:noFill/>
          <a:ln/>
        </p:spPr>
        <p:txBody>
          <a:bodyPr wrap="square" lIns="0" tIns="0" rIns="0" bIns="0" rtlCol="0" anchor="ctr"/>
          <a:lstStyle/>
          <a:p>
            <a:pPr marL="0" indent="0">
              <a:buNone/>
            </a:pPr>
            <a:r>
              <a:rPr lang="en-US" sz="2000" b="1" dirty="0">
                <a:solidFill>
                  <a:srgbClr val="FFFFFF"/>
                </a:solidFill>
                <a:latin typeface="Poppins SemiBold" pitchFamily="34" charset="0"/>
                <a:ea typeface="Poppins SemiBold" pitchFamily="34" charset="-122"/>
                <a:cs typeface="Poppins SemiBold" pitchFamily="34" charset="-120"/>
              </a:rPr>
              <a:t>1.2s</a:t>
            </a:r>
            <a:endParaRPr lang="en-US" sz="2000" dirty="0"/>
          </a:p>
        </p:txBody>
      </p:sp>
      <p:sp>
        <p:nvSpPr>
          <p:cNvPr id="22" name="Text 19"/>
          <p:cNvSpPr txBox="1"/>
          <p:nvPr/>
        </p:nvSpPr>
        <p:spPr>
          <a:xfrm>
            <a:off x="2324405" y="3538728"/>
            <a:ext cx="1554480" cy="228600"/>
          </a:xfrm>
          <a:prstGeom prst="rect">
            <a:avLst/>
          </a:prstGeom>
          <a:noFill/>
          <a:ln/>
        </p:spPr>
        <p:txBody>
          <a:bodyPr wrap="square" lIns="0" tIns="0" rIns="0" bIns="0" rtlCol="0" anchor="ctr"/>
          <a:lstStyle/>
          <a:p>
            <a:pPr marL="0" indent="0">
              <a:buNone/>
            </a:pPr>
            <a:r>
              <a:rPr lang="en-US" sz="800" dirty="0">
                <a:solidFill>
                  <a:srgbClr val="8FC1E0"/>
                </a:solidFill>
                <a:latin typeface="PT Sans" pitchFamily="34" charset="0"/>
                <a:ea typeface="PT Sans" pitchFamily="34" charset="-122"/>
                <a:cs typeface="PT Sans" pitchFamily="34" charset="-120"/>
              </a:rPr>
              <a:t>Avg. Response Time</a:t>
            </a:r>
            <a:endParaRPr lang="en-US" sz="800" dirty="0"/>
          </a:p>
        </p:txBody>
      </p:sp>
      <p:sp>
        <p:nvSpPr>
          <p:cNvPr id="23" name="Text 20"/>
          <p:cNvSpPr txBox="1"/>
          <p:nvPr/>
        </p:nvSpPr>
        <p:spPr>
          <a:xfrm>
            <a:off x="4016045" y="3145536"/>
            <a:ext cx="1554480" cy="365760"/>
          </a:xfrm>
          <a:prstGeom prst="rect">
            <a:avLst/>
          </a:prstGeom>
          <a:noFill/>
          <a:ln/>
        </p:spPr>
        <p:txBody>
          <a:bodyPr wrap="square" lIns="0" tIns="0" rIns="0" bIns="0" rtlCol="0" anchor="ctr"/>
          <a:lstStyle/>
          <a:p>
            <a:pPr marL="0" indent="0">
              <a:buNone/>
            </a:pPr>
            <a:r>
              <a:rPr lang="en-US" sz="2000" b="1" dirty="0">
                <a:solidFill>
                  <a:srgbClr val="FFFFFF"/>
                </a:solidFill>
                <a:latin typeface="Poppins SemiBold" pitchFamily="34" charset="0"/>
                <a:ea typeface="Poppins SemiBold" pitchFamily="34" charset="-122"/>
                <a:cs typeface="Poppins SemiBold" pitchFamily="34" charset="-120"/>
              </a:rPr>
              <a:t>$0.032</a:t>
            </a:r>
            <a:endParaRPr lang="en-US" sz="2000" dirty="0"/>
          </a:p>
        </p:txBody>
      </p:sp>
      <p:sp>
        <p:nvSpPr>
          <p:cNvPr id="24" name="Text 21"/>
          <p:cNvSpPr txBox="1"/>
          <p:nvPr/>
        </p:nvSpPr>
        <p:spPr>
          <a:xfrm>
            <a:off x="4016045" y="3538728"/>
            <a:ext cx="1554480" cy="228600"/>
          </a:xfrm>
          <a:prstGeom prst="rect">
            <a:avLst/>
          </a:prstGeom>
          <a:noFill/>
          <a:ln/>
        </p:spPr>
        <p:txBody>
          <a:bodyPr wrap="square" lIns="0" tIns="0" rIns="0" bIns="0" rtlCol="0" anchor="ctr"/>
          <a:lstStyle/>
          <a:p>
            <a:pPr marL="0" indent="0">
              <a:buNone/>
            </a:pPr>
            <a:r>
              <a:rPr lang="en-US" sz="800" dirty="0">
                <a:solidFill>
                  <a:srgbClr val="8FC1E0"/>
                </a:solidFill>
                <a:latin typeface="PT Sans" pitchFamily="34" charset="0"/>
                <a:ea typeface="PT Sans" pitchFamily="34" charset="-122"/>
                <a:cs typeface="PT Sans" pitchFamily="34" charset="-120"/>
              </a:rPr>
              <a:t>Cost Per Run</a:t>
            </a:r>
            <a:endParaRPr lang="en-US" sz="800" dirty="0"/>
          </a:p>
        </p:txBody>
      </p:sp>
      <p:sp>
        <p:nvSpPr>
          <p:cNvPr id="25" name="Text 22"/>
          <p:cNvSpPr txBox="1"/>
          <p:nvPr/>
        </p:nvSpPr>
        <p:spPr>
          <a:xfrm>
            <a:off x="5570525" y="3127248"/>
            <a:ext cx="2940710" cy="868680"/>
          </a:xfrm>
          <a:prstGeom prst="rect">
            <a:avLst/>
          </a:prstGeom>
          <a:noFill/>
          <a:ln/>
        </p:spPr>
        <p:txBody>
          <a:bodyPr wrap="square" lIns="0" tIns="0" rIns="0" bIns="0" rtlCol="0" anchor="t"/>
          <a:lstStyle/>
          <a:p>
            <a:pPr marL="0" indent="0">
              <a:lnSpc>
                <a:spcPct val="135000"/>
              </a:lnSpc>
              <a:buNone/>
            </a:pPr>
            <a:r>
              <a:rPr lang="en-US" sz="780" dirty="0">
                <a:solidFill>
                  <a:srgbClr val="D6E4F0"/>
                </a:solidFill>
                <a:latin typeface="Courier New" pitchFamily="34" charset="0"/>
                <a:ea typeface="Courier New" pitchFamily="34" charset="-122"/>
                <a:cs typeface="Courier New" pitchFamily="34" charset="-120"/>
              </a:rPr>
              <a:t>Orchestrator → Planning task sequence</a:t>
            </a:r>
            <a:endParaRPr lang="en-US" sz="780" dirty="0"/>
          </a:p>
          <a:p>
            <a:pPr marL="0" indent="0">
              <a:lnSpc>
                <a:spcPct val="135000"/>
              </a:lnSpc>
              <a:buNone/>
            </a:pPr>
            <a:r>
              <a:rPr lang="en-US" sz="780" dirty="0">
                <a:solidFill>
                  <a:srgbClr val="D6E4F0"/>
                </a:solidFill>
                <a:latin typeface="Courier New" pitchFamily="34" charset="0"/>
                <a:ea typeface="Courier New" pitchFamily="34" charset="-122"/>
                <a:cs typeface="Courier New" pitchFamily="34" charset="-120"/>
              </a:rPr>
              <a:t>Data Agent → Retrieved customer profile</a:t>
            </a:r>
            <a:endParaRPr lang="en-US" sz="780" dirty="0"/>
          </a:p>
          <a:p>
            <a:pPr marL="0" indent="0">
              <a:lnSpc>
                <a:spcPct val="135000"/>
              </a:lnSpc>
              <a:buNone/>
            </a:pPr>
            <a:r>
              <a:rPr lang="en-US" sz="780" dirty="0">
                <a:solidFill>
                  <a:srgbClr val="D6E4F0"/>
                </a:solidFill>
                <a:latin typeface="Courier New" pitchFamily="34" charset="0"/>
                <a:ea typeface="Courier New" pitchFamily="34" charset="-122"/>
                <a:cs typeface="Courier New" pitchFamily="34" charset="-120"/>
              </a:rPr>
              <a:t>QA Agent → Validated compliance</a:t>
            </a:r>
            <a:endParaRPr lang="en-US" sz="780" dirty="0"/>
          </a:p>
          <a:p>
            <a:pPr marL="0" indent="0">
              <a:lnSpc>
                <a:spcPct val="135000"/>
              </a:lnSpc>
              <a:buNone/>
            </a:pPr>
            <a:r>
              <a:rPr lang="en-US" sz="780" dirty="0">
                <a:solidFill>
                  <a:srgbClr val="D6E4F0"/>
                </a:solidFill>
                <a:latin typeface="Courier New" pitchFamily="34" charset="0"/>
                <a:ea typeface="Courier New" pitchFamily="34" charset="-122"/>
                <a:cs typeface="Courier New" pitchFamily="34" charset="-120"/>
              </a:rPr>
              <a:t>Analytics → Final approval pending</a:t>
            </a:r>
            <a:endParaRPr lang="en-US" sz="780" dirty="0"/>
          </a:p>
        </p:txBody>
      </p:sp>
      <p:sp>
        <p:nvSpPr>
          <p:cNvPr id="26" name="Text 23"/>
          <p:cNvSpPr txBox="1"/>
          <p:nvPr/>
        </p:nvSpPr>
        <p:spPr>
          <a:xfrm>
            <a:off x="449885" y="4315968"/>
            <a:ext cx="8244230" cy="320040"/>
          </a:xfrm>
          <a:prstGeom prst="rect">
            <a:avLst/>
          </a:prstGeom>
          <a:noFill/>
          <a:ln/>
        </p:spPr>
        <p:txBody>
          <a:bodyPr wrap="square" lIns="0" tIns="0" rIns="0" bIns="0" rtlCol="0" anchor="t"/>
          <a:lstStyle/>
          <a:p>
            <a:pPr marL="0" indent="0">
              <a:lnSpc>
                <a:spcPct val="112000"/>
              </a:lnSpc>
              <a:buNone/>
            </a:pPr>
            <a:r>
              <a:rPr lang="en-US" sz="950" i="1" dirty="0">
                <a:solidFill>
                  <a:srgbClr val="3B3D3E"/>
                </a:solidFill>
                <a:latin typeface="PT Sans" pitchFamily="34" charset="0"/>
                <a:ea typeface="PT Sans" pitchFamily="34" charset="-122"/>
                <a:cs typeface="PT Sans" pitchFamily="34" charset="-120"/>
              </a:rPr>
              <a:t>Trace multi-agent runs, debug where hand-offs break down, compare orchestration strategies on latency and cost per step — this is what turns "it worked in the demo" into something you can defend.</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9885" y="330098"/>
            <a:ext cx="7498080" cy="239573"/>
          </a:xfrm>
          <a:prstGeom prst="rect">
            <a:avLst/>
          </a:prstGeom>
          <a:noFill/>
          <a:ln/>
        </p:spPr>
        <p:txBody>
          <a:bodyPr wrap="square" lIns="0" tIns="0" rIns="0" bIns="0" rtlCol="0" anchor="ctr"/>
          <a:lstStyle/>
          <a:p>
            <a:pPr marL="0" indent="0">
              <a:buNone/>
            </a:pPr>
            <a:r>
              <a:rPr lang="en-US" sz="1100" b="1" dirty="0">
                <a:solidFill>
                  <a:srgbClr val="00A3E0"/>
                </a:solidFill>
                <a:latin typeface="Poppins SemiBold" pitchFamily="34" charset="0"/>
                <a:ea typeface="Poppins SemiBold" pitchFamily="34" charset="-122"/>
                <a:cs typeface="Poppins SemiBold" pitchFamily="34" charset="-120"/>
              </a:rPr>
              <a:t>TAKE THE ARCHITECTURE INTO THE LAB</a:t>
            </a:r>
            <a:endParaRPr lang="en-US" sz="1100" dirty="0"/>
          </a:p>
        </p:txBody>
      </p:sp>
      <p:sp>
        <p:nvSpPr>
          <p:cNvPr id="3" name="Text 1"/>
          <p:cNvSpPr txBox="1"/>
          <p:nvPr/>
        </p:nvSpPr>
        <p:spPr>
          <a:xfrm>
            <a:off x="449885" y="579730"/>
            <a:ext cx="8244230" cy="800100"/>
          </a:xfrm>
          <a:prstGeom prst="rect">
            <a:avLst/>
          </a:prstGeom>
          <a:noFill/>
          <a:ln/>
        </p:spPr>
        <p:txBody>
          <a:bodyPr wrap="square" lIns="0" tIns="0" rIns="0" bIns="0" rtlCol="0" anchor="t"/>
          <a:lstStyle/>
          <a:p>
            <a:pPr marL="0" indent="0">
              <a:lnSpc>
                <a:spcPct val="105000"/>
              </a:lnSpc>
              <a:buNone/>
            </a:pPr>
            <a:r>
              <a:rPr lang="en-US" sz="1900" b="1" dirty="0">
                <a:solidFill>
                  <a:srgbClr val="004C97"/>
                </a:solidFill>
                <a:latin typeface="Poppins SemiBold" pitchFamily="34" charset="0"/>
                <a:ea typeface="Poppins SemiBold" pitchFamily="34" charset="-122"/>
                <a:cs typeface="Poppins SemiBold" pitchFamily="34" charset="-120"/>
              </a:rPr>
              <a:t>This Afternoon: Store 184, End to End</a:t>
            </a:r>
            <a:endParaRPr lang="en-US" sz="1900" dirty="0"/>
          </a:p>
        </p:txBody>
      </p:sp>
      <p:sp>
        <p:nvSpPr>
          <p:cNvPr id="4" name="Shape 2"/>
          <p:cNvSpPr/>
          <p:nvPr/>
        </p:nvSpPr>
        <p:spPr>
          <a:xfrm>
            <a:off x="0" y="4705502"/>
            <a:ext cx="9144000" cy="437998"/>
          </a:xfrm>
          <a:prstGeom prst="rect">
            <a:avLst/>
          </a:prstGeom>
          <a:solidFill>
            <a:srgbClr val="000000"/>
          </a:solidFill>
          <a:ln/>
        </p:spPr>
        <p:txBody>
          <a:bodyPr/>
          <a:lstStyle/>
          <a:p>
            <a:endParaRPr lang="en-IN"/>
          </a:p>
        </p:txBody>
      </p:sp>
      <p:sp>
        <p:nvSpPr>
          <p:cNvPr id="5" name="Text 3"/>
          <p:cNvSpPr txBox="1"/>
          <p:nvPr/>
        </p:nvSpPr>
        <p:spPr>
          <a:xfrm>
            <a:off x="449885" y="4705502"/>
            <a:ext cx="8244230" cy="437998"/>
          </a:xfrm>
          <a:prstGeom prst="rect">
            <a:avLst/>
          </a:prstGeom>
          <a:noFill/>
          <a:ln/>
        </p:spPr>
        <p:txBody>
          <a:bodyPr wrap="square" lIns="0" tIns="0" rIns="0" bIns="0" rtlCol="0" anchor="ctr"/>
          <a:lstStyle/>
          <a:p>
            <a:pPr marL="0" indent="0" algn="r">
              <a:buNone/>
            </a:pPr>
            <a:r>
              <a:rPr lang="en-US" sz="950" b="1" dirty="0">
                <a:solidFill>
                  <a:srgbClr val="FFFFFF"/>
                </a:solidFill>
                <a:latin typeface="Poppins SemiBold" pitchFamily="34" charset="0"/>
                <a:ea typeface="Poppins SemiBold" pitchFamily="34" charset="-122"/>
                <a:cs typeface="Poppins SemiBold" pitchFamily="34" charset="-120"/>
              </a:rPr>
              <a:t>Insight</a:t>
            </a:r>
            <a:r>
              <a:rPr lang="en-US" sz="950" b="1" dirty="0">
                <a:solidFill>
                  <a:srgbClr val="10B981"/>
                </a:solidFill>
                <a:latin typeface="Poppins SemiBold" pitchFamily="34" charset="0"/>
                <a:ea typeface="Poppins SemiBold" pitchFamily="34" charset="-122"/>
                <a:cs typeface="Poppins SemiBold" pitchFamily="34" charset="-120"/>
              </a:rPr>
              <a:t>Verge</a:t>
            </a:r>
            <a:endParaRPr lang="en-US" sz="950" dirty="0"/>
          </a:p>
        </p:txBody>
      </p:sp>
      <p:pic>
        <p:nvPicPr>
          <p:cNvPr id="6" name="Image 0" descr="/home/claude/day3build/assets/albertsons_logo.png"/>
          <p:cNvPicPr>
            <a:picLocks noChangeAspect="1"/>
          </p:cNvPicPr>
          <p:nvPr/>
        </p:nvPicPr>
        <p:blipFill>
          <a:blip r:embed="rId3"/>
          <a:stretch>
            <a:fillRect/>
          </a:stretch>
        </p:blipFill>
        <p:spPr>
          <a:xfrm>
            <a:off x="7825435" y="256032"/>
            <a:ext cx="868680" cy="198555"/>
          </a:xfrm>
          <a:prstGeom prst="rect">
            <a:avLst/>
          </a:prstGeom>
        </p:spPr>
      </p:pic>
      <p:sp>
        <p:nvSpPr>
          <p:cNvPr id="7" name="Shape 4"/>
          <p:cNvSpPr/>
          <p:nvPr/>
        </p:nvSpPr>
        <p:spPr>
          <a:xfrm>
            <a:off x="449885" y="1234440"/>
            <a:ext cx="8244230" cy="777240"/>
          </a:xfrm>
          <a:prstGeom prst="roundRect">
            <a:avLst>
              <a:gd name="adj" fmla="val 7059"/>
            </a:avLst>
          </a:prstGeom>
          <a:solidFill>
            <a:srgbClr val="FFFFFF"/>
          </a:solidFill>
          <a:ln w="9525">
            <a:solidFill>
              <a:srgbClr val="E2E8F0"/>
            </a:solidFill>
            <a:prstDash val="solid"/>
          </a:ln>
        </p:spPr>
        <p:txBody>
          <a:bodyPr/>
          <a:lstStyle/>
          <a:p>
            <a:endParaRPr lang="en-IN"/>
          </a:p>
        </p:txBody>
      </p:sp>
      <p:sp>
        <p:nvSpPr>
          <p:cNvPr id="8" name="Shape 5"/>
          <p:cNvSpPr/>
          <p:nvPr/>
        </p:nvSpPr>
        <p:spPr>
          <a:xfrm>
            <a:off x="596189" y="1435608"/>
            <a:ext cx="384048" cy="384048"/>
          </a:xfrm>
          <a:prstGeom prst="ellipse">
            <a:avLst/>
          </a:prstGeom>
          <a:solidFill>
            <a:srgbClr val="004C97"/>
          </a:solidFill>
          <a:ln/>
        </p:spPr>
        <p:txBody>
          <a:bodyPr/>
          <a:lstStyle/>
          <a:p>
            <a:endParaRPr lang="en-IN"/>
          </a:p>
        </p:txBody>
      </p:sp>
      <p:sp>
        <p:nvSpPr>
          <p:cNvPr id="9" name="Text 6"/>
          <p:cNvSpPr txBox="1"/>
          <p:nvPr/>
        </p:nvSpPr>
        <p:spPr>
          <a:xfrm>
            <a:off x="596189" y="143560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SemiBold" pitchFamily="34" charset="0"/>
                <a:ea typeface="Poppins SemiBold" pitchFamily="34" charset="-122"/>
                <a:cs typeface="Poppins SemiBold" pitchFamily="34" charset="-120"/>
              </a:rPr>
              <a:t>1</a:t>
            </a:r>
            <a:endParaRPr lang="en-US" sz="1100" dirty="0"/>
          </a:p>
        </p:txBody>
      </p:sp>
      <p:sp>
        <p:nvSpPr>
          <p:cNvPr id="10" name="Text 7"/>
          <p:cNvSpPr txBox="1"/>
          <p:nvPr/>
        </p:nvSpPr>
        <p:spPr>
          <a:xfrm>
            <a:off x="1135685" y="1325880"/>
            <a:ext cx="7375550" cy="274320"/>
          </a:xfrm>
          <a:prstGeom prst="rect">
            <a:avLst/>
          </a:prstGeom>
          <a:noFill/>
          <a:ln/>
        </p:spPr>
        <p:txBody>
          <a:bodyPr wrap="square" lIns="0" tIns="0" rIns="0" bIns="0" rtlCol="0" anchor="ctr"/>
          <a:lstStyle/>
          <a:p>
            <a:pPr marL="0" indent="0">
              <a:buNone/>
            </a:pPr>
            <a:r>
              <a:rPr lang="en-US" sz="1150" b="1" dirty="0">
                <a:solidFill>
                  <a:srgbClr val="004C97"/>
                </a:solidFill>
                <a:latin typeface="Poppins SemiBold" pitchFamily="34" charset="0"/>
                <a:ea typeface="Poppins SemiBold" pitchFamily="34" charset="-122"/>
                <a:cs typeface="Poppins SemiBold" pitchFamily="34" charset="-120"/>
              </a:rPr>
              <a:t>Your lab runs the mechanism we theorized</a:t>
            </a:r>
            <a:endParaRPr lang="en-US" sz="1150" dirty="0"/>
          </a:p>
        </p:txBody>
      </p:sp>
      <p:sp>
        <p:nvSpPr>
          <p:cNvPr id="11" name="Text 8"/>
          <p:cNvSpPr txBox="1"/>
          <p:nvPr/>
        </p:nvSpPr>
        <p:spPr>
          <a:xfrm>
            <a:off x="1135685" y="1600200"/>
            <a:ext cx="7375550" cy="384048"/>
          </a:xfrm>
          <a:prstGeom prst="rect">
            <a:avLst/>
          </a:prstGeom>
          <a:noFill/>
          <a:ln/>
        </p:spPr>
        <p:txBody>
          <a:bodyPr wrap="square" lIns="0" tIns="0" rIns="0" bIns="0" rtlCol="0" anchor="t"/>
          <a:lstStyle/>
          <a:p>
            <a:pPr marL="0" indent="0">
              <a:lnSpc>
                <a:spcPct val="118000"/>
              </a:lnSpc>
              <a:buNone/>
            </a:pPr>
            <a:r>
              <a:rPr lang="en-US" sz="930" dirty="0">
                <a:solidFill>
                  <a:srgbClr val="3B3D3E"/>
                </a:solidFill>
                <a:latin typeface="PT Sans" pitchFamily="34" charset="0"/>
                <a:ea typeface="PT Sans" pitchFamily="34" charset="-122"/>
                <a:cs typeface="PT Sans" pitchFamily="34" charset="-120"/>
              </a:rPr>
              <a:t>Six tool contracts → a temporary MCP server → a governed orchestrator → human approval → a complete audit trace, for one weekend stockout at Store 184.</a:t>
            </a:r>
            <a:endParaRPr lang="en-US" sz="930" dirty="0"/>
          </a:p>
        </p:txBody>
      </p:sp>
      <p:sp>
        <p:nvSpPr>
          <p:cNvPr id="12" name="Shape 9"/>
          <p:cNvSpPr/>
          <p:nvPr/>
        </p:nvSpPr>
        <p:spPr>
          <a:xfrm>
            <a:off x="449885" y="2103120"/>
            <a:ext cx="8244230" cy="777240"/>
          </a:xfrm>
          <a:prstGeom prst="roundRect">
            <a:avLst>
              <a:gd name="adj" fmla="val 7059"/>
            </a:avLst>
          </a:prstGeom>
          <a:solidFill>
            <a:srgbClr val="FFFFFF"/>
          </a:solidFill>
          <a:ln w="9525">
            <a:solidFill>
              <a:srgbClr val="E2E8F0"/>
            </a:solidFill>
            <a:prstDash val="solid"/>
          </a:ln>
        </p:spPr>
        <p:txBody>
          <a:bodyPr/>
          <a:lstStyle/>
          <a:p>
            <a:endParaRPr lang="en-IN"/>
          </a:p>
        </p:txBody>
      </p:sp>
      <p:sp>
        <p:nvSpPr>
          <p:cNvPr id="13" name="Shape 10"/>
          <p:cNvSpPr/>
          <p:nvPr/>
        </p:nvSpPr>
        <p:spPr>
          <a:xfrm>
            <a:off x="596189" y="2304288"/>
            <a:ext cx="384048" cy="384048"/>
          </a:xfrm>
          <a:prstGeom prst="ellipse">
            <a:avLst/>
          </a:prstGeom>
          <a:solidFill>
            <a:srgbClr val="004C97"/>
          </a:solidFill>
          <a:ln/>
        </p:spPr>
        <p:txBody>
          <a:bodyPr/>
          <a:lstStyle/>
          <a:p>
            <a:endParaRPr lang="en-IN"/>
          </a:p>
        </p:txBody>
      </p:sp>
      <p:sp>
        <p:nvSpPr>
          <p:cNvPr id="14" name="Text 11"/>
          <p:cNvSpPr txBox="1"/>
          <p:nvPr/>
        </p:nvSpPr>
        <p:spPr>
          <a:xfrm>
            <a:off x="596189" y="230428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SemiBold" pitchFamily="34" charset="0"/>
                <a:ea typeface="Poppins SemiBold" pitchFamily="34" charset="-122"/>
                <a:cs typeface="Poppins SemiBold" pitchFamily="34" charset="-120"/>
              </a:rPr>
              <a:t>2</a:t>
            </a:r>
            <a:endParaRPr lang="en-US" sz="1100" dirty="0"/>
          </a:p>
        </p:txBody>
      </p:sp>
      <p:sp>
        <p:nvSpPr>
          <p:cNvPr id="15" name="Text 12"/>
          <p:cNvSpPr txBox="1"/>
          <p:nvPr/>
        </p:nvSpPr>
        <p:spPr>
          <a:xfrm>
            <a:off x="1135685" y="2194560"/>
            <a:ext cx="7375550" cy="274320"/>
          </a:xfrm>
          <a:prstGeom prst="rect">
            <a:avLst/>
          </a:prstGeom>
          <a:noFill/>
          <a:ln/>
        </p:spPr>
        <p:txBody>
          <a:bodyPr wrap="square" lIns="0" tIns="0" rIns="0" bIns="0" rtlCol="0" anchor="ctr"/>
          <a:lstStyle/>
          <a:p>
            <a:pPr marL="0" indent="0">
              <a:buNone/>
            </a:pPr>
            <a:r>
              <a:rPr lang="en-US" sz="1150" b="1" dirty="0">
                <a:solidFill>
                  <a:srgbClr val="004C97"/>
                </a:solidFill>
                <a:latin typeface="Poppins SemiBold" pitchFamily="34" charset="0"/>
                <a:ea typeface="Poppins SemiBold" pitchFamily="34" charset="-122"/>
                <a:cs typeface="Poppins SemiBold" pitchFamily="34" charset="-120"/>
              </a:rPr>
              <a:t>Watch for the boundary, not just the build</a:t>
            </a:r>
            <a:endParaRPr lang="en-US" sz="1150" dirty="0"/>
          </a:p>
        </p:txBody>
      </p:sp>
      <p:sp>
        <p:nvSpPr>
          <p:cNvPr id="16" name="Text 13"/>
          <p:cNvSpPr txBox="1"/>
          <p:nvPr/>
        </p:nvSpPr>
        <p:spPr>
          <a:xfrm>
            <a:off x="1135685" y="2468880"/>
            <a:ext cx="7375550" cy="384048"/>
          </a:xfrm>
          <a:prstGeom prst="rect">
            <a:avLst/>
          </a:prstGeom>
          <a:noFill/>
          <a:ln/>
        </p:spPr>
        <p:txBody>
          <a:bodyPr wrap="square" lIns="0" tIns="0" rIns="0" bIns="0" rtlCol="0" anchor="t"/>
          <a:lstStyle/>
          <a:p>
            <a:pPr marL="0" indent="0">
              <a:lnSpc>
                <a:spcPct val="118000"/>
              </a:lnSpc>
              <a:buNone/>
            </a:pPr>
            <a:r>
              <a:rPr lang="en-US" sz="930" dirty="0">
                <a:solidFill>
                  <a:srgbClr val="3B3D3E"/>
                </a:solidFill>
                <a:latin typeface="PT Sans" pitchFamily="34" charset="0"/>
                <a:ea typeface="PT Sans" pitchFamily="34" charset="-122"/>
                <a:cs typeface="PT Sans" pitchFamily="34" charset="-120"/>
              </a:rPr>
              <a:t>Why it's one governed orchestrator, not five loose agents. Why the eligibility table can overrule the LLM's own routing choice. What triggers WAITING_FOR_HUMAN, and why nothing executes past it.</a:t>
            </a:r>
            <a:endParaRPr lang="en-US" sz="930" dirty="0"/>
          </a:p>
        </p:txBody>
      </p:sp>
      <p:sp>
        <p:nvSpPr>
          <p:cNvPr id="17" name="Shape 14"/>
          <p:cNvSpPr/>
          <p:nvPr/>
        </p:nvSpPr>
        <p:spPr>
          <a:xfrm>
            <a:off x="449885" y="2971800"/>
            <a:ext cx="8244230" cy="777240"/>
          </a:xfrm>
          <a:prstGeom prst="roundRect">
            <a:avLst>
              <a:gd name="adj" fmla="val 7059"/>
            </a:avLst>
          </a:prstGeom>
          <a:solidFill>
            <a:srgbClr val="FFFFFF"/>
          </a:solidFill>
          <a:ln w="9525">
            <a:solidFill>
              <a:srgbClr val="E2E8F0"/>
            </a:solidFill>
            <a:prstDash val="solid"/>
          </a:ln>
        </p:spPr>
        <p:txBody>
          <a:bodyPr/>
          <a:lstStyle/>
          <a:p>
            <a:endParaRPr lang="en-IN"/>
          </a:p>
        </p:txBody>
      </p:sp>
      <p:sp>
        <p:nvSpPr>
          <p:cNvPr id="18" name="Shape 15"/>
          <p:cNvSpPr/>
          <p:nvPr/>
        </p:nvSpPr>
        <p:spPr>
          <a:xfrm>
            <a:off x="596189" y="3172968"/>
            <a:ext cx="384048" cy="384048"/>
          </a:xfrm>
          <a:prstGeom prst="ellipse">
            <a:avLst/>
          </a:prstGeom>
          <a:solidFill>
            <a:srgbClr val="004C97"/>
          </a:solidFill>
          <a:ln/>
        </p:spPr>
        <p:txBody>
          <a:bodyPr/>
          <a:lstStyle/>
          <a:p>
            <a:endParaRPr lang="en-IN"/>
          </a:p>
        </p:txBody>
      </p:sp>
      <p:sp>
        <p:nvSpPr>
          <p:cNvPr id="19" name="Text 16"/>
          <p:cNvSpPr txBox="1"/>
          <p:nvPr/>
        </p:nvSpPr>
        <p:spPr>
          <a:xfrm>
            <a:off x="596189" y="317296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SemiBold" pitchFamily="34" charset="0"/>
                <a:ea typeface="Poppins SemiBold" pitchFamily="34" charset="-122"/>
                <a:cs typeface="Poppins SemiBold" pitchFamily="34" charset="-120"/>
              </a:rPr>
              <a:t>3</a:t>
            </a:r>
            <a:endParaRPr lang="en-US" sz="1100" dirty="0"/>
          </a:p>
        </p:txBody>
      </p:sp>
      <p:sp>
        <p:nvSpPr>
          <p:cNvPr id="20" name="Text 17"/>
          <p:cNvSpPr txBox="1"/>
          <p:nvPr/>
        </p:nvSpPr>
        <p:spPr>
          <a:xfrm>
            <a:off x="1135685" y="3063240"/>
            <a:ext cx="7375550" cy="274320"/>
          </a:xfrm>
          <a:prstGeom prst="rect">
            <a:avLst/>
          </a:prstGeom>
          <a:noFill/>
          <a:ln/>
        </p:spPr>
        <p:txBody>
          <a:bodyPr wrap="square" lIns="0" tIns="0" rIns="0" bIns="0" rtlCol="0" anchor="ctr"/>
          <a:lstStyle/>
          <a:p>
            <a:pPr marL="0" indent="0">
              <a:buNone/>
            </a:pPr>
            <a:r>
              <a:rPr lang="en-US" sz="1150" b="1" dirty="0">
                <a:solidFill>
                  <a:srgbClr val="004C97"/>
                </a:solidFill>
                <a:latin typeface="Poppins SemiBold" pitchFamily="34" charset="0"/>
                <a:ea typeface="Poppins SemiBold" pitchFamily="34" charset="-122"/>
                <a:cs typeface="Poppins SemiBold" pitchFamily="34" charset="-120"/>
              </a:rPr>
              <a:t>Keep score like an architect</a:t>
            </a:r>
            <a:endParaRPr lang="en-US" sz="1150" dirty="0"/>
          </a:p>
        </p:txBody>
      </p:sp>
      <p:sp>
        <p:nvSpPr>
          <p:cNvPr id="21" name="Text 18"/>
          <p:cNvSpPr txBox="1"/>
          <p:nvPr/>
        </p:nvSpPr>
        <p:spPr>
          <a:xfrm>
            <a:off x="1135685" y="3337560"/>
            <a:ext cx="7375550" cy="384048"/>
          </a:xfrm>
          <a:prstGeom prst="rect">
            <a:avLst/>
          </a:prstGeom>
          <a:noFill/>
          <a:ln/>
        </p:spPr>
        <p:txBody>
          <a:bodyPr wrap="square" lIns="0" tIns="0" rIns="0" bIns="0" rtlCol="0" anchor="t"/>
          <a:lstStyle/>
          <a:p>
            <a:pPr marL="0" indent="0">
              <a:lnSpc>
                <a:spcPct val="118000"/>
              </a:lnSpc>
              <a:buNone/>
            </a:pPr>
            <a:r>
              <a:rPr lang="en-US" sz="930" dirty="0">
                <a:solidFill>
                  <a:srgbClr val="3B3D3E"/>
                </a:solidFill>
                <a:latin typeface="PT Sans" pitchFamily="34" charset="0"/>
                <a:ea typeface="PT Sans" pitchFamily="34" charset="-122"/>
                <a:cs typeface="PT Sans" pitchFamily="34" charset="-120"/>
              </a:rPr>
              <a:t>Routing accuracy against unnecessary tool calls; approval compliance; whether an auditor could reconstruct the decision from the trace alone.</a:t>
            </a:r>
            <a:endParaRPr lang="en-US" sz="930" dirty="0"/>
          </a:p>
        </p:txBody>
      </p:sp>
      <p:sp>
        <p:nvSpPr>
          <p:cNvPr id="22" name="Shape 19"/>
          <p:cNvSpPr/>
          <p:nvPr/>
        </p:nvSpPr>
        <p:spPr>
          <a:xfrm>
            <a:off x="449885" y="3886200"/>
            <a:ext cx="8244230" cy="502920"/>
          </a:xfrm>
          <a:prstGeom prst="roundRect">
            <a:avLst>
              <a:gd name="adj" fmla="val 10909"/>
            </a:avLst>
          </a:prstGeom>
          <a:solidFill>
            <a:srgbClr val="EAF3FA"/>
          </a:solidFill>
          <a:ln w="9525">
            <a:solidFill>
              <a:srgbClr val="E2E8F0"/>
            </a:solidFill>
            <a:prstDash val="solid"/>
          </a:ln>
        </p:spPr>
        <p:txBody>
          <a:bodyPr/>
          <a:lstStyle/>
          <a:p>
            <a:endParaRPr lang="en-IN"/>
          </a:p>
        </p:txBody>
      </p:sp>
      <p:sp>
        <p:nvSpPr>
          <p:cNvPr id="23" name="Text 20"/>
          <p:cNvSpPr txBox="1"/>
          <p:nvPr/>
        </p:nvSpPr>
        <p:spPr>
          <a:xfrm>
            <a:off x="632765" y="3886200"/>
            <a:ext cx="7878470" cy="502920"/>
          </a:xfrm>
          <a:prstGeom prst="rect">
            <a:avLst/>
          </a:prstGeom>
          <a:noFill/>
          <a:ln/>
        </p:spPr>
        <p:txBody>
          <a:bodyPr wrap="square" lIns="0" tIns="0" rIns="0" bIns="0" rtlCol="0" anchor="ctr"/>
          <a:lstStyle/>
          <a:p>
            <a:pPr marL="0" indent="0">
              <a:lnSpc>
                <a:spcPct val="120000"/>
              </a:lnSpc>
              <a:buNone/>
            </a:pPr>
            <a:r>
              <a:rPr lang="en-US" sz="1050" i="1" dirty="0">
                <a:solidFill>
                  <a:srgbClr val="3B3D3E"/>
                </a:solidFill>
                <a:latin typeface="PT Sans" pitchFamily="34" charset="0"/>
                <a:ea typeface="PT Sans" pitchFamily="34" charset="-122"/>
                <a:cs typeface="PT Sans" pitchFamily="34" charset="-120"/>
              </a:rPr>
              <a:t>"Agentic AI is not an LLM calling tools. It is a governed decision loop that respects human authority and leaves a trace an auditor can follow."</a:t>
            </a:r>
            <a:endParaRPr lang="en-US" sz="1050" dirty="0"/>
          </a:p>
        </p:txBody>
      </p:sp>
      <p:sp>
        <p:nvSpPr>
          <p:cNvPr id="24" name="Text 21"/>
          <p:cNvSpPr txBox="1"/>
          <p:nvPr/>
        </p:nvSpPr>
        <p:spPr>
          <a:xfrm>
            <a:off x="449885" y="4480560"/>
            <a:ext cx="8244230" cy="256032"/>
          </a:xfrm>
          <a:prstGeom prst="rect">
            <a:avLst/>
          </a:prstGeom>
          <a:noFill/>
          <a:ln/>
        </p:spPr>
        <p:txBody>
          <a:bodyPr wrap="square" lIns="0" tIns="0" rIns="0" bIns="0" rtlCol="0" anchor="t"/>
          <a:lstStyle/>
          <a:p>
            <a:pPr marL="0" indent="0">
              <a:lnSpc>
                <a:spcPct val="112000"/>
              </a:lnSpc>
              <a:buNone/>
            </a:pPr>
            <a:r>
              <a:rPr lang="en-US" sz="1100" i="1" dirty="0">
                <a:solidFill>
                  <a:srgbClr val="3B3D3E"/>
                </a:solidFill>
                <a:latin typeface="PT Sans" pitchFamily="34" charset="0"/>
                <a:ea typeface="PT Sans" pitchFamily="34" charset="-122"/>
                <a:cs typeface="PT Sans" pitchFamily="34" charset="-120"/>
              </a:rPr>
              <a:t>Day 3: agents, orchestration, MCP, and governance. See you in the lab.</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4195</Words>
  <Application>Microsoft Office PowerPoint</Application>
  <PresentationFormat>On-screen Show (16:9)</PresentationFormat>
  <Paragraphs>574</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Courier New</vt:lpstr>
      <vt:lpstr>Poppins SemiBold</vt:lpstr>
      <vt:lpstr>PT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Anandhan Jayaraman</cp:lastModifiedBy>
  <cp:revision>1</cp:revision>
  <dcterms:created xsi:type="dcterms:W3CDTF">2026-09-08T14:55:33Z</dcterms:created>
  <dcterms:modified xsi:type="dcterms:W3CDTF">2026-09-09T04:00:32Z</dcterms:modified>
</cp:coreProperties>
</file>